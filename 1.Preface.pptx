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82" r:id="rId4"/>
    <p:sldId id="285" r:id="rId5"/>
    <p:sldId id="283" r:id="rId6"/>
    <p:sldId id="287" r:id="rId7"/>
    <p:sldId id="284" r:id="rId8"/>
    <p:sldId id="286" r:id="rId9"/>
    <p:sldId id="259" r:id="rId10"/>
    <p:sldId id="289" r:id="rId11"/>
    <p:sldId id="288" r:id="rId12"/>
    <p:sldId id="290" r:id="rId13"/>
    <p:sldId id="291" r:id="rId14"/>
    <p:sldId id="292" r:id="rId15"/>
    <p:sldId id="293"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CD0B4-0D93-4925-9AE5-BE338DE0EB77}" type="datetimeFigureOut">
              <a:rPr lang="zh-CN" altLang="en-US" smtClean="0"/>
              <a:t>2026/5/28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1C58D-F6D9-4444-8C6C-9BE396A37525}" type="slidenum">
              <a:rPr lang="zh-CN" altLang="en-US" smtClean="0"/>
              <a:t>‹#›</a:t>
            </a:fld>
            <a:endParaRPr lang="zh-CN" altLang="en-US"/>
          </a:p>
        </p:txBody>
      </p:sp>
    </p:spTree>
    <p:extLst>
      <p:ext uri="{BB962C8B-B14F-4D97-AF65-F5344CB8AC3E}">
        <p14:creationId xmlns:p14="http://schemas.microsoft.com/office/powerpoint/2010/main" val="2989509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a:t>
            </a:fld>
            <a:endParaRPr lang="zh-CN" altLang="en-US"/>
          </a:p>
        </p:txBody>
      </p:sp>
    </p:spTree>
    <p:extLst>
      <p:ext uri="{BB962C8B-B14F-4D97-AF65-F5344CB8AC3E}">
        <p14:creationId xmlns:p14="http://schemas.microsoft.com/office/powerpoint/2010/main" val="766719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2</a:t>
            </a:fld>
            <a:endParaRPr lang="zh-CN" altLang="en-US"/>
          </a:p>
        </p:txBody>
      </p:sp>
    </p:spTree>
    <p:extLst>
      <p:ext uri="{BB962C8B-B14F-4D97-AF65-F5344CB8AC3E}">
        <p14:creationId xmlns:p14="http://schemas.microsoft.com/office/powerpoint/2010/main" val="489319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3</a:t>
            </a:fld>
            <a:endParaRPr lang="zh-CN" altLang="en-US"/>
          </a:p>
        </p:txBody>
      </p:sp>
    </p:spTree>
    <p:extLst>
      <p:ext uri="{BB962C8B-B14F-4D97-AF65-F5344CB8AC3E}">
        <p14:creationId xmlns:p14="http://schemas.microsoft.com/office/powerpoint/2010/main" val="4775189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4</a:t>
            </a:fld>
            <a:endParaRPr lang="zh-CN" altLang="en-US"/>
          </a:p>
        </p:txBody>
      </p:sp>
    </p:spTree>
    <p:extLst>
      <p:ext uri="{BB962C8B-B14F-4D97-AF65-F5344CB8AC3E}">
        <p14:creationId xmlns:p14="http://schemas.microsoft.com/office/powerpoint/2010/main" val="748161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5</a:t>
            </a:fld>
            <a:endParaRPr lang="zh-CN" altLang="en-US"/>
          </a:p>
        </p:txBody>
      </p:sp>
    </p:spTree>
    <p:extLst>
      <p:ext uri="{BB962C8B-B14F-4D97-AF65-F5344CB8AC3E}">
        <p14:creationId xmlns:p14="http://schemas.microsoft.com/office/powerpoint/2010/main" val="7665148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6</a:t>
            </a:fld>
            <a:endParaRPr lang="zh-CN" altLang="en-US"/>
          </a:p>
        </p:txBody>
      </p:sp>
    </p:spTree>
    <p:extLst>
      <p:ext uri="{BB962C8B-B14F-4D97-AF65-F5344CB8AC3E}">
        <p14:creationId xmlns:p14="http://schemas.microsoft.com/office/powerpoint/2010/main" val="30369879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7</a:t>
            </a:fld>
            <a:endParaRPr lang="zh-CN" altLang="en-US"/>
          </a:p>
        </p:txBody>
      </p:sp>
    </p:spTree>
    <p:extLst>
      <p:ext uri="{BB962C8B-B14F-4D97-AF65-F5344CB8AC3E}">
        <p14:creationId xmlns:p14="http://schemas.microsoft.com/office/powerpoint/2010/main" val="297620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8</a:t>
            </a:fld>
            <a:endParaRPr lang="zh-CN" altLang="en-US"/>
          </a:p>
        </p:txBody>
      </p:sp>
    </p:spTree>
    <p:extLst>
      <p:ext uri="{BB962C8B-B14F-4D97-AF65-F5344CB8AC3E}">
        <p14:creationId xmlns:p14="http://schemas.microsoft.com/office/powerpoint/2010/main" val="2930822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9</a:t>
            </a:fld>
            <a:endParaRPr lang="zh-CN" altLang="en-US"/>
          </a:p>
        </p:txBody>
      </p:sp>
    </p:spTree>
    <p:extLst>
      <p:ext uri="{BB962C8B-B14F-4D97-AF65-F5344CB8AC3E}">
        <p14:creationId xmlns:p14="http://schemas.microsoft.com/office/powerpoint/2010/main" val="34807921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10</a:t>
            </a:fld>
            <a:endParaRPr lang="zh-CN" altLang="en-US"/>
          </a:p>
        </p:txBody>
      </p:sp>
    </p:spTree>
    <p:extLst>
      <p:ext uri="{BB962C8B-B14F-4D97-AF65-F5344CB8AC3E}">
        <p14:creationId xmlns:p14="http://schemas.microsoft.com/office/powerpoint/2010/main" val="33802990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11</a:t>
            </a:fld>
            <a:endParaRPr lang="zh-CN" altLang="en-US"/>
          </a:p>
        </p:txBody>
      </p:sp>
    </p:spTree>
    <p:extLst>
      <p:ext uri="{BB962C8B-B14F-4D97-AF65-F5344CB8AC3E}">
        <p14:creationId xmlns:p14="http://schemas.microsoft.com/office/powerpoint/2010/main" val="26677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12</a:t>
            </a:fld>
            <a:endParaRPr lang="zh-CN" altLang="en-US"/>
          </a:p>
        </p:txBody>
      </p:sp>
    </p:spTree>
    <p:extLst>
      <p:ext uri="{BB962C8B-B14F-4D97-AF65-F5344CB8AC3E}">
        <p14:creationId xmlns:p14="http://schemas.microsoft.com/office/powerpoint/2010/main" val="131220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13</a:t>
            </a:fld>
            <a:endParaRPr lang="zh-CN" altLang="en-US"/>
          </a:p>
        </p:txBody>
      </p:sp>
    </p:spTree>
    <p:extLst>
      <p:ext uri="{BB962C8B-B14F-4D97-AF65-F5344CB8AC3E}">
        <p14:creationId xmlns:p14="http://schemas.microsoft.com/office/powerpoint/2010/main" val="2902642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14</a:t>
            </a:fld>
            <a:endParaRPr lang="zh-CN" altLang="en-US"/>
          </a:p>
        </p:txBody>
      </p:sp>
    </p:spTree>
    <p:extLst>
      <p:ext uri="{BB962C8B-B14F-4D97-AF65-F5344CB8AC3E}">
        <p14:creationId xmlns:p14="http://schemas.microsoft.com/office/powerpoint/2010/main" val="3110466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62C1F624-D565-4B52-954C-70A2A0C22C3D}" type="slidenum">
              <a:rPr lang="zh-CN" altLang="en-US" smtClean="0"/>
              <a:t>15</a:t>
            </a:fld>
            <a:endParaRPr lang="zh-CN" altLang="en-US"/>
          </a:p>
        </p:txBody>
      </p:sp>
    </p:spTree>
    <p:extLst>
      <p:ext uri="{BB962C8B-B14F-4D97-AF65-F5344CB8AC3E}">
        <p14:creationId xmlns:p14="http://schemas.microsoft.com/office/powerpoint/2010/main" val="942373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D04F24E-D5DB-4E44-B9C1-1C9F966D9DE0}" type="datetime1">
              <a:rPr lang="zh-CN" altLang="en-US" smtClean="0"/>
              <a:t>2026/5/28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080427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AC644C8-A75A-4271-B806-197E7CBB3043}" type="datetime1">
              <a:rPr lang="zh-CN" altLang="en-US" smtClean="0"/>
              <a:t>2026/5/28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374288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E0EAEB6-6817-4662-A1D3-3BC44BA693B7}" type="datetime1">
              <a:rPr lang="zh-CN" altLang="en-US" smtClean="0"/>
              <a:t>2026/5/28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259730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8712959-142D-4B7D-99C2-885C08D89CC3}" type="datetime1">
              <a:rPr lang="zh-CN" altLang="en-US" smtClean="0"/>
              <a:t>2026/5/28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4050982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B0402A6-6B27-4F12-88C3-26F3AADB1B4A}" type="datetime1">
              <a:rPr lang="zh-CN" altLang="en-US" smtClean="0"/>
              <a:t>2026/5/28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1445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A08A87C-D3D9-4098-8262-38F46DBFE130}" type="datetime1">
              <a:rPr lang="zh-CN" altLang="en-US" smtClean="0"/>
              <a:t>2026/5/28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926015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AA405D1-58D2-499A-8919-5CFDC4F042E9}" type="datetime1">
              <a:rPr lang="zh-CN" altLang="en-US" smtClean="0"/>
              <a:t>2026/5/28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3247771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F883647B-B16E-4175-BFE9-E10D077C5782}" type="datetime1">
              <a:rPr lang="zh-CN" altLang="en-US" smtClean="0"/>
              <a:t>2026/5/28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506318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06E63D96-C799-489A-9DE7-F5DBBF900548}" type="datetime1">
              <a:rPr lang="zh-CN" altLang="en-US" smtClean="0"/>
              <a:t>2026/5/28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826454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DC37679-E711-45F2-B537-122BD96A4634}" type="datetime1">
              <a:rPr lang="zh-CN" altLang="en-US" smtClean="0"/>
              <a:t>2026/5/28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723931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260A1E-7A35-43E8-B9E2-C715633E112E}" type="datetime1">
              <a:rPr lang="zh-CN" altLang="en-US" smtClean="0"/>
              <a:t>2026/5/28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23315928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4EBADF-EE84-4603-B97B-F3FFE6AB9912}" type="datetime1">
              <a:rPr lang="zh-CN" altLang="en-US" smtClean="0"/>
              <a:t>2026/5/28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518733-9D16-43A2-A61C-084D57F7F04B}" type="slidenum">
              <a:rPr lang="zh-CN" altLang="en-US" smtClean="0"/>
              <a:t>‹#›</a:t>
            </a:fld>
            <a:endParaRPr lang="zh-CN" altLang="en-US"/>
          </a:p>
        </p:txBody>
      </p:sp>
    </p:spTree>
    <p:extLst>
      <p:ext uri="{BB962C8B-B14F-4D97-AF65-F5344CB8AC3E}">
        <p14:creationId xmlns:p14="http://schemas.microsoft.com/office/powerpoint/2010/main" val="1674579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microsoft.com/office/2007/relationships/hdphoto" Target="../media/hdphoto1.wdp"/><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7.jpeg"/><Relationship Id="rId5" Type="http://schemas.microsoft.com/office/2007/relationships/hdphoto" Target="../media/hdphoto1.wdp"/><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png"/><Relationship Id="rId5" Type="http://schemas.microsoft.com/office/2007/relationships/hdphoto" Target="../media/hdphoto1.wdp"/><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 xmlns:a16="http://schemas.microsoft.com/office/drawing/2014/main" id="{6035010B-2434-47C2-8100-5A5F5450EB77}"/>
              </a:ext>
            </a:extLst>
          </p:cNvPr>
          <p:cNvPicPr>
            <a:picLocks noChangeAspect="1"/>
          </p:cNvPicPr>
          <p:nvPr/>
        </p:nvPicPr>
        <p:blipFill>
          <a:blip r:embed="rId3"/>
          <a:stretch>
            <a:fillRect/>
          </a:stretch>
        </p:blipFill>
        <p:spPr>
          <a:xfrm>
            <a:off x="0" y="0"/>
            <a:ext cx="12192000" cy="6857999"/>
          </a:xfrm>
          <a:prstGeom prst="rect">
            <a:avLst/>
          </a:prstGeom>
        </p:spPr>
      </p:pic>
      <p:pic>
        <p:nvPicPr>
          <p:cNvPr id="2" name="图片 1">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287034" y="484388"/>
            <a:ext cx="1617921" cy="1617921"/>
          </a:xfrm>
          <a:prstGeom prst="rect">
            <a:avLst/>
          </a:prstGeom>
        </p:spPr>
      </p:pic>
      <p:sp>
        <p:nvSpPr>
          <p:cNvPr id="3" name="矩形 12"/>
          <p:cNvSpPr/>
          <p:nvPr/>
        </p:nvSpPr>
        <p:spPr>
          <a:xfrm>
            <a:off x="2889789" y="4196487"/>
            <a:ext cx="6412417" cy="81708"/>
          </a:xfrm>
          <a:prstGeom prst="rect">
            <a:avLst/>
          </a:prstGeom>
          <a:solidFill>
            <a:srgbClr val="002060"/>
          </a:solidFill>
          <a:ln w="9525">
            <a:noFill/>
          </a:ln>
        </p:spPr>
        <p:txBody>
          <a:bodyPr anchor="ctr"/>
          <a:lstStyle/>
          <a:p>
            <a:pPr algn="ctr" eaLnBrk="1" hangingPunct="1"/>
            <a:endParaRPr lang="zh-CN" altLang="en-US" sz="2400" dirty="0">
              <a:solidFill>
                <a:srgbClr val="0070C0"/>
              </a:solidFill>
              <a:latin typeface="等线" panose="02010600030101010101" pitchFamily="2" charset="-122"/>
              <a:ea typeface="等线" panose="02010600030101010101" pitchFamily="2" charset="-122"/>
            </a:endParaRPr>
          </a:p>
        </p:txBody>
      </p:sp>
      <p:sp>
        <p:nvSpPr>
          <p:cNvPr id="5" name="矩形 4"/>
          <p:cNvSpPr/>
          <p:nvPr/>
        </p:nvSpPr>
        <p:spPr>
          <a:xfrm>
            <a:off x="1116657" y="2377744"/>
            <a:ext cx="9958674" cy="1692771"/>
          </a:xfrm>
          <a:prstGeom prst="rect">
            <a:avLst/>
          </a:prstGeom>
        </p:spPr>
        <p:txBody>
          <a:bodyPr wrap="square">
            <a:spAutoFit/>
          </a:bodyPr>
          <a:lstStyle/>
          <a:p>
            <a:pPr algn="ctr" fontAlgn="base">
              <a:spcBef>
                <a:spcPct val="0"/>
              </a:spcBef>
              <a:spcAft>
                <a:spcPct val="0"/>
              </a:spcAft>
            </a:pPr>
            <a:r>
              <a:rPr lang="en-US" altLang="zh-CN" sz="4400" b="1" dirty="0" smtClean="0">
                <a:latin typeface="Arial" panose="020B0604020202020204" pitchFamily="34" charset="0"/>
                <a:ea typeface="Arial Unicode MS" panose="020B0604020202020204" pitchFamily="34" charset="-122"/>
                <a:cs typeface="Arial" panose="020B0604020202020204" pitchFamily="34" charset="0"/>
              </a:rPr>
              <a:t>Introduction to Quantum Chemistry</a:t>
            </a:r>
          </a:p>
          <a:p>
            <a:pPr algn="ctr" fontAlgn="base">
              <a:lnSpc>
                <a:spcPct val="150000"/>
              </a:lnSpc>
              <a:spcBef>
                <a:spcPct val="0"/>
              </a:spcBef>
              <a:spcAft>
                <a:spcPct val="0"/>
              </a:spcAft>
            </a:pPr>
            <a:r>
              <a:rPr lang="en-US" altLang="zh-CN" sz="4000" b="1" dirty="0" smtClean="0">
                <a:latin typeface="Arial" panose="020B0604020202020204" pitchFamily="34" charset="0"/>
                <a:ea typeface="Arial Unicode MS" panose="020B0604020202020204" pitchFamily="34" charset="-122"/>
                <a:cs typeface="Arial" panose="020B0604020202020204" pitchFamily="34" charset="0"/>
              </a:rPr>
              <a:t>——Preface</a:t>
            </a:r>
            <a:endParaRPr lang="zh-CN" altLang="en-US" sz="4000" b="1" dirty="0">
              <a:latin typeface="Arial" panose="020B0604020202020204" pitchFamily="34" charset="0"/>
              <a:ea typeface="Arial Unicode MS" panose="020B0604020202020204" pitchFamily="34" charset="-122"/>
              <a:cs typeface="Arial" panose="020B0604020202020204" pitchFamily="34" charset="0"/>
            </a:endParaRPr>
          </a:p>
        </p:txBody>
      </p:sp>
      <p:sp>
        <p:nvSpPr>
          <p:cNvPr id="6" name="矩形 5"/>
          <p:cNvSpPr/>
          <p:nvPr/>
        </p:nvSpPr>
        <p:spPr>
          <a:xfrm>
            <a:off x="3654370" y="4553630"/>
            <a:ext cx="4883252" cy="1421928"/>
          </a:xfrm>
          <a:prstGeom prst="rect">
            <a:avLst/>
          </a:prstGeom>
        </p:spPr>
        <p:txBody>
          <a:bodyPr wrap="square">
            <a:spAutoFit/>
          </a:bodyPr>
          <a:lstStyle/>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张冀鹏</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zh-CN" altLang="en-US" sz="2400" dirty="0" smtClean="0">
                <a:latin typeface="微软雅黑" panose="020B0503020204020204" pitchFamily="34" charset="-122"/>
                <a:ea typeface="微软雅黑" panose="020B0503020204020204" pitchFamily="34" charset="-122"/>
                <a:sym typeface="微软雅黑" panose="020B0503020204020204" charset="-122"/>
              </a:rPr>
              <a:t>北京师范大学化学学院</a:t>
            </a:r>
            <a:endParaRPr lang="en-US" altLang="zh-CN" sz="2400" dirty="0" smtClean="0">
              <a:latin typeface="微软雅黑" panose="020B0503020204020204" pitchFamily="34" charset="-122"/>
              <a:ea typeface="微软雅黑" panose="020B0503020204020204" pitchFamily="34" charset="-122"/>
              <a:sym typeface="微软雅黑" panose="020B0503020204020204" charset="-122"/>
            </a:endParaRPr>
          </a:p>
          <a:p>
            <a:pPr algn="ctr">
              <a:lnSpc>
                <a:spcPct val="120000"/>
              </a:lnSpc>
            </a:pPr>
            <a:r>
              <a:rPr lang="en-US" altLang="zh-CN" sz="2400" dirty="0" smtClean="0">
                <a:latin typeface="微软雅黑" panose="020B0503020204020204" pitchFamily="34" charset="-122"/>
                <a:ea typeface="微软雅黑" panose="020B0503020204020204" pitchFamily="34" charset="-122"/>
                <a:sym typeface="微软雅黑" panose="020B0503020204020204" charset="-122"/>
              </a:rPr>
              <a:t>2026. 7. 13</a:t>
            </a:r>
            <a:endParaRPr lang="zh-CN" altLang="en-US" sz="2400" dirty="0">
              <a:latin typeface="微软雅黑" panose="020B0503020204020204" pitchFamily="34" charset="-122"/>
              <a:ea typeface="微软雅黑" panose="020B0503020204020204" pitchFamily="34" charset="-122"/>
              <a:sym typeface="微软雅黑" panose="020B0503020204020204" charset="-122"/>
            </a:endParaRPr>
          </a:p>
        </p:txBody>
      </p:sp>
    </p:spTree>
    <p:extLst>
      <p:ext uri="{BB962C8B-B14F-4D97-AF65-F5344CB8AC3E}">
        <p14:creationId xmlns:p14="http://schemas.microsoft.com/office/powerpoint/2010/main" val="3978655946"/>
      </p:ext>
    </p:extLst>
  </p:cSld>
  <p:clrMapOvr>
    <a:masterClrMapping/>
  </p:clrMapOvr>
  <mc:AlternateContent xmlns:mc="http://schemas.openxmlformats.org/markup-compatibility/2006" xmlns:p14="http://schemas.microsoft.com/office/powerpoint/2010/main">
    <mc:Choice Requires="p14">
      <p:transition spd="slow" p14:dur="2000" advTm="8855"/>
    </mc:Choice>
    <mc:Fallback xmlns="">
      <p:transition spd="slow" advTm="8855"/>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620712" y="1201444"/>
            <a:ext cx="8077142" cy="1135054"/>
          </a:xfrm>
          <a:prstGeom prst="rect">
            <a:avLst/>
          </a:prstGeom>
          <a:noFill/>
        </p:spPr>
        <p:txBody>
          <a:bodyPr wrap="square" rtlCol="0">
            <a:spAutoFit/>
          </a:bodyPr>
          <a:lstStyle/>
          <a:p>
            <a:pPr>
              <a:lnSpc>
                <a:spcPct val="150000"/>
              </a:lnSpc>
            </a:pPr>
            <a:r>
              <a:rPr lang="en-US" altLang="zh-CN" sz="2400" dirty="0" smtClean="0">
                <a:latin typeface="微软雅黑" panose="020B0503020204020204" pitchFamily="34" charset="-122"/>
                <a:ea typeface="微软雅黑" panose="020B0503020204020204" pitchFamily="34" charset="-122"/>
              </a:rPr>
              <a:t>1. </a:t>
            </a:r>
            <a:r>
              <a:rPr lang="zh-CN" altLang="en-US" sz="2400" dirty="0" smtClean="0">
                <a:latin typeface="微软雅黑" panose="020B0503020204020204" pitchFamily="34" charset="-122"/>
                <a:ea typeface="微软雅黑" panose="020B0503020204020204" pitchFamily="34" charset="-122"/>
              </a:rPr>
              <a:t>不借助实验，计算并预测各种体系的物理化学性质</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（基态</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激发态电子能量、反应势能面、光谱、偶极矩等）</a:t>
            </a:r>
            <a:endParaRPr lang="zh-CN" altLang="en-US" sz="20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863903" y="2498457"/>
            <a:ext cx="2296449" cy="523220"/>
          </a:xfrm>
          <a:prstGeom prst="rect">
            <a:avLst/>
          </a:prstGeom>
          <a:noFill/>
        </p:spPr>
        <p:txBody>
          <a:bodyPr wrap="square" rtlCol="0">
            <a:spAutoFit/>
          </a:bodyPr>
          <a:lstStyle/>
          <a:p>
            <a:r>
              <a:rPr lang="en-US" altLang="zh-CN" sz="2800" dirty="0" smtClean="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90746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pic>
        <p:nvPicPr>
          <p:cNvPr id="2" name="图片 1"/>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53654" y="1560882"/>
            <a:ext cx="3905118" cy="5040000"/>
          </a:xfrm>
          <a:prstGeom prst="rect">
            <a:avLst/>
          </a:prstGeom>
        </p:spPr>
      </p:pic>
      <p:pic>
        <p:nvPicPr>
          <p:cNvPr id="3" name="图片 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01040" y="4080882"/>
            <a:ext cx="2689558" cy="2520000"/>
          </a:xfrm>
          <a:prstGeom prst="rect">
            <a:avLst/>
          </a:prstGeom>
        </p:spPr>
      </p:pic>
      <p:pic>
        <p:nvPicPr>
          <p:cNvPr id="4" name="图片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0385" y="1539967"/>
            <a:ext cx="3061192" cy="2160000"/>
          </a:xfrm>
          <a:prstGeom prst="rect">
            <a:avLst/>
          </a:prstGeom>
        </p:spPr>
      </p:pic>
      <p:sp>
        <p:nvSpPr>
          <p:cNvPr id="9" name="矩形 8"/>
          <p:cNvSpPr/>
          <p:nvPr/>
        </p:nvSpPr>
        <p:spPr>
          <a:xfrm>
            <a:off x="337185" y="949400"/>
            <a:ext cx="12594926" cy="400110"/>
          </a:xfrm>
          <a:prstGeom prst="rect">
            <a:avLst/>
          </a:prstGeom>
        </p:spPr>
        <p:txBody>
          <a:bodyPr wrap="square">
            <a:spAutoFit/>
          </a:bodyPr>
          <a:lstStyle/>
          <a:p>
            <a:pPr algn="just"/>
            <a:r>
              <a:rPr lang="en-US" altLang="zh-CN" sz="2000" b="1" dirty="0">
                <a:latin typeface="Arial" panose="020B0604020202020204" pitchFamily="34" charset="0"/>
                <a:cs typeface="Arial" panose="020B0604020202020204" pitchFamily="34" charset="0"/>
              </a:rPr>
              <a:t>N-(2-((</a:t>
            </a:r>
            <a:r>
              <a:rPr lang="en-US" altLang="zh-CN" sz="2000" b="1" dirty="0" smtClean="0">
                <a:latin typeface="Arial" panose="020B0604020202020204" pitchFamily="34" charset="0"/>
                <a:cs typeface="Arial" panose="020B0604020202020204" pitchFamily="34" charset="0"/>
              </a:rPr>
              <a:t>2-chloro-4,5-dicyanophenyl)amino)ethyl</a:t>
            </a:r>
            <a:r>
              <a:rPr lang="en-US" altLang="zh-CN" sz="2000" b="1" dirty="0">
                <a:latin typeface="Arial" panose="020B0604020202020204" pitchFamily="34" charset="0"/>
                <a:cs typeface="Arial" panose="020B0604020202020204" pitchFamily="34" charset="0"/>
              </a:rPr>
              <a:t>)-</a:t>
            </a:r>
            <a:r>
              <a:rPr lang="en-US" altLang="zh-CN" sz="2000" b="1" dirty="0" smtClean="0">
                <a:latin typeface="Arial" panose="020B0604020202020204" pitchFamily="34" charset="0"/>
                <a:cs typeface="Arial" panose="020B0604020202020204" pitchFamily="34" charset="0"/>
              </a:rPr>
              <a:t>4-methylbenzenesulfonamide</a:t>
            </a:r>
            <a:endParaRPr lang="zh-CN" altLang="en-US" sz="2000" b="1" dirty="0">
              <a:latin typeface="Arial" panose="020B0604020202020204" pitchFamily="34" charset="0"/>
              <a:cs typeface="Arial" panose="020B0604020202020204" pitchFamily="34" charset="0"/>
            </a:endParaRPr>
          </a:p>
        </p:txBody>
      </p:sp>
      <p:sp>
        <p:nvSpPr>
          <p:cNvPr id="12" name="文本框 11"/>
          <p:cNvSpPr txBox="1"/>
          <p:nvPr/>
        </p:nvSpPr>
        <p:spPr>
          <a:xfrm>
            <a:off x="3466426" y="3428999"/>
            <a:ext cx="4487228" cy="738664"/>
          </a:xfrm>
          <a:prstGeom prst="rect">
            <a:avLst/>
          </a:prstGeom>
          <a:noFill/>
        </p:spPr>
        <p:txBody>
          <a:bodyPr wrap="square" rtlCol="0">
            <a:spAutoFit/>
          </a:bodyPr>
          <a:lstStyle/>
          <a:p>
            <a:r>
              <a:rPr lang="en-US" altLang="zh-CN" sz="1400" dirty="0" err="1" smtClean="0">
                <a:latin typeface="Arial" panose="020B0604020202020204" pitchFamily="34" charset="0"/>
                <a:cs typeface="Arial" panose="020B0604020202020204" pitchFamily="34" charset="0"/>
              </a:rPr>
              <a:t>Dege</a:t>
            </a:r>
            <a:r>
              <a:rPr lang="en-US" altLang="zh-CN" sz="1400" dirty="0" smtClean="0">
                <a:latin typeface="Arial" panose="020B0604020202020204" pitchFamily="34" charset="0"/>
                <a:cs typeface="Arial" panose="020B0604020202020204" pitchFamily="34" charset="0"/>
              </a:rPr>
              <a:t>. </a:t>
            </a:r>
            <a:r>
              <a:rPr lang="en-US" altLang="zh-CN" sz="1400" dirty="0">
                <a:latin typeface="Arial" panose="020B0604020202020204" pitchFamily="34" charset="0"/>
                <a:cs typeface="Arial" panose="020B0604020202020204" pitchFamily="34" charset="0"/>
              </a:rPr>
              <a:t>N, </a:t>
            </a:r>
            <a:r>
              <a:rPr lang="en-US" altLang="zh-CN" sz="1400" dirty="0" err="1" smtClean="0">
                <a:latin typeface="Arial" panose="020B0604020202020204" pitchFamily="34" charset="0"/>
                <a:cs typeface="Arial" panose="020B0604020202020204" pitchFamily="34" charset="0"/>
              </a:rPr>
              <a:t>Gökce</a:t>
            </a:r>
            <a:r>
              <a:rPr lang="en-US" altLang="zh-CN" sz="1400" dirty="0" smtClean="0">
                <a:latin typeface="Arial" panose="020B0604020202020204" pitchFamily="34" charset="0"/>
                <a:cs typeface="Arial" panose="020B0604020202020204" pitchFamily="34" charset="0"/>
              </a:rPr>
              <a:t>. </a:t>
            </a:r>
            <a:r>
              <a:rPr lang="en-US" altLang="zh-CN" sz="1400" dirty="0">
                <a:latin typeface="Arial" panose="020B0604020202020204" pitchFamily="34" charset="0"/>
                <a:cs typeface="Arial" panose="020B0604020202020204" pitchFamily="34" charset="0"/>
              </a:rPr>
              <a:t>H, </a:t>
            </a:r>
            <a:r>
              <a:rPr lang="en-US" altLang="zh-CN" sz="1400" dirty="0" err="1" smtClean="0">
                <a:latin typeface="Arial" panose="020B0604020202020204" pitchFamily="34" charset="0"/>
                <a:cs typeface="Arial" panose="020B0604020202020204" pitchFamily="34" charset="0"/>
              </a:rPr>
              <a:t>Doǧan</a:t>
            </a:r>
            <a:r>
              <a:rPr lang="en-US" altLang="zh-CN" sz="1400" dirty="0" smtClean="0">
                <a:latin typeface="Arial" panose="020B0604020202020204" pitchFamily="34" charset="0"/>
                <a:cs typeface="Arial" panose="020B0604020202020204" pitchFamily="34" charset="0"/>
              </a:rPr>
              <a:t>. O. E, Alpaslan. G, </a:t>
            </a:r>
            <a:r>
              <a:rPr lang="en-US" altLang="zh-CN" sz="1400" dirty="0" err="1" smtClean="0">
                <a:latin typeface="Arial" panose="020B0604020202020204" pitchFamily="34" charset="0"/>
                <a:cs typeface="Arial" panose="020B0604020202020204" pitchFamily="34" charset="0"/>
              </a:rPr>
              <a:t>Aǧar</a:t>
            </a:r>
            <a:r>
              <a:rPr lang="en-US" altLang="zh-CN" sz="1400" dirty="0" smtClean="0">
                <a:latin typeface="Arial" panose="020B0604020202020204" pitchFamily="34" charset="0"/>
                <a:cs typeface="Arial" panose="020B0604020202020204" pitchFamily="34" charset="0"/>
              </a:rPr>
              <a:t>. T, Muthu. S and </a:t>
            </a:r>
            <a:r>
              <a:rPr lang="en-US" altLang="zh-CN" sz="1400" dirty="0" err="1" smtClean="0">
                <a:latin typeface="Arial" panose="020B0604020202020204" pitchFamily="34" charset="0"/>
                <a:cs typeface="Arial" panose="020B0604020202020204" pitchFamily="34" charset="0"/>
              </a:rPr>
              <a:t>Sert</a:t>
            </a:r>
            <a:r>
              <a:rPr lang="en-US" altLang="zh-CN" sz="1400" dirty="0" smtClean="0">
                <a:latin typeface="Arial" panose="020B0604020202020204" pitchFamily="34" charset="0"/>
                <a:cs typeface="Arial" panose="020B0604020202020204" pitchFamily="34" charset="0"/>
              </a:rPr>
              <a:t>. Y. </a:t>
            </a:r>
            <a:r>
              <a:rPr lang="en-US" altLang="zh-CN" sz="1400" i="1" dirty="0" smtClean="0">
                <a:latin typeface="Arial" panose="020B0604020202020204" pitchFamily="34" charset="0"/>
                <a:cs typeface="Arial" panose="020B0604020202020204" pitchFamily="34" charset="0"/>
              </a:rPr>
              <a:t>COLLOIDS SURFACES A.</a:t>
            </a:r>
            <a:r>
              <a:rPr lang="en-US" altLang="zh-CN" sz="1400" dirty="0" smtClean="0">
                <a:latin typeface="Arial" panose="020B0604020202020204" pitchFamily="34" charset="0"/>
                <a:cs typeface="Arial" panose="020B0604020202020204" pitchFamily="34" charset="0"/>
              </a:rPr>
              <a:t> </a:t>
            </a:r>
            <a:r>
              <a:rPr lang="en-US" altLang="zh-CN" sz="1400" i="1" dirty="0" smtClean="0">
                <a:latin typeface="Arial" panose="020B0604020202020204" pitchFamily="34" charset="0"/>
                <a:cs typeface="Arial" panose="020B0604020202020204" pitchFamily="34" charset="0"/>
              </a:rPr>
              <a:t>628</a:t>
            </a:r>
            <a:r>
              <a:rPr lang="en-US" altLang="zh-CN" sz="1400" dirty="0" smtClean="0">
                <a:latin typeface="Arial" panose="020B0604020202020204" pitchFamily="34" charset="0"/>
                <a:cs typeface="Arial" panose="020B0604020202020204" pitchFamily="34" charset="0"/>
              </a:rPr>
              <a:t>, 128311. </a:t>
            </a:r>
            <a:r>
              <a:rPr lang="en-US" altLang="zh-CN" sz="1400" b="1" dirty="0" smtClean="0">
                <a:latin typeface="Arial" panose="020B0604020202020204" pitchFamily="34" charset="0"/>
                <a:cs typeface="Arial" panose="020B0604020202020204" pitchFamily="34" charset="0"/>
              </a:rPr>
              <a:t>2022.</a:t>
            </a:r>
            <a:endParaRPr lang="zh-CN" altLang="en-US" sz="1400" b="1"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3677432"/>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620712" y="1201444"/>
            <a:ext cx="8077142" cy="1135054"/>
          </a:xfrm>
          <a:prstGeom prst="rect">
            <a:avLst/>
          </a:prstGeom>
          <a:noFill/>
        </p:spPr>
        <p:txBody>
          <a:bodyPr wrap="square" rtlCol="0">
            <a:spAutoFit/>
          </a:bodyPr>
          <a:lstStyle/>
          <a:p>
            <a:pPr>
              <a:lnSpc>
                <a:spcPct val="150000"/>
              </a:lnSpc>
            </a:pPr>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1.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不借助实验，计算并预测各种体系的物理化学性质</a:t>
            </a:r>
            <a:endParaRPr lang="en-US" altLang="zh-CN" sz="2400" dirty="0" smtClean="0">
              <a:solidFill>
                <a:schemeClr val="bg2">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（基态</a:t>
            </a:r>
            <a:r>
              <a:rPr lang="en-US" altLang="zh-CN" sz="2000" dirty="0" smtClean="0">
                <a:solidFill>
                  <a:schemeClr val="bg2">
                    <a:lumMod val="75000"/>
                  </a:schemeClr>
                </a:solidFill>
                <a:latin typeface="微软雅黑" panose="020B0503020204020204" pitchFamily="34" charset="-122"/>
                <a:ea typeface="微软雅黑" panose="020B0503020204020204" pitchFamily="34" charset="-122"/>
              </a:rPr>
              <a:t>/</a:t>
            </a: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激发态电子能量、反应势能面、光谱、偶极矩等）</a:t>
            </a:r>
            <a:endParaRPr lang="zh-CN" altLang="en-US" sz="20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20712" y="2713195"/>
            <a:ext cx="7633797"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2. </a:t>
            </a:r>
            <a:r>
              <a:rPr lang="zh-CN" altLang="en-US" sz="2400" dirty="0" smtClean="0">
                <a:latin typeface="微软雅黑" panose="020B0503020204020204" pitchFamily="34" charset="-122"/>
                <a:ea typeface="微软雅黑" panose="020B0503020204020204" pitchFamily="34" charset="-122"/>
              </a:rPr>
              <a:t>分析并预测化学反应的动力学行为</a:t>
            </a:r>
            <a:r>
              <a:rPr lang="en-US" altLang="zh-CN" sz="2400" dirty="0" smtClean="0">
                <a:latin typeface="微软雅黑" panose="020B0503020204020204" pitchFamily="34" charset="-122"/>
                <a:ea typeface="微软雅黑" panose="020B0503020204020204" pitchFamily="34" charset="-122"/>
              </a:rPr>
              <a:t>  </a:t>
            </a:r>
            <a:endParaRPr lang="zh-CN" altLang="en-US"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15112" y="3520363"/>
            <a:ext cx="2296449" cy="523220"/>
          </a:xfrm>
          <a:prstGeom prst="rect">
            <a:avLst/>
          </a:prstGeom>
          <a:noFill/>
        </p:spPr>
        <p:txBody>
          <a:bodyPr wrap="square" rtlCol="0">
            <a:spAutoFit/>
          </a:bodyPr>
          <a:lstStyle/>
          <a:p>
            <a:r>
              <a:rPr lang="en-US" altLang="zh-CN" sz="2800" dirty="0" smtClean="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9926555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pic>
        <p:nvPicPr>
          <p:cNvPr id="13" name="Main graphic"/>
          <p:cNvPicPr>
            <a:picLocks noChangeAspect="1"/>
          </p:cNvPicPr>
          <p:nvPr/>
        </p:nvPicPr>
        <p:blipFill>
          <a:blip r:embed="rId6"/>
          <a:stretch/>
        </p:blipFill>
        <p:spPr>
          <a:xfrm>
            <a:off x="742315" y="1705546"/>
            <a:ext cx="3783539" cy="2160000"/>
          </a:xfrm>
          <a:prstGeom prst="rect">
            <a:avLst/>
          </a:prstGeom>
          <a:ln>
            <a:noFill/>
          </a:ln>
        </p:spPr>
      </p:pic>
      <p:pic>
        <p:nvPicPr>
          <p:cNvPr id="15" name="Main graphic"/>
          <p:cNvPicPr>
            <a:picLocks noChangeAspect="1"/>
          </p:cNvPicPr>
          <p:nvPr/>
        </p:nvPicPr>
        <p:blipFill>
          <a:blip r:embed="rId7"/>
          <a:stretch/>
        </p:blipFill>
        <p:spPr>
          <a:xfrm>
            <a:off x="742315" y="4178512"/>
            <a:ext cx="5320519" cy="2160000"/>
          </a:xfrm>
          <a:prstGeom prst="rect">
            <a:avLst/>
          </a:prstGeom>
          <a:ln>
            <a:noFill/>
          </a:ln>
        </p:spPr>
      </p:pic>
      <p:pic>
        <p:nvPicPr>
          <p:cNvPr id="16" name="Main graphic"/>
          <p:cNvPicPr/>
          <p:nvPr/>
        </p:nvPicPr>
        <p:blipFill>
          <a:blip r:embed="rId8"/>
          <a:stretch/>
        </p:blipFill>
        <p:spPr>
          <a:xfrm>
            <a:off x="6484733" y="1664746"/>
            <a:ext cx="4787640" cy="3809880"/>
          </a:xfrm>
          <a:prstGeom prst="rect">
            <a:avLst/>
          </a:prstGeom>
          <a:ln>
            <a:noFill/>
          </a:ln>
        </p:spPr>
      </p:pic>
      <p:sp>
        <p:nvSpPr>
          <p:cNvPr id="5" name="矩形 4"/>
          <p:cNvSpPr/>
          <p:nvPr/>
        </p:nvSpPr>
        <p:spPr>
          <a:xfrm>
            <a:off x="418147" y="1005823"/>
            <a:ext cx="4067139" cy="461665"/>
          </a:xfrm>
          <a:prstGeom prst="rect">
            <a:avLst/>
          </a:prstGeom>
        </p:spPr>
        <p:txBody>
          <a:bodyPr wrap="none">
            <a:spAutoFit/>
          </a:bodyPr>
          <a:lstStyle/>
          <a:p>
            <a:r>
              <a:rPr lang="en-US" altLang="zh-CN" sz="2400" b="1" dirty="0">
                <a:solidFill>
                  <a:srgbClr val="151515"/>
                </a:solidFill>
                <a:latin typeface="Arial" panose="020B0604020202020204" pitchFamily="34" charset="0"/>
                <a:cs typeface="Arial" panose="020B0604020202020204" pitchFamily="34" charset="0"/>
              </a:rPr>
              <a:t>Photocatalytic </a:t>
            </a:r>
            <a:r>
              <a:rPr lang="en-US" altLang="zh-CN" sz="2400" b="1" dirty="0" smtClean="0">
                <a:solidFill>
                  <a:srgbClr val="151515"/>
                </a:solidFill>
                <a:latin typeface="Arial" panose="020B0604020202020204" pitchFamily="34" charset="0"/>
                <a:cs typeface="Arial" panose="020B0604020202020204" pitchFamily="34" charset="0"/>
              </a:rPr>
              <a:t>mechanism</a:t>
            </a:r>
            <a:endParaRPr lang="zh-CN" altLang="en-US" sz="2400" b="1" dirty="0">
              <a:latin typeface="Arial" panose="020B0604020202020204" pitchFamily="34" charset="0"/>
              <a:cs typeface="Arial" panose="020B0604020202020204" pitchFamily="34" charset="0"/>
            </a:endParaRPr>
          </a:p>
        </p:txBody>
      </p:sp>
      <p:sp>
        <p:nvSpPr>
          <p:cNvPr id="7" name="文本框 6"/>
          <p:cNvSpPr txBox="1"/>
          <p:nvPr/>
        </p:nvSpPr>
        <p:spPr>
          <a:xfrm>
            <a:off x="6446304" y="5743058"/>
            <a:ext cx="4980562" cy="523220"/>
          </a:xfrm>
          <a:prstGeom prst="rect">
            <a:avLst/>
          </a:prstGeom>
          <a:noFill/>
        </p:spPr>
        <p:txBody>
          <a:bodyPr wrap="square" rtlCol="0">
            <a:spAutoFit/>
          </a:bodyPr>
          <a:lstStyle/>
          <a:p>
            <a:r>
              <a:rPr lang="en-US" altLang="zh-CN" sz="1400" dirty="0" smtClean="0">
                <a:latin typeface="Arial" panose="020B0604020202020204" pitchFamily="34" charset="0"/>
                <a:cs typeface="Arial" panose="020B0604020202020204" pitchFamily="34" charset="0"/>
              </a:rPr>
              <a:t>Ma. J, Xiao. D, Liu. X, Peng. L, Fang. Q, Fang. W and Cui. G. </a:t>
            </a:r>
            <a:r>
              <a:rPr lang="en-US" altLang="zh-CN" sz="1400" i="1" dirty="0">
                <a:latin typeface="Arial" panose="020B0604020202020204" pitchFamily="34" charset="0"/>
                <a:cs typeface="Arial" panose="020B0604020202020204" pitchFamily="34" charset="0"/>
              </a:rPr>
              <a:t>ACS </a:t>
            </a:r>
            <a:r>
              <a:rPr lang="en-US" altLang="zh-CN" sz="1400" i="1" dirty="0" err="1">
                <a:latin typeface="Arial" panose="020B0604020202020204" pitchFamily="34" charset="0"/>
                <a:cs typeface="Arial" panose="020B0604020202020204" pitchFamily="34" charset="0"/>
              </a:rPr>
              <a:t>Catal</a:t>
            </a:r>
            <a:r>
              <a:rPr lang="en-US" altLang="zh-CN" sz="1400" i="1" dirty="0">
                <a:latin typeface="Arial" panose="020B0604020202020204" pitchFamily="34" charset="0"/>
                <a:cs typeface="Arial" panose="020B0604020202020204" pitchFamily="34" charset="0"/>
              </a:rPr>
              <a:t>.</a:t>
            </a:r>
            <a:r>
              <a:rPr lang="en-US" altLang="zh-CN" sz="1400" dirty="0">
                <a:latin typeface="Arial" panose="020B0604020202020204" pitchFamily="34" charset="0"/>
                <a:cs typeface="Arial" panose="020B0604020202020204" pitchFamily="34" charset="0"/>
              </a:rPr>
              <a:t> </a:t>
            </a:r>
            <a:r>
              <a:rPr lang="en-US" altLang="zh-CN" sz="1400" i="1" dirty="0" smtClean="0">
                <a:latin typeface="Arial" panose="020B0604020202020204" pitchFamily="34" charset="0"/>
                <a:cs typeface="Arial" panose="020B0604020202020204" pitchFamily="34" charset="0"/>
              </a:rPr>
              <a:t>15</a:t>
            </a:r>
            <a:r>
              <a:rPr lang="en-US" altLang="zh-CN" sz="1400" dirty="0" smtClean="0">
                <a:latin typeface="Arial" panose="020B0604020202020204" pitchFamily="34" charset="0"/>
                <a:cs typeface="Arial" panose="020B0604020202020204" pitchFamily="34" charset="0"/>
              </a:rPr>
              <a:t>, 13645-13656. </a:t>
            </a:r>
            <a:r>
              <a:rPr lang="en-US" altLang="zh-CN" sz="1400" b="1" dirty="0" smtClean="0">
                <a:latin typeface="Arial" panose="020B0604020202020204" pitchFamily="34" charset="0"/>
                <a:cs typeface="Arial" panose="020B0604020202020204" pitchFamily="34" charset="0"/>
              </a:rPr>
              <a:t>2025</a:t>
            </a:r>
            <a:r>
              <a:rPr lang="en-US" altLang="zh-CN" sz="1400" dirty="0" smtClean="0">
                <a:latin typeface="Arial" panose="020B0604020202020204" pitchFamily="34" charset="0"/>
                <a:cs typeface="Arial" panose="020B0604020202020204" pitchFamily="34" charset="0"/>
              </a:rPr>
              <a:t>.</a:t>
            </a:r>
            <a:endParaRPr lang="zh-CN"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3234426"/>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620712" y="1201444"/>
            <a:ext cx="8077142" cy="1135054"/>
          </a:xfrm>
          <a:prstGeom prst="rect">
            <a:avLst/>
          </a:prstGeom>
          <a:noFill/>
        </p:spPr>
        <p:txBody>
          <a:bodyPr wrap="square" rtlCol="0">
            <a:spAutoFit/>
          </a:bodyPr>
          <a:lstStyle/>
          <a:p>
            <a:pPr>
              <a:lnSpc>
                <a:spcPct val="150000"/>
              </a:lnSpc>
            </a:pPr>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1.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不借助实验，计算并预测各种体系的物理化学性质</a:t>
            </a:r>
            <a:endParaRPr lang="en-US" altLang="zh-CN" sz="2400" dirty="0" smtClean="0">
              <a:solidFill>
                <a:schemeClr val="bg2">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（基态</a:t>
            </a:r>
            <a:r>
              <a:rPr lang="en-US" altLang="zh-CN" sz="2000" dirty="0" smtClean="0">
                <a:solidFill>
                  <a:schemeClr val="bg2">
                    <a:lumMod val="75000"/>
                  </a:schemeClr>
                </a:solidFill>
                <a:latin typeface="微软雅黑" panose="020B0503020204020204" pitchFamily="34" charset="-122"/>
                <a:ea typeface="微软雅黑" panose="020B0503020204020204" pitchFamily="34" charset="-122"/>
              </a:rPr>
              <a:t>/</a:t>
            </a: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激发态电子能量、反应势能面、光谱、偶极矩等）</a:t>
            </a:r>
            <a:endParaRPr lang="zh-CN" altLang="en-US" sz="20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20712" y="2713195"/>
            <a:ext cx="7633797" cy="461665"/>
          </a:xfrm>
          <a:prstGeom prst="rect">
            <a:avLst/>
          </a:prstGeom>
          <a:noFill/>
        </p:spPr>
        <p:txBody>
          <a:bodyPr wrap="square" rtlCol="0">
            <a:spAutoFit/>
          </a:bodyPr>
          <a:lstStyle/>
          <a:p>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2.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分析并预测化学反应的动力学行为</a:t>
            </a:r>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20712" y="3731791"/>
            <a:ext cx="9819178" cy="830997"/>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3. </a:t>
            </a:r>
            <a:r>
              <a:rPr lang="zh-CN" altLang="en-US" sz="2400" dirty="0" smtClean="0">
                <a:latin typeface="微软雅黑" panose="020B0503020204020204" pitchFamily="34" charset="-122"/>
                <a:ea typeface="微软雅黑" panose="020B0503020204020204" pitchFamily="34" charset="-122"/>
              </a:rPr>
              <a:t>借助理论与机器学习方法，大幅缩减实验中寻找原料、设计反应与合成新分子的成本</a:t>
            </a:r>
            <a:endParaRPr lang="zh-CN" altLang="en-US" sz="2400"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620712" y="4741029"/>
            <a:ext cx="2296449" cy="523220"/>
          </a:xfrm>
          <a:prstGeom prst="rect">
            <a:avLst/>
          </a:prstGeom>
          <a:noFill/>
        </p:spPr>
        <p:txBody>
          <a:bodyPr wrap="square" rtlCol="0">
            <a:spAutoFit/>
          </a:bodyPr>
          <a:lstStyle/>
          <a:p>
            <a:r>
              <a:rPr lang="en-US" altLang="zh-CN" sz="2800" dirty="0" smtClean="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748172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pic>
        <p:nvPicPr>
          <p:cNvPr id="8" name="图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3902" y="1381525"/>
            <a:ext cx="7003043" cy="2340000"/>
          </a:xfrm>
          <a:prstGeom prst="rect">
            <a:avLst/>
          </a:prstGeom>
        </p:spPr>
      </p:pic>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07967" y="3842946"/>
            <a:ext cx="7421306" cy="2880000"/>
          </a:xfrm>
          <a:prstGeom prst="rect">
            <a:avLst/>
          </a:prstGeom>
        </p:spPr>
      </p:pic>
      <p:sp>
        <p:nvSpPr>
          <p:cNvPr id="17" name="矩形 16"/>
          <p:cNvSpPr/>
          <p:nvPr/>
        </p:nvSpPr>
        <p:spPr>
          <a:xfrm>
            <a:off x="418147" y="939458"/>
            <a:ext cx="3789820" cy="461665"/>
          </a:xfrm>
          <a:prstGeom prst="rect">
            <a:avLst/>
          </a:prstGeom>
        </p:spPr>
        <p:txBody>
          <a:bodyPr wrap="none">
            <a:spAutoFit/>
          </a:bodyPr>
          <a:lstStyle/>
          <a:p>
            <a:r>
              <a:rPr lang="en-US" altLang="zh-CN" sz="2400" b="1" dirty="0" smtClean="0">
                <a:solidFill>
                  <a:srgbClr val="151515"/>
                </a:solidFill>
                <a:latin typeface="Arial" panose="020B0604020202020204" pitchFamily="34" charset="0"/>
                <a:cs typeface="Arial" panose="020B0604020202020204" pitchFamily="34" charset="0"/>
              </a:rPr>
              <a:t>Design of efficient OLED</a:t>
            </a:r>
            <a:endParaRPr lang="zh-CN" altLang="en-US" sz="2400" b="1" dirty="0">
              <a:latin typeface="Arial" panose="020B0604020202020204" pitchFamily="34" charset="0"/>
              <a:cs typeface="Arial" panose="020B0604020202020204" pitchFamily="34" charset="0"/>
            </a:endParaRPr>
          </a:p>
        </p:txBody>
      </p:sp>
      <p:sp>
        <p:nvSpPr>
          <p:cNvPr id="3" name="文本框 2"/>
          <p:cNvSpPr txBox="1"/>
          <p:nvPr/>
        </p:nvSpPr>
        <p:spPr>
          <a:xfrm>
            <a:off x="3406303" y="3653649"/>
            <a:ext cx="5165386" cy="307777"/>
          </a:xfrm>
          <a:prstGeom prst="rect">
            <a:avLst/>
          </a:prstGeom>
          <a:noFill/>
        </p:spPr>
        <p:txBody>
          <a:bodyPr wrap="square" rtlCol="0">
            <a:spAutoFit/>
          </a:bodyPr>
          <a:lstStyle/>
          <a:p>
            <a:r>
              <a:rPr lang="en-US" altLang="zh-CN" sz="1400" dirty="0" smtClean="0">
                <a:latin typeface="Arial" panose="020B0604020202020204" pitchFamily="34" charset="0"/>
                <a:cs typeface="Arial" panose="020B0604020202020204" pitchFamily="34" charset="0"/>
              </a:rPr>
              <a:t>Gómez-</a:t>
            </a:r>
            <a:r>
              <a:rPr lang="en-US" altLang="zh-CN" sz="1400" dirty="0" err="1" smtClean="0">
                <a:latin typeface="Arial" panose="020B0604020202020204" pitchFamily="34" charset="0"/>
                <a:cs typeface="Arial" panose="020B0604020202020204" pitchFamily="34" charset="0"/>
              </a:rPr>
              <a:t>Bombarelli</a:t>
            </a:r>
            <a:r>
              <a:rPr lang="en-US" altLang="zh-CN" sz="1400" dirty="0" smtClean="0">
                <a:latin typeface="Arial" panose="020B0604020202020204" pitchFamily="34" charset="0"/>
                <a:cs typeface="Arial" panose="020B0604020202020204" pitchFamily="34" charset="0"/>
              </a:rPr>
              <a:t>. R, </a:t>
            </a:r>
            <a:r>
              <a:rPr lang="en-US" altLang="zh-CN" sz="1400" i="1" dirty="0" smtClean="0">
                <a:latin typeface="Arial" panose="020B0604020202020204" pitchFamily="34" charset="0"/>
                <a:cs typeface="Arial" panose="020B0604020202020204" pitchFamily="34" charset="0"/>
              </a:rPr>
              <a:t>et al. Nat. Mater. 15, </a:t>
            </a:r>
            <a:r>
              <a:rPr lang="en-US" altLang="zh-CN" sz="1400" dirty="0" smtClean="0">
                <a:latin typeface="Arial" panose="020B0604020202020204" pitchFamily="34" charset="0"/>
                <a:cs typeface="Arial" panose="020B0604020202020204" pitchFamily="34" charset="0"/>
              </a:rPr>
              <a:t>1120-1127</a:t>
            </a:r>
            <a:r>
              <a:rPr lang="en-US" altLang="zh-CN" sz="1400" i="1" dirty="0" smtClean="0">
                <a:latin typeface="Arial" panose="020B0604020202020204" pitchFamily="34" charset="0"/>
                <a:cs typeface="Arial" panose="020B0604020202020204" pitchFamily="34" charset="0"/>
              </a:rPr>
              <a:t>. </a:t>
            </a:r>
            <a:r>
              <a:rPr lang="en-US" altLang="zh-CN" sz="1400" b="1" dirty="0" smtClean="0">
                <a:latin typeface="Arial" panose="020B0604020202020204" pitchFamily="34" charset="0"/>
                <a:cs typeface="Arial" panose="020B0604020202020204" pitchFamily="34" charset="0"/>
              </a:rPr>
              <a:t>2016</a:t>
            </a:r>
            <a:r>
              <a:rPr lang="en-US" altLang="zh-CN" sz="1400" i="1" dirty="0" smtClean="0">
                <a:latin typeface="Arial" panose="020B0604020202020204" pitchFamily="34" charset="0"/>
                <a:cs typeface="Arial" panose="020B0604020202020204" pitchFamily="34" charset="0"/>
              </a:rPr>
              <a:t>. </a:t>
            </a:r>
            <a:endParaRPr lang="zh-CN" altLang="en-US" sz="1400" i="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4418237"/>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5" y="288319"/>
            <a:ext cx="7524484"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theoretical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620712" y="1201444"/>
            <a:ext cx="8077142" cy="1135054"/>
          </a:xfrm>
          <a:prstGeom prst="rect">
            <a:avLst/>
          </a:prstGeom>
          <a:noFill/>
        </p:spPr>
        <p:txBody>
          <a:bodyPr wrap="square" rtlCol="0">
            <a:spAutoFit/>
          </a:bodyPr>
          <a:lstStyle/>
          <a:p>
            <a:pPr>
              <a:lnSpc>
                <a:spcPct val="150000"/>
              </a:lnSpc>
            </a:pPr>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1.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不借助实验，计算并预测各种体系的物理化学性质</a:t>
            </a:r>
            <a:endParaRPr lang="en-US" altLang="zh-CN" sz="2400" dirty="0" smtClean="0">
              <a:solidFill>
                <a:schemeClr val="bg2">
                  <a:lumMod val="75000"/>
                </a:schemeClr>
              </a:solidFill>
              <a:latin typeface="微软雅黑" panose="020B0503020204020204" pitchFamily="34" charset="-122"/>
              <a:ea typeface="微软雅黑" panose="020B0503020204020204" pitchFamily="34" charset="-122"/>
            </a:endParaRPr>
          </a:p>
          <a:p>
            <a:pPr>
              <a:lnSpc>
                <a:spcPct val="150000"/>
              </a:lnSpc>
            </a:pP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（基态</a:t>
            </a:r>
            <a:r>
              <a:rPr lang="en-US" altLang="zh-CN" sz="2000" dirty="0" smtClean="0">
                <a:solidFill>
                  <a:schemeClr val="bg2">
                    <a:lumMod val="75000"/>
                  </a:schemeClr>
                </a:solidFill>
                <a:latin typeface="微软雅黑" panose="020B0503020204020204" pitchFamily="34" charset="-122"/>
                <a:ea typeface="微软雅黑" panose="020B0503020204020204" pitchFamily="34" charset="-122"/>
              </a:rPr>
              <a:t>/</a:t>
            </a:r>
            <a:r>
              <a:rPr lang="zh-CN" altLang="en-US" sz="2000" dirty="0" smtClean="0">
                <a:solidFill>
                  <a:schemeClr val="bg2">
                    <a:lumMod val="75000"/>
                  </a:schemeClr>
                </a:solidFill>
                <a:latin typeface="微软雅黑" panose="020B0503020204020204" pitchFamily="34" charset="-122"/>
                <a:ea typeface="微软雅黑" panose="020B0503020204020204" pitchFamily="34" charset="-122"/>
              </a:rPr>
              <a:t>激发态电子能量、反应势能面、光谱、偶极矩等）</a:t>
            </a:r>
            <a:endParaRPr lang="zh-CN" altLang="en-US" sz="20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620712" y="2713195"/>
            <a:ext cx="7633797" cy="461665"/>
          </a:xfrm>
          <a:prstGeom prst="rect">
            <a:avLst/>
          </a:prstGeom>
          <a:noFill/>
        </p:spPr>
        <p:txBody>
          <a:bodyPr wrap="square" rtlCol="0">
            <a:spAutoFit/>
          </a:bodyPr>
          <a:lstStyle/>
          <a:p>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2.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分析并预测化学反应的动力学行为</a:t>
            </a:r>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  </a:t>
            </a:r>
            <a:endParaRPr lang="zh-CN" altLang="en-US" sz="24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620712" y="3731791"/>
            <a:ext cx="9819178" cy="830997"/>
          </a:xfrm>
          <a:prstGeom prst="rect">
            <a:avLst/>
          </a:prstGeom>
          <a:noFill/>
        </p:spPr>
        <p:txBody>
          <a:bodyPr wrap="square" rtlCol="0">
            <a:spAutoFit/>
          </a:bodyPr>
          <a:lstStyle/>
          <a:p>
            <a:r>
              <a:rPr lang="en-US" altLang="zh-CN" sz="2400" dirty="0" smtClean="0">
                <a:solidFill>
                  <a:schemeClr val="bg2">
                    <a:lumMod val="75000"/>
                  </a:schemeClr>
                </a:solidFill>
                <a:latin typeface="微软雅黑" panose="020B0503020204020204" pitchFamily="34" charset="-122"/>
                <a:ea typeface="微软雅黑" panose="020B0503020204020204" pitchFamily="34" charset="-122"/>
              </a:rPr>
              <a:t>3. </a:t>
            </a:r>
            <a:r>
              <a:rPr lang="zh-CN" altLang="en-US" sz="2400" dirty="0" smtClean="0">
                <a:solidFill>
                  <a:schemeClr val="bg2">
                    <a:lumMod val="75000"/>
                  </a:schemeClr>
                </a:solidFill>
                <a:latin typeface="微软雅黑" panose="020B0503020204020204" pitchFamily="34" charset="-122"/>
                <a:ea typeface="微软雅黑" panose="020B0503020204020204" pitchFamily="34" charset="-122"/>
              </a:rPr>
              <a:t>借助理论与机器学习方法，大幅缩减实验中寻找原料、设计反应与合成新分子的成本</a:t>
            </a:r>
            <a:endParaRPr lang="zh-CN" altLang="en-US" sz="2400"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20712" y="4741029"/>
            <a:ext cx="2296449" cy="523220"/>
          </a:xfrm>
          <a:prstGeom prst="rect">
            <a:avLst/>
          </a:prstGeom>
          <a:noFill/>
        </p:spPr>
        <p:txBody>
          <a:bodyPr wrap="square" rtlCol="0">
            <a:spAutoFit/>
          </a:bodyPr>
          <a:lstStyle/>
          <a:p>
            <a:r>
              <a:rPr lang="en-US" altLang="zh-CN" sz="2800" dirty="0" smtClean="0">
                <a:latin typeface="Arial" panose="020B0604020202020204" pitchFamily="34" charset="0"/>
                <a:cs typeface="Arial" panose="020B0604020202020204" pitchFamily="34" charset="0"/>
              </a:rPr>
              <a:t>……</a:t>
            </a:r>
            <a:endParaRPr lang="zh-CN" altLang="en-US" sz="2800" dirty="0">
              <a:latin typeface="Arial" panose="020B0604020202020204" pitchFamily="34" charset="0"/>
              <a:cs typeface="Arial" panose="020B0604020202020204" pitchFamily="34" charset="0"/>
            </a:endParaRPr>
          </a:p>
        </p:txBody>
      </p:sp>
      <p:sp>
        <p:nvSpPr>
          <p:cNvPr id="11" name="文本框 10"/>
          <p:cNvSpPr txBox="1"/>
          <p:nvPr/>
        </p:nvSpPr>
        <p:spPr>
          <a:xfrm>
            <a:off x="620712" y="6080819"/>
            <a:ext cx="9819178"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终极目标：通过理论计算</a:t>
            </a:r>
            <a:r>
              <a:rPr lang="zh-CN" altLang="en-US" sz="2400" dirty="0" smtClean="0">
                <a:solidFill>
                  <a:srgbClr val="FF0000"/>
                </a:solidFill>
                <a:latin typeface="微软雅黑" panose="020B0503020204020204" pitchFamily="34" charset="-122"/>
                <a:ea typeface="微软雅黑" panose="020B0503020204020204" pitchFamily="34" charset="-122"/>
              </a:rPr>
              <a:t>直接指导</a:t>
            </a:r>
            <a:r>
              <a:rPr lang="zh-CN" altLang="en-US" sz="2400" dirty="0" smtClean="0">
                <a:latin typeface="微软雅黑" panose="020B0503020204020204" pitchFamily="34" charset="-122"/>
                <a:ea typeface="微软雅黑" panose="020B0503020204020204" pitchFamily="34" charset="-122"/>
              </a:rPr>
              <a:t>化学实验</a:t>
            </a:r>
            <a:endParaRPr lang="zh-CN" altLang="en-US" sz="2400" dirty="0">
              <a:latin typeface="微软雅黑" panose="020B0503020204020204" pitchFamily="34" charset="-122"/>
              <a:ea typeface="微软雅黑" panose="020B0503020204020204" pitchFamily="34" charset="-122"/>
            </a:endParaRPr>
          </a:p>
        </p:txBody>
      </p:sp>
      <p:sp>
        <p:nvSpPr>
          <p:cNvPr id="17" name="文本框 16"/>
          <p:cNvSpPr txBox="1"/>
          <p:nvPr/>
        </p:nvSpPr>
        <p:spPr>
          <a:xfrm>
            <a:off x="615112" y="5435525"/>
            <a:ext cx="8082742" cy="40011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目前理论与计算化学还处于定性与定量解释现象的阶段</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3795623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4" y="288319"/>
            <a:ext cx="806917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Research status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2" name="文本框 1"/>
          <p:cNvSpPr txBox="1"/>
          <p:nvPr/>
        </p:nvSpPr>
        <p:spPr>
          <a:xfrm>
            <a:off x="701040" y="1304746"/>
            <a:ext cx="6818441"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1. </a:t>
            </a:r>
            <a:r>
              <a:rPr lang="zh-CN" altLang="en-US" sz="2400" dirty="0" smtClean="0">
                <a:latin typeface="微软雅黑" panose="020B0503020204020204" pitchFamily="34" charset="-122"/>
                <a:ea typeface="微软雅黑" panose="020B0503020204020204" pitchFamily="34" charset="-122"/>
              </a:rPr>
              <a:t>讨论具体的物理</a:t>
            </a:r>
            <a:r>
              <a:rPr lang="en-US" altLang="zh-CN" sz="2400" dirty="0" smtClean="0">
                <a:latin typeface="微软雅黑" panose="020B0503020204020204" pitchFamily="34" charset="-122"/>
                <a:ea typeface="微软雅黑" panose="020B0503020204020204" pitchFamily="34" charset="-122"/>
              </a:rPr>
              <a:t>/</a:t>
            </a:r>
            <a:r>
              <a:rPr lang="zh-CN" altLang="en-US" sz="2400" dirty="0" smtClean="0">
                <a:latin typeface="微软雅黑" panose="020B0503020204020204" pitchFamily="34" charset="-122"/>
                <a:ea typeface="微软雅黑" panose="020B0503020204020204" pitchFamily="34" charset="-122"/>
              </a:rPr>
              <a:t>化学现象（更接近凝聚态理论）</a:t>
            </a:r>
            <a:endParaRPr lang="zh-CN" altLang="en-US" sz="24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701040" y="2425169"/>
            <a:ext cx="3226571"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2. </a:t>
            </a:r>
            <a:r>
              <a:rPr lang="zh-CN" altLang="en-US" sz="2400" dirty="0" smtClean="0">
                <a:latin typeface="微软雅黑" panose="020B0503020204020204" pitchFamily="34" charset="-122"/>
                <a:ea typeface="微软雅黑" panose="020B0503020204020204" pitchFamily="34" charset="-122"/>
              </a:rPr>
              <a:t>开发新的计算方法</a:t>
            </a:r>
            <a:endParaRPr lang="zh-CN" altLang="en-US" sz="2400" dirty="0">
              <a:latin typeface="微软雅黑" panose="020B0503020204020204" pitchFamily="34" charset="-122"/>
              <a:ea typeface="微软雅黑" panose="020B0503020204020204" pitchFamily="34" charset="-122"/>
            </a:endParaRPr>
          </a:p>
        </p:txBody>
      </p:sp>
      <p:sp>
        <p:nvSpPr>
          <p:cNvPr id="5" name="右大括号 4"/>
          <p:cNvSpPr/>
          <p:nvPr/>
        </p:nvSpPr>
        <p:spPr>
          <a:xfrm>
            <a:off x="7616757" y="1475169"/>
            <a:ext cx="204282" cy="1356019"/>
          </a:xfrm>
          <a:prstGeom prst="rightBrace">
            <a:avLst/>
          </a:prstGeom>
          <a:ln w="38100">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p:cNvSpPr txBox="1"/>
          <p:nvPr/>
        </p:nvSpPr>
        <p:spPr>
          <a:xfrm>
            <a:off x="8164228" y="1541283"/>
            <a:ext cx="3130322" cy="1289905"/>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高数学</a:t>
            </a:r>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物理要求</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需要很强的理论基础</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和一定写代码能力</a:t>
            </a:r>
            <a:endParaRPr lang="zh-CN" altLang="en-US" dirty="0">
              <a:latin typeface="微软雅黑" panose="020B0503020204020204" pitchFamily="34" charset="-122"/>
              <a:ea typeface="微软雅黑" panose="020B0503020204020204" pitchFamily="34" charset="-122"/>
            </a:endParaRPr>
          </a:p>
        </p:txBody>
      </p:sp>
      <p:sp>
        <p:nvSpPr>
          <p:cNvPr id="10" name="文本框 9"/>
          <p:cNvSpPr txBox="1"/>
          <p:nvPr/>
        </p:nvSpPr>
        <p:spPr>
          <a:xfrm>
            <a:off x="701040" y="3514484"/>
            <a:ext cx="4590807"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3. </a:t>
            </a:r>
            <a:r>
              <a:rPr lang="zh-CN" altLang="en-US" sz="2400" dirty="0" smtClean="0">
                <a:latin typeface="微软雅黑" panose="020B0503020204020204" pitchFamily="34" charset="-122"/>
                <a:ea typeface="微软雅黑" panose="020B0503020204020204" pitchFamily="34" charset="-122"/>
              </a:rPr>
              <a:t>开发计算化学软件或加速计算</a:t>
            </a:r>
            <a:endParaRPr lang="zh-CN" altLang="en-US" sz="2400" dirty="0">
              <a:latin typeface="微软雅黑" panose="020B0503020204020204" pitchFamily="34" charset="-122"/>
              <a:ea typeface="微软雅黑" panose="020B0503020204020204" pitchFamily="34" charset="-122"/>
            </a:endParaRPr>
          </a:p>
        </p:txBody>
      </p:sp>
      <p:cxnSp>
        <p:nvCxnSpPr>
          <p:cNvPr id="13" name="直接箭头连接符 12"/>
          <p:cNvCxnSpPr/>
          <p:nvPr/>
        </p:nvCxnSpPr>
        <p:spPr>
          <a:xfrm flipV="1">
            <a:off x="5301574" y="3759290"/>
            <a:ext cx="2694562"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8164228" y="3021004"/>
            <a:ext cx="3394954" cy="1289905"/>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对计算机要求很高</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硬件基础、编程基础、</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软件开发、管理与维护能力）</a:t>
            </a:r>
            <a:endParaRPr lang="zh-CN" altLang="en-US" dirty="0">
              <a:latin typeface="微软雅黑" panose="020B0503020204020204" pitchFamily="34" charset="-122"/>
              <a:ea typeface="微软雅黑" panose="020B0503020204020204" pitchFamily="34" charset="-122"/>
            </a:endParaRPr>
          </a:p>
        </p:txBody>
      </p:sp>
      <p:sp>
        <p:nvSpPr>
          <p:cNvPr id="51" name="文本框 50"/>
          <p:cNvSpPr txBox="1"/>
          <p:nvPr/>
        </p:nvSpPr>
        <p:spPr>
          <a:xfrm>
            <a:off x="705746" y="4448247"/>
            <a:ext cx="5135557" cy="830997"/>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4</a:t>
            </a:r>
            <a:r>
              <a:rPr lang="en-US" altLang="zh-CN" sz="2400" dirty="0" smtClean="0">
                <a:latin typeface="微软雅黑" panose="020B0503020204020204" pitchFamily="34" charset="-122"/>
                <a:ea typeface="微软雅黑" panose="020B0503020204020204" pitchFamily="34" charset="-122"/>
              </a:rPr>
              <a:t>. </a:t>
            </a:r>
            <a:r>
              <a:rPr lang="zh-CN" altLang="en-US" sz="2400" dirty="0" smtClean="0">
                <a:latin typeface="微软雅黑" panose="020B0503020204020204" pitchFamily="34" charset="-122"/>
                <a:ea typeface="微软雅黑" panose="020B0503020204020204" pitchFamily="34" charset="-122"/>
              </a:rPr>
              <a:t>计算实际体系</a:t>
            </a:r>
            <a:endParaRPr lang="en-US" altLang="zh-CN" sz="2400" dirty="0" smtClean="0">
              <a:latin typeface="微软雅黑" panose="020B0503020204020204" pitchFamily="34" charset="-122"/>
              <a:ea typeface="微软雅黑" panose="020B0503020204020204" pitchFamily="34" charset="-122"/>
            </a:endParaRPr>
          </a:p>
          <a:p>
            <a:r>
              <a:rPr lang="zh-CN" altLang="en-US" sz="2400" dirty="0" smtClean="0">
                <a:latin typeface="微软雅黑" panose="020B0503020204020204" pitchFamily="34" charset="-122"/>
                <a:ea typeface="微软雅黑" panose="020B0503020204020204" pitchFamily="34" charset="-122"/>
              </a:rPr>
              <a:t>（计算化学性质、分子动力学模拟）</a:t>
            </a:r>
            <a:endParaRPr lang="zh-CN" altLang="en-US" sz="2400" dirty="0">
              <a:latin typeface="微软雅黑" panose="020B0503020204020204" pitchFamily="34" charset="-122"/>
              <a:ea typeface="微软雅黑" panose="020B0503020204020204" pitchFamily="34" charset="-122"/>
            </a:endParaRPr>
          </a:p>
        </p:txBody>
      </p:sp>
      <p:cxnSp>
        <p:nvCxnSpPr>
          <p:cNvPr id="19" name="直接箭头连接符 18"/>
          <p:cNvCxnSpPr/>
          <p:nvPr/>
        </p:nvCxnSpPr>
        <p:spPr>
          <a:xfrm flipV="1">
            <a:off x="5851029" y="4863745"/>
            <a:ext cx="2136843" cy="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8164228" y="4455490"/>
            <a:ext cx="3112851" cy="874407"/>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更强调化学直觉和化学经验</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以及软件的熟练运用</a:t>
            </a:r>
            <a:endParaRPr lang="zh-CN" altLang="en-US" dirty="0">
              <a:latin typeface="微软雅黑" panose="020B0503020204020204" pitchFamily="34" charset="-122"/>
              <a:ea typeface="微软雅黑" panose="020B0503020204020204" pitchFamily="34" charset="-122"/>
            </a:endParaRPr>
          </a:p>
        </p:txBody>
      </p:sp>
      <p:sp>
        <p:nvSpPr>
          <p:cNvPr id="24" name="文本框 23"/>
          <p:cNvSpPr txBox="1"/>
          <p:nvPr/>
        </p:nvSpPr>
        <p:spPr>
          <a:xfrm>
            <a:off x="701041" y="5876054"/>
            <a:ext cx="2547998" cy="461665"/>
          </a:xfrm>
          <a:prstGeom prst="rect">
            <a:avLst/>
          </a:prstGeom>
          <a:noFill/>
        </p:spPr>
        <p:txBody>
          <a:bodyPr wrap="square" rtlCol="0">
            <a:spAutoFit/>
          </a:bodyPr>
          <a:lstStyle/>
          <a:p>
            <a:r>
              <a:rPr lang="en-US" altLang="zh-CN" sz="2400" dirty="0" smtClean="0">
                <a:latin typeface="微软雅黑" panose="020B0503020204020204" pitchFamily="34" charset="-122"/>
                <a:ea typeface="微软雅黑" panose="020B0503020204020204" pitchFamily="34" charset="-122"/>
              </a:rPr>
              <a:t>5. </a:t>
            </a:r>
            <a:r>
              <a:rPr lang="zh-CN" altLang="en-US" sz="2400" dirty="0" smtClean="0">
                <a:latin typeface="微软雅黑" panose="020B0503020204020204" pitchFamily="34" charset="-122"/>
                <a:ea typeface="微软雅黑" panose="020B0503020204020204" pitchFamily="34" charset="-122"/>
              </a:rPr>
              <a:t>深度学习方法</a:t>
            </a:r>
            <a:endParaRPr lang="zh-CN" altLang="en-US" sz="2400" dirty="0">
              <a:latin typeface="微软雅黑" panose="020B0503020204020204" pitchFamily="34" charset="-122"/>
              <a:ea typeface="微软雅黑" panose="020B0503020204020204" pitchFamily="34" charset="-122"/>
            </a:endParaRPr>
          </a:p>
        </p:txBody>
      </p:sp>
      <p:cxnSp>
        <p:nvCxnSpPr>
          <p:cNvPr id="26" name="直接箭头连接符 25"/>
          <p:cNvCxnSpPr/>
          <p:nvPr/>
        </p:nvCxnSpPr>
        <p:spPr>
          <a:xfrm>
            <a:off x="3287949" y="6138153"/>
            <a:ext cx="4695217"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8149637" y="5664657"/>
            <a:ext cx="3424136" cy="874407"/>
          </a:xfrm>
          <a:prstGeom prst="rect">
            <a:avLst/>
          </a:prstGeom>
          <a:noFill/>
        </p:spPr>
        <p:txBody>
          <a:bodyPr wrap="square" rtlCol="0">
            <a:spAutoFit/>
          </a:bodyPr>
          <a:lstStyle/>
          <a:p>
            <a:pPr>
              <a:lnSpc>
                <a:spcPct val="150000"/>
              </a:lnSpc>
            </a:pPr>
            <a:r>
              <a:rPr lang="zh-CN" altLang="en-US" dirty="0" smtClean="0">
                <a:latin typeface="微软雅黑" panose="020B0503020204020204" pitchFamily="34" charset="-122"/>
                <a:ea typeface="微软雅黑" panose="020B0503020204020204" pitchFamily="34" charset="-122"/>
              </a:rPr>
              <a:t>近年来高速发展，仍属经验科学</a:t>
            </a:r>
            <a:endParaRPr lang="en-US" altLang="zh-CN" dirty="0" smtClean="0">
              <a:latin typeface="微软雅黑" panose="020B0503020204020204" pitchFamily="34" charset="-122"/>
              <a:ea typeface="微软雅黑" panose="020B0503020204020204" pitchFamily="34" charset="-122"/>
            </a:endParaRPr>
          </a:p>
          <a:p>
            <a:pPr>
              <a:lnSpc>
                <a:spcPct val="150000"/>
              </a:lnSpc>
            </a:pPr>
            <a:r>
              <a:rPr lang="zh-CN" altLang="en-US" dirty="0" smtClean="0">
                <a:latin typeface="微软雅黑" panose="020B0503020204020204" pitchFamily="34" charset="-122"/>
                <a:ea typeface="微软雅黑" panose="020B0503020204020204" pitchFamily="34" charset="-122"/>
              </a:rPr>
              <a:t>更注重想法，调参与训练的经验</a:t>
            </a:r>
            <a:endParaRPr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624156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806917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Research status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3" name="文本框 2"/>
          <p:cNvSpPr txBox="1"/>
          <p:nvPr/>
        </p:nvSpPr>
        <p:spPr>
          <a:xfrm>
            <a:off x="540385" y="1102894"/>
            <a:ext cx="2173632"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研究的出发点</a:t>
            </a:r>
            <a:endParaRPr lang="zh-CN" altLang="en-US" sz="24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742314" y="1794359"/>
            <a:ext cx="5583677"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体系的类型、规模和其它物理化学特征</a:t>
            </a:r>
            <a:endParaRPr lang="zh-CN" altLang="en-US" sz="2400" dirty="0">
              <a:latin typeface="微软雅黑" panose="020B0503020204020204" pitchFamily="34" charset="-122"/>
              <a:ea typeface="微软雅黑" panose="020B0503020204020204" pitchFamily="34" charset="-122"/>
            </a:endParaRPr>
          </a:p>
        </p:txBody>
      </p:sp>
      <p:sp>
        <p:nvSpPr>
          <p:cNvPr id="7" name="文本框 6"/>
          <p:cNvSpPr txBox="1"/>
          <p:nvPr/>
        </p:nvSpPr>
        <p:spPr>
          <a:xfrm>
            <a:off x="1527863" y="2373548"/>
            <a:ext cx="6498077" cy="1938992"/>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例：</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固体材料：晶体和晶格动力学（能带、声子理论等）</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生物大分子</a:t>
            </a:r>
            <a:r>
              <a:rPr lang="en-US" altLang="zh-CN" sz="2000" dirty="0" smtClean="0">
                <a:latin typeface="微软雅黑" panose="020B0503020204020204" pitchFamily="34" charset="-122"/>
                <a:ea typeface="微软雅黑" panose="020B0503020204020204" pitchFamily="34" charset="-122"/>
              </a:rPr>
              <a:t>/</a:t>
            </a:r>
            <a:r>
              <a:rPr lang="zh-CN" altLang="en-US" sz="2000" dirty="0" smtClean="0">
                <a:latin typeface="微软雅黑" panose="020B0503020204020204" pitchFamily="34" charset="-122"/>
                <a:ea typeface="微软雅黑" panose="020B0503020204020204" pitchFamily="34" charset="-122"/>
              </a:rPr>
              <a:t>高分子：常用经典分子动力学</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单体小分子：量子化学</a:t>
            </a:r>
            <a:endParaRPr lang="zh-CN" altLang="en-US" sz="2000" dirty="0">
              <a:latin typeface="微软雅黑" panose="020B0503020204020204" pitchFamily="34" charset="-122"/>
              <a:ea typeface="微软雅黑" panose="020B0503020204020204" pitchFamily="34" charset="-122"/>
            </a:endParaRPr>
          </a:p>
        </p:txBody>
      </p:sp>
      <p:sp>
        <p:nvSpPr>
          <p:cNvPr id="8" name="文本框 7"/>
          <p:cNvSpPr txBox="1"/>
          <p:nvPr/>
        </p:nvSpPr>
        <p:spPr>
          <a:xfrm>
            <a:off x="754838" y="4542817"/>
            <a:ext cx="1546049"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研究需求</a:t>
            </a:r>
            <a:endParaRPr lang="zh-CN" altLang="en-US" sz="2400" dirty="0">
              <a:latin typeface="微软雅黑" panose="020B0503020204020204" pitchFamily="34" charset="-122"/>
              <a:ea typeface="微软雅黑" panose="020B0503020204020204" pitchFamily="34" charset="-122"/>
            </a:endParaRPr>
          </a:p>
        </p:txBody>
      </p:sp>
      <p:sp>
        <p:nvSpPr>
          <p:cNvPr id="12" name="文本框 11"/>
          <p:cNvSpPr txBox="1"/>
          <p:nvPr/>
        </p:nvSpPr>
        <p:spPr>
          <a:xfrm>
            <a:off x="7704305" y="2835212"/>
            <a:ext cx="3842426" cy="101566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此外，体系规模对所用方法要求</a:t>
            </a:r>
            <a:r>
              <a:rPr lang="zh-CN" altLang="en-US" sz="2000" dirty="0" smtClean="0">
                <a:solidFill>
                  <a:srgbClr val="FF0000"/>
                </a:solidFill>
                <a:latin typeface="微软雅黑" panose="020B0503020204020204" pitchFamily="34" charset="-122"/>
                <a:ea typeface="微软雅黑" panose="020B0503020204020204" pitchFamily="34" charset="-122"/>
              </a:rPr>
              <a:t>计算成本</a:t>
            </a:r>
            <a:r>
              <a:rPr lang="zh-CN" altLang="en-US" sz="2000" dirty="0" smtClean="0">
                <a:latin typeface="微软雅黑" panose="020B0503020204020204" pitchFamily="34" charset="-122"/>
                <a:ea typeface="微软雅黑" panose="020B0503020204020204" pitchFamily="34" charset="-122"/>
              </a:rPr>
              <a:t>和</a:t>
            </a:r>
            <a:r>
              <a:rPr lang="zh-CN" altLang="en-US" sz="2000" dirty="0" smtClean="0">
                <a:solidFill>
                  <a:srgbClr val="FF0000"/>
                </a:solidFill>
                <a:latin typeface="微软雅黑" panose="020B0503020204020204" pitchFamily="34" charset="-122"/>
                <a:ea typeface="微软雅黑" panose="020B0503020204020204" pitchFamily="34" charset="-122"/>
              </a:rPr>
              <a:t>准确性</a:t>
            </a:r>
            <a:r>
              <a:rPr lang="zh-CN" altLang="en-US" sz="2000" dirty="0" smtClean="0">
                <a:latin typeface="微软雅黑" panose="020B0503020204020204" pitchFamily="34" charset="-122"/>
                <a:ea typeface="微软雅黑" panose="020B0503020204020204" pitchFamily="34" charset="-122"/>
              </a:rPr>
              <a:t>上的平衡</a:t>
            </a:r>
            <a:endParaRPr lang="zh-CN" altLang="en-US" sz="2000" dirty="0">
              <a:latin typeface="微软雅黑" panose="020B0503020204020204" pitchFamily="34" charset="-122"/>
              <a:ea typeface="微软雅黑" panose="020B0503020204020204" pitchFamily="34" charset="-122"/>
            </a:endParaRPr>
          </a:p>
        </p:txBody>
      </p:sp>
      <p:sp>
        <p:nvSpPr>
          <p:cNvPr id="16" name="文本框 15"/>
          <p:cNvSpPr txBox="1"/>
          <p:nvPr/>
        </p:nvSpPr>
        <p:spPr>
          <a:xfrm>
            <a:off x="1245449" y="5313635"/>
            <a:ext cx="3549976" cy="101566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分子定态性质：电子结构理论</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化学反应、动态性质：动力学</a:t>
            </a:r>
            <a:endParaRPr lang="zh-CN" altLang="en-US" sz="2000" dirty="0">
              <a:latin typeface="微软雅黑" panose="020B0503020204020204" pitchFamily="34" charset="-122"/>
              <a:ea typeface="微软雅黑" panose="020B0503020204020204" pitchFamily="34" charset="-122"/>
            </a:endParaRPr>
          </a:p>
        </p:txBody>
      </p:sp>
      <p:sp>
        <p:nvSpPr>
          <p:cNvPr id="18" name="圆角矩形 17"/>
          <p:cNvSpPr/>
          <p:nvPr/>
        </p:nvSpPr>
        <p:spPr>
          <a:xfrm>
            <a:off x="1245449" y="2256024"/>
            <a:ext cx="10247777" cy="2151894"/>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1245449" y="5252397"/>
            <a:ext cx="3549976" cy="1076901"/>
          </a:xfrm>
          <a:prstGeom prst="roundRect">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88090059"/>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806917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Research status</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17" name="文本框 16"/>
          <p:cNvSpPr txBox="1"/>
          <p:nvPr/>
        </p:nvSpPr>
        <p:spPr>
          <a:xfrm>
            <a:off x="920883" y="1793220"/>
            <a:ext cx="8806777"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实际问题远比所列丰富多样，还有非常大的探索空间</a:t>
            </a:r>
            <a:endParaRPr lang="zh-CN" altLang="en-US" sz="2400" dirty="0">
              <a:latin typeface="微软雅黑" panose="020B0503020204020204" pitchFamily="34" charset="-122"/>
              <a:ea typeface="微软雅黑" panose="020B0503020204020204" pitchFamily="34" charset="-122"/>
            </a:endParaRPr>
          </a:p>
        </p:txBody>
      </p:sp>
      <p:sp>
        <p:nvSpPr>
          <p:cNvPr id="20" name="文本框 19"/>
          <p:cNvSpPr txBox="1"/>
          <p:nvPr/>
        </p:nvSpPr>
        <p:spPr>
          <a:xfrm>
            <a:off x="920883" y="2627997"/>
            <a:ext cx="9808725" cy="1135054"/>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在两周内，我们无暇对上述所有问题都进行介绍</a:t>
            </a:r>
            <a:endParaRPr lang="en-US" altLang="zh-CN" sz="2400" dirty="0" smtClean="0">
              <a:latin typeface="微软雅黑" panose="020B0503020204020204" pitchFamily="34" charset="-122"/>
              <a:ea typeface="微软雅黑" panose="020B0503020204020204" pitchFamily="34" charset="-122"/>
            </a:endParaRPr>
          </a:p>
          <a:p>
            <a:pPr>
              <a:lnSpc>
                <a:spcPct val="150000"/>
              </a:lnSpc>
            </a:pPr>
            <a:r>
              <a:rPr lang="zh-CN" altLang="en-US" sz="2400" dirty="0">
                <a:latin typeface="微软雅黑" panose="020B0503020204020204" pitchFamily="34" charset="-122"/>
                <a:ea typeface="微软雅黑" panose="020B0503020204020204" pitchFamily="34" charset="-122"/>
              </a:rPr>
              <a:t>即使</a:t>
            </a:r>
            <a:r>
              <a:rPr lang="zh-CN" altLang="en-US" sz="2400" dirty="0" smtClean="0">
                <a:latin typeface="微软雅黑" panose="020B0503020204020204" pitchFamily="34" charset="-122"/>
                <a:ea typeface="微软雅黑" panose="020B0503020204020204" pitchFamily="34" charset="-122"/>
              </a:rPr>
              <a:t>对一个深耕很久的科研工作者而言也很难做到</a:t>
            </a:r>
            <a:endParaRPr lang="zh-CN" altLang="en-US" sz="2400" dirty="0">
              <a:latin typeface="微软雅黑" panose="020B0503020204020204" pitchFamily="34" charset="-122"/>
              <a:ea typeface="微软雅黑" panose="020B0503020204020204" pitchFamily="34" charset="-122"/>
            </a:endParaRPr>
          </a:p>
        </p:txBody>
      </p:sp>
      <p:sp>
        <p:nvSpPr>
          <p:cNvPr id="22" name="文本框 21"/>
          <p:cNvSpPr txBox="1"/>
          <p:nvPr/>
        </p:nvSpPr>
        <p:spPr>
          <a:xfrm>
            <a:off x="920883" y="4307233"/>
            <a:ext cx="8631679" cy="1135054"/>
          </a:xfrm>
          <a:prstGeom prst="rect">
            <a:avLst/>
          </a:prstGeom>
          <a:noFill/>
        </p:spPr>
        <p:txBody>
          <a:bodyPr wrap="square" rtlCol="0">
            <a:spAutoFit/>
          </a:bodyPr>
          <a:lstStyle/>
          <a:p>
            <a:pPr>
              <a:lnSpc>
                <a:spcPct val="150000"/>
              </a:lnSpc>
            </a:pPr>
            <a:r>
              <a:rPr lang="zh-CN" altLang="en-US" sz="2400" dirty="0" smtClean="0">
                <a:latin typeface="微软雅黑" panose="020B0503020204020204" pitchFamily="34" charset="-122"/>
                <a:ea typeface="微软雅黑" panose="020B0503020204020204" pitchFamily="34" charset="-122"/>
              </a:rPr>
              <a:t>如果选择一个合适的切入点学习理论</a:t>
            </a:r>
            <a:r>
              <a:rPr lang="zh-CN" altLang="en-US" sz="2400" dirty="0">
                <a:latin typeface="微软雅黑" panose="020B0503020204020204" pitchFamily="34" charset="-122"/>
                <a:ea typeface="微软雅黑" panose="020B0503020204020204" pitchFamily="34" charset="-122"/>
              </a:rPr>
              <a:t>化学</a:t>
            </a:r>
            <a:r>
              <a:rPr lang="zh-CN" altLang="en-US" sz="2400" dirty="0" smtClean="0">
                <a:latin typeface="微软雅黑" panose="020B0503020204020204" pitchFamily="34" charset="-122"/>
                <a:ea typeface="微软雅黑" panose="020B0503020204020204" pitchFamily="34" charset="-122"/>
              </a:rPr>
              <a:t>，</a:t>
            </a:r>
            <a:r>
              <a:rPr lang="zh-CN" altLang="en-US" sz="2400" dirty="0" smtClean="0">
                <a:solidFill>
                  <a:srgbClr val="FF0000"/>
                </a:solidFill>
                <a:latin typeface="微软雅黑" panose="020B0503020204020204" pitchFamily="34" charset="-122"/>
                <a:ea typeface="微软雅黑" panose="020B0503020204020204" pitchFamily="34" charset="-122"/>
              </a:rPr>
              <a:t>量子化学</a:t>
            </a:r>
            <a:r>
              <a:rPr lang="zh-CN" altLang="en-US" sz="2400" dirty="0" smtClean="0">
                <a:latin typeface="微软雅黑" panose="020B0503020204020204" pitchFamily="34" charset="-122"/>
                <a:ea typeface="微软雅黑" panose="020B0503020204020204" pitchFamily="34" charset="-122"/>
              </a:rPr>
              <a:t>，或者说，电子结构理论初步是最好不过的</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27454744"/>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 xmlns:a16="http://schemas.microsoft.com/office/drawing/2014/main" id="{46136000-10E3-494A-9031-2038514A22C5}"/>
              </a:ext>
            </a:extLst>
          </p:cNvPr>
          <p:cNvSpPr/>
          <p:nvPr/>
        </p:nvSpPr>
        <p:spPr>
          <a:xfrm>
            <a:off x="742314" y="288319"/>
            <a:ext cx="8069177"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Why quantum chemistry</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3" cstate="print">
            <a:extLst>
              <a:ext uri="{BEBA8EAE-BF5A-486C-A8C5-ECC9F3942E4B}">
                <a14:imgProps xmlns:a14="http://schemas.microsoft.com/office/drawing/2010/main">
                  <a14:imgLayer r:embed="rId4">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2" name="文本框 1"/>
          <p:cNvSpPr txBox="1"/>
          <p:nvPr/>
        </p:nvSpPr>
        <p:spPr>
          <a:xfrm>
            <a:off x="701040" y="1304746"/>
            <a:ext cx="7869677" cy="461665"/>
          </a:xfrm>
          <a:prstGeom prst="rect">
            <a:avLst/>
          </a:prstGeom>
          <a:noFill/>
        </p:spPr>
        <p:txBody>
          <a:bodyPr wrap="square" rtlCol="0">
            <a:spAutoFit/>
          </a:bodyPr>
          <a:lstStyle/>
          <a:p>
            <a:r>
              <a:rPr lang="zh-CN" altLang="en-US" sz="2400" dirty="0" smtClean="0">
                <a:latin typeface="微软雅黑" panose="020B0503020204020204" pitchFamily="34" charset="-122"/>
                <a:ea typeface="微软雅黑" panose="020B0503020204020204" pitchFamily="34" charset="-122"/>
              </a:rPr>
              <a:t>研究分子中电子的行为，引入量子力学是必要的</a:t>
            </a:r>
            <a:endParaRPr lang="zh-CN" altLang="en-US" sz="2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 name="文本框 2"/>
              <p:cNvSpPr txBox="1"/>
              <p:nvPr/>
            </p:nvSpPr>
            <p:spPr>
              <a:xfrm>
                <a:off x="866409" y="2548647"/>
                <a:ext cx="5398203" cy="2282933"/>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电子的波动性（德布罗意波）：</a:t>
                </a:r>
                <a:endParaRPr lang="en-US" altLang="zh-CN" sz="2000" dirty="0" smtClean="0">
                  <a:latin typeface="微软雅黑" panose="020B0503020204020204" pitchFamily="34" charset="-122"/>
                  <a:ea typeface="微软雅黑" panose="020B0503020204020204" pitchFamily="34" charset="-122"/>
                </a:endParaRPr>
              </a:p>
              <a:p>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ea typeface="微软雅黑" panose="020B0503020204020204" pitchFamily="34" charset="-122"/>
                        </a:rPr>
                        <m:t>𝜆</m:t>
                      </m:r>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m:rPr>
                              <m:sty m:val="p"/>
                            </m:rPr>
                            <a:rPr lang="en-US" altLang="zh-CN" sz="2000" b="0" i="0" smtClean="0">
                              <a:latin typeface="Cambria Math" panose="02040503050406030204" pitchFamily="18" charset="0"/>
                              <a:ea typeface="微软雅黑" panose="020B0503020204020204" pitchFamily="34" charset="-122"/>
                            </a:rPr>
                            <m:t>h</m:t>
                          </m:r>
                        </m:num>
                        <m:den>
                          <m:r>
                            <a:rPr lang="en-US" altLang="zh-CN" sz="2000" b="0" i="1" smtClean="0">
                              <a:latin typeface="Cambria Math" panose="02040503050406030204" pitchFamily="18" charset="0"/>
                              <a:ea typeface="微软雅黑" panose="020B0503020204020204" pitchFamily="34" charset="-122"/>
                            </a:rPr>
                            <m:t>𝑝</m:t>
                          </m:r>
                        </m:den>
                      </m:f>
                      <m:r>
                        <a:rPr lang="en-US" altLang="zh-CN" sz="2000" b="0" i="1" smtClean="0">
                          <a:latin typeface="Cambria Math" panose="02040503050406030204" pitchFamily="18" charset="0"/>
                          <a:ea typeface="微软雅黑" panose="020B0503020204020204" pitchFamily="34" charset="-122"/>
                        </a:rPr>
                        <m:t>=</m:t>
                      </m:r>
                      <m:f>
                        <m:fPr>
                          <m:ctrlPr>
                            <a:rPr lang="en-US" altLang="zh-CN" sz="2000" b="0" i="1" smtClean="0">
                              <a:latin typeface="Cambria Math" panose="02040503050406030204" pitchFamily="18" charset="0"/>
                              <a:ea typeface="微软雅黑" panose="020B0503020204020204" pitchFamily="34" charset="-122"/>
                            </a:rPr>
                          </m:ctrlPr>
                        </m:fPr>
                        <m:num>
                          <m:r>
                            <m:rPr>
                              <m:sty m:val="p"/>
                            </m:rPr>
                            <a:rPr lang="en-US" altLang="zh-CN" sz="2000" b="0" i="0" smtClean="0">
                              <a:latin typeface="Cambria Math" panose="02040503050406030204" pitchFamily="18" charset="0"/>
                              <a:ea typeface="微软雅黑" panose="020B0503020204020204" pitchFamily="34" charset="-122"/>
                            </a:rPr>
                            <m:t>h</m:t>
                          </m:r>
                        </m:num>
                        <m:den>
                          <m:sSub>
                            <m:sSubPr>
                              <m:ctrlPr>
                                <a:rPr lang="en-US" altLang="zh-CN" sz="2000" b="0" i="1" smtClean="0">
                                  <a:latin typeface="Cambria Math" panose="02040503050406030204" pitchFamily="18" charset="0"/>
                                  <a:ea typeface="微软雅黑" panose="020B0503020204020204" pitchFamily="34" charset="-122"/>
                                </a:rPr>
                              </m:ctrlPr>
                            </m:sSubPr>
                            <m:e>
                              <m:r>
                                <a:rPr lang="en-US" altLang="zh-CN" sz="2000" b="0" i="1" smtClean="0">
                                  <a:latin typeface="Cambria Math" panose="02040503050406030204" pitchFamily="18" charset="0"/>
                                  <a:ea typeface="微软雅黑" panose="020B0503020204020204" pitchFamily="34" charset="-122"/>
                                </a:rPr>
                                <m:t>𝑚</m:t>
                              </m:r>
                            </m:e>
                            <m:sub>
                              <m:r>
                                <m:rPr>
                                  <m:sty m:val="p"/>
                                </m:rPr>
                                <a:rPr lang="en-US" altLang="zh-CN" sz="2000" b="0" i="0" smtClean="0">
                                  <a:latin typeface="Cambria Math" panose="02040503050406030204" pitchFamily="18" charset="0"/>
                                  <a:ea typeface="微软雅黑" panose="020B0503020204020204" pitchFamily="34" charset="-122"/>
                                </a:rPr>
                                <m:t>e</m:t>
                              </m:r>
                            </m:sub>
                          </m:sSub>
                          <m:r>
                            <a:rPr lang="en-US" altLang="zh-CN" sz="2000" b="0" i="1" smtClean="0">
                              <a:latin typeface="Cambria Math" panose="02040503050406030204" pitchFamily="18" charset="0"/>
                              <a:ea typeface="微软雅黑" panose="020B0503020204020204" pitchFamily="34" charset="-122"/>
                            </a:rPr>
                            <m:t>𝑣</m:t>
                          </m:r>
                        </m:den>
                      </m:f>
                      <m:r>
                        <a:rPr lang="en-US" altLang="zh-CN" sz="2000" b="0" i="1" smtClean="0">
                          <a:latin typeface="Cambria Math" panose="02040503050406030204" pitchFamily="18" charset="0"/>
                          <a:ea typeface="微软雅黑" panose="020B0503020204020204" pitchFamily="34" charset="-122"/>
                        </a:rPr>
                        <m:t>=6.73 </m:t>
                      </m:r>
                      <m:r>
                        <m:rPr>
                          <m:sty m:val="p"/>
                        </m:rPr>
                        <a:rPr lang="en-US" altLang="zh-CN" sz="2000" b="0" i="0" smtClean="0">
                          <a:latin typeface="Cambria Math" panose="02040503050406030204" pitchFamily="18" charset="0"/>
                          <a:ea typeface="微软雅黑" panose="020B0503020204020204" pitchFamily="34" charset="-122"/>
                        </a:rPr>
                        <m:t>nm</m:t>
                      </m:r>
                      <m:r>
                        <a:rPr lang="en-US" altLang="zh-CN" sz="2000" b="0" i="0" smtClean="0">
                          <a:latin typeface="Cambria Math" panose="02040503050406030204" pitchFamily="18" charset="0"/>
                          <a:ea typeface="微软雅黑" panose="020B0503020204020204" pitchFamily="34" charset="-122"/>
                        </a:rPr>
                        <m:t>=67.3 </m:t>
                      </m:r>
                      <m:r>
                        <a:rPr lang="en-US" altLang="zh-CN" sz="2000" b="0" i="1" smtClean="0">
                          <a:latin typeface="Cambria Math" panose="02040503050406030204" pitchFamily="18" charset="0"/>
                          <a:ea typeface="微软雅黑" panose="020B0503020204020204" pitchFamily="34" charset="-122"/>
                        </a:rPr>
                        <m:t>Å</m:t>
                      </m:r>
                    </m:oMath>
                  </m:oMathPara>
                </a14:m>
                <a:endParaRPr lang="en-US" altLang="zh-CN" sz="2000" b="0" dirty="0" smtClean="0">
                  <a:latin typeface="微软雅黑" panose="020B0503020204020204" pitchFamily="34" charset="-122"/>
                  <a:ea typeface="微软雅黑" panose="020B0503020204020204" pitchFamily="34" charset="-122"/>
                </a:endParaRPr>
              </a:p>
              <a:p>
                <a:endParaRPr lang="en-US" altLang="zh-CN" sz="2000" b="0" dirty="0" smtClean="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化学键键长：</a:t>
                </a:r>
                <a14:m>
                  <m:oMath xmlns:m="http://schemas.openxmlformats.org/officeDocument/2006/math">
                    <m:r>
                      <a:rPr lang="en-US" altLang="zh-CN" sz="2000" b="0" i="1" smtClean="0">
                        <a:latin typeface="Cambria Math" panose="02040503050406030204" pitchFamily="18" charset="0"/>
                        <a:ea typeface="微软雅黑" panose="020B0503020204020204" pitchFamily="34" charset="-122"/>
                      </a:rPr>
                      <m:t>0.7</m:t>
                    </m:r>
                    <m:r>
                      <a:rPr lang="en-US" altLang="zh-CN" sz="2000" i="1">
                        <a:latin typeface="Cambria Math" panose="02040503050406030204" pitchFamily="18" charset="0"/>
                        <a:ea typeface="微软雅黑" panose="020B0503020204020204" pitchFamily="34" charset="-122"/>
                      </a:rPr>
                      <m:t>Å</m:t>
                    </m:r>
                    <m:r>
                      <a:rPr lang="en-US" altLang="zh-CN" sz="2000" b="0" i="1" smtClean="0">
                        <a:latin typeface="Cambria Math" panose="02040503050406030204" pitchFamily="18" charset="0"/>
                        <a:ea typeface="微软雅黑" panose="020B0503020204020204" pitchFamily="34" charset="-122"/>
                      </a:rPr>
                      <m:t>−2.5</m:t>
                    </m:r>
                    <m:r>
                      <a:rPr lang="en-US" altLang="zh-CN" sz="2000" i="1">
                        <a:latin typeface="Cambria Math" panose="02040503050406030204" pitchFamily="18" charset="0"/>
                        <a:ea typeface="微软雅黑" panose="020B0503020204020204" pitchFamily="34" charset="-122"/>
                      </a:rPr>
                      <m:t>Å</m:t>
                    </m:r>
                  </m:oMath>
                </a14:m>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电子呈</a:t>
                </a:r>
                <a:r>
                  <a:rPr lang="zh-CN" altLang="en-US" sz="2000" dirty="0" smtClean="0">
                    <a:solidFill>
                      <a:srgbClr val="FF0000"/>
                    </a:solidFill>
                    <a:latin typeface="微软雅黑" panose="020B0503020204020204" pitchFamily="34" charset="-122"/>
                    <a:ea typeface="微软雅黑" panose="020B0503020204020204" pitchFamily="34" charset="-122"/>
                  </a:rPr>
                  <a:t>显著波动性！</a:t>
                </a:r>
                <a:endParaRPr lang="en-US" altLang="zh-CN" sz="2000" dirty="0">
                  <a:solidFill>
                    <a:srgbClr val="FF0000"/>
                  </a:solidFill>
                  <a:latin typeface="微软雅黑" panose="020B0503020204020204" pitchFamily="34" charset="-122"/>
                  <a:ea typeface="微软雅黑" panose="020B0503020204020204" pitchFamily="34" charset="-122"/>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866409" y="2548647"/>
                <a:ext cx="5398203" cy="2282933"/>
              </a:xfrm>
              <a:prstGeom prst="rect">
                <a:avLst/>
              </a:prstGeom>
              <a:blipFill rotWithShape="0">
                <a:blip r:embed="rId5"/>
                <a:stretch>
                  <a:fillRect l="-1129" t="-1333" b="-37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6264612" y="2368268"/>
                <a:ext cx="3793788" cy="1482650"/>
              </a:xfrm>
              <a:prstGeom prst="rect">
                <a:avLst/>
              </a:prstGeom>
              <a:noFill/>
            </p:spPr>
            <p:txBody>
              <a:bodyPr wrap="square" rtlCol="0">
                <a:spAutoFit/>
              </a:bodyPr>
              <a:lstStyle/>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2000" b="0" i="0" smtClean="0">
                          <a:latin typeface="Cambria Math" panose="02040503050406030204" pitchFamily="18" charset="0"/>
                        </a:rPr>
                        <m:t>h</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rPr>
                        <m:t>6.626×</m:t>
                      </m:r>
                      <m:sSup>
                        <m:sSupPr>
                          <m:ctrlPr>
                            <a:rPr lang="en-US" altLang="zh-CN" sz="2000" b="0" i="1" smtClean="0">
                              <a:latin typeface="Cambria Math" panose="02040503050406030204" pitchFamily="18" charset="0"/>
                            </a:rPr>
                          </m:ctrlPr>
                        </m:sSupPr>
                        <m:e>
                          <m:r>
                            <a:rPr lang="en-US" altLang="zh-CN" sz="2000" b="0" i="1" smtClean="0">
                              <a:latin typeface="Cambria Math" panose="02040503050406030204" pitchFamily="18" charset="0"/>
                            </a:rPr>
                            <m:t>10</m:t>
                          </m:r>
                        </m:e>
                        <m:sup>
                          <m:r>
                            <a:rPr lang="en-US" altLang="zh-CN" sz="2000" b="0" i="1" smtClean="0">
                              <a:latin typeface="Cambria Math" panose="02040503050406030204" pitchFamily="18" charset="0"/>
                            </a:rPr>
                            <m:t>−34</m:t>
                          </m:r>
                        </m:sup>
                      </m:sSup>
                      <m:r>
                        <a:rPr lang="en-US" altLang="zh-CN" sz="2000" b="0" i="1" smtClean="0">
                          <a:latin typeface="Cambria Math" panose="02040503050406030204" pitchFamily="18" charset="0"/>
                        </a:rPr>
                        <m:t> </m:t>
                      </m:r>
                      <m:r>
                        <a:rPr lang="en-US" altLang="zh-CN" sz="2000" b="0" i="0" smtClean="0">
                          <a:latin typeface="Cambria Math" panose="02040503050406030204" pitchFamily="18" charset="0"/>
                        </a:rPr>
                        <m:t> </m:t>
                      </m:r>
                      <m:r>
                        <m:rPr>
                          <m:sty m:val="p"/>
                        </m:rPr>
                        <a:rPr lang="en-US" altLang="zh-CN" sz="2000" b="0" i="0" smtClean="0">
                          <a:latin typeface="Cambria Math" panose="02040503050406030204" pitchFamily="18" charset="0"/>
                        </a:rPr>
                        <m:t>J</m:t>
                      </m:r>
                      <m:r>
                        <a:rPr lang="en-US" altLang="zh-CN" sz="2000" b="0" i="0" smtClean="0">
                          <a:latin typeface="Cambria Math" panose="02040503050406030204" pitchFamily="18" charset="0"/>
                        </a:rPr>
                        <m:t>⋅</m:t>
                      </m:r>
                      <m:r>
                        <m:rPr>
                          <m:sty m:val="p"/>
                        </m:rPr>
                        <a:rPr lang="en-US" altLang="zh-CN" sz="2000" b="0" i="0" smtClean="0">
                          <a:latin typeface="Cambria Math" panose="02040503050406030204" pitchFamily="18" charset="0"/>
                        </a:rPr>
                        <m:t>s</m:t>
                      </m:r>
                    </m:oMath>
                  </m:oMathPara>
                </a14:m>
                <a:endParaRPr lang="en-US" altLang="zh-CN" sz="2000" b="0" dirty="0" smtClean="0"/>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𝑚</m:t>
                          </m:r>
                        </m:e>
                        <m:sub>
                          <m:r>
                            <m:rPr>
                              <m:sty m:val="p"/>
                            </m:rPr>
                            <a:rPr lang="en-US" altLang="zh-CN" sz="2000" b="0" i="0" smtClean="0">
                              <a:latin typeface="Cambria Math" panose="02040503050406030204" pitchFamily="18" charset="0"/>
                            </a:rPr>
                            <m:t>e</m:t>
                          </m:r>
                        </m:sub>
                      </m:sSub>
                      <m:r>
                        <a:rPr lang="en-US" altLang="zh-CN" sz="2000" i="1">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9.11×</m:t>
                      </m:r>
                      <m:sSup>
                        <m:sSupPr>
                          <m:ctrlPr>
                            <a:rPr lang="en-US" altLang="zh-CN" sz="2000" b="0" i="1" smtClean="0">
                              <a:latin typeface="Cambria Math" panose="02040503050406030204" pitchFamily="18" charset="0"/>
                              <a:ea typeface="Cambria Math" panose="02040503050406030204" pitchFamily="18" charset="0"/>
                            </a:rPr>
                          </m:ctrlPr>
                        </m:sSupPr>
                        <m:e>
                          <m:r>
                            <a:rPr lang="en-US" altLang="zh-CN" sz="2000" b="0" i="1" smtClean="0">
                              <a:latin typeface="Cambria Math" panose="02040503050406030204" pitchFamily="18" charset="0"/>
                              <a:ea typeface="Cambria Math" panose="02040503050406030204" pitchFamily="18" charset="0"/>
                            </a:rPr>
                            <m:t>10</m:t>
                          </m:r>
                        </m:e>
                        <m:sup>
                          <m:r>
                            <a:rPr lang="en-US" altLang="zh-CN" sz="2000" b="0" i="1" smtClean="0">
                              <a:latin typeface="Cambria Math" panose="02040503050406030204" pitchFamily="18" charset="0"/>
                              <a:ea typeface="Cambria Math" panose="02040503050406030204" pitchFamily="18" charset="0"/>
                            </a:rPr>
                            <m:t>−31</m:t>
                          </m:r>
                        </m:sup>
                      </m:sSup>
                      <m:r>
                        <a:rPr lang="en-US" altLang="zh-CN" sz="2000" b="0" i="1" smtClean="0">
                          <a:latin typeface="Cambria Math" panose="02040503050406030204" pitchFamily="18" charset="0"/>
                          <a:ea typeface="Cambria Math" panose="02040503050406030204" pitchFamily="18" charset="0"/>
                        </a:rPr>
                        <m:t> </m:t>
                      </m:r>
                      <m:r>
                        <m:rPr>
                          <m:sty m:val="p"/>
                        </m:rPr>
                        <a:rPr lang="en-US" altLang="zh-CN" sz="2000" b="0" i="0" smtClean="0">
                          <a:latin typeface="Cambria Math" panose="02040503050406030204" pitchFamily="18" charset="0"/>
                          <a:ea typeface="Cambria Math" panose="02040503050406030204" pitchFamily="18" charset="0"/>
                        </a:rPr>
                        <m:t>kg</m:t>
                      </m:r>
                    </m:oMath>
                  </m:oMathPara>
                </a14:m>
                <a:endParaRPr lang="en-US" altLang="zh-CN" sz="2000" b="0" dirty="0" smtClean="0"/>
              </a:p>
              <a:p>
                <a:pPr algn="ctr">
                  <a:lnSpc>
                    <a:spcPct val="150000"/>
                  </a:lnSpc>
                </a:pPr>
                <a14:m>
                  <m:oMath xmlns:m="http://schemas.openxmlformats.org/officeDocument/2006/math">
                    <m:r>
                      <a:rPr lang="en-US" altLang="zh-CN" sz="2000" b="0" i="1" smtClean="0">
                        <a:latin typeface="Cambria Math" panose="02040503050406030204" pitchFamily="18" charset="0"/>
                      </a:rPr>
                      <m:t>𝑣</m:t>
                    </m:r>
                  </m:oMath>
                </a14:m>
                <a:r>
                  <a:rPr lang="zh-CN" altLang="en-US" sz="2000" dirty="0" smtClean="0">
                    <a:latin typeface="微软雅黑" panose="020B0503020204020204" pitchFamily="34" charset="-122"/>
                    <a:ea typeface="微软雅黑" panose="020B0503020204020204" pitchFamily="34" charset="-122"/>
                  </a:rPr>
                  <a:t>取</a:t>
                </a:r>
                <a14:m>
                  <m:oMath xmlns:m="http://schemas.openxmlformats.org/officeDocument/2006/math">
                    <m:r>
                      <a:rPr lang="en-US" altLang="zh-CN" sz="2000" b="0" i="1" dirty="0" smtClean="0">
                        <a:latin typeface="Cambria Math" panose="02040503050406030204" pitchFamily="18" charset="0"/>
                        <a:ea typeface="微软雅黑" panose="020B0503020204020204" pitchFamily="34" charset="-122"/>
                      </a:rPr>
                      <m:t>1.08×</m:t>
                    </m:r>
                    <m:sSup>
                      <m:sSupPr>
                        <m:ctrlPr>
                          <a:rPr lang="en-US" altLang="zh-CN" sz="2000" b="0" i="1" dirty="0" smtClean="0">
                            <a:latin typeface="Cambria Math" panose="02040503050406030204" pitchFamily="18" charset="0"/>
                            <a:ea typeface="微软雅黑" panose="020B0503020204020204" pitchFamily="34" charset="-122"/>
                          </a:rPr>
                        </m:ctrlPr>
                      </m:sSupPr>
                      <m:e>
                        <m:r>
                          <a:rPr lang="en-US" altLang="zh-CN" sz="2000" b="0" i="1" dirty="0" smtClean="0">
                            <a:latin typeface="Cambria Math" panose="02040503050406030204" pitchFamily="18" charset="0"/>
                            <a:ea typeface="微软雅黑" panose="020B0503020204020204" pitchFamily="34" charset="-122"/>
                          </a:rPr>
                          <m:t>10</m:t>
                        </m:r>
                      </m:e>
                      <m:sup>
                        <m:r>
                          <a:rPr lang="en-US" altLang="zh-CN" sz="2000" b="0" i="1" dirty="0" smtClean="0">
                            <a:latin typeface="Cambria Math" panose="02040503050406030204" pitchFamily="18" charset="0"/>
                            <a:ea typeface="微软雅黑" panose="020B0503020204020204" pitchFamily="34" charset="-122"/>
                          </a:rPr>
                          <m:t>5</m:t>
                        </m:r>
                      </m:sup>
                    </m:sSup>
                    <m:r>
                      <a:rPr lang="en-US" altLang="zh-CN" sz="2000" b="0" i="1" dirty="0" smtClean="0">
                        <a:latin typeface="Cambria Math" panose="02040503050406030204" pitchFamily="18" charset="0"/>
                        <a:ea typeface="微软雅黑" panose="020B0503020204020204" pitchFamily="34" charset="-122"/>
                      </a:rPr>
                      <m:t> </m:t>
                    </m:r>
                    <m:r>
                      <m:rPr>
                        <m:sty m:val="p"/>
                      </m:rPr>
                      <a:rPr lang="en-US" altLang="zh-CN" sz="2000" b="0" i="0" dirty="0" smtClean="0">
                        <a:latin typeface="Cambria Math" panose="02040503050406030204" pitchFamily="18" charset="0"/>
                        <a:ea typeface="微软雅黑" panose="020B0503020204020204" pitchFamily="34" charset="-122"/>
                      </a:rPr>
                      <m:t>m</m:t>
                    </m:r>
                    <m:r>
                      <a:rPr lang="en-US" altLang="zh-CN" sz="2000" b="0" i="1" dirty="0" smtClean="0">
                        <a:latin typeface="Cambria Math" panose="02040503050406030204" pitchFamily="18" charset="0"/>
                        <a:ea typeface="微软雅黑" panose="020B0503020204020204" pitchFamily="34" charset="-122"/>
                      </a:rPr>
                      <m:t>⋅</m:t>
                    </m:r>
                    <m:sSup>
                      <m:sSupPr>
                        <m:ctrlPr>
                          <a:rPr lang="en-US" altLang="zh-CN" sz="2000" b="0" i="1" dirty="0" smtClean="0">
                            <a:latin typeface="Cambria Math" panose="02040503050406030204" pitchFamily="18" charset="0"/>
                            <a:ea typeface="微软雅黑" panose="020B0503020204020204" pitchFamily="34" charset="-122"/>
                          </a:rPr>
                        </m:ctrlPr>
                      </m:sSupPr>
                      <m:e>
                        <m:r>
                          <m:rPr>
                            <m:sty m:val="p"/>
                          </m:rPr>
                          <a:rPr lang="en-US" altLang="zh-CN" sz="2000" b="0" i="0" dirty="0" smtClean="0">
                            <a:latin typeface="Cambria Math" panose="02040503050406030204" pitchFamily="18" charset="0"/>
                            <a:ea typeface="微软雅黑" panose="020B0503020204020204" pitchFamily="34" charset="-122"/>
                          </a:rPr>
                          <m:t>s</m:t>
                        </m:r>
                      </m:e>
                      <m:sup>
                        <m:r>
                          <a:rPr lang="en-US" altLang="zh-CN" sz="2000" b="0" i="1" dirty="0" smtClean="0">
                            <a:latin typeface="Cambria Math" panose="02040503050406030204" pitchFamily="18" charset="0"/>
                            <a:ea typeface="微软雅黑" panose="020B0503020204020204" pitchFamily="34" charset="-122"/>
                          </a:rPr>
                          <m:t>−1</m:t>
                        </m:r>
                      </m:sup>
                    </m:sSup>
                  </m:oMath>
                </a14:m>
                <a:endParaRPr lang="zh-CN" altLang="en-US" dirty="0">
                  <a:latin typeface="微软雅黑" panose="020B0503020204020204" pitchFamily="34" charset="-122"/>
                  <a:ea typeface="微软雅黑" panose="020B0503020204020204" pitchFamily="34" charset="-122"/>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6264612" y="2368268"/>
                <a:ext cx="3793788" cy="1482650"/>
              </a:xfrm>
              <a:prstGeom prst="rect">
                <a:avLst/>
              </a:prstGeom>
              <a:blipFill rotWithShape="0">
                <a:blip r:embed="rId6"/>
                <a:stretch>
                  <a:fillRect b="-2459"/>
                </a:stretch>
              </a:blipFill>
            </p:spPr>
            <p:txBody>
              <a:bodyPr/>
              <a:lstStyle/>
              <a:p>
                <a:r>
                  <a:rPr lang="zh-CN" altLang="en-US">
                    <a:noFill/>
                  </a:rPr>
                  <a:t> </a:t>
                </a:r>
              </a:p>
            </p:txBody>
          </p:sp>
        </mc:Fallback>
      </mc:AlternateContent>
      <p:sp>
        <p:nvSpPr>
          <p:cNvPr id="5" name="文本框 4"/>
          <p:cNvSpPr txBox="1"/>
          <p:nvPr/>
        </p:nvSpPr>
        <p:spPr>
          <a:xfrm>
            <a:off x="866409" y="5346092"/>
            <a:ext cx="9134273" cy="1015663"/>
          </a:xfrm>
          <a:prstGeom prst="rect">
            <a:avLst/>
          </a:prstGeom>
          <a:noFill/>
        </p:spPr>
        <p:txBody>
          <a:bodyPr wrap="square" rtlCol="0">
            <a:spAutoFit/>
          </a:bodyPr>
          <a:lstStyle/>
          <a:p>
            <a:pPr>
              <a:lnSpc>
                <a:spcPct val="150000"/>
              </a:lnSpc>
            </a:pPr>
            <a:r>
              <a:rPr lang="zh-CN" altLang="en-US" sz="2000" dirty="0" smtClean="0">
                <a:latin typeface="微软雅黑" panose="020B0503020204020204" pitchFamily="34" charset="-122"/>
                <a:ea typeface="微软雅黑" panose="020B0503020204020204" pitchFamily="34" charset="-122"/>
              </a:rPr>
              <a:t>此外，量子力学求解氢原子和氢分子模型的结果极为成功</a:t>
            </a:r>
            <a:endParaRPr lang="en-US" altLang="zh-CN" sz="2000" dirty="0" smtClean="0">
              <a:latin typeface="微软雅黑" panose="020B0503020204020204" pitchFamily="34" charset="-122"/>
              <a:ea typeface="微软雅黑" panose="020B0503020204020204" pitchFamily="34" charset="-122"/>
            </a:endParaRPr>
          </a:p>
          <a:p>
            <a:pPr>
              <a:lnSpc>
                <a:spcPct val="150000"/>
              </a:lnSpc>
            </a:pPr>
            <a:r>
              <a:rPr lang="zh-CN" altLang="en-US" sz="2000" dirty="0" smtClean="0">
                <a:latin typeface="微软雅黑" panose="020B0503020204020204" pitchFamily="34" charset="-122"/>
                <a:ea typeface="微软雅黑" panose="020B0503020204020204" pitchFamily="34" charset="-122"/>
              </a:rPr>
              <a:t>种种因素表明，需要对分子建立合适的量子力学模型，并寻找合适的方法求解</a:t>
            </a:r>
            <a:endParaRPr lang="zh-CN" alt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24822533"/>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4" y="288319"/>
            <a:ext cx="6086503"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Arrangement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5" name="文本框 4"/>
          <p:cNvSpPr txBox="1"/>
          <p:nvPr/>
        </p:nvSpPr>
        <p:spPr>
          <a:xfrm>
            <a:off x="157225" y="1071874"/>
            <a:ext cx="6990383" cy="5555367"/>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rPr>
              <a:t>绪论 （</a:t>
            </a:r>
            <a:r>
              <a:rPr lang="en-US" altLang="zh-CN" sz="2000" dirty="0" smtClean="0">
                <a:latin typeface="微软雅黑" panose="020B0503020204020204" pitchFamily="34" charset="-122"/>
                <a:ea typeface="微软雅黑" panose="020B0503020204020204" pitchFamily="34" charset="-122"/>
              </a:rPr>
              <a:t>1 h</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数学基础 （</a:t>
            </a:r>
            <a:r>
              <a:rPr lang="en-US" altLang="zh-CN" sz="2000" dirty="0" smtClean="0">
                <a:latin typeface="微软雅黑" panose="020B0503020204020204" pitchFamily="34" charset="-122"/>
                <a:ea typeface="微软雅黑" panose="020B0503020204020204" pitchFamily="34" charset="-122"/>
              </a:rPr>
              <a:t>7 h)</a:t>
            </a:r>
          </a:p>
          <a:p>
            <a:pPr>
              <a:spcBef>
                <a:spcPts val="600"/>
              </a:spcBef>
            </a:pPr>
            <a:r>
              <a:rPr lang="zh-CN" altLang="en-US" dirty="0" smtClean="0">
                <a:latin typeface="微软雅黑" panose="020B0503020204020204" pitchFamily="34" charset="-122"/>
                <a:ea typeface="微软雅黑" panose="020B0503020204020204" pitchFamily="34" charset="-122"/>
              </a:rPr>
              <a:t>线性代数基础 （</a:t>
            </a:r>
            <a:r>
              <a:rPr lang="en-US" altLang="zh-CN" dirty="0" smtClean="0">
                <a:latin typeface="微软雅黑" panose="020B0503020204020204" pitchFamily="34" charset="-122"/>
                <a:ea typeface="微软雅黑" panose="020B0503020204020204" pitchFamily="34" charset="-122"/>
              </a:rPr>
              <a:t>6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Delta</a:t>
            </a:r>
            <a:r>
              <a:rPr lang="zh-CN" altLang="en-US" dirty="0" smtClean="0">
                <a:latin typeface="微软雅黑" panose="020B0503020204020204" pitchFamily="34" charset="-122"/>
                <a:ea typeface="微软雅黑" panose="020B0503020204020204" pitchFamily="34" charset="-122"/>
              </a:rPr>
              <a:t>函数、</a:t>
            </a:r>
            <a:r>
              <a:rPr lang="en-US" altLang="zh-CN" dirty="0" smtClean="0">
                <a:latin typeface="微软雅黑" panose="020B0503020204020204" pitchFamily="34" charset="-122"/>
                <a:ea typeface="微软雅黑" panose="020B0503020204020204" pitchFamily="34" charset="-122"/>
              </a:rPr>
              <a:t>Fourier</a:t>
            </a:r>
            <a:r>
              <a:rPr lang="zh-CN" altLang="en-US" dirty="0" smtClean="0">
                <a:latin typeface="微软雅黑" panose="020B0503020204020204" pitchFamily="34" charset="-122"/>
                <a:ea typeface="微软雅黑" panose="020B0503020204020204" pitchFamily="34" charset="-122"/>
              </a:rPr>
              <a:t>变换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量子力学初步 （</a:t>
            </a:r>
            <a:r>
              <a:rPr lang="en-US" altLang="zh-CN" sz="2000" dirty="0">
                <a:latin typeface="微软雅黑" panose="020B0503020204020204" pitchFamily="34" charset="-122"/>
                <a:ea typeface="微软雅黑" panose="020B0503020204020204" pitchFamily="34" charset="-122"/>
              </a:rPr>
              <a:t>6</a:t>
            </a:r>
            <a:r>
              <a:rPr lang="en-US" altLang="zh-CN" sz="2000" dirty="0" smtClean="0">
                <a:latin typeface="微软雅黑" panose="020B0503020204020204" pitchFamily="34" charset="-122"/>
                <a:ea typeface="微软雅黑" panose="020B0503020204020204" pitchFamily="34" charset="-122"/>
              </a:rPr>
              <a:t> h</a:t>
            </a:r>
            <a:r>
              <a:rPr lang="zh-CN" altLang="en-US" sz="2000" dirty="0" smtClean="0">
                <a:latin typeface="微软雅黑" panose="020B0503020204020204" pitchFamily="34" charset="-122"/>
                <a:ea typeface="微软雅黑" panose="020B0503020204020204" pitchFamily="34" charset="-122"/>
              </a:rPr>
              <a:t>）</a:t>
            </a:r>
            <a:endParaRPr lang="en-US" altLang="zh-CN" sz="2000" dirty="0" smtClean="0">
              <a:latin typeface="微软雅黑" panose="020B0503020204020204" pitchFamily="34" charset="-122"/>
              <a:ea typeface="微软雅黑" panose="020B0503020204020204" pitchFamily="34" charset="-122"/>
            </a:endParaRPr>
          </a:p>
          <a:p>
            <a:pPr>
              <a:spcBef>
                <a:spcPts val="600"/>
              </a:spcBef>
            </a:pPr>
            <a:r>
              <a:rPr lang="zh-CN" altLang="en-US" dirty="0" smtClean="0">
                <a:latin typeface="微软雅黑" panose="020B0503020204020204" pitchFamily="34" charset="-122"/>
                <a:ea typeface="微软雅黑" panose="020B0503020204020204" pitchFamily="34" charset="-122"/>
              </a:rPr>
              <a:t>量子力学基本公设、数学形式 （</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h)</a:t>
            </a:r>
          </a:p>
          <a:p>
            <a:r>
              <a:rPr lang="zh-CN" altLang="en-US" dirty="0" smtClean="0">
                <a:latin typeface="微软雅黑" panose="020B0503020204020204" pitchFamily="34" charset="-122"/>
                <a:ea typeface="微软雅黑" panose="020B0503020204020204" pitchFamily="34" charset="-122"/>
              </a:rPr>
              <a:t>自旋</a:t>
            </a:r>
            <a:r>
              <a:rPr lang="zh-CN" altLang="en-US" dirty="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角动量、</a:t>
            </a:r>
            <a:r>
              <a:rPr lang="en-US" altLang="zh-CN" dirty="0" smtClean="0">
                <a:latin typeface="微软雅黑" panose="020B0503020204020204" pitchFamily="34" charset="-122"/>
                <a:ea typeface="微软雅黑" panose="020B0503020204020204" pitchFamily="34" charset="-122"/>
              </a:rPr>
              <a:t>Pauli</a:t>
            </a:r>
            <a:r>
              <a:rPr lang="zh-CN" altLang="en-US" dirty="0" smtClean="0">
                <a:latin typeface="微软雅黑" panose="020B0503020204020204" pitchFamily="34" charset="-122"/>
                <a:ea typeface="微软雅黑" panose="020B0503020204020204" pitchFamily="34" charset="-122"/>
              </a:rPr>
              <a:t>矩阵 </a:t>
            </a:r>
            <a:r>
              <a:rPr lang="zh-CN" altLang="en-US" dirty="0" smtClean="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双</a:t>
            </a:r>
            <a:r>
              <a:rPr lang="zh-CN" altLang="en-US" dirty="0" smtClean="0">
                <a:latin typeface="微软雅黑" panose="020B0503020204020204" pitchFamily="34" charset="-122"/>
                <a:ea typeface="微软雅黑" panose="020B0503020204020204" pitchFamily="34" charset="-122"/>
              </a:rPr>
              <a:t>电子张量积、角动量的耦合 </a:t>
            </a:r>
            <a:r>
              <a:rPr lang="zh-CN" altLang="en-US" dirty="0" smtClean="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a:t>
            </a:r>
            <a:r>
              <a:rPr lang="en-US" altLang="zh-CN" dirty="0" smtClean="0">
                <a:latin typeface="微软雅黑" panose="020B0503020204020204" pitchFamily="34" charset="-122"/>
                <a:ea typeface="微软雅黑" panose="020B0503020204020204" pitchFamily="34" charset="-122"/>
              </a:rPr>
              <a:t> </a:t>
            </a:r>
            <a:r>
              <a:rPr lang="en-US" altLang="zh-CN" dirty="0" smtClean="0">
                <a:latin typeface="微软雅黑" panose="020B0503020204020204" pitchFamily="34" charset="-122"/>
                <a:ea typeface="微软雅黑" panose="020B0503020204020204" pitchFamily="34" charset="-122"/>
              </a:rPr>
              <a:t>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连续谱、谐振子 （</a:t>
            </a:r>
            <a:r>
              <a:rPr lang="en-US" altLang="zh-CN" dirty="0" smtClean="0">
                <a:latin typeface="微软雅黑" panose="020B0503020204020204" pitchFamily="34" charset="-122"/>
                <a:ea typeface="微软雅黑" panose="020B0503020204020204" pitchFamily="34" charset="-122"/>
              </a:rPr>
              <a:t>2 h) (</a:t>
            </a:r>
            <a:r>
              <a:rPr lang="zh-CN" altLang="en-US" dirty="0" smtClean="0">
                <a:latin typeface="微软雅黑" panose="020B0503020204020204" pitchFamily="34" charset="-122"/>
                <a:ea typeface="微软雅黑" panose="020B0503020204020204" pitchFamily="34" charset="-122"/>
              </a:rPr>
              <a:t>视情况而定，若时间充裕会讲）</a:t>
            </a:r>
            <a:endParaRPr lang="en-US" altLang="zh-CN" dirty="0" smtClean="0">
              <a:latin typeface="微软雅黑" panose="020B0503020204020204" pitchFamily="34" charset="-122"/>
              <a:ea typeface="微软雅黑" panose="020B0503020204020204" pitchFamily="34" charset="-122"/>
            </a:endParaRPr>
          </a:p>
          <a:p>
            <a:endParaRPr lang="en-US" altLang="zh-CN" sz="2000" dirty="0">
              <a:latin typeface="微软雅黑" panose="020B0503020204020204" pitchFamily="34" charset="-122"/>
              <a:ea typeface="微软雅黑" panose="020B0503020204020204" pitchFamily="34" charset="-122"/>
            </a:endParaRPr>
          </a:p>
          <a:p>
            <a:r>
              <a:rPr lang="zh-CN" altLang="en-US" sz="2000" dirty="0" smtClean="0">
                <a:latin typeface="微软雅黑" panose="020B0503020204020204" pitchFamily="34" charset="-122"/>
                <a:ea typeface="微软雅黑" panose="020B0503020204020204" pitchFamily="34" charset="-122"/>
              </a:rPr>
              <a:t>量子化学初步 （</a:t>
            </a:r>
            <a:r>
              <a:rPr lang="en-US" altLang="zh-CN" sz="2000" dirty="0" smtClean="0">
                <a:latin typeface="微软雅黑" panose="020B0503020204020204" pitchFamily="34" charset="-122"/>
                <a:ea typeface="微软雅黑" panose="020B0503020204020204" pitchFamily="34" charset="-122"/>
              </a:rPr>
              <a:t>6 h)</a:t>
            </a:r>
            <a:endParaRPr lang="en-US" altLang="zh-CN" sz="2000" dirty="0">
              <a:latin typeface="微软雅黑" panose="020B0503020204020204" pitchFamily="34" charset="-122"/>
              <a:ea typeface="微软雅黑" panose="020B0503020204020204" pitchFamily="34" charset="-122"/>
            </a:endParaRPr>
          </a:p>
          <a:p>
            <a:pPr>
              <a:spcBef>
                <a:spcPts val="600"/>
              </a:spcBef>
            </a:pPr>
            <a:r>
              <a:rPr lang="zh-CN" altLang="en-US" dirty="0" smtClean="0">
                <a:latin typeface="微软雅黑" panose="020B0503020204020204" pitchFamily="34" charset="-122"/>
                <a:ea typeface="微软雅黑" panose="020B0503020204020204" pitchFamily="34" charset="-122"/>
              </a:rPr>
              <a:t>氢原子模型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Born-Huang</a:t>
            </a:r>
            <a:r>
              <a:rPr lang="zh-CN" altLang="en-US" dirty="0" smtClean="0">
                <a:latin typeface="微软雅黑" panose="020B0503020204020204" pitchFamily="34" charset="-122"/>
                <a:ea typeface="微软雅黑" panose="020B0503020204020204" pitchFamily="34" charset="-122"/>
              </a:rPr>
              <a:t>展开、非绝热耦合、</a:t>
            </a:r>
            <a:r>
              <a:rPr lang="en-US" altLang="zh-CN" dirty="0" smtClean="0">
                <a:latin typeface="微软雅黑" panose="020B0503020204020204" pitchFamily="34" charset="-122"/>
                <a:ea typeface="微软雅黑" panose="020B0503020204020204" pitchFamily="34" charset="-122"/>
              </a:rPr>
              <a:t>Born-Oppenheimer</a:t>
            </a:r>
            <a:r>
              <a:rPr lang="zh-CN" altLang="en-US" dirty="0" smtClean="0">
                <a:latin typeface="微软雅黑" panose="020B0503020204020204" pitchFamily="34" charset="-122"/>
                <a:ea typeface="微软雅黑" panose="020B0503020204020204" pitchFamily="34" charset="-122"/>
              </a:rPr>
              <a:t>近似 （</a:t>
            </a:r>
            <a:r>
              <a:rPr lang="en-US" altLang="zh-CN" dirty="0" smtClean="0">
                <a:latin typeface="微软雅黑" panose="020B0503020204020204" pitchFamily="34" charset="-122"/>
                <a:ea typeface="微软雅黑" panose="020B0503020204020204" pitchFamily="34" charset="-122"/>
              </a:rPr>
              <a:t>1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变分原理、线性变分法、氢分子离子模型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Slater</a:t>
            </a:r>
            <a:r>
              <a:rPr lang="zh-CN" altLang="en-US" dirty="0" smtClean="0">
                <a:latin typeface="微软雅黑" panose="020B0503020204020204" pitchFamily="34" charset="-122"/>
                <a:ea typeface="微软雅黑" panose="020B0503020204020204" pitchFamily="34" charset="-122"/>
              </a:rPr>
              <a:t>行列式、</a:t>
            </a:r>
            <a:r>
              <a:rPr lang="en-US" altLang="zh-CN" dirty="0" smtClean="0">
                <a:latin typeface="微软雅黑" panose="020B0503020204020204" pitchFamily="34" charset="-122"/>
                <a:ea typeface="微软雅黑" panose="020B0503020204020204" pitchFamily="34" charset="-122"/>
              </a:rPr>
              <a:t>Slater-Condon</a:t>
            </a:r>
            <a:r>
              <a:rPr lang="zh-CN" altLang="en-US" dirty="0" smtClean="0">
                <a:latin typeface="微软雅黑" panose="020B0503020204020204" pitchFamily="34" charset="-122"/>
                <a:ea typeface="微软雅黑" panose="020B0503020204020204" pitchFamily="34" charset="-122"/>
              </a:rPr>
              <a:t>规则、</a:t>
            </a:r>
            <a:r>
              <a:rPr lang="en-US" altLang="zh-CN" dirty="0" smtClean="0">
                <a:latin typeface="微软雅黑" panose="020B0503020204020204" pitchFamily="34" charset="-122"/>
                <a:ea typeface="微软雅黑" panose="020B0503020204020204" pitchFamily="34" charset="-122"/>
              </a:rPr>
              <a:t>Hartree-Fock</a:t>
            </a:r>
            <a:r>
              <a:rPr lang="zh-CN" altLang="en-US" dirty="0" smtClean="0">
                <a:latin typeface="微软雅黑" panose="020B0503020204020204" pitchFamily="34" charset="-122"/>
                <a:ea typeface="微软雅黑" panose="020B0503020204020204" pitchFamily="34" charset="-122"/>
              </a:rPr>
              <a:t>方法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全组态相互作用 （</a:t>
            </a:r>
            <a:r>
              <a:rPr lang="en-US" altLang="zh-CN" dirty="0" smtClean="0">
                <a:latin typeface="微软雅黑" panose="020B0503020204020204" pitchFamily="34" charset="-122"/>
                <a:ea typeface="微软雅黑" panose="020B0503020204020204" pitchFamily="34" charset="-122"/>
              </a:rPr>
              <a:t>2 h</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p:txBody>
      </p:sp>
      <p:sp>
        <p:nvSpPr>
          <p:cNvPr id="6" name="文本框 5"/>
          <p:cNvSpPr txBox="1"/>
          <p:nvPr/>
        </p:nvSpPr>
        <p:spPr>
          <a:xfrm>
            <a:off x="7052156" y="1017895"/>
            <a:ext cx="4893409" cy="5262979"/>
          </a:xfrm>
          <a:prstGeom prst="rect">
            <a:avLst/>
          </a:prstGeom>
          <a:noFill/>
        </p:spPr>
        <p:txBody>
          <a:bodyPr wrap="square" rtlCol="0">
            <a:spAutoFit/>
          </a:bodyPr>
          <a:lstStyle/>
          <a:p>
            <a:pPr>
              <a:spcAft>
                <a:spcPts val="1800"/>
              </a:spcAft>
            </a:pPr>
            <a:r>
              <a:rPr lang="zh-CN" altLang="en-US" sz="2400" dirty="0" smtClean="0">
                <a:latin typeface="微软雅黑" panose="020B0503020204020204" pitchFamily="34" charset="-122"/>
                <a:ea typeface="微软雅黑" panose="020B0503020204020204" pitchFamily="34" charset="-122"/>
              </a:rPr>
              <a:t>说明：</a:t>
            </a:r>
            <a:endParaRPr lang="en-US" altLang="zh-CN" sz="2400" dirty="0" smtClean="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smtClean="0">
                <a:latin typeface="微软雅黑" panose="020B0503020204020204" pitchFamily="34" charset="-122"/>
                <a:ea typeface="微软雅黑" panose="020B0503020204020204" pitchFamily="34" charset="-122"/>
              </a:rPr>
              <a:t>以</a:t>
            </a:r>
            <a:r>
              <a:rPr lang="zh-CN" altLang="en-US" dirty="0" smtClean="0">
                <a:solidFill>
                  <a:srgbClr val="FF0000"/>
                </a:solidFill>
                <a:latin typeface="微软雅黑" panose="020B0503020204020204" pitchFamily="34" charset="-122"/>
                <a:ea typeface="微软雅黑" panose="020B0503020204020204" pitchFamily="34" charset="-122"/>
              </a:rPr>
              <a:t>数学基础</a:t>
            </a:r>
            <a:r>
              <a:rPr lang="zh-CN" altLang="en-US" dirty="0" smtClean="0">
                <a:latin typeface="微软雅黑" panose="020B0503020204020204" pitchFamily="34" charset="-122"/>
                <a:ea typeface="微软雅黑" panose="020B0503020204020204" pitchFamily="34" charset="-122"/>
              </a:rPr>
              <a:t>和</a:t>
            </a:r>
            <a:r>
              <a:rPr lang="zh-CN" altLang="en-US" dirty="0" smtClean="0">
                <a:solidFill>
                  <a:srgbClr val="FF0000"/>
                </a:solidFill>
                <a:latin typeface="微软雅黑" panose="020B0503020204020204" pitchFamily="34" charset="-122"/>
                <a:ea typeface="微软雅黑" panose="020B0503020204020204" pitchFamily="34" charset="-122"/>
              </a:rPr>
              <a:t>量子力学初步</a:t>
            </a:r>
            <a:r>
              <a:rPr lang="zh-CN" altLang="en-US" dirty="0" smtClean="0">
                <a:latin typeface="微软雅黑" panose="020B0503020204020204" pitchFamily="34" charset="-122"/>
                <a:ea typeface="微软雅黑" panose="020B0503020204020204" pitchFamily="34" charset="-122"/>
              </a:rPr>
              <a:t>为主，这是研究所有与量子力学有关体系的基础，如果量子化学部分最后没有讲完也问题不大，等用到时再看完全可以。</a:t>
            </a:r>
            <a:endParaRPr lang="en-US" altLang="zh-CN" dirty="0" smtClean="0">
              <a:latin typeface="微软雅黑" panose="020B0503020204020204" pitchFamily="34" charset="-122"/>
              <a:ea typeface="微软雅黑" panose="020B0503020204020204" pitchFamily="34" charset="-122"/>
            </a:endParaRPr>
          </a:p>
          <a:p>
            <a:pPr marL="342900" indent="-342900">
              <a:lnSpc>
                <a:spcPct val="150000"/>
              </a:lnSpc>
              <a:buAutoNum type="arabicPeriod"/>
            </a:pPr>
            <a:r>
              <a:rPr lang="zh-CN" altLang="en-US" dirty="0" smtClean="0">
                <a:latin typeface="微软雅黑" panose="020B0503020204020204" pitchFamily="34" charset="-122"/>
                <a:ea typeface="微软雅黑" panose="020B0503020204020204" pitchFamily="34" charset="-122"/>
              </a:rPr>
              <a:t>理解一个问题可以从不同角度出发，对量子力学而言更是如此，拥有较好物理直觉的话，可以借助一些量子化学的概念在物理上直观理解，帮助克服数学推导困难；反之亦然，对量子力学框架难以接受时，可以直接当作线性代数</a:t>
            </a:r>
            <a:r>
              <a:rPr lang="zh-CN" altLang="en-US" dirty="0" smtClean="0">
                <a:latin typeface="微软雅黑" panose="020B0503020204020204" pitchFamily="34" charset="-122"/>
                <a:ea typeface="微软雅黑" panose="020B0503020204020204" pitchFamily="34" charset="-122"/>
              </a:rPr>
              <a:t>的应用</a:t>
            </a:r>
            <a:r>
              <a:rPr lang="zh-CN" altLang="en-US" dirty="0" smtClean="0">
                <a:latin typeface="微软雅黑" panose="020B0503020204020204" pitchFamily="34" charset="-122"/>
                <a:ea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rPr>
              <a:t>反过来思考模型</a:t>
            </a:r>
            <a:r>
              <a:rPr lang="zh-CN" altLang="en-US" dirty="0" smtClean="0">
                <a:latin typeface="微软雅黑" panose="020B0503020204020204" pitchFamily="34" charset="-122"/>
                <a:ea typeface="微软雅黑" panose="020B0503020204020204" pitchFamily="34" charset="-122"/>
              </a:rPr>
              <a:t>里的物理意义。</a:t>
            </a:r>
            <a:endParaRPr lang="zh-CN" altLang="en-US" dirty="0">
              <a:latin typeface="微软雅黑" panose="020B0503020204020204" pitchFamily="34" charset="-122"/>
              <a:ea typeface="微软雅黑" panose="020B0503020204020204" pitchFamily="34" charset="-122"/>
            </a:endParaRPr>
          </a:p>
        </p:txBody>
      </p:sp>
      <p:sp>
        <p:nvSpPr>
          <p:cNvPr id="2" name="圆角矩形 1"/>
          <p:cNvSpPr/>
          <p:nvPr/>
        </p:nvSpPr>
        <p:spPr>
          <a:xfrm>
            <a:off x="157225" y="1017895"/>
            <a:ext cx="6894931" cy="5609346"/>
          </a:xfrm>
          <a:prstGeom prst="roundRect">
            <a:avLst>
              <a:gd name="adj" fmla="val 6914"/>
            </a:avLst>
          </a:prstGeom>
          <a:noFill/>
          <a:ln w="381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17657050"/>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4" y="288319"/>
            <a:ext cx="6086503"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Reference</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pic>
        <p:nvPicPr>
          <p:cNvPr id="14" name="图片 13">
            <a:extLst>
              <a:ext uri="{FF2B5EF4-FFF2-40B4-BE49-F238E27FC236}">
                <a16:creationId xmlns="" xmlns:a16="http://schemas.microsoft.com/office/drawing/2014/main" id="{D0EEB9B2-3160-400E-89BA-0D43C6A829FD}"/>
              </a:ext>
            </a:extLst>
          </p:cNvPr>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4700"/>
                    </a14:imgEffect>
                    <a14:imgEffect>
                      <a14:saturation sat="200000"/>
                    </a14:imgEffect>
                  </a14:imgLayer>
                </a14:imgProps>
              </a:ext>
              <a:ext uri="{28A0092B-C50C-407E-A947-70E740481C1C}">
                <a14:useLocalDpi xmlns:a14="http://schemas.microsoft.com/office/drawing/2010/main" val="0"/>
              </a:ext>
            </a:extLst>
          </a:blip>
          <a:srcRect/>
          <a:stretch/>
        </p:blipFill>
        <p:spPr>
          <a:xfrm>
            <a:off x="10800000" y="360000"/>
            <a:ext cx="944746" cy="944746"/>
          </a:xfrm>
          <a:prstGeom prst="rect">
            <a:avLst/>
          </a:prstGeom>
        </p:spPr>
      </p:pic>
      <p:sp>
        <p:nvSpPr>
          <p:cNvPr id="3" name="文本框 2"/>
          <p:cNvSpPr txBox="1"/>
          <p:nvPr/>
        </p:nvSpPr>
        <p:spPr>
          <a:xfrm>
            <a:off x="492856" y="1526062"/>
            <a:ext cx="11251890" cy="4247317"/>
          </a:xfrm>
          <a:prstGeom prst="rect">
            <a:avLst/>
          </a:prstGeom>
          <a:noFill/>
        </p:spPr>
        <p:txBody>
          <a:bodyPr wrap="square" rtlCol="0">
            <a:spAutoFit/>
          </a:bodyPr>
          <a:lstStyle/>
          <a:p>
            <a:pPr>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丘维声</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高等代数</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第二版，上、下册</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北京：清华大学出版社，</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2018.</a:t>
            </a:r>
          </a:p>
          <a:p>
            <a:pPr>
              <a:lnSpc>
                <a:spcPct val="150000"/>
              </a:lnSpc>
            </a:pPr>
            <a:r>
              <a:rPr lang="zh-CN" altLang="en-US" sz="2000" dirty="0">
                <a:latin typeface="Arial" panose="020B0604020202020204" pitchFamily="34" charset="0"/>
                <a:ea typeface="微软雅黑" panose="020B0503020204020204" pitchFamily="34" charset="-122"/>
                <a:cs typeface="Arial" panose="020B0604020202020204" pitchFamily="34" charset="0"/>
              </a:rPr>
              <a:t>丘维</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声</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高等代数学习指导书</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第二版，上、下册</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 </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北京：清华大学出版社，</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2018.</a:t>
            </a:r>
          </a:p>
          <a:p>
            <a:pPr>
              <a:lnSpc>
                <a:spcPct val="150000"/>
              </a:lnSpc>
            </a:pPr>
            <a:r>
              <a:rPr lang="en-US" altLang="zh-CN" sz="2000" dirty="0">
                <a:latin typeface="Arial" panose="020B0604020202020204" pitchFamily="34" charset="0"/>
                <a:cs typeface="Arial" panose="020B0604020202020204" pitchFamily="34" charset="0"/>
              </a:rPr>
              <a:t>D. J. Griffiths, D. F. </a:t>
            </a:r>
            <a:r>
              <a:rPr lang="en-US" altLang="zh-CN" sz="2000" dirty="0" err="1">
                <a:latin typeface="Arial" panose="020B0604020202020204" pitchFamily="34" charset="0"/>
                <a:cs typeface="Arial" panose="020B0604020202020204" pitchFamily="34" charset="0"/>
              </a:rPr>
              <a:t>Schroeter</a:t>
            </a: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Introduction to Quantum Mechanics</a:t>
            </a:r>
            <a:r>
              <a:rPr lang="en-US" altLang="zh-CN" sz="2000" dirty="0">
                <a:latin typeface="Arial" panose="020B0604020202020204" pitchFamily="34" charset="0"/>
                <a:cs typeface="Arial" panose="020B0604020202020204" pitchFamily="34" charset="0"/>
              </a:rPr>
              <a:t>, 3rd </a:t>
            </a:r>
            <a:r>
              <a:rPr lang="en-US" altLang="zh-CN" sz="2000" dirty="0" smtClean="0">
                <a:latin typeface="Arial" panose="020B0604020202020204" pitchFamily="34" charset="0"/>
                <a:cs typeface="Arial" panose="020B0604020202020204" pitchFamily="34" charset="0"/>
              </a:rPr>
              <a:t>ed. Cambridge </a:t>
            </a:r>
            <a:r>
              <a:rPr lang="en-US" altLang="zh-CN" sz="2000" dirty="0">
                <a:latin typeface="Arial" panose="020B0604020202020204" pitchFamily="34" charset="0"/>
                <a:cs typeface="Arial" panose="020B0604020202020204" pitchFamily="34" charset="0"/>
              </a:rPr>
              <a:t>University Press, 2018</a:t>
            </a:r>
            <a:r>
              <a:rPr lang="en-US" altLang="zh-CN" sz="2000" dirty="0" smtClean="0">
                <a:latin typeface="Arial" panose="020B0604020202020204" pitchFamily="34" charset="0"/>
                <a:cs typeface="Arial" panose="020B0604020202020204" pitchFamily="34" charset="0"/>
              </a:rPr>
              <a:t>.</a:t>
            </a:r>
          </a:p>
          <a:p>
            <a:pPr>
              <a:lnSpc>
                <a:spcPct val="150000"/>
              </a:lnSpc>
            </a:pPr>
            <a:r>
              <a:rPr lang="it-IT" altLang="zh-CN" sz="2000" dirty="0">
                <a:latin typeface="Arial" panose="020B0604020202020204" pitchFamily="34" charset="0"/>
                <a:cs typeface="Arial" panose="020B0604020202020204" pitchFamily="34" charset="0"/>
              </a:rPr>
              <a:t>J. J. Sakurai, J. Napolitano. </a:t>
            </a:r>
            <a:r>
              <a:rPr lang="it-IT" altLang="zh-CN" sz="2000" i="1" dirty="0">
                <a:latin typeface="Arial" panose="020B0604020202020204" pitchFamily="34" charset="0"/>
                <a:cs typeface="Arial" panose="020B0604020202020204" pitchFamily="34" charset="0"/>
              </a:rPr>
              <a:t>Modern Quantum Mechanics</a:t>
            </a:r>
            <a:r>
              <a:rPr lang="it-IT" altLang="zh-CN" sz="2000" dirty="0">
                <a:latin typeface="Arial" panose="020B0604020202020204" pitchFamily="34" charset="0"/>
                <a:cs typeface="Arial" panose="020B0604020202020204" pitchFamily="34" charset="0"/>
              </a:rPr>
              <a:t>, 2nd ed., </a:t>
            </a:r>
            <a:r>
              <a:rPr lang="it-IT" altLang="zh-CN" sz="2000" dirty="0" smtClean="0">
                <a:latin typeface="Arial" panose="020B0604020202020204" pitchFamily="34" charset="0"/>
                <a:cs typeface="Arial" panose="020B0604020202020204" pitchFamily="34" charset="0"/>
              </a:rPr>
              <a:t>Cambridge </a:t>
            </a:r>
            <a:r>
              <a:rPr lang="en-US" altLang="zh-CN" sz="2000" dirty="0" smtClean="0">
                <a:latin typeface="Arial" panose="020B0604020202020204" pitchFamily="34" charset="0"/>
                <a:cs typeface="Arial" panose="020B0604020202020204" pitchFamily="34" charset="0"/>
              </a:rPr>
              <a:t>University </a:t>
            </a:r>
            <a:r>
              <a:rPr lang="en-US" altLang="zh-CN" sz="2000" dirty="0">
                <a:latin typeface="Arial" panose="020B0604020202020204" pitchFamily="34" charset="0"/>
                <a:cs typeface="Arial" panose="020B0604020202020204" pitchFamily="34" charset="0"/>
              </a:rPr>
              <a:t>Press, 2017</a:t>
            </a:r>
            <a:r>
              <a:rPr lang="en-US" altLang="zh-CN" sz="2000" dirty="0" smtClean="0">
                <a:latin typeface="Arial" panose="020B0604020202020204" pitchFamily="34" charset="0"/>
                <a:cs typeface="Arial" panose="020B0604020202020204" pitchFamily="34" charset="0"/>
              </a:rPr>
              <a:t>.</a:t>
            </a:r>
          </a:p>
          <a:p>
            <a:pPr>
              <a:lnSpc>
                <a:spcPct val="150000"/>
              </a:lnSpc>
            </a:pPr>
            <a:r>
              <a:rPr lang="en-US" altLang="zh-CN" sz="2000" dirty="0">
                <a:latin typeface="Arial" panose="020B0604020202020204" pitchFamily="34" charset="0"/>
                <a:cs typeface="Arial" panose="020B0604020202020204" pitchFamily="34" charset="0"/>
              </a:rPr>
              <a:t>Ira N. Levine. </a:t>
            </a:r>
            <a:r>
              <a:rPr lang="en-US" altLang="zh-CN" sz="2000" i="1" dirty="0">
                <a:latin typeface="Arial" panose="020B0604020202020204" pitchFamily="34" charset="0"/>
                <a:cs typeface="Arial" panose="020B0604020202020204" pitchFamily="34" charset="0"/>
              </a:rPr>
              <a:t>Quantum Chemistry</a:t>
            </a:r>
            <a:r>
              <a:rPr lang="en-US" altLang="zh-CN" sz="2000" dirty="0">
                <a:latin typeface="Arial" panose="020B0604020202020204" pitchFamily="34" charset="0"/>
                <a:cs typeface="Arial" panose="020B0604020202020204" pitchFamily="34" charset="0"/>
              </a:rPr>
              <a:t>, 7th ed., Pearson, 2014</a:t>
            </a:r>
            <a:r>
              <a:rPr lang="en-US" altLang="zh-CN" sz="2000" dirty="0" smtClean="0">
                <a:latin typeface="Arial" panose="020B0604020202020204" pitchFamily="34" charset="0"/>
                <a:cs typeface="Arial" panose="020B0604020202020204" pitchFamily="34" charset="0"/>
              </a:rPr>
              <a:t>.</a:t>
            </a:r>
          </a:p>
          <a:p>
            <a:pPr>
              <a:lnSpc>
                <a:spcPct val="150000"/>
              </a:lnSpc>
            </a:pPr>
            <a:r>
              <a:rPr lang="en-US" altLang="zh-CN" sz="2000" dirty="0">
                <a:latin typeface="Arial" panose="020B0604020202020204" pitchFamily="34" charset="0"/>
                <a:cs typeface="Arial" panose="020B0604020202020204" pitchFamily="34" charset="0"/>
              </a:rPr>
              <a:t>A. Szabo and N. S. </a:t>
            </a:r>
            <a:r>
              <a:rPr lang="en-US" altLang="zh-CN" sz="2000" dirty="0" err="1">
                <a:latin typeface="Arial" panose="020B0604020202020204" pitchFamily="34" charset="0"/>
                <a:cs typeface="Arial" panose="020B0604020202020204" pitchFamily="34" charset="0"/>
              </a:rPr>
              <a:t>Ostlund</a:t>
            </a:r>
            <a:r>
              <a:rPr lang="en-US" altLang="zh-CN" sz="2000" dirty="0">
                <a:latin typeface="Arial" panose="020B0604020202020204" pitchFamily="34" charset="0"/>
                <a:cs typeface="Arial" panose="020B0604020202020204" pitchFamily="34" charset="0"/>
              </a:rPr>
              <a:t>, </a:t>
            </a:r>
            <a:r>
              <a:rPr lang="en-US" altLang="zh-CN" sz="2000" i="1" dirty="0">
                <a:latin typeface="Arial" panose="020B0604020202020204" pitchFamily="34" charset="0"/>
                <a:cs typeface="Arial" panose="020B0604020202020204" pitchFamily="34" charset="0"/>
              </a:rPr>
              <a:t>Modern quantum chemistry: introduction to advanced electronic structure theory</a:t>
            </a:r>
            <a:r>
              <a:rPr lang="en-US" altLang="zh-CN" sz="2000" dirty="0">
                <a:latin typeface="Arial" panose="020B0604020202020204" pitchFamily="34" charset="0"/>
                <a:cs typeface="Arial" panose="020B0604020202020204" pitchFamily="34" charset="0"/>
              </a:rPr>
              <a:t>. Dover Publications, Inc., </a:t>
            </a:r>
            <a:r>
              <a:rPr lang="en-US" altLang="zh-CN" sz="2000" b="1" dirty="0">
                <a:latin typeface="Arial" panose="020B0604020202020204" pitchFamily="34" charset="0"/>
                <a:cs typeface="Arial" panose="020B0604020202020204" pitchFamily="34" charset="0"/>
              </a:rPr>
              <a:t>1996</a:t>
            </a:r>
            <a:r>
              <a:rPr lang="en-US" altLang="zh-CN" sz="2000" dirty="0" smtClean="0">
                <a:latin typeface="Arial" panose="020B0604020202020204" pitchFamily="34" charset="0"/>
                <a:cs typeface="Arial" panose="020B0604020202020204" pitchFamily="34" charset="0"/>
              </a:rPr>
              <a:t>.</a:t>
            </a:r>
            <a:endParaRPr lang="en-US" altLang="zh-C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596001"/>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 xmlns:a16="http://schemas.microsoft.com/office/drawing/2014/main" id="{D67F5DEC-E1C0-4EE2-BBD5-03555CE095C4}"/>
              </a:ext>
            </a:extLst>
          </p:cNvPr>
          <p:cNvPicPr>
            <a:picLocks noChangeAspect="1"/>
          </p:cNvPicPr>
          <p:nvPr/>
        </p:nvPicPr>
        <p:blipFill>
          <a:blip r:embed="rId3"/>
          <a:stretch>
            <a:fillRect/>
          </a:stretch>
        </p:blipFill>
        <p:spPr>
          <a:xfrm>
            <a:off x="0" y="0"/>
            <a:ext cx="12192000" cy="6857999"/>
          </a:xfrm>
          <a:prstGeom prst="rect">
            <a:avLst/>
          </a:prstGeom>
        </p:spPr>
      </p:pic>
      <p:sp>
        <p:nvSpPr>
          <p:cNvPr id="28" name="矩形 27">
            <a:extLst>
              <a:ext uri="{FF2B5EF4-FFF2-40B4-BE49-F238E27FC236}">
                <a16:creationId xmlns="" xmlns:a16="http://schemas.microsoft.com/office/drawing/2014/main" id="{46136000-10E3-494A-9031-2038514A22C5}"/>
              </a:ext>
            </a:extLst>
          </p:cNvPr>
          <p:cNvSpPr/>
          <p:nvPr/>
        </p:nvSpPr>
        <p:spPr>
          <a:xfrm>
            <a:off x="742314" y="288319"/>
            <a:ext cx="6086503" cy="584775"/>
          </a:xfrm>
          <a:prstGeom prst="rect">
            <a:avLst/>
          </a:prstGeom>
          <a:noFill/>
          <a:effectLst/>
        </p:spPr>
        <p:txBody>
          <a:bodyPr vert="horz" wrap="square">
            <a:spAutoFit/>
          </a:bodyPr>
          <a:lstStyle/>
          <a:p>
            <a:r>
              <a:rPr lang="en-US" altLang="zh-CN" sz="3200" b="1" dirty="0" smtClean="0">
                <a:solidFill>
                  <a:srgbClr val="002060"/>
                </a:solidFill>
                <a:latin typeface="微软雅黑" panose="020B0503020204020204" pitchFamily="34" charset="-122"/>
                <a:ea typeface="微软雅黑" panose="020B0503020204020204" pitchFamily="34" charset="-122"/>
                <a:sym typeface="+mn-ea"/>
              </a:rPr>
              <a:t>Complement</a:t>
            </a:r>
            <a:endParaRPr lang="zh-CN" altLang="en-US" sz="3200" b="1" dirty="0">
              <a:solidFill>
                <a:srgbClr val="002060"/>
              </a:solidFill>
              <a:latin typeface="微软雅黑" panose="020B0503020204020204" pitchFamily="34" charset="-122"/>
              <a:ea typeface="微软雅黑" panose="020B0503020204020204" pitchFamily="34" charset="-122"/>
              <a:cs typeface="等线" panose="02010600030101010101" charset="-122"/>
              <a:sym typeface="+mn-ea"/>
            </a:endParaRPr>
          </a:p>
        </p:txBody>
      </p:sp>
      <p:sp>
        <p:nvSpPr>
          <p:cNvPr id="31" name="矩形 1">
            <a:extLst>
              <a:ext uri="{FF2B5EF4-FFF2-40B4-BE49-F238E27FC236}">
                <a16:creationId xmlns="" xmlns:a16="http://schemas.microsoft.com/office/drawing/2014/main" id="{2C3ABD72-5F78-472A-80BC-7B5B2FEDEB9B}"/>
              </a:ext>
            </a:extLst>
          </p:cNvPr>
          <p:cNvSpPr/>
          <p:nvPr/>
        </p:nvSpPr>
        <p:spPr>
          <a:xfrm>
            <a:off x="337185" y="-10795"/>
            <a:ext cx="161925" cy="789305"/>
          </a:xfrm>
          <a:prstGeom prst="rect">
            <a:avLst/>
          </a:prstGeom>
          <a:solidFill>
            <a:srgbClr val="D8D8D8"/>
          </a:solidFill>
          <a:ln w="9525">
            <a:noFill/>
          </a:ln>
        </p:spPr>
        <p:txBody>
          <a:bodyPr anchor="ctr"/>
          <a:lstStyle/>
          <a:p>
            <a:pPr algn="ctr"/>
            <a:endParaRPr dirty="0">
              <a:solidFill>
                <a:srgbClr val="FFFFFF"/>
              </a:solidFill>
              <a:latin typeface="等线" panose="02010600030101010101" pitchFamily="2" charset="-122"/>
              <a:ea typeface="等线" panose="02010600030101010101" pitchFamily="2" charset="-122"/>
              <a:sym typeface="宋体" panose="02010600030101010101" pitchFamily="2" charset="-122"/>
            </a:endParaRPr>
          </a:p>
        </p:txBody>
      </p:sp>
      <p:sp>
        <p:nvSpPr>
          <p:cNvPr id="32" name="矩形 2">
            <a:extLst>
              <a:ext uri="{FF2B5EF4-FFF2-40B4-BE49-F238E27FC236}">
                <a16:creationId xmlns="" xmlns:a16="http://schemas.microsoft.com/office/drawing/2014/main" id="{E851A490-38B4-4170-AE30-FE853CDF0A15}"/>
              </a:ext>
            </a:extLst>
          </p:cNvPr>
          <p:cNvSpPr/>
          <p:nvPr/>
        </p:nvSpPr>
        <p:spPr>
          <a:xfrm>
            <a:off x="540385" y="383540"/>
            <a:ext cx="160655" cy="394335"/>
          </a:xfrm>
          <a:prstGeom prst="rect">
            <a:avLst/>
          </a:prstGeom>
          <a:solidFill>
            <a:srgbClr val="002060"/>
          </a:solidFill>
          <a:ln w="9525">
            <a:noFill/>
          </a:ln>
        </p:spPr>
        <p:txBody>
          <a:bodyPr anchor="ctr"/>
          <a:lstStyle/>
          <a:p>
            <a:pPr algn="ctr"/>
            <a:endParaRPr sz="1600" dirty="0">
              <a:solidFill>
                <a:srgbClr val="FFFFFF"/>
              </a:solidFill>
              <a:latin typeface="等线" panose="02010600030101010101" pitchFamily="2" charset="-122"/>
              <a:ea typeface="等线" panose="02010600030101010101" pitchFamily="2" charset="-122"/>
              <a:sym typeface="微软雅黑" panose="020B0503020204020204" charset="-122"/>
            </a:endParaRPr>
          </a:p>
        </p:txBody>
      </p:sp>
      <p:sp>
        <p:nvSpPr>
          <p:cNvPr id="3" name="文本框 2"/>
          <p:cNvSpPr txBox="1"/>
          <p:nvPr/>
        </p:nvSpPr>
        <p:spPr>
          <a:xfrm>
            <a:off x="184826" y="803340"/>
            <a:ext cx="11874305" cy="6093976"/>
          </a:xfrm>
          <a:prstGeom prst="rect">
            <a:avLst/>
          </a:prstGeom>
          <a:noFill/>
        </p:spPr>
        <p:txBody>
          <a:bodyPr wrap="square" rtlCol="0">
            <a:spAutoFit/>
          </a:bodyPr>
          <a:lstStyle/>
          <a:p>
            <a:pPr indent="457200">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本科线性代数和大学物理这两门课或因为课时安排，或因为教材编排，亦或因为讲授方式问题，很多人都感觉云里雾里，难度很大，以至于一见到“理论”两字就望而却步。</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indent="457200">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本次讨论班的重要目的之一就是消除对理论计算化学的部分误解，它并非在各个研究方向上都要求非常高的数学基础（当然也不意味着不需要基础）。</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indent="457200">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另一方面，本次讨论班将从零开始重构线性代数框架，力求让大家明白线性代数到底在做什么，而不是上来就开始算行列式，算完行列式算矩阵，算完矩阵再去对角化</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，这种编排一直饱受诟病。一来</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这些机械性的东西早就可以被计算机代替，</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二来读者费尽千辛万苦算了</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一通，也不知道算这些玩意到底有什么用，什么时候该去做这些事。因此不必为线性代数已经忘光，或者没怎么学线性代数而担心。</a:t>
            </a:r>
            <a:endParaRPr lang="en-US" altLang="zh-CN" sz="2000" dirty="0" smtClean="0">
              <a:latin typeface="Arial" panose="020B0604020202020204" pitchFamily="34" charset="0"/>
              <a:ea typeface="微软雅黑" panose="020B0503020204020204" pitchFamily="34" charset="-122"/>
              <a:cs typeface="Arial" panose="020B0604020202020204" pitchFamily="34" charset="0"/>
            </a:endParaRPr>
          </a:p>
          <a:p>
            <a:pPr indent="457200">
              <a:lnSpc>
                <a:spcPct val="150000"/>
              </a:lnSpc>
            </a:pPr>
            <a:r>
              <a:rPr lang="zh-CN" altLang="en-US" sz="2000" dirty="0" smtClean="0">
                <a:latin typeface="Arial" panose="020B0604020202020204" pitchFamily="34" charset="0"/>
                <a:ea typeface="微软雅黑" panose="020B0503020204020204" pitchFamily="34" charset="-122"/>
                <a:cs typeface="Arial" panose="020B0604020202020204" pitchFamily="34" charset="0"/>
              </a:rPr>
              <a:t>最后，上过大学物理下的同学可能知道叙述量子力学的经典路径是从讲黑体辐射开始，</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在</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讲述定态</a:t>
            </a:r>
            <a:r>
              <a:rPr lang="zh-CN" altLang="en-US" sz="2000" dirty="0">
                <a:latin typeface="Arial" panose="020B0604020202020204" pitchFamily="34" charset="0"/>
                <a:ea typeface="微软雅黑" panose="020B0503020204020204" pitchFamily="34" charset="-122"/>
                <a:cs typeface="Arial" panose="020B0604020202020204" pitchFamily="34" charset="0"/>
              </a:rPr>
              <a:t>薛定谔</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方程</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时直接</a:t>
            </a:r>
            <a:r>
              <a:rPr lang="zh-CN" altLang="en-US" sz="2000" dirty="0">
                <a:latin typeface="Arial" panose="020B0604020202020204" pitchFamily="34" charset="0"/>
                <a:ea typeface="微软雅黑" panose="020B0503020204020204" pitchFamily="34" charset="-122"/>
                <a:cs typeface="Arial" panose="020B0604020202020204" pitchFamily="34" charset="0"/>
              </a:rPr>
              <a:t>从解一</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维无限深势阱、谐振子、氢原子等</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一系列偏</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微分（常微分）方程开始。这固然可以作为学习量子力学的路径之一（</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Griffith</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那本书也不例外），但</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容易令人囿</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于解一个个方程的困境，而</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忽略量子力学</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的</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物理意义。</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因此讨论班中直接采取</a:t>
            </a:r>
            <a:r>
              <a:rPr lang="en-US" altLang="zh-CN" sz="2000" dirty="0" smtClean="0">
                <a:latin typeface="Arial" panose="020B0604020202020204" pitchFamily="34" charset="0"/>
                <a:ea typeface="微软雅黑" panose="020B0503020204020204" pitchFamily="34" charset="-122"/>
                <a:cs typeface="Arial" panose="020B0604020202020204" pitchFamily="34" charset="0"/>
              </a:rPr>
              <a:t>Sakurai</a:t>
            </a:r>
            <a:r>
              <a:rPr lang="zh-CN" altLang="en-US" sz="2000" dirty="0" smtClean="0">
                <a:latin typeface="Arial" panose="020B0604020202020204" pitchFamily="34" charset="0"/>
                <a:ea typeface="微软雅黑" panose="020B0503020204020204" pitchFamily="34" charset="-122"/>
                <a:cs typeface="Arial" panose="020B0604020202020204" pitchFamily="34" charset="0"/>
              </a:rPr>
              <a:t>的做法，从只有两个分量的自旋开始讨论，降低数学要求的同时，可以更快理解量子力学中的一些核心概念。</a:t>
            </a:r>
            <a:endParaRPr lang="en-US" altLang="zh-CN" sz="2000" dirty="0">
              <a:latin typeface="Arial" panose="020B0604020202020204" pitchFamily="34" charset="0"/>
              <a:ea typeface="微软雅黑" panose="020B0503020204020204" pitchFamily="34" charset="-122"/>
              <a:cs typeface="Arial" panose="020B0604020202020204" pitchFamily="34" charset="0"/>
            </a:endParaRPr>
          </a:p>
        </p:txBody>
      </p:sp>
    </p:spTree>
    <p:extLst>
      <p:ext uri="{BB962C8B-B14F-4D97-AF65-F5344CB8AC3E}">
        <p14:creationId xmlns:p14="http://schemas.microsoft.com/office/powerpoint/2010/main" val="1556251425"/>
      </p:ext>
    </p:extLst>
  </p:cSld>
  <p:clrMapOvr>
    <a:masterClrMapping/>
  </p:clrMapOvr>
  <mc:AlternateContent xmlns:mc="http://schemas.openxmlformats.org/markup-compatibility/2006" xmlns:p14="http://schemas.microsoft.com/office/powerpoint/2010/main">
    <mc:Choice Requires="p14">
      <p:transition spd="slow" p14:dur="2000" advTm="20375"/>
    </mc:Choice>
    <mc:Fallback xmlns="">
      <p:transition spd="slow" advTm="20375"/>
    </mc:Fallback>
  </mc:AlternateContent>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2583</TotalTime>
  <Words>1372</Words>
  <Application>Microsoft Office PowerPoint</Application>
  <PresentationFormat>宽屏</PresentationFormat>
  <Paragraphs>132</Paragraphs>
  <Slides>15</Slides>
  <Notes>15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15</vt:i4>
      </vt:variant>
    </vt:vector>
  </HeadingPairs>
  <TitlesOfParts>
    <vt:vector size="24" baseType="lpstr">
      <vt:lpstr>Arial Unicode MS</vt:lpstr>
      <vt:lpstr>等线</vt: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125</cp:revision>
  <dcterms:created xsi:type="dcterms:W3CDTF">2026-04-13T12:58:51Z</dcterms:created>
  <dcterms:modified xsi:type="dcterms:W3CDTF">2026-05-28T16:52:59Z</dcterms:modified>
</cp:coreProperties>
</file>