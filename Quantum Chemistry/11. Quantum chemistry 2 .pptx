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337" r:id="rId3"/>
    <p:sldId id="439" r:id="rId4"/>
    <p:sldId id="440" r:id="rId5"/>
    <p:sldId id="441" r:id="rId6"/>
    <p:sldId id="442" r:id="rId7"/>
    <p:sldId id="443" r:id="rId8"/>
    <p:sldId id="444" r:id="rId9"/>
    <p:sldId id="369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37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90" autoAdjust="0"/>
    <p:restoredTop sz="92005" autoAdjust="0"/>
  </p:normalViewPr>
  <p:slideViewPr>
    <p:cSldViewPr snapToGrid="0">
      <p:cViewPr varScale="1">
        <p:scale>
          <a:sx n="87" d="100"/>
          <a:sy n="87" d="100"/>
        </p:scale>
        <p:origin x="53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6CD0B4-0D93-4925-9AE5-BE338DE0EB77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91C58D-F6D9-4444-8C6C-9BE396A375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9509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719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11029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98711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6040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03742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40633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37354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49265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C1F624-D565-4B52-954C-70A2A0C22C3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107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F24E-D5DB-4E44-B9C1-1C9F966D9DE0}" type="datetime1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0427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644C8-A75A-4271-B806-197E7CBB3043}" type="datetime1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428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EAEB6-6817-4662-A1D3-3BC44BA693B7}" type="datetime1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9730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12959-142D-4B7D-99C2-885C08D89CC3}" type="datetime1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0982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0402A6-6B27-4F12-88C3-26F3AADB1B4A}" type="datetime1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1445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A87C-D3D9-4098-8262-38F46DBFE130}" type="datetime1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601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A405D1-58D2-499A-8919-5CFDC4F042E9}" type="datetime1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7771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3647B-B16E-4175-BFE9-E10D077C5782}" type="datetime1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631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63D96-C799-489A-9DE7-F5DBBF900548}" type="datetime1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6454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37679-E711-45F2-B537-122BD96A4634}" type="datetime1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3931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60A1E-7A35-43E8-B9E2-C715633E112E}" type="datetime1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592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EBADF-EE84-4603-B97B-F3FFE6AB9912}" type="datetime1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518733-9D16-43A2-A61C-084D57F7F0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4579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xmlns="" id="{6035010B-2434-47C2-8100-5A5F5450E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xmlns="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87034" y="484388"/>
            <a:ext cx="1617921" cy="1617921"/>
          </a:xfrm>
          <a:prstGeom prst="rect">
            <a:avLst/>
          </a:prstGeom>
        </p:spPr>
      </p:pic>
      <p:sp>
        <p:nvSpPr>
          <p:cNvPr id="3" name="矩形 12"/>
          <p:cNvSpPr/>
          <p:nvPr/>
        </p:nvSpPr>
        <p:spPr>
          <a:xfrm>
            <a:off x="2889789" y="4196487"/>
            <a:ext cx="6412417" cy="81708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 eaLnBrk="1" hangingPunct="1"/>
            <a:endParaRPr lang="zh-CN" altLang="en-US" sz="2400" dirty="0">
              <a:solidFill>
                <a:srgbClr val="0070C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470405" y="2377744"/>
            <a:ext cx="11251177" cy="16927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4400" b="1" dirty="0" smtClean="0">
                <a:latin typeface="Arial" panose="020B0604020202020204" pitchFamily="34" charset="0"/>
                <a:ea typeface="Arial Unicode MS" panose="020B0604020202020204" pitchFamily="34" charset="-122"/>
                <a:cs typeface="Arial" panose="020B0604020202020204" pitchFamily="34" charset="0"/>
              </a:rPr>
              <a:t>Introduction to Quantum Chemistry</a:t>
            </a:r>
          </a:p>
          <a:p>
            <a:pPr algn="ctr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4000" b="1" dirty="0" smtClean="0">
                <a:latin typeface="Arial" panose="020B0604020202020204" pitchFamily="34" charset="0"/>
                <a:ea typeface="Arial Unicode MS" panose="020B0604020202020204" pitchFamily="34" charset="-122"/>
                <a:cs typeface="Arial" panose="020B0604020202020204" pitchFamily="34" charset="0"/>
              </a:rPr>
              <a:t>——Quantum Chemistry </a:t>
            </a:r>
            <a:r>
              <a:rPr lang="en-US" altLang="zh-CN" sz="4000" b="1" dirty="0">
                <a:latin typeface="Arial" panose="020B0604020202020204" pitchFamily="34" charset="0"/>
                <a:ea typeface="Arial Unicode MS" panose="020B0604020202020204" pitchFamily="34" charset="-122"/>
                <a:cs typeface="Arial" panose="020B0604020202020204" pitchFamily="34" charset="0"/>
              </a:rPr>
              <a:t>2</a:t>
            </a:r>
            <a:endParaRPr lang="zh-CN" altLang="en-US" sz="4000" b="1" dirty="0">
              <a:latin typeface="Arial" panose="020B0604020202020204" pitchFamily="34" charset="0"/>
              <a:ea typeface="Arial Unicode MS" panose="020B0604020202020204" pitchFamily="34" charset="-122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654370" y="4553630"/>
            <a:ext cx="4883252" cy="14219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张冀鹏</a:t>
            </a:r>
            <a:endParaRPr lang="en-US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北京师范大学化学学院</a:t>
            </a:r>
            <a:endParaRPr lang="en-US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  <a:p>
            <a:pPr algn="ctr">
              <a:lnSpc>
                <a:spcPct val="120000"/>
              </a:lnSpc>
            </a:pP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charset="-122"/>
              </a:rPr>
              <a:t>2026. 7. 13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78655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855"/>
    </mc:Choice>
    <mc:Fallback xmlns="">
      <p:transition spd="slow" advTm="8855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等线" panose="02010600030101010101" charset="-122"/>
                <a:sym typeface="+mn-ea"/>
              </a:rPr>
              <a:t>Molecule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18147" y="1545568"/>
            <a:ext cx="10572238" cy="40164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我们直接忽略跳过多电子原子，进入对分子的讨论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相较于原子，分子在结构上的变化主要体现在：</a:t>
            </a:r>
            <a:endParaRPr lang="en-US" altLang="zh-CN" sz="20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原子核数目增多，增加原子核之间的势能项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电子与原子核的势能项增加，无法再用简单的坐标变换分离坐标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几乎所有分子都是多电子的，又增加了电子与电子间的库仑排斥项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这</a:t>
            </a:r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使得精确求解分子的薛定谔方程几乎不可能实现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0970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等线" panose="02010600030101010101" charset="-122"/>
                <a:sym typeface="+mn-ea"/>
              </a:rPr>
              <a:t>Molecule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337185" y="991652"/>
                <a:ext cx="10572238" cy="28278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分子的</a:t>
                </a: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Hamiltonian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可写为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acc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𝐻</m:t>
                          </m:r>
                        </m:e>
                      </m:acc>
                      <m:r>
                        <a:rPr lang="en-US" altLang="zh-CN" sz="2000" b="0" i="1" dirty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𝐴</m:t>
                          </m:r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𝑁</m:t>
                          </m:r>
                        </m:sup>
                        <m:e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altLang="zh-CN" sz="20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altLang="zh-CN" sz="20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</m:sSub>
                            </m:den>
                          </m:f>
                          <m:sSubSup>
                            <m:sSubSupPr>
                              <m:ctrlP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sz="2000" b="0" i="0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𝛻</m:t>
                              </m:r>
                            </m:e>
                            <m:sub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altLang="zh-CN" sz="2000" b="0" i="1" dirty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den>
                          </m:f>
                          <m:sSubSup>
                            <m:sSubSupPr>
                              <m:ctrlP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sz="2000" b="0" i="0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𝛻</m:t>
                              </m:r>
                            </m:e>
                            <m:sub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</m:e>
                      </m:nary>
                      <m:r>
                        <a:rPr lang="en-US" altLang="zh-CN" sz="2000" b="0" i="1" dirty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altLang="zh-CN" sz="20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𝐴</m:t>
                                      </m:r>
                                    </m:sub>
                                  </m:sSub>
                                </m:num>
                                <m:den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000" b="0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000" b="1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000" b="0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sz="2000" b="0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000" b="1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000" b="0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nary>
                        </m:e>
                      </m:nary>
                      <m:r>
                        <a:rPr lang="en-US" altLang="zh-CN" sz="2000" b="0" i="1" dirty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f>
                        <m:fPr>
                          <m:ctrlP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Pr>
                        <m:num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≠</m:t>
                              </m:r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altLang="zh-CN" sz="20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0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num>
                                <m:den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000" b="0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000" b="1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000" b="0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sz="2000" b="0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000" b="1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000" b="0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nary>
                        </m:e>
                      </m:nary>
                      <m:r>
                        <a:rPr lang="en-US" altLang="zh-CN" sz="2000" b="0" i="1" dirty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f>
                        <m:fPr>
                          <m:ctrlP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Pr>
                        <m:num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𝐴</m:t>
                          </m:r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≠</m:t>
                              </m:r>
                              <m:r>
                                <a:rPr lang="en-US" altLang="zh-CN" sz="2000" b="0" i="1" dirty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𝐵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altLang="zh-CN" sz="2000" b="0" i="1" dirty="0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𝐵</m:t>
                                      </m:r>
                                    </m:sub>
                                  </m:sSub>
                                </m:num>
                                <m:den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000" b="0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000" b="1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000" b="0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  <m:r>
                                        <a:rPr lang="en-US" altLang="zh-CN" sz="2000" b="0" i="1" dirty="0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 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sz="2000" b="0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000" b="1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000" b="0" i="1" dirty="0" smtClean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𝐵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nary>
                        </m:e>
                      </m:nary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此处使用了原子单位简化书写</a:t>
                </a:r>
                <a:endParaRPr lang="zh-CN" altLang="en-US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85" y="991652"/>
                <a:ext cx="10572238" cy="2827825"/>
              </a:xfrm>
              <a:prstGeom prst="rect">
                <a:avLst/>
              </a:prstGeom>
              <a:blipFill rotWithShape="0">
                <a:blip r:embed="rId5"/>
                <a:stretch>
                  <a:fillRect l="-576" b="-10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椭圆 47"/>
          <p:cNvSpPr/>
          <p:nvPr/>
        </p:nvSpPr>
        <p:spPr>
          <a:xfrm>
            <a:off x="7487920" y="5171440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/>
          <p:cNvSpPr>
            <a:spLocks noChangeAspect="1"/>
          </p:cNvSpPr>
          <p:nvPr/>
        </p:nvSpPr>
        <p:spPr>
          <a:xfrm>
            <a:off x="9935657" y="5171440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0" name="直接箭头连接符 49"/>
          <p:cNvCxnSpPr/>
          <p:nvPr/>
        </p:nvCxnSpPr>
        <p:spPr>
          <a:xfrm>
            <a:off x="6695440" y="5351440"/>
            <a:ext cx="457693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11220855" y="5447005"/>
            <a:ext cx="157413" cy="375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z</a:t>
            </a:r>
            <a:endParaRPr lang="zh-CN" altLang="en-US" dirty="0"/>
          </a:p>
        </p:txBody>
      </p:sp>
      <p:cxnSp>
        <p:nvCxnSpPr>
          <p:cNvPr id="52" name="直接连接符 51"/>
          <p:cNvCxnSpPr/>
          <p:nvPr/>
        </p:nvCxnSpPr>
        <p:spPr>
          <a:xfrm flipV="1">
            <a:off x="7667920" y="5351439"/>
            <a:ext cx="2447737" cy="10798"/>
          </a:xfrm>
          <a:prstGeom prst="lin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/>
          <p:cNvSpPr txBox="1"/>
          <p:nvPr/>
        </p:nvSpPr>
        <p:spPr>
          <a:xfrm>
            <a:off x="7325360" y="5542237"/>
            <a:ext cx="342560" cy="3778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</a:t>
            </a:r>
            <a:endParaRPr lang="zh-CN" altLang="en-US" dirty="0"/>
          </a:p>
        </p:txBody>
      </p:sp>
      <p:sp>
        <p:nvSpPr>
          <p:cNvPr id="54" name="文本框 53"/>
          <p:cNvSpPr txBox="1"/>
          <p:nvPr/>
        </p:nvSpPr>
        <p:spPr>
          <a:xfrm>
            <a:off x="10142785" y="5564408"/>
            <a:ext cx="342560" cy="3778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B</a:t>
            </a:r>
            <a:endParaRPr lang="zh-CN" altLang="en-US" dirty="0"/>
          </a:p>
        </p:txBody>
      </p:sp>
      <p:sp>
        <p:nvSpPr>
          <p:cNvPr id="55" name="文本框 54"/>
          <p:cNvSpPr txBox="1"/>
          <p:nvPr/>
        </p:nvSpPr>
        <p:spPr>
          <a:xfrm>
            <a:off x="8765308" y="5428055"/>
            <a:ext cx="679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rgbClr val="547DB9"/>
                </a:solidFill>
              </a:rPr>
              <a:t>R</a:t>
            </a:r>
            <a:r>
              <a:rPr lang="en-US" altLang="zh-CN" sz="2400" baseline="-25000" dirty="0" smtClean="0">
                <a:solidFill>
                  <a:srgbClr val="547DB9"/>
                </a:solidFill>
              </a:rPr>
              <a:t>AB</a:t>
            </a:r>
            <a:endParaRPr lang="zh-CN" altLang="en-US" sz="2400" baseline="-25000" dirty="0">
              <a:solidFill>
                <a:srgbClr val="547DB9"/>
              </a:solidFill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8670882" y="3954370"/>
            <a:ext cx="188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57" name="文本框 56"/>
          <p:cNvSpPr txBox="1"/>
          <p:nvPr/>
        </p:nvSpPr>
        <p:spPr>
          <a:xfrm>
            <a:off x="9930581" y="4275919"/>
            <a:ext cx="2665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2</a:t>
            </a:r>
            <a:endParaRPr lang="zh-CN" altLang="en-US" dirty="0"/>
          </a:p>
        </p:txBody>
      </p:sp>
      <p:cxnSp>
        <p:nvCxnSpPr>
          <p:cNvPr id="58" name="直接连接符 57"/>
          <p:cNvCxnSpPr/>
          <p:nvPr/>
        </p:nvCxnSpPr>
        <p:spPr>
          <a:xfrm flipH="1">
            <a:off x="7667921" y="4237464"/>
            <a:ext cx="1248055" cy="1135569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连接符 58"/>
          <p:cNvCxnSpPr/>
          <p:nvPr/>
        </p:nvCxnSpPr>
        <p:spPr>
          <a:xfrm>
            <a:off x="8992344" y="4237464"/>
            <a:ext cx="1100885" cy="1113975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本框 59"/>
          <p:cNvSpPr txBox="1"/>
          <p:nvPr/>
        </p:nvSpPr>
        <p:spPr>
          <a:xfrm>
            <a:off x="7797894" y="4352804"/>
            <a:ext cx="60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chemeClr val="accent2">
                    <a:lumMod val="75000"/>
                  </a:schemeClr>
                </a:solidFill>
              </a:rPr>
              <a:t>r</a:t>
            </a:r>
            <a:r>
              <a:rPr lang="en-US" altLang="zh-CN" sz="2400" baseline="-25000" dirty="0" smtClean="0">
                <a:solidFill>
                  <a:schemeClr val="accent2">
                    <a:lumMod val="75000"/>
                  </a:schemeClr>
                </a:solidFill>
              </a:rPr>
              <a:t>1A</a:t>
            </a:r>
            <a:endParaRPr lang="zh-CN" altLang="en-US" sz="2400" baseline="-25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9237986" y="4706724"/>
            <a:ext cx="60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chemeClr val="accent2">
                    <a:lumMod val="75000"/>
                  </a:schemeClr>
                </a:solidFill>
              </a:rPr>
              <a:t>r</a:t>
            </a:r>
            <a:r>
              <a:rPr lang="en-US" altLang="zh-CN" sz="2400" baseline="-25000" dirty="0" smtClean="0">
                <a:solidFill>
                  <a:schemeClr val="accent2">
                    <a:lumMod val="75000"/>
                  </a:schemeClr>
                </a:solidFill>
              </a:rPr>
              <a:t>1B</a:t>
            </a:r>
            <a:endParaRPr lang="zh-CN" altLang="en-US" sz="2400" baseline="-25000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62" name="直接连接符 61"/>
          <p:cNvCxnSpPr/>
          <p:nvPr/>
        </p:nvCxnSpPr>
        <p:spPr>
          <a:xfrm flipH="1">
            <a:off x="7693989" y="4488475"/>
            <a:ext cx="2182592" cy="862963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/>
          <p:cNvCxnSpPr/>
          <p:nvPr/>
        </p:nvCxnSpPr>
        <p:spPr>
          <a:xfrm>
            <a:off x="9876581" y="4488475"/>
            <a:ext cx="239076" cy="913480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/>
          <p:cNvSpPr txBox="1"/>
          <p:nvPr/>
        </p:nvSpPr>
        <p:spPr>
          <a:xfrm>
            <a:off x="8503725" y="4838526"/>
            <a:ext cx="60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rgbClr val="92D050"/>
                </a:solidFill>
              </a:rPr>
              <a:t>r</a:t>
            </a:r>
            <a:r>
              <a:rPr lang="en-US" altLang="zh-CN" sz="2400" baseline="-25000" dirty="0" smtClean="0">
                <a:solidFill>
                  <a:srgbClr val="92D050"/>
                </a:solidFill>
              </a:rPr>
              <a:t>2A</a:t>
            </a:r>
            <a:endParaRPr lang="zh-CN" altLang="en-US" sz="2400" baseline="-25000" dirty="0">
              <a:solidFill>
                <a:srgbClr val="92D050"/>
              </a:solidFill>
            </a:endParaRPr>
          </a:p>
        </p:txBody>
      </p:sp>
      <p:cxnSp>
        <p:nvCxnSpPr>
          <p:cNvPr id="65" name="直接连接符 64"/>
          <p:cNvCxnSpPr/>
          <p:nvPr/>
        </p:nvCxnSpPr>
        <p:spPr>
          <a:xfrm>
            <a:off x="9008160" y="4199280"/>
            <a:ext cx="906605" cy="305011"/>
          </a:xfrm>
          <a:prstGeom prst="line">
            <a:avLst/>
          </a:prstGeom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/>
          <p:cNvSpPr txBox="1"/>
          <p:nvPr/>
        </p:nvSpPr>
        <p:spPr>
          <a:xfrm>
            <a:off x="9290182" y="3922356"/>
            <a:ext cx="5286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smtClean="0">
                <a:solidFill>
                  <a:schemeClr val="accent4">
                    <a:lumMod val="60000"/>
                    <a:lumOff val="40000"/>
                  </a:schemeClr>
                </a:solidFill>
              </a:rPr>
              <a:t>r</a:t>
            </a:r>
            <a:r>
              <a:rPr lang="en-US" altLang="zh-CN" sz="2400" baseline="-25000" dirty="0" smtClean="0">
                <a:solidFill>
                  <a:schemeClr val="accent4">
                    <a:lumMod val="60000"/>
                    <a:lumOff val="40000"/>
                  </a:schemeClr>
                </a:solidFill>
              </a:rPr>
              <a:t>12</a:t>
            </a:r>
            <a:endParaRPr lang="zh-CN" altLang="en-US" sz="2400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7" name="椭圆 66"/>
          <p:cNvSpPr/>
          <p:nvPr/>
        </p:nvSpPr>
        <p:spPr>
          <a:xfrm>
            <a:off x="8900160" y="4145280"/>
            <a:ext cx="108000" cy="108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/>
          <p:cNvSpPr/>
          <p:nvPr/>
        </p:nvSpPr>
        <p:spPr>
          <a:xfrm>
            <a:off x="9800153" y="4448757"/>
            <a:ext cx="108000" cy="108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9" name="直接连接符 68"/>
          <p:cNvCxnSpPr/>
          <p:nvPr/>
        </p:nvCxnSpPr>
        <p:spPr>
          <a:xfrm>
            <a:off x="1184646" y="2807257"/>
            <a:ext cx="14400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/>
          <p:cNvSpPr txBox="1"/>
          <p:nvPr/>
        </p:nvSpPr>
        <p:spPr>
          <a:xfrm>
            <a:off x="1080699" y="2902040"/>
            <a:ext cx="1386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原子核动能</a:t>
            </a:r>
            <a:endParaRPr lang="zh-CN" altLang="en-US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1" name="直接连接符 70"/>
          <p:cNvCxnSpPr/>
          <p:nvPr/>
        </p:nvCxnSpPr>
        <p:spPr>
          <a:xfrm>
            <a:off x="2819189" y="2807257"/>
            <a:ext cx="10800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/>
          <p:cNvSpPr txBox="1"/>
          <p:nvPr/>
        </p:nvSpPr>
        <p:spPr>
          <a:xfrm>
            <a:off x="2819189" y="2887524"/>
            <a:ext cx="1120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电子动能</a:t>
            </a:r>
            <a:endParaRPr lang="zh-CN" altLang="en-US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3" name="直接连接符 72"/>
          <p:cNvCxnSpPr/>
          <p:nvPr/>
        </p:nvCxnSpPr>
        <p:spPr>
          <a:xfrm>
            <a:off x="4297311" y="2807257"/>
            <a:ext cx="18000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/>
          <p:cNvSpPr txBox="1"/>
          <p:nvPr/>
        </p:nvSpPr>
        <p:spPr>
          <a:xfrm>
            <a:off x="4291569" y="2887524"/>
            <a:ext cx="2104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电子</a:t>
            </a:r>
            <a:r>
              <a:rPr lang="en-US" altLang="zh-CN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核库仑势能</a:t>
            </a:r>
            <a:endParaRPr lang="zh-CN" altLang="en-US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5" name="直接连接符 74"/>
          <p:cNvCxnSpPr/>
          <p:nvPr/>
        </p:nvCxnSpPr>
        <p:spPr>
          <a:xfrm flipV="1">
            <a:off x="6425360" y="2857976"/>
            <a:ext cx="18000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/>
          <p:cNvSpPr txBox="1"/>
          <p:nvPr/>
        </p:nvSpPr>
        <p:spPr>
          <a:xfrm>
            <a:off x="6683704" y="2901576"/>
            <a:ext cx="14701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电子</a:t>
            </a:r>
            <a:r>
              <a:rPr lang="en-US" altLang="zh-CN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电子</a:t>
            </a:r>
            <a:r>
              <a:rPr lang="zh-CN" altLang="en-US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库仑势能</a:t>
            </a:r>
            <a:endParaRPr lang="zh-CN" altLang="en-US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直接连接符 76"/>
          <p:cNvCxnSpPr/>
          <p:nvPr/>
        </p:nvCxnSpPr>
        <p:spPr>
          <a:xfrm>
            <a:off x="8514065" y="2818231"/>
            <a:ext cx="21600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8630448" y="2943008"/>
            <a:ext cx="2376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</a:t>
            </a:r>
            <a:r>
              <a:rPr lang="en-US" altLang="zh-CN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核库仑势能</a:t>
            </a:r>
            <a:endParaRPr lang="zh-CN" altLang="en-US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/>
              <p:cNvSpPr txBox="1"/>
              <p:nvPr/>
            </p:nvSpPr>
            <p:spPr>
              <a:xfrm>
                <a:off x="302726" y="4518505"/>
                <a:ext cx="4880989" cy="2232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记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𝑖𝐴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dirty="0" smtClean="0"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dirty="0" smtClean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𝐴𝐵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dirty="0" smtClean="0"/>
              </a:p>
              <a:p>
                <a:pPr>
                  <a:lnSpc>
                    <a:spcPct val="150000"/>
                  </a:lnSpc>
                </a:pPr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下面设法将核坐标和电子坐标分开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726" y="4518505"/>
                <a:ext cx="4880989" cy="2232919"/>
              </a:xfrm>
              <a:prstGeom prst="rect">
                <a:avLst/>
              </a:prstGeom>
              <a:blipFill rotWithShape="0">
                <a:blip r:embed="rId6"/>
                <a:stretch>
                  <a:fillRect l="-1125" b="-10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276905" y="3830962"/>
                <a:ext cx="6452399" cy="7162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薛定谔方程为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altLang="zh-CN" sz="2000" b="0" i="0" dirty="0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US" altLang="zh-CN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1" i="1" dirty="0" smtClean="0"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CN" sz="2000" b="1" i="1" dirty="0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</m:d>
                      <m:r>
                        <a:rPr lang="en-US" altLang="zh-CN" sz="2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2000" b="0" i="0" dirty="0" smtClean="0">
                              <a:latin typeface="Cambria Math" panose="02040503050406030204" pitchFamily="18" charset="0"/>
                            </a:rPr>
                            <m:t>tot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CN" sz="2000" b="0" i="0" dirty="0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US" altLang="zh-CN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1" i="1" dirty="0" smtClean="0"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CN" sz="2000" b="1" i="1" dirty="0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</m:d>
                    </m:oMath>
                  </m:oMathPara>
                </a14:m>
                <a:endParaRPr lang="en-US" altLang="zh-CN" dirty="0" smtClean="0"/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905" y="3830962"/>
                <a:ext cx="6452399" cy="716222"/>
              </a:xfrm>
              <a:prstGeom prst="rect">
                <a:avLst/>
              </a:prstGeom>
              <a:blipFill rotWithShape="0">
                <a:blip r:embed="rId7"/>
                <a:stretch>
                  <a:fillRect l="-944" t="-423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1647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5" y="288319"/>
            <a:ext cx="7524484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等线" panose="02010600030101010101" charset="-122"/>
                <a:sym typeface="+mn-ea"/>
              </a:rPr>
              <a:t>Born-Huang expansion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213360" y="980869"/>
                <a:ext cx="11978640" cy="50719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我们以电子坐标</a:t>
                </a:r>
                <a14:m>
                  <m:oMath xmlns:m="http://schemas.openxmlformats.org/officeDocument/2006/math">
                    <m:r>
                      <a:rPr lang="en-US" altLang="zh-CN" sz="2000" b="1" i="1" dirty="0"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为主元，核坐标</a:t>
                </a:r>
                <a14:m>
                  <m:oMath xmlns:m="http://schemas.openxmlformats.org/officeDocument/2006/math">
                    <m:r>
                      <a:rPr lang="en-US" altLang="zh-CN" sz="2000" b="1" i="1" dirty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为参数，对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dirty="0">
                        <a:latin typeface="Cambria Math" panose="02040503050406030204" pitchFamily="18" charset="0"/>
                      </a:rPr>
                      <m:t>Ψ</m:t>
                    </m:r>
                    <m:d>
                      <m:dPr>
                        <m:ctrlPr>
                          <a:rPr lang="en-US" altLang="zh-CN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1" i="1" dirty="0"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altLang="zh-CN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CN" sz="2000" b="1" i="1" dirty="0"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</m:d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用完备基展开：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</m:d>
                        </m:e>
                      </m:nary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C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</m:d>
                    </m:oMath>
                  </m:oMathPara>
                </a14:m>
                <a:endParaRPr lang="en-US" altLang="zh-CN" dirty="0" smtClean="0"/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把与核动能（或者说核坐标导数）相关的项移除，剩下的部分记为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accPr>
                          <m:e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𝐻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altLang="zh-CN" sz="20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el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1" i="1"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altLang="zh-CN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altLang="zh-CN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</m:d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accPr>
                          <m:e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𝐻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altLang="zh-CN" sz="200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el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的本征函数：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𝐻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el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den>
                          </m:f>
                          <m:sSubSup>
                            <m:sSubSup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𝛻</m:t>
                              </m:r>
                            </m:e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</m:e>
                      </m:nary>
                      <m:r>
                        <a:rPr lang="en-US" altLang="zh-CN" i="1" dirty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altLang="zh-CN" i="1" dirty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𝐴</m:t>
                                      </m:r>
                                    </m:sub>
                                  </m:sSub>
                                </m:num>
                                <m:den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b="1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b="1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nary>
                        </m:e>
                      </m:nary>
                      <m:r>
                        <a:rPr lang="en-US" altLang="zh-CN" i="1" dirty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f>
                        <m:f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Pr>
                        <m:num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</m:t>
                          </m:r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𝑗</m:t>
                              </m:r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≠</m:t>
                              </m:r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𝑖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altLang="zh-CN" i="1" dirty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i="1" dirty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num>
                                <m:den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b="1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b="1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nary>
                        </m:e>
                      </m:nary>
                      <m:r>
                        <a:rPr lang="en-US" altLang="zh-CN" i="1" dirty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f>
                        <m:f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Pr>
                        <m:num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𝐴</m:t>
                          </m:r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≠</m:t>
                              </m:r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𝐵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altLang="zh-CN" i="1" dirty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𝐵</m:t>
                                      </m:r>
                                    </m:sub>
                                  </m:sSub>
                                </m:num>
                                <m:den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b="1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  <m:r>
                                        <a:rPr lang="en-US" altLang="zh-CN" i="1" dirty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 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b="1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𝐵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nary>
                        </m:e>
                      </m:nary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acc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𝐻</m:t>
                              </m:r>
                            </m:e>
                          </m:acc>
                        </m:e>
                        <m:sub>
                          <m:r>
                            <a:rPr lang="en-US" altLang="zh-CN" sz="2000" b="0" i="1" dirty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𝑒𝑙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𝑒𝑙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</m:d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用这组完备基做的展开称为</a:t>
                </a:r>
                <a:r>
                  <a:rPr lang="en-US" altLang="zh-CN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  <a:cs typeface="等线" panose="02010600030101010101" charset="-122"/>
                    <a:sym typeface="+mn-ea"/>
                  </a:rPr>
                  <a:t>Born-Huang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  <a:cs typeface="等线" panose="02010600030101010101" charset="-122"/>
                    <a:sym typeface="+mn-ea"/>
                  </a:rPr>
                  <a:t>展开，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𝑒𝑙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000" b="1" i="1">
                        <a:latin typeface="Cambria Math" panose="02040503050406030204" pitchFamily="18" charset="0"/>
                      </a:rPr>
                      <m:t>𝑹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称为电子能量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在热力学中分子的总能量由分子的动能和势能两部分构成，由于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accPr>
                          <m:e>
                            <m:r>
                              <a:rPr lang="en-US" altLang="zh-CN" sz="20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𝐻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altLang="zh-CN" sz="200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el</m:t>
                        </m:r>
                      </m:sub>
                    </m:sSub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中不包含核动能项，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𝑒𝑙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000" b="1" i="1">
                        <a:latin typeface="Cambria Math" panose="02040503050406030204" pitchFamily="18" charset="0"/>
                      </a:rPr>
                      <m:t>𝑹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又可以视为分子的</a:t>
                </a:r>
                <a:r>
                  <a:rPr lang="zh-CN" altLang="en-US" sz="20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势能</a:t>
                </a:r>
                <a:endParaRPr lang="en-US" altLang="zh-CN" sz="200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" y="980869"/>
                <a:ext cx="11978640" cy="5071966"/>
              </a:xfrm>
              <a:prstGeom prst="rect">
                <a:avLst/>
              </a:prstGeom>
              <a:blipFill rotWithShape="0">
                <a:blip r:embed="rId5"/>
                <a:stretch>
                  <a:fillRect l="-509" t="-721" r="-51" b="-12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741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xmlns="" id="{4BEAC140-B53A-4E5A-8389-B25EF986A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28" name="矩形 27">
            <a:extLst>
              <a:ext uri="{FF2B5EF4-FFF2-40B4-BE49-F238E27FC236}">
                <a16:creationId xmlns:a16="http://schemas.microsoft.com/office/drawing/2014/main" xmlns="" id="{46136000-10E3-494A-9031-2038514A22C5}"/>
              </a:ext>
            </a:extLst>
          </p:cNvPr>
          <p:cNvSpPr/>
          <p:nvPr/>
        </p:nvSpPr>
        <p:spPr>
          <a:xfrm>
            <a:off x="742314" y="288319"/>
            <a:ext cx="5806409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Potential energy surface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:a16="http://schemas.microsoft.com/office/drawing/2014/main" xmlns="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:a16="http://schemas.microsoft.com/office/drawing/2014/main" xmlns="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xmlns="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xmlns="" id="{A3691439-CCBD-CF9D-44C2-F2DAE49F4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0000" y="6315437"/>
            <a:ext cx="2743200" cy="365125"/>
          </a:xfrm>
        </p:spPr>
        <p:txBody>
          <a:bodyPr/>
          <a:lstStyle/>
          <a:p>
            <a:fld id="{346E1C1C-3217-44A3-A941-FE8BEC3096CE}" type="slidenum">
              <a:rPr lang="zh-CN" altLang="en-US" smtClean="0"/>
              <a:t>5</a:t>
            </a:fld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2428567" y="2094271"/>
            <a:ext cx="1730477" cy="471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73" name="文本框 72"/>
          <p:cNvSpPr txBox="1"/>
          <p:nvPr/>
        </p:nvSpPr>
        <p:spPr>
          <a:xfrm>
            <a:off x="8594106" y="4706724"/>
            <a:ext cx="303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965200" y="2891244"/>
            <a:ext cx="1148080" cy="817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965200" y="3444240"/>
            <a:ext cx="1341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/>
              <p:cNvSpPr/>
              <p:nvPr/>
            </p:nvSpPr>
            <p:spPr>
              <a:xfrm>
                <a:off x="3962243" y="1041643"/>
                <a:ext cx="3919406" cy="47153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24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e>
                        <m:sub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𝑒𝑙</m:t>
                          </m:r>
                        </m:sub>
                      </m:sSub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𝜓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b="1" i="1" smtClean="0"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en-US" altLang="zh-CN" sz="24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𝑒𝑙</m:t>
                          </m:r>
                        </m:sub>
                      </m:sSub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𝜓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b="1" i="1" smtClean="0"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en-US" altLang="zh-CN" sz="24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6" name="矩形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243" y="1041643"/>
                <a:ext cx="3919406" cy="471539"/>
              </a:xfrm>
              <a:prstGeom prst="rect">
                <a:avLst/>
              </a:prstGeom>
              <a:blipFill rotWithShape="0">
                <a:blip r:embed="rId6"/>
                <a:stretch>
                  <a:fillRect t="-5195" b="-181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/>
              <p:cNvSpPr txBox="1"/>
              <p:nvPr/>
            </p:nvSpPr>
            <p:spPr>
              <a:xfrm>
                <a:off x="365179" y="1934252"/>
                <a:ext cx="5291382" cy="30469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注意，此时核坐标</a:t>
                </a:r>
                <a14:m>
                  <m:oMath xmlns:m="http://schemas.openxmlformats.org/officeDocument/2006/math">
                    <m:r>
                      <a:rPr lang="en-US" altLang="zh-CN" sz="2400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在方程中是一个参数，即在计算中人为事先给定，不是变量。将全部</a:t>
                </a:r>
                <a14:m>
                  <m:oMath xmlns:m="http://schemas.openxmlformats.org/officeDocument/2006/math">
                    <m:r>
                      <a:rPr lang="en-US" altLang="zh-CN" sz="2400" b="1" i="1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下的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CN" sz="2400" i="1">
                            <a:latin typeface="Cambria Math" panose="02040503050406030204" pitchFamily="18" charset="0"/>
                          </a:rPr>
                          <m:t>𝑒𝑙</m:t>
                        </m:r>
                      </m:sub>
                    </m:sSub>
                    <m:r>
                      <a:rPr lang="en-US" altLang="zh-CN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400" b="1" i="1">
                        <a:latin typeface="Cambria Math" panose="02040503050406030204" pitchFamily="18" charset="0"/>
                      </a:rPr>
                      <m:t>𝑹</m:t>
                    </m:r>
                    <m:r>
                      <a:rPr lang="en-US" altLang="zh-CN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收集在一起，结果是核坐标的函数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zh-CN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400" b="1" i="1" dirty="0" smtClean="0">
                        <a:latin typeface="Cambria Math" panose="02040503050406030204" pitchFamily="18" charset="0"/>
                      </a:rPr>
                      <m:t>𝑹</m:t>
                    </m:r>
                    <m:r>
                      <a:rPr lang="en-US" altLang="zh-CN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。我们称之为</a:t>
                </a:r>
                <a:r>
                  <a:rPr lang="zh-CN" altLang="en-US" sz="24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势能曲线</a:t>
                </a: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或</a:t>
                </a:r>
                <a:r>
                  <a:rPr lang="zh-CN" altLang="en-US" sz="24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势能面</a:t>
                </a: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。</a:t>
                </a:r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endPara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核坐标一共有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3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𝑁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个自由度，除原子核的平动与转动，余下</a:t>
                </a:r>
                <a14:m>
                  <m:oMath xmlns:m="http://schemas.openxmlformats.org/officeDocument/2006/math">
                    <m:r>
                      <a:rPr lang="en-US" altLang="zh-CN" sz="24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3</m:t>
                    </m:r>
                    <m:r>
                      <a:rPr lang="en-US" altLang="zh-CN" sz="2400" i="1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𝑁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−6</m:t>
                    </m:r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个自由度</a:t>
                </a:r>
                <a:endParaRPr lang="en-US" altLang="zh-CN" sz="24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7" name="文本框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179" y="1934252"/>
                <a:ext cx="5291382" cy="3046988"/>
              </a:xfrm>
              <a:prstGeom prst="rect">
                <a:avLst/>
              </a:prstGeom>
              <a:blipFill rotWithShape="0">
                <a:blip r:embed="rId7"/>
                <a:stretch>
                  <a:fillRect l="-1843" t="-1600" r="-7488" b="-36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2842" y="1587584"/>
            <a:ext cx="6082086" cy="50400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40385" y="5391150"/>
            <a:ext cx="43268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如何求解电子薛定谔方程是量子化学里至关重要的问题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7495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541"/>
    </mc:Choice>
    <mc:Fallback xmlns="">
      <p:transition spd="slow" advTm="3354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xmlns="" id="{4BEAC140-B53A-4E5A-8389-B25EF986A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28" name="矩形 27">
            <a:extLst>
              <a:ext uri="{FF2B5EF4-FFF2-40B4-BE49-F238E27FC236}">
                <a16:creationId xmlns:a16="http://schemas.microsoft.com/office/drawing/2014/main" xmlns="" id="{46136000-10E3-494A-9031-2038514A22C5}"/>
              </a:ext>
            </a:extLst>
          </p:cNvPr>
          <p:cNvSpPr/>
          <p:nvPr/>
        </p:nvSpPr>
        <p:spPr>
          <a:xfrm>
            <a:off x="742314" y="288319"/>
            <a:ext cx="5806409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Nonadiabatic coupling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:a16="http://schemas.microsoft.com/office/drawing/2014/main" xmlns="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:a16="http://schemas.microsoft.com/office/drawing/2014/main" xmlns="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xmlns="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xmlns="" id="{A3691439-CCBD-CF9D-44C2-F2DAE49F4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0000" y="6315437"/>
            <a:ext cx="2743200" cy="365125"/>
          </a:xfrm>
        </p:spPr>
        <p:txBody>
          <a:bodyPr/>
          <a:lstStyle/>
          <a:p>
            <a:fld id="{346E1C1C-3217-44A3-A941-FE8BEC3096CE}" type="slidenum">
              <a:rPr lang="zh-CN" altLang="en-US" smtClean="0"/>
              <a:t>6</a:t>
            </a:fld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2428567" y="2094271"/>
            <a:ext cx="1730477" cy="471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73" name="文本框 72"/>
          <p:cNvSpPr txBox="1"/>
          <p:nvPr/>
        </p:nvSpPr>
        <p:spPr>
          <a:xfrm>
            <a:off x="8594106" y="4706724"/>
            <a:ext cx="303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965200" y="2891244"/>
            <a:ext cx="1148080" cy="817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965200" y="3444240"/>
            <a:ext cx="1341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0" y="1046223"/>
                <a:ext cx="12192000" cy="5489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在解决了电子坐标部分后，考虑核运动部分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记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𝑇</m:t>
                          </m:r>
                        </m:e>
                      </m:acc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𝐴</m:t>
                          </m:r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𝑁</m:t>
                          </m:r>
                        </m:sup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altLang="zh-CN" i="1" dirty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 dirty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altLang="zh-CN" i="1" dirty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</m:sSub>
                            </m:den>
                          </m:f>
                          <m:sSubSup>
                            <m:sSubSup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𝛻</m:t>
                              </m:r>
                            </m:e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总方程可以写为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acc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𝑇</m:t>
                              </m:r>
                            </m:e>
                          </m:acc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𝑒𝑙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𝑹</m:t>
                                  </m:r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𝒓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;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𝑹</m:t>
                              </m:r>
                            </m:e>
                          </m:d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𝑡𝑜𝑡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𝑹</m:t>
                                  </m:r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𝒓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;</m:t>
                              </m:r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𝑹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zh-CN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由于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𝐻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𝑒𝑙</m:t>
                        </m:r>
                      </m:sub>
                    </m:sSub>
                  </m:oMath>
                </a14:m>
                <a:r>
                  <a:rPr lang="zh-CN" altLang="en-US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里没有核坐标导数相关项，不作用于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𝜒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e>
                    </m:d>
                  </m:oMath>
                </a14:m>
                <a:r>
                  <a:rPr lang="zh-CN" altLang="en-US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上，有</a:t>
                </a:r>
                <a:endParaRPr lang="en-US" altLang="zh-CN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𝐻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𝑒𝑙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𝑹</m:t>
                                  </m:r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𝒓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;</m:t>
                              </m:r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𝑹</m:t>
                              </m:r>
                            </m:e>
                          </m:d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𝑹</m:t>
                              </m:r>
                            </m:e>
                          </m:d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𝑹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)</m:t>
                          </m:r>
                        </m:e>
                      </m:nary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𝜓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𝒓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;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𝑹</m:t>
                          </m:r>
                        </m:e>
                      </m:d>
                    </m:oMath>
                  </m:oMathPara>
                </a14:m>
                <a:endParaRPr lang="en-US" altLang="zh-CN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在总方程两侧左乘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𝜓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𝑙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∗</m:t>
                        </m:r>
                      </m:sup>
                    </m:sSubSup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(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𝒓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;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b="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，并对电子坐标积分有</a:t>
                </a:r>
                <a:endParaRPr lang="en-US" altLang="zh-CN" b="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𝑉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𝑙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𝒓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;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𝑹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)</m:t>
                          </m:r>
                        </m:e>
                      </m:nary>
                      <m:acc>
                        <m:accPr>
                          <m:chr m:val="̂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𝑇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𝑹</m:t>
                                  </m:r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𝒓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;</m:t>
                              </m:r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𝑹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d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𝑉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nary>
                        <m:naryPr>
                          <m:supHide m:val="on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𝑉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𝑙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𝒓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;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𝑹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)</m:t>
                          </m:r>
                        </m:e>
                      </m:nary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𝑹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(</m:t>
                              </m:r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𝑹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)</m:t>
                              </m:r>
                            </m:e>
                          </m:nary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𝒓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;</m:t>
                              </m:r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𝑹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d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𝑉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𝑡𝑜𝑡</m:t>
                          </m:r>
                        </m:sub>
                      </m:sSub>
                      <m:nary>
                        <m:naryPr>
                          <m:supHide m:val="on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𝑉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𝑙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𝒓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;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𝑹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)</m:t>
                          </m:r>
                        </m:e>
                      </m:nary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𝑹</m:t>
                                  </m:r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𝒓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;</m:t>
                              </m:r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𝑹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d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𝑉</m:t>
                      </m:r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根据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𝜓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𝒓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;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e>
                    </m:d>
                  </m:oMath>
                </a14:m>
                <a:r>
                  <a:rPr lang="zh-CN" altLang="en-US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的正交归一性有</a:t>
                </a:r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𝑉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𝑙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𝒓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;</m:t>
                          </m:r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𝑹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)</m:t>
                          </m:r>
                        </m:e>
                      </m:nary>
                      <m:acc>
                        <m:accPr>
                          <m:chr m:val="̂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𝑇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1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𝑹</m:t>
                                  </m:r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𝒓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;</m:t>
                              </m:r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𝑹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d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𝑉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𝑙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𝑹</m:t>
                          </m:r>
                        </m:e>
                      </m:d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𝜒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𝑙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𝑹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𝑡𝑜𝑡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𝜒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𝑙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𝑹</m:t>
                          </m:r>
                        </m:e>
                      </m:d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046223"/>
                <a:ext cx="12192000" cy="5489964"/>
              </a:xfrm>
              <a:prstGeom prst="rect">
                <a:avLst/>
              </a:prstGeom>
              <a:blipFill rotWithShape="0">
                <a:blip r:embed="rId6"/>
                <a:stretch>
                  <a:fillRect l="-400" t="-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接连接符 17"/>
          <p:cNvCxnSpPr/>
          <p:nvPr/>
        </p:nvCxnSpPr>
        <p:spPr>
          <a:xfrm>
            <a:off x="2948723" y="6343442"/>
            <a:ext cx="36000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4360420" y="6434568"/>
            <a:ext cx="1386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动能项</a:t>
            </a:r>
            <a:endParaRPr lang="zh-CN" altLang="en-US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6867691" y="6343442"/>
            <a:ext cx="10800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7020091" y="6413758"/>
            <a:ext cx="1120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势能项</a:t>
            </a:r>
            <a:endParaRPr lang="zh-CN" altLang="en-US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5081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541"/>
    </mc:Choice>
    <mc:Fallback xmlns="">
      <p:transition spd="slow" advTm="3354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xmlns="" id="{4BEAC140-B53A-4E5A-8389-B25EF986A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28" name="矩形 27">
            <a:extLst>
              <a:ext uri="{FF2B5EF4-FFF2-40B4-BE49-F238E27FC236}">
                <a16:creationId xmlns:a16="http://schemas.microsoft.com/office/drawing/2014/main" xmlns="" id="{46136000-10E3-494A-9031-2038514A22C5}"/>
              </a:ext>
            </a:extLst>
          </p:cNvPr>
          <p:cNvSpPr/>
          <p:nvPr/>
        </p:nvSpPr>
        <p:spPr>
          <a:xfrm>
            <a:off x="742314" y="288319"/>
            <a:ext cx="5806409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Nonadiabatic coupling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:a16="http://schemas.microsoft.com/office/drawing/2014/main" xmlns="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:a16="http://schemas.microsoft.com/office/drawing/2014/main" xmlns="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xmlns="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xmlns="" id="{A3691439-CCBD-CF9D-44C2-F2DAE49F4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0000" y="6315437"/>
            <a:ext cx="2743200" cy="365125"/>
          </a:xfrm>
        </p:spPr>
        <p:txBody>
          <a:bodyPr/>
          <a:lstStyle/>
          <a:p>
            <a:fld id="{346E1C1C-3217-44A3-A941-FE8BEC3096CE}" type="slidenum">
              <a:rPr lang="zh-CN" altLang="en-US" smtClean="0"/>
              <a:t>7</a:t>
            </a:fld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2428567" y="2094271"/>
            <a:ext cx="1730477" cy="471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73" name="文本框 72"/>
          <p:cNvSpPr txBox="1"/>
          <p:nvPr/>
        </p:nvSpPr>
        <p:spPr>
          <a:xfrm>
            <a:off x="8594106" y="4706724"/>
            <a:ext cx="303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965200" y="2891244"/>
            <a:ext cx="1148080" cy="817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965200" y="3444240"/>
            <a:ext cx="1341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452723" y="1065579"/>
                <a:ext cx="12192000" cy="50547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考察动能项</a:t>
                </a:r>
                <a:endParaRPr lang="en-US" altLang="zh-CN" sz="2000" i="1" dirty="0">
                  <a:latin typeface="Cambria Math" panose="02040503050406030204" pitchFamily="18" charset="0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𝑉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𝑙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∗</m:t>
                              </m:r>
                            </m:sup>
                          </m:sSubSup>
                        </m:e>
                      </m:nary>
                      <m:acc>
                        <m:accPr>
                          <m:chr m:val="̂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𝑇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d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𝑉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𝐴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𝑁</m:t>
                          </m:r>
                        </m:sup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</m:sSub>
                            </m:den>
                          </m:f>
                          <m:nary>
                            <m:naryPr>
                              <m:supHide m:val="on"/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𝑉</m:t>
                              </m:r>
                            </m:sub>
                            <m:sup/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[</m:t>
                              </m:r>
                              <m:sSubSup>
                                <m:sSubSupPr>
                                  <m:ctrlPr>
                                    <a:rPr lang="en-US" altLang="zh-CN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𝑙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CN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𝛻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altLang="zh-CN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altLang="zh-CN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b="1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en-US" altLang="zh-CN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𝑙</m:t>
                                  </m:r>
                                </m:sub>
                                <m:sup>
                                  <m:r>
                                    <a:rPr lang="en-US" altLang="zh-CN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CN" b="1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𝛻</m:t>
                                      </m:r>
                                    </m:e>
                                    <m:sub>
                                      <m:r>
                                        <a:rPr lang="en-US" altLang="zh-CN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𝜒</m:t>
                                      </m:r>
                                    </m:e>
                                    <m:sub>
                                      <m:r>
                                        <a:rPr lang="en-US" altLang="zh-CN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CN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⋅</m:t>
                              </m:r>
                              <m:d>
                                <m:dPr>
                                  <m:ctrlPr>
                                    <a:rPr lang="en-US" altLang="zh-CN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b="0" i="0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𝛻</m:t>
                                      </m:r>
                                    </m:e>
                                    <m:sub>
                                      <m:r>
                                        <a:rPr lang="en-US" altLang="zh-CN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𝜓</m:t>
                                      </m:r>
                                    </m:e>
                                    <m:sub>
                                      <m:r>
                                        <a:rPr lang="en-US" altLang="zh-CN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CN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𝑙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CN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CN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b="0" i="0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altLang="zh-CN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]</m:t>
                          </m:r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d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𝑉</m:t>
                          </m:r>
                        </m:e>
                      </m:nary>
                    </m:oMath>
                  </m:oMathPara>
                </a14:m>
                <a:endParaRPr lang="en-US" altLang="zh-CN" b="0" i="1" dirty="0" smtClean="0">
                  <a:latin typeface="Cambria Math" panose="02040503050406030204" pitchFamily="18" charset="0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𝑀</m:t>
                                      </m:r>
                                    </m:e>
                                    <m:sub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𝐴</m:t>
                                      </m:r>
                                    </m:sub>
                                  </m:sSub>
                                </m:den>
                              </m:f>
                              <m:sSubSup>
                                <m:sSubSup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</m:e>
                      </m:d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𝜒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𝐴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𝑁</m:t>
                          </m:r>
                        </m:sup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</m:sSub>
                            </m:den>
                          </m:f>
                          <m:nary>
                            <m:naryPr>
                              <m:supHide m:val="on"/>
                              <m:ctrlPr>
                                <a:rPr lang="en-US" altLang="zh-CN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a:rPr lang="en-US" altLang="zh-CN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𝑉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𝑙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𝛻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i="1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𝜓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m:rPr>
                              <m:sty m:val="p"/>
                            </m:rPr>
                            <a:rPr lang="en-US" altLang="zh-CN" b="0" i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d</m:t>
                          </m:r>
                          <m:r>
                            <a:rPr lang="en-US" altLang="zh-CN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𝑉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⋅</m:t>
                          </m:r>
                          <m:d>
                            <m:dPr>
                              <m:ctrlPr>
                                <a:rPr lang="en-US" altLang="zh-CN" b="1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nary>
                        <m:naryPr>
                          <m:supHide m:val="on"/>
                          <m:ctrlP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𝑉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altLang="zh-CN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𝑙</m:t>
                              </m:r>
                            </m:sub>
                            <m:sup>
                              <m:r>
                                <a:rPr lang="en-US" altLang="zh-CN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CN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𝑁</m:t>
                                  </m:r>
                                </m:sup>
                                <m:e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CN" i="1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i="1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i="1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i="1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i="1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𝑀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nary>
                              <m:sSubSup>
                                <m:sSubSupPr>
                                  <m:ctrlP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CN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d</m:t>
                          </m:r>
                          <m:r>
                            <a:rPr lang="en-US" altLang="zh-CN" i="1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𝑉</m:t>
                          </m:r>
                        </m:e>
                      </m:nary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𝜒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altLang="zh-CN" i="1" dirty="0" smtClean="0">
                  <a:solidFill>
                    <a:schemeClr val="tx1"/>
                  </a:solidFill>
                  <a:latin typeface="Cambria Math" panose="02040503050406030204" pitchFamily="18" charset="0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𝑇</m:t>
                          </m:r>
                        </m:e>
                      </m:acc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𝜒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𝐴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𝑁</m:t>
                          </m:r>
                        </m:sup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</m:sSub>
                            </m:den>
                          </m:f>
                          <m:sSubSup>
                            <m:sSub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𝑓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𝑘𝑙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⋅</m:t>
                          </m:r>
                          <m:d>
                            <m:dPr>
                              <m:ctrlPr>
                                <a:rPr lang="en-US" altLang="zh-CN" b="1" i="1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𝑔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𝑘𝑙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𝜒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altLang="zh-CN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acc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𝑘𝑙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𝐴</m:t>
                          </m:r>
                        </m:sup>
                      </m:sSubSup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altLang="zh-CN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𝑉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altLang="zh-CN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𝑙</m:t>
                              </m:r>
                            </m:sub>
                            <m:sup>
                              <m:r>
                                <a:rPr lang="en-US" altLang="zh-CN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CN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a:rPr lang="en-US" altLang="zh-CN" sz="2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d</m:t>
                      </m:r>
                      <m:r>
                        <a:rPr lang="en-US" altLang="zh-CN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𝒓</m:t>
                      </m:r>
                    </m:oMath>
                  </m:oMathPara>
                </a14:m>
                <a:endParaRPr lang="en-US" altLang="zh-CN" sz="2000" b="1" i="1" dirty="0" smtClean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𝑔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𝑘𝑙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altLang="zh-CN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𝑉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altLang="zh-CN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𝑙</m:t>
                              </m:r>
                            </m:sub>
                            <m:sup>
                              <m:r>
                                <a:rPr lang="en-US" altLang="zh-CN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CN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  <m: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𝑁</m:t>
                                  </m:r>
                                </m:sup>
                                <m:e>
                                  <m: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CN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𝑀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微软雅黑" panose="020B0503020204020204" pitchFamily="34" charset="-122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nary>
                              <m:sSubSup>
                                <m:sSubSupPr>
                                  <m:ctrlP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20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CN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d</m:t>
                          </m:r>
                          <m:r>
                            <a:rPr lang="en-US" altLang="zh-CN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𝒓</m:t>
                          </m:r>
                        </m:e>
                      </m:nary>
                      <m:r>
                        <a:rPr lang="en-US" altLang="zh-CN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altLang="zh-CN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𝑉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altLang="zh-CN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lang="en-US" altLang="zh-CN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𝑙</m:t>
                              </m:r>
                            </m:sub>
                            <m:sup>
                              <m:r>
                                <a:rPr lang="en-US" altLang="zh-CN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CN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CN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𝑇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a:rPr lang="en-US" altLang="zh-CN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d</m:t>
                      </m:r>
                      <m:r>
                        <a:rPr lang="en-US" altLang="zh-CN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𝒓</m:t>
                      </m:r>
                    </m:oMath>
                  </m:oMathPara>
                </a14:m>
                <a:endParaRPr lang="en-US" altLang="zh-CN" sz="2000" b="1" i="1" dirty="0" smtClean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称为</a:t>
                </a:r>
                <a:r>
                  <a:rPr lang="zh-CN" altLang="en-US" sz="20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非绝热耦合项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，也叫</a:t>
                </a:r>
                <a:r>
                  <a:rPr lang="zh-CN" altLang="en-US" sz="20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导数耦合项</a:t>
                </a:r>
                <a:endParaRPr lang="en-US" altLang="zh-CN" sz="200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723" y="1065579"/>
                <a:ext cx="12192000" cy="5054782"/>
              </a:xfrm>
              <a:prstGeom prst="rect">
                <a:avLst/>
              </a:prstGeom>
              <a:blipFill rotWithShape="0">
                <a:blip r:embed="rId6"/>
                <a:stretch>
                  <a:fillRect l="-500" t="-724" b="-1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6145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541"/>
    </mc:Choice>
    <mc:Fallback xmlns="">
      <p:transition spd="slow" advTm="3354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xmlns="" id="{4BEAC140-B53A-4E5A-8389-B25EF986A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28" name="矩形 27">
            <a:extLst>
              <a:ext uri="{FF2B5EF4-FFF2-40B4-BE49-F238E27FC236}">
                <a16:creationId xmlns:a16="http://schemas.microsoft.com/office/drawing/2014/main" xmlns="" id="{46136000-10E3-494A-9031-2038514A22C5}"/>
              </a:ext>
            </a:extLst>
          </p:cNvPr>
          <p:cNvSpPr/>
          <p:nvPr/>
        </p:nvSpPr>
        <p:spPr>
          <a:xfrm>
            <a:off x="742314" y="288319"/>
            <a:ext cx="7744461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Born-Oppenheimer approximation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:a16="http://schemas.microsoft.com/office/drawing/2014/main" xmlns="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:a16="http://schemas.microsoft.com/office/drawing/2014/main" xmlns="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xmlns="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xmlns="" id="{A3691439-CCBD-CF9D-44C2-F2DAE49F4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0000" y="6315437"/>
            <a:ext cx="2743200" cy="365125"/>
          </a:xfrm>
        </p:spPr>
        <p:txBody>
          <a:bodyPr/>
          <a:lstStyle/>
          <a:p>
            <a:fld id="{346E1C1C-3217-44A3-A941-FE8BEC3096CE}" type="slidenum">
              <a:rPr lang="zh-CN" altLang="en-US" smtClean="0"/>
              <a:t>8</a:t>
            </a:fld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2428567" y="2094271"/>
            <a:ext cx="1730477" cy="471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73" name="文本框 72"/>
          <p:cNvSpPr txBox="1"/>
          <p:nvPr/>
        </p:nvSpPr>
        <p:spPr>
          <a:xfrm>
            <a:off x="8594106" y="4706724"/>
            <a:ext cx="303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965200" y="2891244"/>
            <a:ext cx="1148080" cy="817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965200" y="3444240"/>
            <a:ext cx="1341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48046" y="648098"/>
                <a:ext cx="12192000" cy="12331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altLang="zh-CN" i="1" dirty="0" smtClean="0">
                  <a:solidFill>
                    <a:schemeClr val="tx1"/>
                  </a:solidFill>
                  <a:latin typeface="Cambria Math" panose="02040503050406030204" pitchFamily="18" charset="0"/>
                  <a:ea typeface="微软雅黑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accPr>
                        <m:e>
                          <m:r>
                            <a:rPr lang="en-US" altLang="zh-CN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𝑇</m:t>
                          </m:r>
                        </m:e>
                      </m:acc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𝜒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𝐴</m:t>
                          </m:r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𝑁</m:t>
                          </m:r>
                        </m:sup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</m:sSub>
                            </m:den>
                          </m:f>
                          <m:sSubSup>
                            <m:sSubSup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𝑓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𝑘𝑙</m:t>
                              </m:r>
                            </m:sub>
                            <m:sup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p>
                          </m:sSubSup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⋅</m:t>
                          </m:r>
                          <m:d>
                            <m:dPr>
                              <m:ctrlPr>
                                <a:rPr lang="en-US" altLang="zh-CN" sz="2000" b="1" i="1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2000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𝜒</m:t>
                                  </m:r>
                                </m:e>
                                <m:sub>
                                  <m:r>
                                    <a:rPr lang="en-US" altLang="zh-CN" sz="2000" i="1">
                                      <a:solidFill>
                                        <a:schemeClr val="accent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zh-CN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𝑔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𝑘𝑙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𝜒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</m:sub>
                      </m:sSub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𝑙</m:t>
                          </m:r>
                        </m:sub>
                      </m:sSub>
                      <m:d>
                        <m:dPr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𝑹</m:t>
                          </m:r>
                        </m:e>
                      </m:d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𝜒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𝑙</m:t>
                          </m:r>
                        </m:sub>
                      </m:sSub>
                      <m:r>
                        <a:rPr lang="en-US" altLang="zh-CN" sz="2000" b="1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2000" i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tot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𝜒</m:t>
                          </m:r>
                        </m:e>
                        <m:sub>
                          <m:r>
                            <a:rPr lang="en-US" altLang="zh-CN" sz="2000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𝑙</m:t>
                          </m:r>
                        </m:sub>
                      </m:sSub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46" y="648098"/>
                <a:ext cx="12192000" cy="123315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/>
              <p:cNvSpPr txBox="1"/>
              <p:nvPr/>
            </p:nvSpPr>
            <p:spPr>
              <a:xfrm>
                <a:off x="143296" y="2016416"/>
                <a:ext cx="11696700" cy="43192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核运动与电子运动无法分开的根本原因就是存在导数耦合项</a:t>
                </a:r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有些情况下耦合项不能忽略，但多数情况下可以忽略，称为</a:t>
                </a:r>
                <a:r>
                  <a:rPr lang="en-US" altLang="zh-CN" sz="20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Born-Oppenheimer</a:t>
                </a:r>
                <a:r>
                  <a:rPr lang="zh-CN" altLang="en-US" sz="20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近似</a:t>
                </a:r>
                <a:endParaRPr lang="en-US" altLang="zh-CN" sz="200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20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总方程变为</a:t>
                </a:r>
                <a:endPara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accPr>
                            <m:e>
                              <m:r>
                                <a:rPr lang="en-US" altLang="zh-CN" sz="20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𝑇</m:t>
                              </m:r>
                            </m:e>
                          </m:acc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𝑈</m:t>
                          </m:r>
                          <m:d>
                            <m:d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r>
                                <a:rPr lang="en-US" altLang="zh-CN" sz="2000" b="1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𝑹</m:t>
                              </m:r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𝜒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𝑙</m:t>
                          </m:r>
                        </m:sub>
                      </m:sSub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𝑹</m:t>
                          </m: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2000" b="0" i="0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tot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𝜒</m:t>
                          </m:r>
                        </m:e>
                        <m:sub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𝑙</m:t>
                          </m:r>
                        </m:sub>
                      </m:sSub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𝑹</m:t>
                          </m:r>
                        </m:e>
                      </m:d>
                    </m:oMath>
                  </m:oMathPara>
                </a14:m>
                <a:endParaRPr lang="en-US" altLang="zh-CN" sz="2000" dirty="0" smtClean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这是一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个只与核坐标有关的方程，且形式与定态薛定谔方程一般形式一致，称为</a:t>
                </a:r>
                <a:r>
                  <a:rPr lang="zh-CN" altLang="en-US" sz="2000" dirty="0" smtClean="0">
                    <a:solidFill>
                      <a:srgbClr val="FF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核运动方程</a:t>
                </a:r>
                <a:endParaRPr lang="en-US" altLang="zh-CN" sz="2000" dirty="0" smtClean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CN" sz="20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在</a:t>
                </a:r>
                <a:r>
                  <a:rPr lang="en-US" altLang="zh-CN" sz="2000" dirty="0"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Born-Oppenheimer</a:t>
                </a:r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近似下，我们的关注点只在电子薛定谔方程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𝑒𝑙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000" b="1" i="1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altLang="zh-CN" sz="2000" b="1" i="1">
                        <a:latin typeface="Cambria Math" panose="02040503050406030204" pitchFamily="18" charset="0"/>
                      </a:rPr>
                      <m:t>𝑹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𝑒𝑙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000" b="1" i="1">
                        <a:latin typeface="Cambria Math" panose="02040503050406030204" pitchFamily="18" charset="0"/>
                      </a:rPr>
                      <m:t>𝑹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000" b="1" i="1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altLang="zh-CN" sz="2000" b="1" i="1">
                        <a:latin typeface="Cambria Math" panose="02040503050406030204" pitchFamily="18" charset="0"/>
                      </a:rPr>
                      <m:t>𝑹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2000" dirty="0" smtClean="0"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上，求解电子能量，并构建势能面</a:t>
                </a:r>
                <a:endParaRPr lang="en-US" altLang="zh-CN" sz="2000" dirty="0"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endParaRPr>
              </a:p>
            </p:txBody>
          </p:sp>
        </mc:Choice>
        <mc:Fallback xmlns=""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296" y="2016416"/>
                <a:ext cx="11696700" cy="4319259"/>
              </a:xfrm>
              <a:prstGeom prst="rect">
                <a:avLst/>
              </a:prstGeom>
              <a:blipFill rotWithShape="0">
                <a:blip r:embed="rId7"/>
                <a:stretch>
                  <a:fillRect l="-574" r="-469" b="-4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2644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541"/>
    </mc:Choice>
    <mc:Fallback xmlns="">
      <p:transition spd="slow" advTm="3354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46136000-10E3-494A-9031-2038514A22C5}"/>
              </a:ext>
            </a:extLst>
          </p:cNvPr>
          <p:cNvSpPr/>
          <p:nvPr/>
        </p:nvSpPr>
        <p:spPr>
          <a:xfrm>
            <a:off x="742314" y="288319"/>
            <a:ext cx="7874147" cy="584775"/>
          </a:xfrm>
          <a:prstGeom prst="rect">
            <a:avLst/>
          </a:prstGeom>
          <a:noFill/>
          <a:effectLst/>
        </p:spPr>
        <p:txBody>
          <a:bodyPr vert="horz" wrap="square">
            <a:spAutoFit/>
          </a:bodyPr>
          <a:lstStyle/>
          <a:p>
            <a:r>
              <a:rPr lang="en-US" altLang="zh-CN" sz="3200" b="1" dirty="0" smtClean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Reference and exercise</a:t>
            </a:r>
            <a:endParaRPr lang="zh-CN" altLang="en-US" sz="3200" b="1" dirty="0">
              <a:solidFill>
                <a:srgbClr val="00206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+mn-ea"/>
            </a:endParaRPr>
          </a:p>
        </p:txBody>
      </p:sp>
      <p:sp>
        <p:nvSpPr>
          <p:cNvPr id="31" name="矩形 1">
            <a:extLst>
              <a:ext uri="{FF2B5EF4-FFF2-40B4-BE49-F238E27FC236}">
                <a16:creationId xmlns="" xmlns:a16="http://schemas.microsoft.com/office/drawing/2014/main" id="{2C3ABD72-5F78-472A-80BC-7B5B2FEDEB9B}"/>
              </a:ext>
            </a:extLst>
          </p:cNvPr>
          <p:cNvSpPr/>
          <p:nvPr/>
        </p:nvSpPr>
        <p:spPr>
          <a:xfrm>
            <a:off x="337185" y="-10795"/>
            <a:ext cx="161925" cy="789305"/>
          </a:xfrm>
          <a:prstGeom prst="rect">
            <a:avLst/>
          </a:prstGeom>
          <a:solidFill>
            <a:srgbClr val="D8D8D8"/>
          </a:solidFill>
          <a:ln w="9525">
            <a:noFill/>
          </a:ln>
        </p:spPr>
        <p:txBody>
          <a:bodyPr anchor="ctr"/>
          <a:lstStyle/>
          <a:p>
            <a:pPr algn="ctr"/>
            <a:endParaRPr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32" name="矩形 2">
            <a:extLst>
              <a:ext uri="{FF2B5EF4-FFF2-40B4-BE49-F238E27FC236}">
                <a16:creationId xmlns="" xmlns:a16="http://schemas.microsoft.com/office/drawing/2014/main" id="{E851A490-38B4-4170-AE30-FE853CDF0A15}"/>
              </a:ext>
            </a:extLst>
          </p:cNvPr>
          <p:cNvSpPr/>
          <p:nvPr/>
        </p:nvSpPr>
        <p:spPr>
          <a:xfrm>
            <a:off x="540385" y="383540"/>
            <a:ext cx="160655" cy="394335"/>
          </a:xfrm>
          <a:prstGeom prst="rect">
            <a:avLst/>
          </a:prstGeom>
          <a:solidFill>
            <a:srgbClr val="002060"/>
          </a:solidFill>
          <a:ln w="9525">
            <a:noFill/>
          </a:ln>
        </p:spPr>
        <p:txBody>
          <a:bodyPr anchor="ctr"/>
          <a:lstStyle/>
          <a:p>
            <a:pPr algn="ctr"/>
            <a:endParaRPr sz="16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sym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="" xmlns:a16="http://schemas.microsoft.com/office/drawing/2014/main" id="{D0EEB9B2-3160-400E-89BA-0D43C6A829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00000" y="360000"/>
            <a:ext cx="944746" cy="944746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241935" y="1009471"/>
            <a:ext cx="11376230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dirty="0"/>
              <a:t>Ira N. Levine. </a:t>
            </a:r>
            <a:r>
              <a:rPr lang="en-US" altLang="zh-CN" sz="2400" i="1" dirty="0"/>
              <a:t>Quantum Chemistry</a:t>
            </a:r>
            <a:r>
              <a:rPr lang="en-US" altLang="zh-CN" sz="2400" dirty="0"/>
              <a:t>, 7th ed., Pearson, </a:t>
            </a:r>
            <a:r>
              <a:rPr lang="en-US" altLang="zh-CN" sz="2400" b="1" dirty="0"/>
              <a:t>2014</a:t>
            </a:r>
            <a:r>
              <a:rPr lang="en-US" altLang="zh-CN" sz="2400" dirty="0" smtClean="0"/>
              <a:t>.</a:t>
            </a:r>
          </a:p>
          <a:p>
            <a:pPr>
              <a:lnSpc>
                <a:spcPct val="150000"/>
              </a:lnSpc>
            </a:pPr>
            <a:r>
              <a:rPr lang="it-IT" altLang="zh-CN" sz="2400" dirty="0" smtClean="0"/>
              <a:t>A. Szabo</a:t>
            </a:r>
            <a:r>
              <a:rPr lang="it-IT" altLang="zh-CN" sz="2400" dirty="0"/>
              <a:t>,</a:t>
            </a:r>
            <a:r>
              <a:rPr lang="it-IT" altLang="zh-CN" sz="2400" dirty="0" smtClean="0"/>
              <a:t> N. </a:t>
            </a:r>
            <a:r>
              <a:rPr lang="it-IT" altLang="zh-CN" sz="2400" dirty="0"/>
              <a:t>S. Ostlund. </a:t>
            </a:r>
            <a:r>
              <a:rPr lang="zh-CN" altLang="en-US" sz="2400" i="1" dirty="0"/>
              <a:t>Modern Quantum Chemistry Introduction to Advanced Electronic Structure Theory</a:t>
            </a:r>
            <a:r>
              <a:rPr lang="en-US" altLang="zh-CN" sz="2400" i="1" dirty="0"/>
              <a:t>. </a:t>
            </a:r>
            <a:r>
              <a:rPr lang="en-US" altLang="zh-CN" sz="2400" dirty="0"/>
              <a:t>New York: McGraw-Hill. </a:t>
            </a:r>
            <a:r>
              <a:rPr lang="en-US" altLang="zh-CN" sz="2400" b="1" dirty="0"/>
              <a:t>1989</a:t>
            </a:r>
            <a:r>
              <a:rPr lang="en-US" altLang="zh-CN" sz="2400" dirty="0" smtClean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241935" y="3924300"/>
                <a:ext cx="10283190" cy="1135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练习：</a:t>
                </a:r>
                <a:endPara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写出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400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Li</m:t>
                    </m:r>
                    <m:r>
                      <a:rPr lang="en-US" altLang="zh-CN" sz="2400" b="0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Sup>
                      <m:sSubSupPr>
                        <m:ctrlPr>
                          <a:rPr lang="en-US" altLang="zh-CN" sz="24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CN" sz="2400" b="0" i="0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H</m:t>
                        </m:r>
                      </m:e>
                      <m:sub>
                        <m:r>
                          <a:rPr lang="en-US" altLang="zh-CN" sz="2400" b="0" i="0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  <m:sup>
                        <m:r>
                          <a:rPr lang="en-US" altLang="zh-CN" sz="2400" b="0" i="0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</m:sup>
                    </m:sSubSup>
                    <m:r>
                      <a:rPr lang="en-US" altLang="zh-CN" sz="2400" b="0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24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400" b="0" i="0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H</m:t>
                        </m:r>
                      </m:e>
                      <m:sub>
                        <m:r>
                          <a:rPr lang="en-US" altLang="zh-CN" sz="2400" b="0" i="0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</a:t>
                </a:r>
                <a:r>
                  <a:rPr lang="en-US" altLang="zh-CN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Hamiltonian</a:t>
                </a:r>
                <a:r>
                  <a:rPr lang="zh-CN" altLang="en-US" sz="2400" dirty="0" smtClean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和电子</a:t>
                </a: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Hamiltonian</a:t>
                </a:r>
                <a:endPara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935" y="3924300"/>
                <a:ext cx="10283190" cy="1135054"/>
              </a:xfrm>
              <a:prstGeom prst="rect">
                <a:avLst/>
              </a:prstGeom>
              <a:blipFill rotWithShape="0">
                <a:blip r:embed="rId5"/>
                <a:stretch>
                  <a:fillRect l="-948" b="-1182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8316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75"/>
    </mc:Choice>
    <mc:Fallback xmlns="">
      <p:transition spd="slow" advTm="20375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14917</TotalTime>
  <Words>332</Words>
  <Application>Microsoft Office PowerPoint</Application>
  <PresentationFormat>宽屏</PresentationFormat>
  <Paragraphs>109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 Unicode MS</vt:lpstr>
      <vt:lpstr>等线</vt:lpstr>
      <vt:lpstr>宋体</vt:lpstr>
      <vt:lpstr>微软雅黑</vt:lpstr>
      <vt:lpstr>Arial</vt:lpstr>
      <vt:lpstr>Calibri</vt:lpstr>
      <vt:lpstr>Calibri Light</vt:lpstr>
      <vt:lpstr>Cambria Math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帐户</dc:creator>
  <cp:lastModifiedBy>Microsoft 帐户</cp:lastModifiedBy>
  <cp:revision>720</cp:revision>
  <dcterms:created xsi:type="dcterms:W3CDTF">2026-04-13T12:58:51Z</dcterms:created>
  <dcterms:modified xsi:type="dcterms:W3CDTF">2026-07-09T15:09:10Z</dcterms:modified>
</cp:coreProperties>
</file>