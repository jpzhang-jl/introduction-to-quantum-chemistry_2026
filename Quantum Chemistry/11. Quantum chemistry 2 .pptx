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37" r:id="rId3"/>
    <p:sldId id="439" r:id="rId4"/>
    <p:sldId id="440" r:id="rId5"/>
    <p:sldId id="441" r:id="rId6"/>
    <p:sldId id="442" r:id="rId7"/>
    <p:sldId id="443" r:id="rId8"/>
    <p:sldId id="444" r:id="rId9"/>
    <p:sldId id="36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7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2005" autoAdjust="0"/>
  </p:normalViewPr>
  <p:slideViewPr>
    <p:cSldViewPr snapToGrid="0">
      <p:cViewPr varScale="1">
        <p:scale>
          <a:sx n="80" d="100"/>
          <a:sy n="80" d="100"/>
        </p:scale>
        <p:origin x="62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CD0B4-0D93-4925-9AE5-BE338DE0EB7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1C58D-F6D9-4444-8C6C-9BE396A37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509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719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102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871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604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374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063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7354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926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4F24E-D5DB-4E44-B9C1-1C9F966D9DE0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42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644C8-A75A-4271-B806-197E7CBB3043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428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AEB6-6817-4662-A1D3-3BC44BA693B7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73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12959-142D-4B7D-99C2-885C08D89CC3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982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02A6-6B27-4F12-88C3-26F3AADB1B4A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44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A87C-D3D9-4098-8262-38F46DBFE130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01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05D1-58D2-499A-8919-5CFDC4F042E9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77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647B-B16E-4175-BFE9-E10D077C5782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63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3D96-C799-489A-9DE7-F5DBBF900548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45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7679-E711-45F2-B537-122BD96A4634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93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60A1E-7A35-43E8-B9E2-C715633E112E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59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EBADF-EE84-4603-B97B-F3FFE6AB9912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57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6035010B-2434-47C2-8100-5A5F5450E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7034" y="484388"/>
            <a:ext cx="1617921" cy="1617921"/>
          </a:xfrm>
          <a:prstGeom prst="rect">
            <a:avLst/>
          </a:prstGeom>
        </p:spPr>
      </p:pic>
      <p:sp>
        <p:nvSpPr>
          <p:cNvPr id="3" name="矩形 12"/>
          <p:cNvSpPr/>
          <p:nvPr/>
        </p:nvSpPr>
        <p:spPr>
          <a:xfrm>
            <a:off x="2889789" y="4196487"/>
            <a:ext cx="6412417" cy="81708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 eaLnBrk="1" hangingPunct="1"/>
            <a:endParaRPr lang="zh-CN" altLang="en-US" sz="2400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0405" y="2377744"/>
            <a:ext cx="1125117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Introduction to Quantum Chemistry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——Quantum Chemistry </a:t>
            </a:r>
            <a:r>
              <a:rPr lang="en-US" altLang="zh-CN" sz="4000" b="1" dirty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2</a:t>
            </a:r>
            <a:endParaRPr lang="zh-CN" altLang="en-US" sz="4000" b="1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54370" y="4553630"/>
            <a:ext cx="488325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张冀鹏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北京师范大学化学学院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2026. 7. 13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865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5"/>
    </mc:Choice>
    <mc:Fallback xmlns="">
      <p:transition spd="slow" advTm="8855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Molecular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8147" y="1545568"/>
            <a:ext cx="10572238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我们直接忽略跳过多电子原子，进入对分子的讨论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相较于原子，分子在结构上的变化主要体现在：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原子核数目增多，增加原子核之间的势能项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电子与原子核的势能项增加，无法再用简单的坐标变换分离坐标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几乎所有分子都是多电子的，又增加了电子与电子间的库仑排斥项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使得精确求解分子的薛定谔方程几乎不可能实现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097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Molecular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337185" y="991652"/>
                <a:ext cx="10572238" cy="2827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分子的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Hamiltonian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可写为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</m:ac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sSubSup>
                            <m:sSubSup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nary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b="0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b="0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b="0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b="0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b="0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b="0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dirty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此处使用了原子单位简化书写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991652"/>
                <a:ext cx="10572238" cy="2827825"/>
              </a:xfrm>
              <a:prstGeom prst="rect">
                <a:avLst/>
              </a:prstGeom>
              <a:blipFill rotWithShape="0">
                <a:blip r:embed="rId5"/>
                <a:stretch>
                  <a:fillRect l="-576" b="-1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椭圆 47"/>
          <p:cNvSpPr/>
          <p:nvPr/>
        </p:nvSpPr>
        <p:spPr>
          <a:xfrm>
            <a:off x="7487920" y="5171440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>
            <a:spLocks noChangeAspect="1"/>
          </p:cNvSpPr>
          <p:nvPr/>
        </p:nvSpPr>
        <p:spPr>
          <a:xfrm>
            <a:off x="9935657" y="5171440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箭头连接符 49"/>
          <p:cNvCxnSpPr/>
          <p:nvPr/>
        </p:nvCxnSpPr>
        <p:spPr>
          <a:xfrm>
            <a:off x="6695440" y="5351440"/>
            <a:ext cx="45769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11220855" y="5447005"/>
            <a:ext cx="157413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z</a:t>
            </a:r>
            <a:endParaRPr lang="zh-CN" altLang="en-US" dirty="0"/>
          </a:p>
        </p:txBody>
      </p:sp>
      <p:cxnSp>
        <p:nvCxnSpPr>
          <p:cNvPr id="52" name="直接连接符 51"/>
          <p:cNvCxnSpPr/>
          <p:nvPr/>
        </p:nvCxnSpPr>
        <p:spPr>
          <a:xfrm flipV="1">
            <a:off x="7667920" y="5351439"/>
            <a:ext cx="2447737" cy="1079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7325360" y="5542237"/>
            <a:ext cx="342560" cy="37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10142785" y="5564408"/>
            <a:ext cx="342560" cy="377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</a:t>
            </a:r>
            <a:endParaRPr lang="zh-CN" altLang="en-US" dirty="0"/>
          </a:p>
        </p:txBody>
      </p:sp>
      <p:sp>
        <p:nvSpPr>
          <p:cNvPr id="55" name="文本框 54"/>
          <p:cNvSpPr txBox="1"/>
          <p:nvPr/>
        </p:nvSpPr>
        <p:spPr>
          <a:xfrm>
            <a:off x="8765308" y="5428055"/>
            <a:ext cx="679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547DB9"/>
                </a:solidFill>
              </a:rPr>
              <a:t>R</a:t>
            </a:r>
            <a:r>
              <a:rPr lang="en-US" altLang="zh-CN" sz="2400" baseline="-25000" dirty="0" smtClean="0">
                <a:solidFill>
                  <a:srgbClr val="547DB9"/>
                </a:solidFill>
              </a:rPr>
              <a:t>AB</a:t>
            </a:r>
            <a:endParaRPr lang="zh-CN" altLang="en-US" sz="2400" baseline="-25000" dirty="0">
              <a:solidFill>
                <a:srgbClr val="547DB9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670882" y="3954370"/>
            <a:ext cx="18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57" name="文本框 56"/>
          <p:cNvSpPr txBox="1"/>
          <p:nvPr/>
        </p:nvSpPr>
        <p:spPr>
          <a:xfrm>
            <a:off x="9930581" y="4275919"/>
            <a:ext cx="266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cxnSp>
        <p:nvCxnSpPr>
          <p:cNvPr id="58" name="直接连接符 57"/>
          <p:cNvCxnSpPr/>
          <p:nvPr/>
        </p:nvCxnSpPr>
        <p:spPr>
          <a:xfrm flipH="1">
            <a:off x="7667921" y="4237464"/>
            <a:ext cx="1248055" cy="1135569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992344" y="4237464"/>
            <a:ext cx="1100885" cy="1113975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7797894" y="4352804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2">
                    <a:lumMod val="75000"/>
                  </a:schemeClr>
                </a:solidFill>
              </a:rPr>
              <a:t>r</a:t>
            </a:r>
            <a:r>
              <a:rPr lang="en-US" altLang="zh-CN" sz="2400" baseline="-25000" dirty="0" smtClean="0">
                <a:solidFill>
                  <a:schemeClr val="accent2">
                    <a:lumMod val="75000"/>
                  </a:schemeClr>
                </a:solidFill>
              </a:rPr>
              <a:t>1A</a:t>
            </a:r>
            <a:endParaRPr lang="zh-CN" altLang="en-US" sz="2400" baseline="-25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237986" y="4706724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2">
                    <a:lumMod val="75000"/>
                  </a:schemeClr>
                </a:solidFill>
              </a:rPr>
              <a:t>r</a:t>
            </a:r>
            <a:r>
              <a:rPr lang="en-US" altLang="zh-CN" sz="2400" baseline="-25000" dirty="0" smtClean="0">
                <a:solidFill>
                  <a:schemeClr val="accent2">
                    <a:lumMod val="75000"/>
                  </a:schemeClr>
                </a:solidFill>
              </a:rPr>
              <a:t>1B</a:t>
            </a:r>
            <a:endParaRPr lang="zh-CN" altLang="en-US" sz="2400" baseline="-250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2" name="直接连接符 61"/>
          <p:cNvCxnSpPr/>
          <p:nvPr/>
        </p:nvCxnSpPr>
        <p:spPr>
          <a:xfrm flipH="1">
            <a:off x="7693989" y="4488475"/>
            <a:ext cx="2182592" cy="862963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9876581" y="4488475"/>
            <a:ext cx="239076" cy="91348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8503725" y="4838526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92D050"/>
                </a:solidFill>
              </a:rPr>
              <a:t>r</a:t>
            </a:r>
            <a:r>
              <a:rPr lang="en-US" altLang="zh-CN" sz="2400" baseline="-25000" dirty="0" smtClean="0">
                <a:solidFill>
                  <a:srgbClr val="92D050"/>
                </a:solidFill>
              </a:rPr>
              <a:t>2A</a:t>
            </a:r>
            <a:endParaRPr lang="zh-CN" altLang="en-US" sz="2400" baseline="-25000" dirty="0">
              <a:solidFill>
                <a:srgbClr val="92D050"/>
              </a:solidFill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9008160" y="4199280"/>
            <a:ext cx="906605" cy="305011"/>
          </a:xfrm>
          <a:prstGeom prst="line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9290182" y="3922356"/>
            <a:ext cx="528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r</a:t>
            </a:r>
            <a:r>
              <a:rPr lang="en-US" altLang="zh-CN" sz="2400" baseline="-250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12</a:t>
            </a:r>
            <a:endParaRPr lang="zh-CN" altLang="en-US" sz="2400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8900160" y="4145280"/>
            <a:ext cx="108000" cy="1080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/>
          <p:cNvSpPr/>
          <p:nvPr/>
        </p:nvSpPr>
        <p:spPr>
          <a:xfrm>
            <a:off x="9800153" y="4448757"/>
            <a:ext cx="108000" cy="1080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9" name="直接连接符 68"/>
          <p:cNvCxnSpPr/>
          <p:nvPr/>
        </p:nvCxnSpPr>
        <p:spPr>
          <a:xfrm>
            <a:off x="1184646" y="2807257"/>
            <a:ext cx="1440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1080699" y="2902040"/>
            <a:ext cx="138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原子核动能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1" name="直接连接符 70"/>
          <p:cNvCxnSpPr/>
          <p:nvPr/>
        </p:nvCxnSpPr>
        <p:spPr>
          <a:xfrm>
            <a:off x="2819189" y="2807257"/>
            <a:ext cx="1080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2819189" y="2887524"/>
            <a:ext cx="112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电子动能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4297311" y="2807257"/>
            <a:ext cx="1800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4291569" y="2887524"/>
            <a:ext cx="2104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核库仑势能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 flipV="1">
            <a:off x="6425360" y="2857976"/>
            <a:ext cx="1800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6683704" y="2901576"/>
            <a:ext cx="1470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库仑势能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7" name="直接连接符 76"/>
          <p:cNvCxnSpPr/>
          <p:nvPr/>
        </p:nvCxnSpPr>
        <p:spPr>
          <a:xfrm>
            <a:off x="8514065" y="2818231"/>
            <a:ext cx="2160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8630448" y="2943008"/>
            <a:ext cx="237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核库仑势能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02726" y="4518505"/>
                <a:ext cx="4880989" cy="2232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𝑖𝐴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 smtClean="0"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下面设法将核坐标和电子坐标分开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26" y="4518505"/>
                <a:ext cx="4880989" cy="2232919"/>
              </a:xfrm>
              <a:prstGeom prst="rect">
                <a:avLst/>
              </a:prstGeom>
              <a:blipFill rotWithShape="0">
                <a:blip r:embed="rId6"/>
                <a:stretch>
                  <a:fillRect l="-1125" b="-10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76905" y="3830962"/>
                <a:ext cx="6452399" cy="716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薛定谔方程为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altLang="zh-CN" sz="2000" b="0" i="0" dirty="0" smtClean="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dirty="0" smtClean="0">
                              <a:latin typeface="Cambria Math" panose="02040503050406030204" pitchFamily="18" charset="0"/>
                            </a:rPr>
                            <m:t>tot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sz="2000" b="0" i="0" dirty="0" smtClean="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en-US" altLang="zh-CN" dirty="0" smtClean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05" y="3830962"/>
                <a:ext cx="6452399" cy="716222"/>
              </a:xfrm>
              <a:prstGeom prst="rect">
                <a:avLst/>
              </a:prstGeom>
              <a:blipFill rotWithShape="0">
                <a:blip r:embed="rId7"/>
                <a:stretch>
                  <a:fillRect l="-944" t="-42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64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Born-Huang expansion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13360" y="980869"/>
                <a:ext cx="11978640" cy="5071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我们以电子坐标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为主元，核坐标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为参数，对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用完备基展开：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把与核动能（或者说核坐标导数）相关的项移除，剩下的部分记为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el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el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的本征函数：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el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nary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用这组完备基做的展开称为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等线" panose="02010600030101010101" charset="-122"/>
                    <a:sym typeface="+mn-ea"/>
                  </a:rPr>
                  <a:t>Born-Huang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等线" panose="02010600030101010101" charset="-122"/>
                    <a:sym typeface="+mn-ea"/>
                  </a:rPr>
                  <a:t>展开，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𝑒𝑙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称为电子能量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在热力学中分子的总能量由分子的动能和势能两部分构成，由于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el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中不包含核动能项，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𝑒𝑙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又可以视为分子的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势能</a:t>
                </a: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980869"/>
                <a:ext cx="11978640" cy="5071966"/>
              </a:xfrm>
              <a:prstGeom prst="rect">
                <a:avLst/>
              </a:prstGeom>
              <a:blipFill rotWithShape="0">
                <a:blip r:embed="rId5"/>
                <a:stretch>
                  <a:fillRect l="-509" t="-721" r="-51" b="-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41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4BEAC140-B53A-4E5A-8389-B25EF986A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5806409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Potential energy surface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A3691439-CCBD-CF9D-44C2-F2DAE49F4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000" y="6315437"/>
            <a:ext cx="2743200" cy="365125"/>
          </a:xfrm>
        </p:spPr>
        <p:txBody>
          <a:bodyPr/>
          <a:lstStyle/>
          <a:p>
            <a:fld id="{346E1C1C-3217-44A3-A941-FE8BEC3096CE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428567" y="2094271"/>
            <a:ext cx="1730477" cy="471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3" name="文本框 72"/>
          <p:cNvSpPr txBox="1"/>
          <p:nvPr/>
        </p:nvSpPr>
        <p:spPr>
          <a:xfrm>
            <a:off x="8594106" y="4706724"/>
            <a:ext cx="30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65200" y="2891244"/>
            <a:ext cx="1148080" cy="817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65200" y="3444240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3962243" y="1041643"/>
                <a:ext cx="3919406" cy="4715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243" y="1041643"/>
                <a:ext cx="3919406" cy="471539"/>
              </a:xfrm>
              <a:prstGeom prst="rect">
                <a:avLst/>
              </a:prstGeom>
              <a:blipFill rotWithShape="0">
                <a:blip r:embed="rId6"/>
                <a:stretch>
                  <a:fillRect t="-5195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365179" y="1934252"/>
                <a:ext cx="5291382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注意，此时核坐标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方程中是一个参数，即在计算中人为事先给定，不是变量。将全部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𝑒𝑙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收集在一起，结果是核坐标的函数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。我们称之为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势能曲线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势能面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核坐标一共有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3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个自由度，除原子核的平动与转动，余下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3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−6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个自由度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79" y="1934252"/>
                <a:ext cx="5291382" cy="3046988"/>
              </a:xfrm>
              <a:prstGeom prst="rect">
                <a:avLst/>
              </a:prstGeom>
              <a:blipFill rotWithShape="0">
                <a:blip r:embed="rId7"/>
                <a:stretch>
                  <a:fillRect l="-1843" t="-1600" r="-7488" b="-3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842" y="1587584"/>
            <a:ext cx="6082086" cy="5040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0385" y="5391150"/>
            <a:ext cx="4326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如何求解电子薛定谔方程是量子化学里至关重要的问题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749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541"/>
    </mc:Choice>
    <mc:Fallback xmlns="">
      <p:transition spd="slow" advTm="3354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4BEAC140-B53A-4E5A-8389-B25EF986A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5806409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Nonadiabatic coupling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A3691439-CCBD-CF9D-44C2-F2DAE49F4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000" y="6315437"/>
            <a:ext cx="2743200" cy="365125"/>
          </a:xfrm>
        </p:spPr>
        <p:txBody>
          <a:bodyPr/>
          <a:lstStyle/>
          <a:p>
            <a:fld id="{346E1C1C-3217-44A3-A941-FE8BEC3096CE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428567" y="2094271"/>
            <a:ext cx="1730477" cy="471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3" name="文本框 72"/>
          <p:cNvSpPr txBox="1"/>
          <p:nvPr/>
        </p:nvSpPr>
        <p:spPr>
          <a:xfrm>
            <a:off x="8594106" y="4706724"/>
            <a:ext cx="30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65200" y="2891244"/>
            <a:ext cx="1148080" cy="817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65200" y="3444240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0" y="1046223"/>
                <a:ext cx="12192000" cy="5489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在解决了电子坐标部分后，考虑核运动部分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e>
                      </m:acc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sSubSup>
                            <m:sSub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总方程可以写为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𝑇</m:t>
                              </m:r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𝑒𝑙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𝑹</m:t>
                                  </m:r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𝑡𝑜𝑡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𝑹</m:t>
                                  </m:r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𝑹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𝑒𝑙</m:t>
                        </m:r>
                      </m:sub>
                    </m:sSub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里没有核坐标导数相关项，不作用于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上，有</a:t>
                </a:r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𝑒𝑙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𝑹</m:t>
                                  </m:r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𝑹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nary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在总方程两侧左乘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𝒓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，并对电子坐标积分有</a:t>
                </a:r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nary>
                      <m:acc>
                        <m:accPr>
                          <m:chr m:val="̂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𝑹</m:t>
                                  </m:r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𝑹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𝑹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𝑡𝑜𝑡</m:t>
                          </m:r>
                        </m:sub>
                      </m:sSub>
                      <m:nary>
                        <m:naryPr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𝑹</m:t>
                                  </m:r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𝑉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;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的正交归一性有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;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nary>
                      <m:acc>
                        <m:accPr>
                          <m:chr m:val="̂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𝑹</m:t>
                                  </m:r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;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𝑡𝑜𝑡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46223"/>
                <a:ext cx="12192000" cy="5489964"/>
              </a:xfrm>
              <a:prstGeom prst="rect">
                <a:avLst/>
              </a:prstGeom>
              <a:blipFill rotWithShape="0">
                <a:blip r:embed="rId6"/>
                <a:stretch>
                  <a:fillRect l="-400" t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连接符 17"/>
          <p:cNvCxnSpPr/>
          <p:nvPr/>
        </p:nvCxnSpPr>
        <p:spPr>
          <a:xfrm>
            <a:off x="2948723" y="6343442"/>
            <a:ext cx="3600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360420" y="6434568"/>
            <a:ext cx="138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动能项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867691" y="6343442"/>
            <a:ext cx="1080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7020091" y="6413758"/>
            <a:ext cx="112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势能项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508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541"/>
    </mc:Choice>
    <mc:Fallback xmlns="">
      <p:transition spd="slow" advTm="3354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4BEAC140-B53A-4E5A-8389-B25EF986A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5806409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Nonadiabatic coupling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A3691439-CCBD-CF9D-44C2-F2DAE49F4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000" y="6315437"/>
            <a:ext cx="2743200" cy="365125"/>
          </a:xfrm>
        </p:spPr>
        <p:txBody>
          <a:bodyPr/>
          <a:lstStyle/>
          <a:p>
            <a:fld id="{346E1C1C-3217-44A3-A941-FE8BEC3096CE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428567" y="2094271"/>
            <a:ext cx="1730477" cy="471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3" name="文本框 72"/>
          <p:cNvSpPr txBox="1"/>
          <p:nvPr/>
        </p:nvSpPr>
        <p:spPr>
          <a:xfrm>
            <a:off x="8594106" y="4706724"/>
            <a:ext cx="30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65200" y="2891244"/>
            <a:ext cx="1148080" cy="817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65200" y="3444240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52723" y="1065579"/>
                <a:ext cx="12192000" cy="5054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考察动能项</a:t>
                </a:r>
                <a:endParaRPr lang="en-US" altLang="zh-CN" sz="2000" i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  <m:acc>
                        <m:accPr>
                          <m:chr m:val="̂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𝑉</m:t>
                              </m:r>
                            </m:sub>
                            <m:sup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[</m:t>
                              </m:r>
                              <m:sSubSup>
                                <m:sSubSupPr>
                                  <m:ctrlPr>
                                    <a:rPr lang="en-US" altLang="zh-CN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𝜒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altLang="zh-CN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b="1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𝜒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0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∇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0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]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</m:nary>
                    </m:oMath>
                  </m:oMathPara>
                </a14:m>
                <a:endParaRPr lang="en-US" altLang="zh-CN" b="0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supHide m:val="on"/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𝑉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𝑁</m:t>
                                  </m:r>
                                </m:sup>
                                <m:e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nary>
                              <m:sSubSup>
                                <m:sSubSupPr>
                                  <m:ctrlP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e>
                      </m:nary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CN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e>
                      </m:acc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𝑘𝑙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zh-CN" b="1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𝑘𝑙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𝑘𝑙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altLang="zh-CN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𝒓</m:t>
                      </m:r>
                    </m:oMath>
                  </m:oMathPara>
                </a14:m>
                <a:endParaRPr lang="en-US" altLang="zh-CN" sz="2000" b="1" i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𝑘𝑙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𝑁</m:t>
                                  </m:r>
                                </m:sup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nary>
                              <m:sSubSup>
                                <m:sSubSup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𝑉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𝑇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𝒓</m:t>
                      </m:r>
                    </m:oMath>
                  </m:oMathPara>
                </a14:m>
                <a:endParaRPr lang="en-US" altLang="zh-CN" sz="2000" b="1" i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非绝热耦合项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，也叫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导数耦合项</a:t>
                </a: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23" y="1065579"/>
                <a:ext cx="12192000" cy="5054782"/>
              </a:xfrm>
              <a:prstGeom prst="rect">
                <a:avLst/>
              </a:prstGeom>
              <a:blipFill rotWithShape="0">
                <a:blip r:embed="rId6"/>
                <a:stretch>
                  <a:fillRect l="-500" t="-724" b="-1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614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541"/>
    </mc:Choice>
    <mc:Fallback xmlns="">
      <p:transition spd="slow" advTm="3354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4BEAC140-B53A-4E5A-8389-B25EF986A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744461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Born-Oppenheimer approximation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="" xmlns:a16="http://schemas.microsoft.com/office/drawing/2014/main" id="{A3691439-CCBD-CF9D-44C2-F2DAE49F4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0000" y="6315437"/>
            <a:ext cx="2743200" cy="365125"/>
          </a:xfrm>
        </p:spPr>
        <p:txBody>
          <a:bodyPr/>
          <a:lstStyle/>
          <a:p>
            <a:fld id="{346E1C1C-3217-44A3-A941-FE8BEC3096CE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428567" y="2094271"/>
            <a:ext cx="1730477" cy="471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3" name="文本框 72"/>
          <p:cNvSpPr txBox="1"/>
          <p:nvPr/>
        </p:nvSpPr>
        <p:spPr>
          <a:xfrm>
            <a:off x="8594106" y="4706724"/>
            <a:ext cx="30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65200" y="2891244"/>
            <a:ext cx="1148080" cy="817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65200" y="3444240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8046" y="648098"/>
                <a:ext cx="12192000" cy="1233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e>
                      </m:acc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sSubSup>
                            <m:sSub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𝑘𝑙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</m:sup>
                          </m:sSub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𝑘𝑙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</m:e>
                      </m:d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</m:sSub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i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tot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6" y="648098"/>
                <a:ext cx="12192000" cy="123315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43296" y="2016416"/>
                <a:ext cx="11696700" cy="4319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核运动与电子运动无法分开的根本原因就是存在导数耦合项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有些情况下耦合项不能忽略，但多数情况下可以忽略，称为</a:t>
                </a:r>
                <a:r>
                  <a:rPr lang="en-US" altLang="zh-CN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Born-Oppenheimer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近似</a:t>
                </a: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总方程变为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𝑇</m:t>
                              </m:r>
                            </m:e>
                          </m:acc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𝑈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𝑹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tot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𝜒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这是一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个只与核坐标有关的方程，且形式与定态薛定谔方程一般形式一致，称为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核运动方程</a:t>
                </a: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Born-Oppenheimer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近似下，我们的关注点只在电子薛定谔方程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𝑒𝑙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𝑒𝑙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上，求解电子能量，并构建势能面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6" y="2016416"/>
                <a:ext cx="11696700" cy="4319259"/>
              </a:xfrm>
              <a:prstGeom prst="rect">
                <a:avLst/>
              </a:prstGeom>
              <a:blipFill rotWithShape="0">
                <a:blip r:embed="rId7"/>
                <a:stretch>
                  <a:fillRect l="-574" r="-469" b="-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64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541"/>
    </mc:Choice>
    <mc:Fallback xmlns="">
      <p:transition spd="slow" advTm="3354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Reference and exercise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1935" y="1009471"/>
            <a:ext cx="11376230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Ira N. Levine. </a:t>
            </a:r>
            <a:r>
              <a:rPr lang="en-US" altLang="zh-CN" sz="2400" i="1" dirty="0"/>
              <a:t>Quantum Chemistry</a:t>
            </a:r>
            <a:r>
              <a:rPr lang="en-US" altLang="zh-CN" sz="2400" dirty="0"/>
              <a:t>, 7th ed., Pearson, </a:t>
            </a:r>
            <a:r>
              <a:rPr lang="en-US" altLang="zh-CN" sz="2400" b="1" dirty="0"/>
              <a:t>2014</a:t>
            </a:r>
            <a:r>
              <a:rPr lang="en-US" altLang="zh-CN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it-IT" altLang="zh-CN" sz="2400" dirty="0" smtClean="0"/>
              <a:t>A. Szabo</a:t>
            </a:r>
            <a:r>
              <a:rPr lang="it-IT" altLang="zh-CN" sz="2400" dirty="0"/>
              <a:t>,</a:t>
            </a:r>
            <a:r>
              <a:rPr lang="it-IT" altLang="zh-CN" sz="2400" dirty="0" smtClean="0"/>
              <a:t> N. </a:t>
            </a:r>
            <a:r>
              <a:rPr lang="it-IT" altLang="zh-CN" sz="2400" dirty="0"/>
              <a:t>S. Ostlund. </a:t>
            </a:r>
            <a:r>
              <a:rPr lang="zh-CN" altLang="en-US" sz="2400" i="1" dirty="0"/>
              <a:t>Modern Quantum Chemistry Introduction to Advanced Electronic Structure Theory</a:t>
            </a:r>
            <a:r>
              <a:rPr lang="en-US" altLang="zh-CN" sz="2400" i="1" dirty="0"/>
              <a:t>. </a:t>
            </a:r>
            <a:r>
              <a:rPr lang="en-US" altLang="zh-CN" sz="2400" dirty="0"/>
              <a:t>New York: McGraw-Hill. </a:t>
            </a:r>
            <a:r>
              <a:rPr lang="en-US" altLang="zh-CN" sz="2400" b="1" dirty="0"/>
              <a:t>1989</a:t>
            </a:r>
            <a:r>
              <a:rPr lang="en-US" altLang="zh-CN" sz="2400" dirty="0" smtClean="0"/>
              <a:t>.</a:t>
            </a:r>
            <a:endParaRPr lang="en-US" altLang="zh-CN" sz="24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41935" y="3924300"/>
                <a:ext cx="10283190" cy="1135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练习：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写出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Li</m:t>
                    </m:r>
                    <m:r>
                      <a:rPr lang="en-US" altLang="zh-CN" sz="2400" b="0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Sup>
                      <m:sSubSupPr>
                        <m:ctrlPr>
                          <a:rPr lang="en-US" altLang="zh-CN" sz="2400" b="0" i="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b="0" i="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400" b="0" i="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b="0" i="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sup>
                    </m:sSubSup>
                    <m:r>
                      <a:rPr lang="en-US" altLang="zh-CN" sz="2400" b="0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400" b="0" i="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400" b="0" i="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Hamiltonian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和电子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Hamiltonian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35" y="3924300"/>
                <a:ext cx="10283190" cy="1135054"/>
              </a:xfrm>
              <a:prstGeom prst="rect">
                <a:avLst/>
              </a:prstGeom>
              <a:blipFill rotWithShape="0">
                <a:blip r:embed="rId5"/>
                <a:stretch>
                  <a:fillRect l="-948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31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13455</TotalTime>
  <Words>332</Words>
  <Application>Microsoft Office PowerPoint</Application>
  <PresentationFormat>宽屏</PresentationFormat>
  <Paragraphs>109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 Unicode MS</vt:lpstr>
      <vt:lpstr>等线</vt:lpstr>
      <vt:lpstr>宋体</vt:lpstr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719</cp:revision>
  <dcterms:created xsi:type="dcterms:W3CDTF">2026-04-13T12:58:51Z</dcterms:created>
  <dcterms:modified xsi:type="dcterms:W3CDTF">2026-07-08T11:10:02Z</dcterms:modified>
</cp:coreProperties>
</file>