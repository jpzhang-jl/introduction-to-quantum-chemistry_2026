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337" r:id="rId3"/>
    <p:sldId id="455" r:id="rId4"/>
    <p:sldId id="456" r:id="rId5"/>
    <p:sldId id="458" r:id="rId6"/>
    <p:sldId id="459" r:id="rId7"/>
    <p:sldId id="460" r:id="rId8"/>
    <p:sldId id="461" r:id="rId9"/>
    <p:sldId id="457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36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5326" autoAdjust="0"/>
  </p:normalViewPr>
  <p:slideViewPr>
    <p:cSldViewPr snapToGrid="0">
      <p:cViewPr varScale="1">
        <p:scale>
          <a:sx n="87" d="100"/>
          <a:sy n="87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CD0B4-0D93-4925-9AE5-BE338DE0EB77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C58D-F6D9-4444-8C6C-9BE396A37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9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0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545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61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665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425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270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53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448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937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916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70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675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413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195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0648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090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053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257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575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2338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040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F24E-D5DB-4E44-B9C1-1C9F966D9DE0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44C8-A75A-4271-B806-197E7CBB3043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EB6-6817-4662-A1D3-3BC44BA693B7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12959-142D-4B7D-99C2-885C08D89CC3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02A6-6B27-4F12-88C3-26F3AADB1B4A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A87C-D3D9-4098-8262-38F46DBFE130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1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5D1-58D2-499A-8919-5CFDC4F042E9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647B-B16E-4175-BFE9-E10D077C5782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3D96-C799-489A-9DE7-F5DBBF900548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679-E711-45F2-B537-122BD96A4634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0A1E-7A35-43E8-B9E2-C715633E112E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EBADF-EE84-4603-B97B-F3FFE6AB9912}" type="datetime1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405" y="2377744"/>
            <a:ext cx="11251177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——Quantum Chemistry </a:t>
            </a:r>
            <a:r>
              <a:rPr lang="en-US" altLang="zh-CN" sz="4000" b="1" dirty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4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65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Single electron approximation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75639" y="1734740"/>
                <a:ext cx="11651616" cy="4123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el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000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nary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前面提到过，由于电子库仑作用项的存在，无法使用分离变量法求解方程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具体到波函数的形式上，体现在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不能写成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个单电子波函数的乘积：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但在介绍完变分原理后，在选择试探波函数时，就可以取为一系列单电子波函数的乘积，及其线性组合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这种选取试探波函数的方法，称为单电子近似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9" y="1734740"/>
                <a:ext cx="11651616" cy="4123436"/>
              </a:xfrm>
              <a:prstGeom prst="rect">
                <a:avLst/>
              </a:prstGeom>
              <a:blipFill rotWithShape="0">
                <a:blip r:embed="rId5"/>
                <a:stretch>
                  <a:fillRect l="-523" r="-366" b="-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9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Single electron approximation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12744" y="873094"/>
                <a:ext cx="11651616" cy="5732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单电子近似意味着整个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电子分子的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Hilbert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空间可以被写为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Hilbert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空间的张量积：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𝐻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⊗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⊗⋯⊗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空间里的基为：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𝐢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𝐢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 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𝐢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下标表示的是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电子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态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的指标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，括号内是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电子的坐标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，包括空间和自旋坐标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由于自旋角动量没有出现在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Hamiltonian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中，自然可以将轨道部分和自旋部分分开，变成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轨道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部分满足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𝑉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表示广义的自旋波函数，一般定义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 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自旋向上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 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自旋向下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𝑚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𝜎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𝛼𝛽</m:t>
                        </m:r>
                      </m:sub>
                    </m:sSub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基函数变为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𝛽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𝛽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全空间共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个基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44" y="873094"/>
                <a:ext cx="11651616" cy="5732851"/>
              </a:xfrm>
              <a:prstGeom prst="rect">
                <a:avLst/>
              </a:prstGeom>
              <a:blipFill rotWithShape="0">
                <a:blip r:embed="rId5"/>
                <a:stretch>
                  <a:fillRect l="-523" b="-9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19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Hartree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 approximation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37185" y="873094"/>
                <a:ext cx="11651616" cy="5698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Hartree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最早提出了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种近似方法，即将多电子波函数简单写成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个单电子波函数的乘积：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el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nary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将其代入电子</a:t>
                </a:r>
                <a:r>
                  <a:rPr lang="en-US" altLang="zh-CN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Hamiltionian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中求能量期望值有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el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由于核库仑项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  <m:r>
                          <a:rPr lang="en-US" altLang="zh-CN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≠</m:t>
                            </m:r>
                            <m:r>
                              <a:rPr lang="en-US" altLang="zh-CN" b="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𝐵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b="0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en-US" altLang="zh-CN" b="0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𝐴𝐵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中没有电子坐标，其积分结果为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≠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𝐴𝐵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</m:e>
                          </m:nary>
                        </m:e>
                      </m:d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≠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𝐴𝐵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</m:e>
                          </m:nary>
                        </m:e>
                      </m:d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𝐵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而对于含有电子坐标的项，我们可以将其分为两类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873094"/>
                <a:ext cx="11651616" cy="5698355"/>
              </a:xfrm>
              <a:prstGeom prst="rect">
                <a:avLst/>
              </a:prstGeom>
              <a:blipFill rotWithShape="0">
                <a:blip r:embed="rId5"/>
                <a:stretch>
                  <a:fillRect l="-418" b="-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5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One and two-electron integrals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37185" y="873094"/>
                <a:ext cx="11651616" cy="5765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ea typeface="微软雅黑" panose="020B0503020204020204" pitchFamily="34" charset="-122"/>
                  </a:rPr>
                  <a:t>根据各项中含有电子坐标数目，定义</a:t>
                </a:r>
                <a:endParaRPr lang="en-US" altLang="zh-CN" dirty="0" smtClean="0"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𝑖𝐴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分别称为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单电子算符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双电子算符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。将定义代入并去掉核库仑项，则</a:t>
                </a:r>
                <a:endParaRPr lang="en-US" altLang="zh-CN" b="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el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𝑔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∫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∫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∫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1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∫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∫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873094"/>
                <a:ext cx="11651616" cy="5765746"/>
              </a:xfrm>
              <a:prstGeom prst="rect">
                <a:avLst/>
              </a:prstGeom>
              <a:blipFill rotWithShape="0">
                <a:blip r:embed="rId5"/>
                <a:stretch>
                  <a:fillRect l="-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59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One and two-electron integrals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66847" y="873094"/>
                <a:ext cx="11651616" cy="2459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⟨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∫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00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𝛻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∫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47" y="873094"/>
                <a:ext cx="11651616" cy="245977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66847" y="3332870"/>
                <a:ext cx="12191853" cy="157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对于单电子波函数而言又有电子密度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𝜌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又可以写成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类似于一种库仑引力的作用，因此又记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∫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d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d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𝐽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，称为库仑作用项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47" y="3332870"/>
                <a:ext cx="12191853" cy="1572931"/>
              </a:xfrm>
              <a:prstGeom prst="rect">
                <a:avLst/>
              </a:prstGeom>
              <a:blipFill rotWithShape="0">
                <a:blip r:embed="rId6"/>
                <a:stretch>
                  <a:fillRect l="-550"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66846" y="4905801"/>
                <a:ext cx="11651617" cy="1824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简便起见我们引入一些记号：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sz="2000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</m:e>
                          </m:d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𝑗𝑗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𝑖𝑗</m:t>
                        </m:r>
                      </m: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𝑖𝑗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中取复共轭放左边，而在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𝑖𝑖</m:t>
                        </m:r>
                      </m: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𝑗𝑗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中是处于同一电子坐标的放在同一侧，可以直观反映相互作用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46" y="4905801"/>
                <a:ext cx="11651617" cy="1824859"/>
              </a:xfrm>
              <a:prstGeom prst="rect">
                <a:avLst/>
              </a:prstGeom>
              <a:blipFill rotWithShape="0">
                <a:blip r:embed="rId7"/>
                <a:stretch>
                  <a:fillRect l="-576" t="-2007" r="-366" b="-5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54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Hartree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 approximation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37185" y="1702848"/>
                <a:ext cx="11651616" cy="1791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上面的推导实际上只是作为展示和练习，因为</a:t>
                </a:r>
                <a:r>
                  <a:rPr lang="en-US" altLang="zh-CN" sz="20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Hartree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波函数有一个天然缺陷。它忽略了电子的费米子特性，即要求波函数是反对称的：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𝐣</m:t>
                              </m:r>
                            </m:sub>
                          </m:sSub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𝐧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𝐣</m:t>
                          </m:r>
                        </m:sub>
                      </m:sSub>
                      <m:r>
                        <a:rPr lang="en-US" altLang="zh-CN" sz="2000" b="1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𝐢</m:t>
                          </m:r>
                        </m:sub>
                      </m:sSub>
                      <m:r>
                        <a:rPr lang="en-US" altLang="zh-CN" sz="2000" b="1" i="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1" i="0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𝐧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完全没有反对称结构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1702848"/>
                <a:ext cx="11651616" cy="1791773"/>
              </a:xfrm>
              <a:prstGeom prst="rect">
                <a:avLst/>
              </a:prstGeom>
              <a:blipFill rotWithShape="0">
                <a:blip r:embed="rId5"/>
                <a:stretch>
                  <a:fillRect l="-523" t="-1701" b="-5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37185" y="4030575"/>
                <a:ext cx="1140756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Hilbert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空间的角度看，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Hartree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的这种构造方法仅使用了张量积空间（不考虑自旋）中的一个基：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sz="2000" b="1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⊗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1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sz="2000" b="1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⊗⋯⊗|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altLang="zh-CN" sz="2000" b="1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实际上，可以对张量积空间中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个基做线性组合，使得构造的试探波函数满足反对称性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而我们知道行列式在交换任意两行（列）时会变号，根据这一点可以构造一个新的试探波函数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4030575"/>
                <a:ext cx="11407561" cy="1938992"/>
              </a:xfrm>
              <a:prstGeom prst="rect">
                <a:avLst/>
              </a:prstGeom>
              <a:blipFill rotWithShape="0">
                <a:blip r:embed="rId6"/>
                <a:stretch>
                  <a:fillRect l="-534" r="-588" b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22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Slater determinant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23568" y="873094"/>
                <a:ext cx="11276770" cy="5804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endParaRPr lang="en-US" altLang="zh-CN" b="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𝐧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𝐴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其中行下标不变，列坐标不变，称为</a:t>
                </a:r>
                <a:r>
                  <a:rPr lang="en-US" altLang="zh-CN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Slater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行列式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将交换算符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作用在上面有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𝐧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𝐴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𝐴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𝐧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𝐧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𝐧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符合要求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下面把归一化常数求出来：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𝐧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𝐧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左侧是行列式的乘积积分，根据行列式特点和单电子波函数正交归一性，只有当两个行列式的每一项都相对应时结果才不为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，例如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e>
                    </m:nary>
                    <m:nary>
                      <m:naryPr>
                        <m:subHide m:val="on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e>
                    </m:nary>
                    <m:nary>
                      <m:naryPr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sSubSup>
                              <m:sSubSup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𝐧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一共有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!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种排列，故有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</m:e>
                    </m:nary>
                    <m:nary>
                      <m:naryPr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𝐧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𝐧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!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!</m:t>
                            </m:r>
                          </m:e>
                        </m:rad>
                      </m:den>
                    </m:f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68" y="873094"/>
                <a:ext cx="11276770" cy="5804922"/>
              </a:xfrm>
              <a:prstGeom prst="rect">
                <a:avLst/>
              </a:prstGeom>
              <a:blipFill rotWithShape="0">
                <a:blip r:embed="rId5"/>
                <a:stretch>
                  <a:fillRect l="-3676" t="-525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78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Slater-Condon rules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18147" y="910919"/>
                <a:ext cx="11651616" cy="2874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0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Hartree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近似时一样，求能量的期望值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</m:e>
                      </m:nary>
                      <m:nary>
                        <m:naryPr>
                          <m:subHide m:val="on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el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𝒓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并分别计算单电子、双电子积分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具体的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推导参考</a:t>
                </a:r>
                <a:r>
                  <a:rPr lang="it-IT" altLang="zh-CN" sz="2000" dirty="0" smtClean="0"/>
                  <a:t>Szabo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的教材</a:t>
                </a:r>
                <a:endParaRPr lang="en-US" altLang="zh-CN" sz="200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这里只给出最后结果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910919"/>
                <a:ext cx="11651616" cy="2874761"/>
              </a:xfrm>
              <a:prstGeom prst="rect">
                <a:avLst/>
              </a:prstGeom>
              <a:blipFill rotWithShape="0">
                <a:blip r:embed="rId5"/>
                <a:stretch>
                  <a:fillRect l="-576" b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442" y="1996599"/>
            <a:ext cx="8018646" cy="46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18147" y="4162425"/>
                <a:ext cx="339185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的差别指两个行列式选取单电子态的差别，例如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选取的单电子态为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1, 2, …,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选取了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+1, 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那么两个行列式之间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之间就存在差别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4162425"/>
                <a:ext cx="3391853" cy="2031325"/>
              </a:xfrm>
              <a:prstGeom prst="rect">
                <a:avLst/>
              </a:prstGeom>
              <a:blipFill rotWithShape="0">
                <a:blip r:embed="rId7"/>
                <a:stretch>
                  <a:fillRect l="-1619" t="-1802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6384040" y="3026315"/>
            <a:ext cx="1609725" cy="676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266799" y="3026315"/>
            <a:ext cx="3201301" cy="964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60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Energy expectation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40652" y="1304567"/>
                <a:ext cx="12051348" cy="5040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den>
                              </m:f>
                              <m:sSubSup>
                                <m:sSub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𝑁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 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e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⟨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𝑖𝑗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|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𝑗𝑖</m:t>
                      </m:r>
                      <m:r>
                        <a:rPr lang="en-US" altLang="zh-CN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</m:t>
                      </m:r>
                    </m:oMath>
                  </m:oMathPara>
                </a14:m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e>
                        <m:e>
                          <m:r>
                            <a:rPr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𝑗𝑖</m:t>
                          </m:r>
                        </m:e>
                      </m:d>
                      <m:r>
                        <a:rPr lang="en-US" altLang="zh-CN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∫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注意到相较于</a:t>
                </a:r>
                <a:r>
                  <a:rPr lang="en-US" altLang="zh-CN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Hartree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近似，能量期望值多出一项，这一项里电子态与坐标发生了互换，无法写成类似库仑积分一样两个电子密度相乘的形式，称为交换积分，记为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交换积分不是某种实际物理作用，而是由电子费米子特性带来的某种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电子关联效应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下面要做的是，找到一组合适单电子波函数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𝐸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最小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此时变量是一群函数，我们不能像线性变分那样采用求导的办法来解决这一问题，必须引入一个新的工具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变分法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52" y="1304567"/>
                <a:ext cx="12051348" cy="5040098"/>
              </a:xfrm>
              <a:prstGeom prst="rect">
                <a:avLst/>
              </a:prstGeom>
              <a:blipFill rotWithShape="0">
                <a:blip r:embed="rId5"/>
                <a:stretch>
                  <a:fillRect l="-405" r="-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27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Variation method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77107" y="1028700"/>
                <a:ext cx="10861040" cy="1806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在介绍变分法之前，首先对函数的“梯度”进行考察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函数梯度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𝜕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…,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反映的是在某个“斜坡”上的点往某个方向“下坡”最快的速率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而当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𝛻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时，意味着点已经落在了坡底，是最“平缓”的地方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此时当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变成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𝐱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即点往它旁边做微小的移动时，并不会引起函数值的任何变化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07" y="1028700"/>
                <a:ext cx="10861040" cy="1806713"/>
              </a:xfrm>
              <a:prstGeom prst="rect">
                <a:avLst/>
              </a:prstGeom>
              <a:blipFill rotWithShape="0">
                <a:blip r:embed="rId5"/>
                <a:stretch>
                  <a:fillRect l="-449" t="-2027" b="-4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457" y="2835413"/>
            <a:ext cx="8367965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0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Variation method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337185" y="1026240"/>
                <a:ext cx="11694943" cy="5235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将这一思想用于函数的变化上，设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Ψ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的一个泛函（简单理解为函数的函数）：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=⟨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Ψ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Ψ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我们假定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Ψ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的取值已经让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Ψ</m:t>
                        </m: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取到极值，即已经在“坡底”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那么现在让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Ψ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做一个微小的变化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Ψ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𝛿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Ψ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Ψ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Ψ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Ψ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𝐻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Ψ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我们忽略高阶小量，还是考察一阶小量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𝛿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，和函数时的情况类似，此时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Ψ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的微小变化不会使得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发生变化，即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𝛿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不过需注意的是，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𝛿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仅仅是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取极小值点的必要条件，因为驻点也满足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𝛿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考察充分条件需要借助泛函分析，且对我们而言是不必要的，只需要在计算之后判断即可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1026240"/>
                <a:ext cx="11694943" cy="5235151"/>
              </a:xfrm>
              <a:prstGeom prst="rect">
                <a:avLst/>
              </a:prstGeom>
              <a:blipFill rotWithShape="0">
                <a:blip r:embed="rId5"/>
                <a:stretch>
                  <a:fillRect l="-521" b="-1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01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Lagrange method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22885" y="832373"/>
                <a:ext cx="11694943" cy="5843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也有正交归一的限制，我们还继续使用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Language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乘子法：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a:rPr lang="en-US" altLang="zh-CN" b="0" i="0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⟨</m:t>
                          </m:r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⟩</m:t>
                          </m:r>
                        </m:e>
                      </m:nary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≠</m:t>
                              </m:r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b="0" i="1" smtClean="0">
                                          <a:effectLst/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effectLst/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effectLst/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b="0" i="1" smtClean="0">
                                          <a:effectLst/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effectLst/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effectLst/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en-US" altLang="zh-CN" sz="2000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Lagrange</a:t>
                </a:r>
                <a:r>
                  <a:rPr lang="zh-CN" altLang="en-US" sz="2000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乘子，由于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2000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是实数，满足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p>
                        <m:r>
                          <a:rPr lang="en-US" altLang="zh-CN" sz="20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  <m:r>
                      <a:rPr lang="en-US" altLang="zh-C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2000" dirty="0" smtClean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，可以导出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𝛿</m:t>
                      </m:r>
                      <m:r>
                        <a:rPr lang="en-US" altLang="zh-CN" b="1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𝛿</m:t>
                                  </m:r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0" i="1" smtClean="0">
                                          <a:effectLst/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effectLst/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b="0" i="1" smtClean="0">
                                                  <a:effectLst/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b="0" i="1" smtClean="0">
                                                  <a:effectLst/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  <m:t>h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effectLst/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effectLst/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b="0" i="1" smtClean="0">
                                      <a:effectLst/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  <m:t>h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𝛿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+[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]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dirty="0" smtClean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</m:e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𝛿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𝛿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𝑗</m:t>
                                        </m:r>
                                      </m:e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𝑗𝑖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𝛿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𝑖</m:t>
                                        </m:r>
                                      </m:e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第二步通过交换下标得到）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  <m:t>h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𝛿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e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𝑖𝑗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𝛿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e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𝑖𝑗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𝛿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e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𝑗𝑖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𝛿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e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𝑗𝑖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∗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𝛿</m:t>
                      </m:r>
                      <m:r>
                        <a:rPr lang="en-US" altLang="zh-CN" b="1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𝛿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𝑐𝑜𝑚𝑝𝑙𝑒𝑥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𝑐𝑜𝑛𝑗𝑢𝑔𝑎𝑡𝑒</m:t>
                      </m:r>
                    </m:oMath>
                  </m:oMathPara>
                </a14:m>
                <a:endParaRPr lang="en-US" altLang="zh-CN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" y="832373"/>
                <a:ext cx="11694943" cy="5843395"/>
              </a:xfrm>
              <a:prstGeom prst="rect">
                <a:avLst/>
              </a:prstGeom>
              <a:blipFill rotWithShape="0">
                <a:blip r:embed="rId5"/>
                <a:stretch>
                  <a:fillRect l="-2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97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Fock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 equation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41935" y="1051448"/>
                <a:ext cx="11694943" cy="4340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𝛿</m:t>
                      </m:r>
                      <m:r>
                        <a:rPr lang="en-US" altLang="zh-CN" b="1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𝑳</m:t>
                      </m:r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effectLst/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effectLst/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𝛿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𝑐𝑜𝑚𝑝𝑙𝑒𝑥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𝑐𝑜𝑛𝑗𝑢𝑔𝑎𝑡𝑒</m:t>
                      </m:r>
                    </m:oMath>
                  </m:oMathPara>
                </a14:m>
                <a:endParaRPr lang="en-US" altLang="zh-CN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一通化简后有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𝛿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𝛿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𝛿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𝛿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提出后有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𝑉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</m:t>
                              </m:r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h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subHide m:val="on"/>
                                          <m:supHide m:val="on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fPr>
                                            <m:num>
                                              <m:sSubSup>
                                                <m:sSubSup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∗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d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0" i="1" smtClean="0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d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subHide m:val="on"/>
                                          <m:supHide m:val="on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fPr>
                                            <m:num>
                                              <m:sSubSup>
                                                <m:sSubSup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∗</m:t>
                                                  </m:r>
                                                </m:sup>
                                              </m:sSubSup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d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2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b="0" i="1" smtClean="0">
                                                      <a:latin typeface="Cambria Math" panose="02040503050406030204" pitchFamily="18" charset="0"/>
                                                      <a:ea typeface="微软雅黑" panose="020B0503020204020204" pitchFamily="34" charset="-122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d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  <a:ea typeface="微软雅黑" panose="020B0503020204020204" pitchFamily="34" charset="-122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5" y="1051448"/>
                <a:ext cx="11694943" cy="4340804"/>
              </a:xfrm>
              <a:prstGeom prst="rect">
                <a:avLst/>
              </a:prstGeom>
              <a:blipFill rotWithShape="0">
                <a:blip r:embed="rId5"/>
                <a:stretch>
                  <a:fillRect l="-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89560" y="5499726"/>
                <a:ext cx="11268075" cy="1167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𝛿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是任意的，中括号里的项必须为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" y="5499726"/>
                <a:ext cx="11268075" cy="1167948"/>
              </a:xfrm>
              <a:prstGeom prst="rect">
                <a:avLst/>
              </a:prstGeom>
              <a:blipFill rotWithShape="0">
                <a:blip r:embed="rId6"/>
                <a:stretch>
                  <a:fillRect l="-595" t="-2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58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Fock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 equation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9110" y="1419046"/>
                <a:ext cx="11268075" cy="4841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(1)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根据前面的讨论，我们定义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2000" b="1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2000" b="1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d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12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𝐹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则有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𝐹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这就是所谓的</a:t>
                </a:r>
                <a:r>
                  <a:rPr lang="en-US" altLang="zh-CN" sz="2400" dirty="0" err="1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Fock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</a:t>
                </a:r>
                <a:endParaRPr lang="en-US" altLang="zh-CN" sz="2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419046"/>
                <a:ext cx="11268075" cy="4841775"/>
              </a:xfrm>
              <a:prstGeom prst="rect">
                <a:avLst/>
              </a:prstGeom>
              <a:blipFill rotWithShape="0">
                <a:blip r:embed="rId5"/>
                <a:stretch>
                  <a:fillRect l="-866" b="-2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219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Fock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 equation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76671" y="1304746"/>
                <a:ext cx="11268075" cy="4328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求解这个方程还是非常困难，我们对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{|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⟩}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做幺正变换：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′=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 |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⟩)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𝐔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ϯ</m:t>
                        </m:r>
                      </m:sup>
                    </m:sSup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𝐔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𝐈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可以证明在幺正变换下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𝐹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是不变的，矩阵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𝛆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可以对角化：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𝛆</m:t>
                          </m:r>
                        </m:e>
                        <m:sup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𝐔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ϯ</m:t>
                          </m:r>
                        </m:sup>
                      </m:sSup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𝛆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𝐔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𝐹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</m:t>
                      </m:r>
                    </m:oMath>
                  </m:oMathPara>
                </a14:m>
                <a:endParaRPr lang="en-US" altLang="zh-CN" sz="24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这是最常用的</a:t>
                </a:r>
                <a:r>
                  <a:rPr lang="en-US" altLang="zh-CN" sz="20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Fock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方程的形式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71" y="1304746"/>
                <a:ext cx="11268075" cy="4328877"/>
              </a:xfrm>
              <a:prstGeom prst="rect">
                <a:avLst/>
              </a:prstGeom>
              <a:blipFill rotWithShape="0">
                <a:blip r:embed="rId5"/>
                <a:stretch>
                  <a:fillRect l="-541" t="-704" b="-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10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Closed-shell molecule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9110" y="1001162"/>
                <a:ext cx="11268075" cy="1984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上面我们是将自旋和轨道部分合在一起讨论的，下面将自旋和轨道波函数分开后再讨论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简便起见我们只考虑最简单的闭壳层，即电子成对充满所有轨道：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Ψ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=|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𝛼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𝛽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…,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𝛼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f>
                            <m:fPr>
                              <m:type m:val="skw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𝛽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即轨道的能级变成了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1, 2 ,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…,</m:t>
                    </m:r>
                    <m:f>
                      <m:fPr>
                        <m:type m:val="skw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001162"/>
                <a:ext cx="11268075" cy="1984005"/>
              </a:xfrm>
              <a:prstGeom prst="rect">
                <a:avLst/>
              </a:prstGeom>
              <a:blipFill rotWithShape="0">
                <a:blip r:embed="rId5"/>
                <a:stretch>
                  <a:fillRect l="-595" b="-35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8125046" y="3206379"/>
            <a:ext cx="1968450" cy="2580901"/>
            <a:chOff x="8439524" y="3177104"/>
            <a:chExt cx="1968450" cy="2614992"/>
          </a:xfrm>
        </p:grpSpPr>
        <p:grpSp>
          <p:nvGrpSpPr>
            <p:cNvPr id="8" name="组合 7"/>
            <p:cNvGrpSpPr/>
            <p:nvPr/>
          </p:nvGrpSpPr>
          <p:grpSpPr>
            <a:xfrm>
              <a:off x="8439524" y="3177104"/>
              <a:ext cx="1968450" cy="2614992"/>
              <a:chOff x="1652535" y="3121146"/>
              <a:chExt cx="1968450" cy="2614992"/>
            </a:xfrm>
          </p:grpSpPr>
          <p:grpSp>
            <p:nvGrpSpPr>
              <p:cNvPr id="10" name="组合 9"/>
              <p:cNvGrpSpPr>
                <a:grpSpLocks noChangeAspect="1"/>
              </p:cNvGrpSpPr>
              <p:nvPr/>
            </p:nvGrpSpPr>
            <p:grpSpPr>
              <a:xfrm>
                <a:off x="2193257" y="3121146"/>
                <a:ext cx="1427728" cy="2614992"/>
                <a:chOff x="9290433" y="3411056"/>
                <a:chExt cx="828003" cy="1516551"/>
              </a:xfrm>
            </p:grpSpPr>
            <p:cxnSp>
              <p:nvCxnSpPr>
                <p:cNvPr id="16" name="直接箭头连接符 15"/>
                <p:cNvCxnSpPr/>
                <p:nvPr/>
              </p:nvCxnSpPr>
              <p:spPr>
                <a:xfrm>
                  <a:off x="9788013" y="4495607"/>
                  <a:ext cx="0" cy="432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箭头连接符 16"/>
                <p:cNvCxnSpPr/>
                <p:nvPr/>
              </p:nvCxnSpPr>
              <p:spPr>
                <a:xfrm rot="10800000">
                  <a:off x="9644013" y="4495607"/>
                  <a:ext cx="0" cy="432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箭头连接符 17"/>
                <p:cNvCxnSpPr/>
                <p:nvPr/>
              </p:nvCxnSpPr>
              <p:spPr>
                <a:xfrm>
                  <a:off x="9787348" y="3411056"/>
                  <a:ext cx="0" cy="432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箭头连接符 18"/>
                <p:cNvCxnSpPr/>
                <p:nvPr/>
              </p:nvCxnSpPr>
              <p:spPr>
                <a:xfrm rot="10800000">
                  <a:off x="9643290" y="3411056"/>
                  <a:ext cx="0" cy="43200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>
                  <a:off x="9290433" y="3627056"/>
                  <a:ext cx="82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9290436" y="4712739"/>
                  <a:ext cx="828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文本框 10"/>
              <p:cNvSpPr txBox="1"/>
              <p:nvPr/>
            </p:nvSpPr>
            <p:spPr>
              <a:xfrm>
                <a:off x="1823613" y="5178442"/>
                <a:ext cx="369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1</a:t>
                </a:r>
                <a:endParaRPr lang="zh-CN" altLang="en-US" dirty="0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652535" y="3224149"/>
                <a:ext cx="578264" cy="374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n/2</a:t>
                </a:r>
                <a:endParaRPr lang="zh-CN" altLang="en-US" dirty="0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9437265" y="4127697"/>
              <a:ext cx="800219" cy="5933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4000" dirty="0" smtClean="0"/>
                <a:t>…</a:t>
              </a:r>
              <a:endParaRPr lang="zh-CN" altLang="en-US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3784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Closed-shell molecule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18147" y="704537"/>
                <a:ext cx="11268075" cy="1835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⟨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⟨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⟩</m:t>
                          </m:r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e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单电子积分变成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e>
                          </m:d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</m:e>
                          </m:d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</m:e>
                          </m:d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</m:e>
                          </m:d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h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704537"/>
                <a:ext cx="11268075" cy="1835311"/>
              </a:xfrm>
              <a:prstGeom prst="rect">
                <a:avLst/>
              </a:prstGeom>
              <a:blipFill rotWithShape="0">
                <a:blip r:embed="rId5"/>
                <a:stretch>
                  <a:fillRect l="-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37185" y="2629940"/>
                <a:ext cx="10991849" cy="2244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双电子积分有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e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60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|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2629940"/>
                <a:ext cx="10991849" cy="2244845"/>
              </a:xfrm>
              <a:prstGeom prst="rect">
                <a:avLst/>
              </a:prstGeom>
              <a:blipFill rotWithShape="0">
                <a:blip r:embed="rId6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789" y="4874785"/>
                <a:ext cx="11470640" cy="1552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e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𝑗𝑖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60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(2)|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⟨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|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𝑖𝑗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⟩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89" y="4874785"/>
                <a:ext cx="11470640" cy="155234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9542700" y="523875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不同自旋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的电子间没有交换作用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80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Closed-shell molecule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18147" y="939590"/>
                <a:ext cx="11183303" cy="2849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总能量变为</a:t>
                </a:r>
                <a:endParaRPr lang="en-US" altLang="zh-CN" sz="2000" b="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/2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采取同样的变分法，得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𝐹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</m:acc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b="0" i="1" dirty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𝐾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𝐹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|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⟩</m:t>
                      </m:r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939590"/>
                <a:ext cx="11183303" cy="2849113"/>
              </a:xfrm>
              <a:prstGeom prst="rect">
                <a:avLst/>
              </a:prstGeom>
              <a:blipFill rotWithShape="0">
                <a:blip r:embed="rId5"/>
                <a:stretch>
                  <a:fillRect l="-600" t="-1068"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18147" y="3788703"/>
                <a:ext cx="832326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并不是总能量，表示的是轨道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的能量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3788703"/>
                <a:ext cx="8323263" cy="400110"/>
              </a:xfrm>
              <a:prstGeom prst="rect">
                <a:avLst/>
              </a:prstGeom>
              <a:blipFill rotWithShape="0">
                <a:blip r:embed="rId6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18147" y="4188813"/>
                <a:ext cx="11245636" cy="2257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两侧同时左乘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总能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/2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4188813"/>
                <a:ext cx="11245636" cy="2257541"/>
              </a:xfrm>
              <a:prstGeom prst="rect">
                <a:avLst/>
              </a:prstGeom>
              <a:blipFill rotWithShape="0">
                <a:blip r:embed="rId7"/>
                <a:stretch>
                  <a:fillRect l="-488" t="-13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32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Model: He</a:t>
            </a:r>
            <a:r>
              <a:rPr lang="en-US" altLang="zh-CN" sz="3200" b="1" baseline="-25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2</a:t>
            </a:r>
            <a:r>
              <a:rPr lang="en-US" altLang="zh-CN" sz="3200" b="1" baseline="300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+</a:t>
            </a:r>
            <a:endParaRPr lang="zh-CN" altLang="en-US" sz="3200" b="1" baseline="30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868387" y="2825672"/>
            <a:ext cx="1798611" cy="1660346"/>
            <a:chOff x="1823612" y="4053860"/>
            <a:chExt cx="1798611" cy="1682277"/>
          </a:xfrm>
        </p:grpSpPr>
        <p:grpSp>
          <p:nvGrpSpPr>
            <p:cNvPr id="12" name="组合 11"/>
            <p:cNvGrpSpPr>
              <a:grpSpLocks noChangeAspect="1"/>
            </p:cNvGrpSpPr>
            <p:nvPr/>
          </p:nvGrpSpPr>
          <p:grpSpPr>
            <a:xfrm>
              <a:off x="2193259" y="4053860"/>
              <a:ext cx="1428964" cy="1682277"/>
              <a:chOff x="9290436" y="3951979"/>
              <a:chExt cx="828720" cy="975628"/>
            </a:xfrm>
          </p:grpSpPr>
          <p:cxnSp>
            <p:nvCxnSpPr>
              <p:cNvPr id="16" name="直接箭头连接符 15"/>
              <p:cNvCxnSpPr/>
              <p:nvPr/>
            </p:nvCxnSpPr>
            <p:spPr>
              <a:xfrm>
                <a:off x="9788013" y="4495607"/>
                <a:ext cx="0" cy="432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 rot="10800000">
                <a:off x="9644013" y="4495607"/>
                <a:ext cx="0" cy="432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rot="10800000">
                <a:off x="9714378" y="3951979"/>
                <a:ext cx="0" cy="432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9291156" y="4171098"/>
                <a:ext cx="82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9290436" y="4712739"/>
                <a:ext cx="828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12"/>
            <p:cNvSpPr txBox="1"/>
            <p:nvPr/>
          </p:nvSpPr>
          <p:spPr>
            <a:xfrm>
              <a:off x="1823613" y="5178442"/>
              <a:ext cx="369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1</a:t>
              </a:r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23612" y="4162242"/>
              <a:ext cx="408433" cy="374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2</a:t>
              </a:r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440744" y="832373"/>
                <a:ext cx="8212016" cy="6001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对于轨道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上自旋向上电子：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轨道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的单电子能，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与另外两个电子的库仑作用，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的交换作用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对于轨道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上自旋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向下电子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轨道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的单电子能，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与另外两个电子的库仑作用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，无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的交换作用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𝛽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轨道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自旋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向上电子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轨道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单电子能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个电子的库仑作用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中一个电子的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交换作用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总能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𝛼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𝛽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=4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+4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744" y="832373"/>
                <a:ext cx="8212016" cy="6001836"/>
              </a:xfrm>
              <a:prstGeom prst="rect">
                <a:avLst/>
              </a:prstGeom>
              <a:blipFill rotWithShape="0">
                <a:blip r:embed="rId5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67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Self consistent field</a:t>
            </a:r>
            <a:endParaRPr lang="zh-CN" altLang="en-US" sz="3200" b="1" baseline="30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40470" y="1304746"/>
                <a:ext cx="11835894" cy="50379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𝛻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=1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 −</m:t>
                                  </m:r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𝐾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𝜀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我们可以用另一个视角看待这个方程，记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𝐾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dirty="0" smtClean="0"/>
                  <a:t>，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可以看到这个形式与薛定谔方程类似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我们将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𝐾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项加入到势能项中，视为其它轨道上的电子对这一电子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平均的库仑作用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产生的势场，因此这一近似方法也被称为平均场法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与此同时，由于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𝐾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里本来就含有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，在未知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前，方程是无法求解的，但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恰恰又是要求解的对象，因此方程陷入了死循环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面对这一问题，我们使用迭代的方法，先给定一个初猜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𝐹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e>
                    </m:acc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，求出第一组解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和能量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，随后将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代入到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𝐹</m:t>
                        </m:r>
                      </m:e>
                    </m:acc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的表达式中，求出第二组解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和能量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，并比较两次能量的差值。重复这一过程，直到某两次迭代过程的能量差值小于预先设定的某个阈值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这种求解方程的方法称为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自洽场法</a:t>
                </a:r>
                <a:endParaRPr lang="zh-CN" alt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70" y="1304746"/>
                <a:ext cx="11835894" cy="5037982"/>
              </a:xfrm>
              <a:prstGeom prst="rect">
                <a:avLst/>
              </a:prstGeom>
              <a:blipFill rotWithShape="0">
                <a:blip r:embed="rId5"/>
                <a:stretch>
                  <a:fillRect l="-412" r="-1854" b="-1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7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Roothaan’s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 method</a:t>
            </a:r>
            <a:endParaRPr lang="zh-CN" altLang="en-US" sz="3200" b="1" baseline="30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20162" y="777875"/>
                <a:ext cx="12071838" cy="6061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最后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讨论一个与分子结构密切相关的方法。</a:t>
                </a:r>
                <a:r>
                  <a:rPr lang="en-US" altLang="zh-CN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Fock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方程虽然帮助找到了总能量和单电子波函数，但其本身计算的代价是非常昂贵的，为此</a:t>
                </a:r>
                <a:r>
                  <a:rPr lang="en-US" altLang="zh-CN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等线" panose="02010600030101010101" charset="-122"/>
                    <a:sym typeface="+mn-ea"/>
                  </a:rPr>
                  <a:t>Roothaan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等线" panose="02010600030101010101" charset="-122"/>
                    <a:sym typeface="+mn-ea"/>
                  </a:rPr>
                  <a:t>将线性变分法再次应用到单电子波函数上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令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𝜇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⟩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𝜇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⟩}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是原子轨道基，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𝜇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是线性组合的系数，这和线性变分法中提到的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原子轨道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经线性组合组成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分子轨道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本质相同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对两边展开有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</m:sub>
                        <m:sup/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𝐹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|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⟩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⟩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两侧左乘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⟨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𝜈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𝜇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</m:d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𝜈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𝜇𝜈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𝜇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𝐹</m:t>
                                </m:r>
                              </m:e>
                            </m:acc>
                          </m:e>
                        </m:d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𝜈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   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𝜇𝜈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𝜒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𝜈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则方程变为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𝜈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𝜇𝜈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写成矩阵形式为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𝐅𝐂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𝐒𝐂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𝛆</m:t>
                      </m:r>
                    </m:oMath>
                  </m:oMathPara>
                </a14:m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62" y="777875"/>
                <a:ext cx="12071838" cy="6061852"/>
              </a:xfrm>
              <a:prstGeom prst="rect">
                <a:avLst/>
              </a:prstGeom>
              <a:blipFill rotWithShape="0">
                <a:blip r:embed="rId3"/>
                <a:stretch>
                  <a:fillRect l="-455" r="-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8880231" y="6339253"/>
            <a:ext cx="225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Roothaan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方程）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851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 and exercise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1935" y="1009471"/>
            <a:ext cx="113762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Ira N. Levine. </a:t>
            </a:r>
            <a:r>
              <a:rPr lang="en-US" altLang="zh-CN" sz="2000" i="1" dirty="0"/>
              <a:t>Quantum Chemistry</a:t>
            </a:r>
            <a:r>
              <a:rPr lang="en-US" altLang="zh-CN" sz="2000" dirty="0"/>
              <a:t>, 7th ed., Pearson, </a:t>
            </a:r>
            <a:r>
              <a:rPr lang="en-US" altLang="zh-CN" sz="2000" b="1" dirty="0"/>
              <a:t>2014</a:t>
            </a:r>
            <a:r>
              <a:rPr lang="en-US" altLang="zh-CN" sz="2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it-IT" altLang="zh-CN" sz="2000" dirty="0" smtClean="0"/>
              <a:t>A. Szabo</a:t>
            </a:r>
            <a:r>
              <a:rPr lang="it-IT" altLang="zh-CN" sz="2000" dirty="0"/>
              <a:t>,</a:t>
            </a:r>
            <a:r>
              <a:rPr lang="it-IT" altLang="zh-CN" sz="2000" dirty="0" smtClean="0"/>
              <a:t> N. </a:t>
            </a:r>
            <a:r>
              <a:rPr lang="it-IT" altLang="zh-CN" sz="2000" dirty="0"/>
              <a:t>S. Ostlund. </a:t>
            </a:r>
            <a:r>
              <a:rPr lang="zh-CN" altLang="en-US" sz="2000" i="1" dirty="0"/>
              <a:t>Modern Quantum Chemistry Introduction to Advanced Electronic Structure Theory</a:t>
            </a:r>
            <a:r>
              <a:rPr lang="en-US" altLang="zh-CN" sz="2000" i="1" dirty="0"/>
              <a:t>. </a:t>
            </a:r>
            <a:r>
              <a:rPr lang="en-US" altLang="zh-CN" sz="2000" dirty="0"/>
              <a:t>New York: McGraw-Hill. </a:t>
            </a:r>
            <a:r>
              <a:rPr lang="en-US" altLang="zh-CN" sz="2000" b="1" dirty="0"/>
              <a:t>1989</a:t>
            </a:r>
            <a:r>
              <a:rPr lang="en-US" altLang="zh-CN" sz="2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W. </a:t>
            </a:r>
            <a:r>
              <a:rPr lang="en-US" altLang="zh-CN" sz="2000" dirty="0" err="1"/>
              <a:t>Nolting</a:t>
            </a:r>
            <a:r>
              <a:rPr lang="en-US" altLang="zh-CN" sz="2000" dirty="0"/>
              <a:t>. </a:t>
            </a:r>
            <a:r>
              <a:rPr lang="en-US" altLang="zh-CN" sz="2000" i="1" dirty="0"/>
              <a:t>Fundamentals of Many-body Physics</a:t>
            </a:r>
            <a:r>
              <a:rPr lang="en-US" altLang="zh-CN" sz="2000" dirty="0"/>
              <a:t>. Springer, </a:t>
            </a:r>
            <a:r>
              <a:rPr lang="en-US" altLang="zh-CN" sz="2000" b="1" dirty="0"/>
              <a:t>2009</a:t>
            </a:r>
            <a:r>
              <a:rPr lang="en-US" altLang="zh-CN" sz="2000" dirty="0" smtClean="0"/>
              <a:t>.</a:t>
            </a:r>
            <a:endParaRPr lang="en-US" altLang="zh-C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0" y="3317740"/>
                <a:ext cx="12085439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练习：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H</m:t>
                    </m:r>
                    <m:sSub>
                      <m:sSubPr>
                        <m:ctrlPr>
                          <a:rPr lang="en-US" altLang="zh-CN" sz="2000" b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分子每个电子的能量，和分子总能量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*2.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H</m:t>
                        </m:r>
                      </m:e>
                      <m:sub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分子基态的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Slater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行列式，并展开分解成轨道部分和自旋部分的乘积，观察两部分各自的对称性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将分子轨道用线性变分法求出，并将总波函数用原子轨道表示（对</a:t>
                </a:r>
                <a:r>
                  <a:rPr lang="en-US" altLang="zh-CN" sz="20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Fock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算符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的积分可以直接表示成矩阵元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17740"/>
                <a:ext cx="12085439" cy="2400657"/>
              </a:xfrm>
              <a:prstGeom prst="rect">
                <a:avLst/>
              </a:prstGeom>
              <a:blipFill rotWithShape="0">
                <a:blip r:embed="rId5"/>
                <a:stretch>
                  <a:fillRect l="-504" r="-2521" b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31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14650</TotalTime>
  <Words>607</Words>
  <Application>Microsoft Office PowerPoint</Application>
  <PresentationFormat>宽屏</PresentationFormat>
  <Paragraphs>258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821</cp:revision>
  <dcterms:created xsi:type="dcterms:W3CDTF">2026-04-13T12:58:51Z</dcterms:created>
  <dcterms:modified xsi:type="dcterms:W3CDTF">2026-07-10T14:32:37Z</dcterms:modified>
</cp:coreProperties>
</file>