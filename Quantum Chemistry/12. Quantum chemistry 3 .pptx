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37" r:id="rId3"/>
    <p:sldId id="445" r:id="rId4"/>
    <p:sldId id="446" r:id="rId5"/>
    <p:sldId id="447" r:id="rId6"/>
    <p:sldId id="448" r:id="rId7"/>
    <p:sldId id="449" r:id="rId8"/>
    <p:sldId id="450" r:id="rId9"/>
    <p:sldId id="451" r:id="rId10"/>
    <p:sldId id="452" r:id="rId11"/>
    <p:sldId id="453" r:id="rId12"/>
    <p:sldId id="369" r:id="rId13"/>
    <p:sldId id="45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2005" autoAdjust="0"/>
  </p:normalViewPr>
  <p:slideViewPr>
    <p:cSldViewPr snapToGrid="0">
      <p:cViewPr varScale="1">
        <p:scale>
          <a:sx n="80" d="100"/>
          <a:sy n="80" d="100"/>
        </p:scale>
        <p:origin x="6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63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75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545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423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60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162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798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388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810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52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microsoft.com/office/2007/relationships/hdphoto" Target="../media/hdphoto1.wdp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405" y="2377744"/>
            <a:ext cx="1125117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——Quantum Chemistry </a:t>
            </a:r>
            <a:r>
              <a:rPr lang="en-US" altLang="zh-CN" sz="4000" b="1" dirty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3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Molecular electronic structure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40384" y="1211460"/>
                <a:ext cx="11651616" cy="5345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先前已给出了分子的电子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Hamiltonian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和薛定谔方程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el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尽管核坐标作为常数处理，还有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这样的耦合项存在，依旧无法精确求解这个方程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因此需要采取一些近似方法实现求解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早期量子化学发展过程中，波函数微扰展开和基于变分原理的近似是两个主流的方法，随着多体物理以及计算机、机器学习的发展，密度泛函理论、量子蒙特卡洛、密度矩阵重整化群等方法被不断开发，以应用到不同体系不同情况的计算中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我们在此只介绍变分原理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4" y="1211460"/>
                <a:ext cx="11651616" cy="5345887"/>
              </a:xfrm>
              <a:prstGeom prst="rect">
                <a:avLst/>
              </a:prstGeom>
              <a:blipFill rotWithShape="0">
                <a:blip r:embed="rId5"/>
                <a:stretch>
                  <a:fillRect l="-576" r="-366" b="-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Variation principle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43644" y="1214901"/>
                <a:ext cx="11757856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的本征态，对应本征能量为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altLang="zh-CN" sz="2000" b="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000" b="0" i="1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altLang="zh-CN" sz="2000" i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000" b="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4" y="1214901"/>
                <a:ext cx="11757856" cy="408445"/>
              </a:xfrm>
              <a:prstGeom prst="rect">
                <a:avLst/>
              </a:prstGeom>
              <a:blipFill rotWithShape="0">
                <a:blip r:embed="rId5"/>
                <a:stretch>
                  <a:fillRect l="-570" t="-7463" b="-26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43644" y="1726759"/>
                <a:ext cx="10033427" cy="1394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试探波函数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，得到的能量期望值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den>
                      </m:f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均满足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4" y="1726759"/>
                <a:ext cx="10033427" cy="1394934"/>
              </a:xfrm>
              <a:prstGeom prst="rect">
                <a:avLst/>
              </a:prstGeom>
              <a:blipFill rotWithShape="0">
                <a:blip r:embed="rId6"/>
                <a:stretch>
                  <a:fillRect l="-668" t="-2183" b="-6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43644" y="5716367"/>
                <a:ext cx="109710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重要意义：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可以在试探波函数中引入参数（变量），对参数优化，让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尽可能小！</a:t>
                </a:r>
                <a:endPara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4" y="5716367"/>
                <a:ext cx="10971016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611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37185" y="3225106"/>
                <a:ext cx="10600446" cy="2008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的本征函数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展开：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3225106"/>
                <a:ext cx="10600446" cy="2008307"/>
              </a:xfrm>
              <a:prstGeom prst="rect">
                <a:avLst/>
              </a:prstGeom>
              <a:blipFill rotWithShape="0">
                <a:blip r:embed="rId8"/>
                <a:stretch>
                  <a:fillRect l="-460" t="-1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32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Linear variation method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809613"/>
                <a:ext cx="11051931" cy="6048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现在选择一种试探波函数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个波函数线性组合构成：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且要求正交关系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和归一化条件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注意此处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和展开系数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一般都取实数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下面导出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是可调整的参数，我们的目的是选择一组合适的系数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，让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取到极小值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必要条件是对各个系数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求偏导的值为</a:t>
                </a:r>
                <a:r>
                  <a:rPr lang="en-US" altLang="zh-CN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CN" b="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但归一化条件使得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之间并不相互独立，上面的等式并不全部成立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809613"/>
                <a:ext cx="11051931" cy="6048387"/>
              </a:xfrm>
              <a:prstGeom prst="rect">
                <a:avLst/>
              </a:prstGeom>
              <a:blipFill rotWithShape="0">
                <a:blip r:embed="rId5"/>
                <a:stretch>
                  <a:fillRect l="-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64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Linear variation method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809613"/>
                <a:ext cx="11051931" cy="1681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809613"/>
                <a:ext cx="11051931" cy="16814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624616" y="1236459"/>
                <a:ext cx="7023277" cy="661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根据多元微分学的内容，我们可以将归一化条件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视为一个约束条件，采用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Language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乘子法解决这一求极值的问题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616" y="1236459"/>
                <a:ext cx="7023277" cy="661463"/>
              </a:xfrm>
              <a:prstGeom prst="rect">
                <a:avLst/>
              </a:prstGeom>
              <a:blipFill rotWithShape="0">
                <a:blip r:embed="rId6"/>
                <a:stretch>
                  <a:fillRect l="-781" t="-64815" b="-6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99110" y="2261287"/>
                <a:ext cx="10464898" cy="4594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</m:acc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Language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乘子。现在问题变为求解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，那么方程变为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2261287"/>
                <a:ext cx="10464898" cy="4594784"/>
              </a:xfrm>
              <a:prstGeom prst="rect">
                <a:avLst/>
              </a:prstGeom>
              <a:blipFill rotWithShape="0">
                <a:blip r:embed="rId7"/>
                <a:stretch>
                  <a:fillRect l="-524" t="-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65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Linear variation method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18147" y="873094"/>
                <a:ext cx="10464898" cy="5806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，那么方程组可以写成矩阵的形式：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𝐇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𝐇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𝑁𝑁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𝑗𝑖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在数学部分时已提过，对实对称矩阵可以用正交矩阵做对角化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𝐇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sub>
                    </m:sSub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</m:sub>
                          </m:sSub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𝑵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本征值方程又可以写为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𝐇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𝐂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𝐂𝐄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𝑑𝑖𝑎𝑔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 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𝐂</m:t>
                        </m:r>
                      </m:e>
                      <m:sup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𝐓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𝐈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873094"/>
                <a:ext cx="10464898" cy="5806333"/>
              </a:xfrm>
              <a:prstGeom prst="rect">
                <a:avLst/>
              </a:prstGeom>
              <a:blipFill rotWithShape="0">
                <a:blip r:embed="rId5"/>
                <a:stretch>
                  <a:fillRect l="-524" b="-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436514" y="2267773"/>
            <a:ext cx="43082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这种选取波函数线性组合，以组合系数作为变分参数的方法叫做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线性变分法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还有另外一种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方法从线性试探波函数导出本征值方程，放在补充里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此外我们对波函数选择时要求正交归一，实际上可以不做此要求，结果是一个广义本征值方程，这点在下面可以看到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5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molecule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0" y="1040949"/>
                <a:ext cx="11614638" cy="5574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下面将线性变分法应用到氢分子离子的求解中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由于氢分子离子中只有一个离子，因此通过一定的坐标变换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（椭圆坐标变换）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，其薛定谔方程是可以精确求解的，但我们这里还是选择用变分原理近似求解氢分子离子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由于氢分子离子有两个原子核，分别记为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，我们首先选择两个氢原子的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波函数，或者说叫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原子轨道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|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构造一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个试探波函数如下：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注意此时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𝑠𝐴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𝑠𝐵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𝐴𝐵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这时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Language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乘子变为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  <m:sup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e>
                      </m:d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  <m:sup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40949"/>
                <a:ext cx="11614638" cy="5574731"/>
              </a:xfrm>
              <a:prstGeom prst="rect">
                <a:avLst/>
              </a:prstGeom>
              <a:blipFill rotWithShape="0">
                <a:blip r:embed="rId5"/>
                <a:stretch>
                  <a:fillRect l="-420" r="-9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96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molecule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0108" y="1029301"/>
                <a:ext cx="11614638" cy="4888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CN" i="1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分别计算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num>
                      <m:den>
                        <m:r>
                          <a:rPr lang="en-US" altLang="zh-CN" b="0" i="1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=0,  </m:t>
                    </m:r>
                    <m:f>
                      <m:fPr>
                        <m:ctrlPr>
                          <a:rPr lang="en-US" altLang="zh-CN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𝐴𝐴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𝐴𝐵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𝐴𝐴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𝐴𝐵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𝐴𝐵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𝐵𝐵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𝐴𝐵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𝐵𝐵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𝐵𝐵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effectLst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𝐵𝐵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想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要方程有非零解，需满足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𝐴𝐴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𝐴𝐴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𝐵𝐵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𝐵𝐵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𝐵𝐵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由于都选取的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𝑠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轨道，还有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𝐴𝐴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𝐵𝐵</m:t>
                        </m:r>
                      </m:sub>
                    </m:sSub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08" y="1029301"/>
                <a:ext cx="11614638" cy="4888261"/>
              </a:xfrm>
              <a:prstGeom prst="rect">
                <a:avLst/>
              </a:prstGeom>
              <a:blipFill rotWithShape="0">
                <a:blip r:embed="rId5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8510953" y="370156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广义本征值方程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428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</a:t>
            </a:r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molecule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30108" y="1029301"/>
                <a:ext cx="11614638" cy="1277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𝐵𝐵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𝐵𝐵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08" y="1029301"/>
                <a:ext cx="11614638" cy="127740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504557" y="1342340"/>
            <a:ext cx="2725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解方程得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6611815" y="650420"/>
                <a:ext cx="3604846" cy="1783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815" y="650420"/>
                <a:ext cx="3604846" cy="17839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40385" y="2655277"/>
                <a:ext cx="4638284" cy="2933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𝐴𝐴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代入原方程得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(|1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𝑠𝐴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⟩+|1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𝑠𝐵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⟩)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归一化后有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(|1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𝑠𝐴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⟩+|1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𝑠𝐵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⟩)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2655277"/>
                <a:ext cx="4638284" cy="2933111"/>
              </a:xfrm>
              <a:prstGeom prst="rect">
                <a:avLst/>
              </a:prstGeom>
              <a:blipFill rotWithShape="0">
                <a:blip r:embed="rId7"/>
                <a:stretch>
                  <a:fillRect l="-1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648746" y="2655277"/>
                <a:ext cx="6096000" cy="293311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𝐴𝐴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代入原方程得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⟩)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归一化后有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−|1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𝑠𝐵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⟩)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746" y="2655277"/>
                <a:ext cx="6096000" cy="2933111"/>
              </a:xfrm>
              <a:prstGeom prst="rect">
                <a:avLst/>
              </a:prstGeom>
              <a:blipFill rotWithShape="0">
                <a:blip r:embed="rId8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40385" y="5864469"/>
                <a:ext cx="80057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分子轨道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成键轨道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反键轨道</a:t>
                </a:r>
                <a:endPara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5864469"/>
                <a:ext cx="8005738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8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93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</a:t>
            </a:r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molecule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27147" y="803379"/>
                <a:ext cx="4638284" cy="2002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7" y="803379"/>
                <a:ext cx="4638284" cy="200247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468115" y="947497"/>
                <a:ext cx="6096000" cy="178395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115" y="947497"/>
                <a:ext cx="6096000" cy="17839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20712" y="3050931"/>
                <a:ext cx="6102475" cy="3637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考察概率密度：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𝐴𝐵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𝐴𝐵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两个无相互作用的氢原子离子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的概率密度为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𝑠𝐴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𝑠𝐵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2000" dirty="0" smtClean="0"/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在两核中心有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𝑠𝐵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12" y="3050931"/>
                <a:ext cx="6102475" cy="3637342"/>
              </a:xfrm>
              <a:prstGeom prst="rect">
                <a:avLst/>
              </a:prstGeom>
              <a:blipFill rotWithShape="0">
                <a:blip r:embed="rId7"/>
                <a:stretch>
                  <a:fillRect l="-1099" t="-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723187" y="2906190"/>
                <a:ext cx="5468813" cy="2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𝑠𝐴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&gt;0</m:t>
                      </m:r>
                    </m:oMath>
                  </m:oMathPara>
                </a14:m>
                <a:endParaRPr lang="en-US" altLang="zh-CN" b="0" dirty="0" smtClean="0"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即概率密度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∗2</m:t>
                        </m:r>
                      </m:sup>
                    </m:sSub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说明成键轨道中心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电子云密度加强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，而反键轨道中心存在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截面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187" y="2906190"/>
                <a:ext cx="5468813" cy="2326984"/>
              </a:xfrm>
              <a:prstGeom prst="rect">
                <a:avLst/>
              </a:prstGeom>
              <a:blipFill rotWithShape="0">
                <a:blip r:embed="rId8"/>
                <a:stretch>
                  <a:fillRect l="-1003" r="-669" b="-1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76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Hydrogen </a:t>
            </a:r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molecule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27147" y="803379"/>
                <a:ext cx="4638284" cy="1365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𝜎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𝑠𝐴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7" y="803379"/>
                <a:ext cx="4638284" cy="13657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468115" y="838574"/>
                <a:ext cx="6096000" cy="122007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115" y="838574"/>
                <a:ext cx="6096000" cy="122007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" y="2442457"/>
            <a:ext cx="5262222" cy="432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937" y="4962457"/>
            <a:ext cx="5885455" cy="18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92" y="3522457"/>
            <a:ext cx="5267781" cy="14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955" y="2169137"/>
            <a:ext cx="626087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0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1935" y="1009471"/>
            <a:ext cx="1137623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Ira N. Levine. </a:t>
            </a:r>
            <a:r>
              <a:rPr lang="en-US" altLang="zh-CN" sz="2400" i="1" dirty="0"/>
              <a:t>Quantum Chemistry</a:t>
            </a:r>
            <a:r>
              <a:rPr lang="en-US" altLang="zh-CN" sz="2400" dirty="0"/>
              <a:t>, 7th ed., Pearson, </a:t>
            </a:r>
            <a:r>
              <a:rPr lang="en-US" altLang="zh-CN" sz="2400" b="1" dirty="0"/>
              <a:t>2014</a:t>
            </a:r>
            <a:r>
              <a:rPr lang="en-US" altLang="zh-CN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it-IT" altLang="zh-CN" sz="2400" dirty="0" smtClean="0"/>
              <a:t>A. Szabo</a:t>
            </a:r>
            <a:r>
              <a:rPr lang="it-IT" altLang="zh-CN" sz="2400" dirty="0"/>
              <a:t>,</a:t>
            </a:r>
            <a:r>
              <a:rPr lang="it-IT" altLang="zh-CN" sz="2400" dirty="0" smtClean="0"/>
              <a:t> N. </a:t>
            </a:r>
            <a:r>
              <a:rPr lang="it-IT" altLang="zh-CN" sz="2400" dirty="0"/>
              <a:t>S. Ostlund. </a:t>
            </a:r>
            <a:r>
              <a:rPr lang="zh-CN" altLang="en-US" sz="2400" i="1" dirty="0"/>
              <a:t>Modern Quantum Chemistry Introduction to Advanced Electronic Structure Theory</a:t>
            </a:r>
            <a:r>
              <a:rPr lang="en-US" altLang="zh-CN" sz="2400" i="1" dirty="0"/>
              <a:t>. </a:t>
            </a:r>
            <a:r>
              <a:rPr lang="en-US" altLang="zh-CN" sz="2400" dirty="0"/>
              <a:t>New York: McGraw-Hill. </a:t>
            </a:r>
            <a:r>
              <a:rPr lang="en-US" altLang="zh-CN" sz="2400" b="1" dirty="0"/>
              <a:t>1989</a:t>
            </a:r>
            <a:r>
              <a:rPr lang="en-US" altLang="zh-CN" sz="2400" dirty="0" smtClean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41935" y="3924300"/>
                <a:ext cx="10283190" cy="1838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在线性变分法中，考虑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不正交的情况，推导最后的广义本征值方程（结果在补充中）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5" y="3924300"/>
                <a:ext cx="10283190" cy="1838580"/>
              </a:xfrm>
              <a:prstGeom prst="rect">
                <a:avLst/>
              </a:prstGeom>
              <a:blipFill rotWithShape="0">
                <a:blip r:embed="rId5"/>
                <a:stretch>
                  <a:fillRect l="-948" b="-3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31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8007" y="750309"/>
            <a:ext cx="10794366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对于线性展开的体系，还可以借助投影法获得最后的广义本征值方程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78007" y="1189392"/>
                <a:ext cx="11547986" cy="56684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我们知道准确波函数满足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现在用一组有限数目的基近似表示波函数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zh-CN" sz="1600" dirty="0" smtClean="0"/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并认为试探波函数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appro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展开后有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dirty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appro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两端左乘上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appro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相当于将整个方程投影到第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个分量上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成矩阵形式有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𝐇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𝐒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</m:oMath>
                  </m:oMathPara>
                </a14:m>
                <a:endParaRPr lang="en-US" altLang="zh-CN" sz="20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记第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个本征态的本征能量为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，线性组合系数为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</m:t>
                        </m:r>
                      </m:sup>
                    </m:sSup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和正文一样拼接成矩阵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𝑵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07" y="1189392"/>
                <a:ext cx="11547986" cy="5668475"/>
              </a:xfrm>
              <a:prstGeom prst="rect">
                <a:avLst/>
              </a:prstGeom>
              <a:blipFill rotWithShape="0">
                <a:blip r:embed="rId5"/>
                <a:stretch>
                  <a:fillRect l="-528" t="-538" b="-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781250" y="1410872"/>
                <a:ext cx="39634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方程变为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𝐇𝐂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𝐒𝐂𝐄</m:t>
                      </m:r>
                    </m:oMath>
                  </m:oMathPara>
                </a14:m>
                <a:endParaRPr lang="en-US" altLang="zh-CN" b="1" dirty="0" smtClean="0"/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250" y="1410872"/>
                <a:ext cx="3963496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1229" t="-2538" b="-3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04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13864</TotalTime>
  <Words>379</Words>
  <Application>Microsoft Office PowerPoint</Application>
  <PresentationFormat>宽屏</PresentationFormat>
  <Paragraphs>167</Paragraphs>
  <Slides>13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753</cp:revision>
  <dcterms:created xsi:type="dcterms:W3CDTF">2026-04-13T12:58:51Z</dcterms:created>
  <dcterms:modified xsi:type="dcterms:W3CDTF">2026-07-09T15:08:36Z</dcterms:modified>
</cp:coreProperties>
</file>