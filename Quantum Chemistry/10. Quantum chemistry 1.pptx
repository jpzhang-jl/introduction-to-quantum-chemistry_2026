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37" r:id="rId3"/>
    <p:sldId id="424" r:id="rId4"/>
    <p:sldId id="427" r:id="rId5"/>
    <p:sldId id="425" r:id="rId6"/>
    <p:sldId id="426" r:id="rId7"/>
    <p:sldId id="42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37" r:id="rId17"/>
    <p:sldId id="438" r:id="rId18"/>
    <p:sldId id="3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2005" autoAdjust="0"/>
  </p:normalViewPr>
  <p:slideViewPr>
    <p:cSldViewPr snapToGrid="0">
      <p:cViewPr varScale="1">
        <p:scale>
          <a:sx n="80" d="100"/>
          <a:sy n="80" d="100"/>
        </p:scale>
        <p:origin x="6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CD0B4-0D93-4925-9AE5-BE338DE0EB7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C58D-F6D9-4444-8C6C-9BE396A37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9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0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228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919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799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030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685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580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266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064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19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293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414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826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373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479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637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F24E-D5DB-4E44-B9C1-1C9F966D9DE0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44C8-A75A-4271-B806-197E7CBB3043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EB6-6817-4662-A1D3-3BC44BA693B7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12959-142D-4B7D-99C2-885C08D89CC3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02A6-6B27-4F12-88C3-26F3AADB1B4A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A87C-D3D9-4098-8262-38F46DBFE130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1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5D1-58D2-499A-8919-5CFDC4F042E9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647B-B16E-4175-BFE9-E10D077C5782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3D96-C799-489A-9DE7-F5DBBF900548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679-E711-45F2-B537-122BD96A4634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0A1E-7A35-43E8-B9E2-C715633E112E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EBADF-EE84-4603-B97B-F3FFE6AB9912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405" y="2377744"/>
            <a:ext cx="1125117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——Quantum Chemistry </a:t>
            </a:r>
            <a:r>
              <a:rPr lang="en-US" altLang="zh-CN" sz="4000" b="1" dirty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1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65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Continuous spectrum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99110" y="1304746"/>
                <a:ext cx="10974852" cy="4532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从量子化学部分开始，我们所有的操作都在位置表象下进行，即使用波函数的语言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位置表象下各算符的对应关系变成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</m:acc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𝐩</m:t>
                          </m:r>
                        </m:e>
                      </m:acc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r>
                        <a:rPr lang="en-US" altLang="zh-CN" sz="2000" b="0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𝛻</m:t>
                      </m:r>
                      <m:r>
                        <a:rPr lang="en-US" altLang="zh-CN" sz="2000" b="0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表示</m:t>
                          </m:r>
                          <m:r>
                            <a:rPr lang="zh-CN" altLang="en-US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梯度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，在</m:t>
                          </m:r>
                          <m:r>
                            <m:rPr>
                              <m:nor/>
                            </m:rP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m:t>直角坐标系下表示为</m:t>
                          </m:r>
                          <m:r>
                            <m:rPr>
                              <m:nor/>
                            </m:rPr>
                            <a:rPr lang="en-US" altLang="zh-CN" sz="2000" b="0" i="0" dirty="0" smtClean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den>
                      </m:f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𝐱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</m:acc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𝐩</m:t>
                          </m:r>
                        </m:e>
                      </m:acc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e>
                      </m:acc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acc>
                        <m:accPr>
                          <m:chr m:val="̂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</m:acc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𝛻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有时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也用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304746"/>
                <a:ext cx="10974852" cy="4532779"/>
              </a:xfrm>
              <a:prstGeom prst="rect">
                <a:avLst/>
              </a:prstGeom>
              <a:blipFill rotWithShape="0">
                <a:blip r:embed="rId5"/>
                <a:stretch>
                  <a:fillRect l="-611" b="-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9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Procedures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0385" y="1120080"/>
            <a:ext cx="750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用量子力学方法求解某一物理问题时，通常按照以下流程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0385" y="2244325"/>
            <a:ext cx="6506308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构建物理模型：主要是写出体系的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Hamiltonian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求解薛定谔方程，得到本征态和本征能量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分析解的性质，求解其它可观测量期望值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0385" y="4510453"/>
            <a:ext cx="9984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量子化学实质上就是将量子力学框架应用到各种化学体系上，比如原子和分子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3232" y="5353627"/>
            <a:ext cx="9157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我们从最简单的氢原子开始，一步步提高原子和分子的复杂程度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172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Methods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9109" y="777875"/>
            <a:ext cx="8968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在此之前先介绍一种求解偏微分方程的方法：分离变量法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99109" y="1093105"/>
                <a:ext cx="11416665" cy="5632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考虑偏微分方程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注意到这个方程里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三个变量间互不相关，下面对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做操作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那么方程变为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两边同除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𝑚𝐸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注意到左边三项各自独立，结果却是一个常数，那么左边每项都只能是常数：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09" y="1093105"/>
                <a:ext cx="11416665" cy="5632055"/>
              </a:xfrm>
              <a:prstGeom prst="rect">
                <a:avLst/>
              </a:prstGeom>
              <a:blipFill rotWithShape="0">
                <a:blip r:embed="rId5"/>
                <a:stretch>
                  <a:fillRect l="-481" t="-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8819857" y="5429250"/>
            <a:ext cx="326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方程化简成了三个常微分方程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050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955707" y="1173798"/>
            <a:ext cx="2230850" cy="1671101"/>
            <a:chOff x="7672029" y="1231440"/>
            <a:chExt cx="2230850" cy="1671101"/>
          </a:xfrm>
        </p:grpSpPr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8933334" y="2542541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7897837" y="1516381"/>
              <a:ext cx="108000" cy="10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>
              <a:stCxn id="11" idx="5"/>
            </p:cNvCxnSpPr>
            <p:nvPr/>
          </p:nvCxnSpPr>
          <p:spPr>
            <a:xfrm>
              <a:off x="7990021" y="1608565"/>
              <a:ext cx="1100885" cy="1113975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8540463" y="1809116"/>
                  <a:ext cx="2022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0463" y="1809116"/>
                  <a:ext cx="202223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303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7672029" y="1231440"/>
                  <a:ext cx="9695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029" y="1231440"/>
                  <a:ext cx="96954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8933334" y="2226507"/>
                  <a:ext cx="9695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3334" y="2226507"/>
                  <a:ext cx="969545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540385" y="2664898"/>
                <a:ext cx="7225675" cy="8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2664898"/>
                <a:ext cx="7225675" cy="89620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412488" y="1173798"/>
            <a:ext cx="9226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氢原子可认为由一个电子和一个原子核构成，则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Hamiltonian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可以写为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3636000" y="3561105"/>
            <a:ext cx="90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460048" y="3720584"/>
            <a:ext cx="13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原子核动能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390825" y="3561105"/>
            <a:ext cx="85412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257769" y="3720583"/>
            <a:ext cx="112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电子动能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4928437" y="3561105"/>
            <a:ext cx="180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846396" y="3720583"/>
            <a:ext cx="2104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核库仑势能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499110" y="4652095"/>
                <a:ext cx="11616690" cy="1489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求解定态薛定谔方程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后就可以得到氢原子总能量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4652095"/>
                <a:ext cx="11616690" cy="1489831"/>
              </a:xfrm>
              <a:prstGeom prst="rect">
                <a:avLst/>
              </a:prstGeom>
              <a:blipFill rotWithShape="0">
                <a:blip r:embed="rId9"/>
                <a:stretch>
                  <a:fillRect l="-577" b="-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68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7021737" y="784225"/>
            <a:ext cx="1520269" cy="1891006"/>
            <a:chOff x="7897837" y="1234092"/>
            <a:chExt cx="1520269" cy="1891006"/>
          </a:xfrm>
        </p:grpSpPr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8933334" y="2542541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7897837" y="1516381"/>
              <a:ext cx="108000" cy="10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>
              <a:stCxn id="11" idx="5"/>
            </p:cNvCxnSpPr>
            <p:nvPr/>
          </p:nvCxnSpPr>
          <p:spPr>
            <a:xfrm>
              <a:off x="7990021" y="1608565"/>
              <a:ext cx="1100885" cy="1113975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8439351" y="1695608"/>
                  <a:ext cx="2022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9351" y="1695608"/>
                  <a:ext cx="202223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303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8046087" y="1234092"/>
                  <a:ext cx="4943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87" y="1234092"/>
                  <a:ext cx="494376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8448561" y="2755766"/>
                  <a:ext cx="9695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561" y="2755766"/>
                  <a:ext cx="969545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99110" y="793824"/>
                <a:ext cx="4206001" cy="14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793824"/>
                <a:ext cx="4206001" cy="14232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499110" y="4503400"/>
            <a:ext cx="11592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在经典情况下，这是一个典型的两体问题，运动可以分解为“质心”的平动和二者之间的相对运动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现在将这一办法用于化简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Hamiltonian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99110" y="3576419"/>
                <a:ext cx="96948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求解方程困难的点在于，库仑势里同时出现了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，不能直接用分离变量法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3576419"/>
                <a:ext cx="9694863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692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椭圆 28"/>
          <p:cNvSpPr/>
          <p:nvPr/>
        </p:nvSpPr>
        <p:spPr>
          <a:xfrm>
            <a:off x="7875423" y="1929132"/>
            <a:ext cx="108000" cy="108000"/>
          </a:xfrm>
          <a:prstGeom prst="ellipse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8127949" y="1789093"/>
            <a:ext cx="571630" cy="303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弧形箭头 16"/>
          <p:cNvSpPr/>
          <p:nvPr/>
        </p:nvSpPr>
        <p:spPr>
          <a:xfrm rot="18985865">
            <a:off x="7016061" y="1320088"/>
            <a:ext cx="395438" cy="132847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53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23411" y="789439"/>
                <a:ext cx="10771188" cy="1956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n-US" altLang="zh-CN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n-US" altLang="zh-CN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1" y="789439"/>
                <a:ext cx="10771188" cy="1956818"/>
              </a:xfrm>
              <a:prstGeom prst="rect">
                <a:avLst/>
              </a:prstGeom>
              <a:blipFill rotWithShape="0">
                <a:blip r:embed="rId5"/>
                <a:stretch>
                  <a:fillRect l="-453" t="-1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37200" y="2681407"/>
                <a:ext cx="11124034" cy="1118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00" y="2681407"/>
                <a:ext cx="11124034" cy="1118896"/>
              </a:xfrm>
              <a:prstGeom prst="rect">
                <a:avLst/>
              </a:prstGeom>
              <a:blipFill rotWithShape="0">
                <a:blip r:embed="rId6"/>
                <a:stretch>
                  <a:fillRect l="-493" t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445135" y="3724975"/>
                <a:ext cx="11773853" cy="997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我们省略中间的化简过程，最后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Hamiltonian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</m:acc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𝑀</m:t>
                          </m:r>
                        </m:den>
                      </m:f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−</m:t>
                          </m:r>
                          <m:f>
                            <m:f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altLang="zh-CN" b="0" i="0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35" y="3724975"/>
                <a:ext cx="11773853" cy="997324"/>
              </a:xfrm>
              <a:prstGeom prst="rect">
                <a:avLst/>
              </a:prstGeom>
              <a:blipFill rotWithShape="0">
                <a:blip r:embed="rId7"/>
                <a:stretch>
                  <a:fillRect l="-414" t="-3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/>
          <p:cNvCxnSpPr/>
          <p:nvPr/>
        </p:nvCxnSpPr>
        <p:spPr>
          <a:xfrm>
            <a:off x="5028175" y="4622735"/>
            <a:ext cx="85412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779135" y="4627297"/>
            <a:ext cx="135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质心平动能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199217" y="4698895"/>
            <a:ext cx="21145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550300" y="4722299"/>
            <a:ext cx="171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相对运动能量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418147" y="4918447"/>
                <a:ext cx="11127740" cy="1828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此时就可以用分离变量法了：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得到两个运动方程：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𝑀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4918447"/>
                <a:ext cx="11127740" cy="1828321"/>
              </a:xfrm>
              <a:prstGeom prst="rect">
                <a:avLst/>
              </a:prstGeom>
              <a:blipFill rotWithShape="0">
                <a:blip r:embed="rId8"/>
                <a:stretch>
                  <a:fillRect l="-493" t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/>
          <p:cNvSpPr txBox="1"/>
          <p:nvPr/>
        </p:nvSpPr>
        <p:spPr>
          <a:xfrm>
            <a:off x="7772400" y="5509441"/>
            <a:ext cx="4258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我们只关心电子与原子核间的相对运动，故而考察第二个方程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458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239883" y="1776188"/>
                <a:ext cx="11127740" cy="720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3" y="1776188"/>
                <a:ext cx="11127740" cy="72032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圆角矩形 2"/>
          <p:cNvSpPr/>
          <p:nvPr/>
        </p:nvSpPr>
        <p:spPr>
          <a:xfrm>
            <a:off x="3762375" y="3081288"/>
            <a:ext cx="4095432" cy="7582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18147" y="2527166"/>
                <a:ext cx="10640378" cy="1281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sz="2000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sz="2000" dirty="0" smtClean="0"/>
                  <a:t>，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方程最终变为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𝒓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2527166"/>
                <a:ext cx="10640378" cy="1281698"/>
              </a:xfrm>
              <a:prstGeom prst="rect">
                <a:avLst/>
              </a:prstGeom>
              <a:blipFill rotWithShape="0">
                <a:blip r:embed="rId6"/>
                <a:stretch>
                  <a:fillRect l="-630" t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418147" y="4084444"/>
            <a:ext cx="7439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这个就是通常见到的氢原子的薛定谔方程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8147" y="4905375"/>
            <a:ext cx="7563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此时库仑势是球对称的，将这个问题换到球坐标上求解会更加方便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342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967" y="2054239"/>
            <a:ext cx="6356033" cy="46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37185" y="977202"/>
                <a:ext cx="6163628" cy="160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做变换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𝜕𝜃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𝜕𝜃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977202"/>
                <a:ext cx="6163628" cy="1604606"/>
              </a:xfrm>
              <a:prstGeom prst="rect">
                <a:avLst/>
              </a:prstGeom>
              <a:blipFill rotWithShape="0">
                <a:blip r:embed="rId6"/>
                <a:stretch>
                  <a:fillRect l="-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620712" y="3276600"/>
            <a:ext cx="305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后续分离变量过程见右图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073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967" y="2054239"/>
            <a:ext cx="6356033" cy="46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37185" y="977202"/>
                <a:ext cx="6163628" cy="160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做变换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𝜕𝜃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𝜕𝜃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977202"/>
                <a:ext cx="6163628" cy="1604606"/>
              </a:xfrm>
              <a:prstGeom prst="rect">
                <a:avLst/>
              </a:prstGeom>
              <a:blipFill rotWithShape="0">
                <a:blip r:embed="rId6"/>
                <a:stretch>
                  <a:fillRect l="-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620712" y="3276600"/>
            <a:ext cx="305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后续分离变量过程见右图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525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975" y="1050319"/>
            <a:ext cx="836961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1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9110" y="1171575"/>
                <a:ext cx="5596890" cy="1069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方程解：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Φ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𝜙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Φ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171575"/>
                <a:ext cx="5596890" cy="1069524"/>
              </a:xfrm>
              <a:prstGeom prst="rect">
                <a:avLst/>
              </a:prstGeom>
              <a:blipFill rotWithShape="0">
                <a:blip r:embed="rId5"/>
                <a:stretch>
                  <a:fillRect t="-2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6076632" y="1601190"/>
            <a:ext cx="3571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二阶齐次线性微分方程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99110" y="2969195"/>
                <a:ext cx="7063740" cy="3280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通解为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Φ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𝑖𝑚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𝐵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𝑖𝑚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sup>
                    </m:sSup>
                  </m:oMath>
                </a14:m>
                <a:r>
                  <a:rPr lang="zh-CN" altLang="en-US" sz="2000" dirty="0" smtClean="0"/>
                  <a:t>，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通常只取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Φ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sup>
                    </m:sSup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Φ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做归一化：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𝑖𝑚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𝜙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𝑖𝑚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𝜙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𝜋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𝜋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Φ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sup>
                    </m:sSup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绕一圈后在空间上恢复原态，有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Φ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𝜋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只能取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0, ±1, ±2, …</m:t>
                    </m:r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2969195"/>
                <a:ext cx="7063740" cy="3280193"/>
              </a:xfrm>
              <a:prstGeom prst="rect">
                <a:avLst/>
              </a:prstGeom>
              <a:blipFill rotWithShape="0">
                <a:blip r:embed="rId6"/>
                <a:stretch>
                  <a:fillRect l="-949" b="-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7267574" y="2826320"/>
                <a:ext cx="4581526" cy="196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在球坐标下有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ℏ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𝜕𝜙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，将其作用在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ℏ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是轨道角动量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分量的本征函数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574" y="2826320"/>
                <a:ext cx="4581526" cy="1962589"/>
              </a:xfrm>
              <a:prstGeom prst="rect">
                <a:avLst/>
              </a:prstGeom>
              <a:blipFill rotWithShape="0">
                <a:blip r:embed="rId7"/>
                <a:stretch>
                  <a:fillRect l="-1064" b="-40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0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37185" y="791067"/>
                <a:ext cx="5596890" cy="1581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方程解：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</m:e>
                      </m:func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𝑙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e>
                      </m:d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791067"/>
                <a:ext cx="5596890" cy="158139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6076632" y="1601190"/>
            <a:ext cx="4286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解方程可以参考数学物理方法等书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37185" y="2372462"/>
                <a:ext cx="7063740" cy="4503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解为缔合勒让德多项式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bSup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整合后有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𝑖𝑚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是归一化常数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在解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时要求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取值不超过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取值为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±1,…,±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在球坐标下有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×</m:t>
                              </m:r>
                              <m: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𝜕𝜃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</m:e>
                              </m:func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𝜕𝜃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b="0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𝜕𝜃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2372462"/>
                <a:ext cx="7063740" cy="4503862"/>
              </a:xfrm>
              <a:prstGeom prst="rect">
                <a:avLst/>
              </a:prstGeom>
              <a:blipFill rotWithShape="0">
                <a:blip r:embed="rId6"/>
                <a:stretch>
                  <a:fillRect l="-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7267574" y="2826320"/>
                <a:ext cx="4581526" cy="3133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而角向方程可以重写为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𝜕𝜃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</m:e>
                              </m:func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𝜕𝜃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𝜕𝜃</m:t>
                              </m:r>
                            </m:den>
                          </m:f>
                        </m:e>
                      </m:d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两者对比可得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是轨道角动量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的本征函数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574" y="2826320"/>
                <a:ext cx="4581526" cy="3133678"/>
              </a:xfrm>
              <a:prstGeom prst="rect">
                <a:avLst/>
              </a:prstGeom>
              <a:blipFill rotWithShape="0">
                <a:blip r:embed="rId7"/>
                <a:stretch>
                  <a:fillRect l="-1064" b="-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64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37184" y="791067"/>
                <a:ext cx="6501765" cy="1600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方程解：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𝑑𝑟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𝑑𝑅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𝑑𝑟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4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</m:e>
                      </m:d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4" y="791067"/>
                <a:ext cx="6501765" cy="160056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415053" y="1591350"/>
            <a:ext cx="4286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解方程可以参考数学物理方法等书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37183" y="2826320"/>
                <a:ext cx="11769091" cy="2985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解为缔合拉盖尔多项式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bSup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能量本征值表达式为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32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𝑛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=1, 2, 3, …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同样解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方程要求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最多只能取到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=0, …,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3" y="2826320"/>
                <a:ext cx="11769091" cy="2985369"/>
              </a:xfrm>
              <a:prstGeom prst="rect">
                <a:avLst/>
              </a:prstGeom>
              <a:blipFill rotWithShape="0">
                <a:blip r:embed="rId6"/>
                <a:stretch>
                  <a:fillRect l="-518" b="-1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50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atom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99110" y="1304746"/>
                <a:ext cx="8924925" cy="5385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三个方程结果整合后，氢原子薛定谔方程的解为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𝑛𝑙𝑚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p>
                    </m:sSubSup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</m:d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bSup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满足三个本征值方程：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</m:acc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𝑛𝑙𝑚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𝑛𝑙𝑚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𝑛𝑙𝑚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𝑙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ℏ</m:t>
                          </m:r>
                        </m:e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𝑛𝑙𝑚</m:t>
                          </m:r>
                        </m:sub>
                      </m:sSub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𝑛𝑙𝑚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𝑚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𝑛𝑙𝑚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𝐻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</m:acc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的共同本征态，也可记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𝜙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⟨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主量子数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角量子数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磁量子数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也构成一组完备的正交归一基，满足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⟩=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下面讨论一下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关于各算符简并的情况</a:t>
                </a:r>
                <a:endParaRPr lang="en-US" altLang="zh-CN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304746"/>
                <a:ext cx="8924925" cy="5385898"/>
              </a:xfrm>
              <a:prstGeom prst="rect">
                <a:avLst/>
              </a:prstGeom>
              <a:blipFill rotWithShape="0">
                <a:blip r:embed="rId5"/>
                <a:stretch>
                  <a:fillRect l="-751" t="-339" b="-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86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Degeneracy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99110" y="1304746"/>
                <a:ext cx="11692890" cy="4476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𝑛𝑙𝑚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p>
                      </m:sSub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e>
                      </m:d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不存在简并是显然的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在固定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取值的情况下，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种取值，即满足角量子数为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𝐿</m:t>
                            </m:r>
                          </m:e>
                        </m:acc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简并度为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而在固定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取值的情况下，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可以从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，对每个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又有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个简并态，总共加起来有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+1)</m:t>
                        </m:r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−1+1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个态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𝐻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简并度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304746"/>
                <a:ext cx="11692890" cy="4476931"/>
              </a:xfrm>
              <a:prstGeom prst="rect">
                <a:avLst/>
              </a:prstGeom>
              <a:blipFill rotWithShape="0">
                <a:blip r:embed="rId5"/>
                <a:stretch>
                  <a:fillRect l="-3233" b="-3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785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97029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Radial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distribution and angular distribution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109" y="759245"/>
            <a:ext cx="2762790" cy="28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37185" y="873094"/>
                <a:ext cx="9052316" cy="6018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按照概率密度的定义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，在空间中点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附近测量得到电子的概率为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𝑛𝑙𝑚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𝜃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𝜙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有时我们并不想得到电子在各个方向的分布，而是针对某一特定方向的分布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例如对氢原子分子，我们通常考虑电子在径向的分布，或者是在角向的分布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考虑电子在半径为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的球壳内被探测到的概率，此时对整个角度积分有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𝑙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𝑚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𝜃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𝜙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𝜃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𝜙</m:t>
                              </m:r>
                              <m:r>
                                <m:rPr>
                                  <m:nor/>
                                </m:rPr>
                                <a:rPr lang="en-US" altLang="zh-CN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𝑙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𝑟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，称为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径向分布函数</a:t>
                </a:r>
                <a:endPara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同理考虑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dΩ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立体角锥内电子被探测到的概率，对径向积分有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𝑙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e>
                      </m:nary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𝜃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𝜃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𝜃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dΩ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角向分布函数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根据波函数的概率诠释，我们认为电子不是定域在某个绕核的轨道上，而是弥散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在整个位置空间中，称为氢原子电子云模型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873094"/>
                <a:ext cx="9052316" cy="6018442"/>
              </a:xfrm>
              <a:prstGeom prst="rect">
                <a:avLst/>
              </a:prstGeom>
              <a:blipFill rotWithShape="0">
                <a:blip r:embed="rId4"/>
                <a:stretch>
                  <a:fillRect l="-539" b="-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98" y="3753094"/>
            <a:ext cx="279353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2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9110" y="2342971"/>
            <a:ext cx="113762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Ira N. Levine. </a:t>
            </a:r>
            <a:r>
              <a:rPr lang="en-US" altLang="zh-CN" sz="2000" i="1" dirty="0"/>
              <a:t>Quantum Chemistry</a:t>
            </a:r>
            <a:r>
              <a:rPr lang="en-US" altLang="zh-CN" sz="2000" dirty="0"/>
              <a:t>, 7th ed., Pearson, </a:t>
            </a:r>
            <a:r>
              <a:rPr lang="en-US" altLang="zh-CN" sz="2000" b="1" dirty="0"/>
              <a:t>2014</a:t>
            </a:r>
            <a:r>
              <a:rPr lang="en-US" altLang="zh-CN" sz="2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it-IT" altLang="zh-CN" sz="2000" dirty="0" smtClean="0"/>
              <a:t>A. Szabo</a:t>
            </a:r>
            <a:r>
              <a:rPr lang="it-IT" altLang="zh-CN" sz="2000" dirty="0"/>
              <a:t>,</a:t>
            </a:r>
            <a:r>
              <a:rPr lang="it-IT" altLang="zh-CN" sz="2000" dirty="0" smtClean="0"/>
              <a:t> N. </a:t>
            </a:r>
            <a:r>
              <a:rPr lang="it-IT" altLang="zh-CN" sz="2000" dirty="0"/>
              <a:t>S. Ostlund. </a:t>
            </a:r>
            <a:r>
              <a:rPr lang="zh-CN" altLang="en-US" sz="2000" i="1" dirty="0"/>
              <a:t>Modern Quantum Chemistry Introduction to Advanced Electronic Structure Theory</a:t>
            </a:r>
            <a:r>
              <a:rPr lang="en-US" altLang="zh-CN" sz="2000" i="1" dirty="0"/>
              <a:t>. </a:t>
            </a:r>
            <a:r>
              <a:rPr lang="en-US" altLang="zh-CN" sz="2000" dirty="0"/>
              <a:t>New York: McGraw-Hill. </a:t>
            </a:r>
            <a:r>
              <a:rPr lang="en-US" altLang="zh-CN" sz="2000" b="1" dirty="0"/>
              <a:t>1989</a:t>
            </a:r>
            <a:r>
              <a:rPr lang="en-US" altLang="zh-CN" sz="2000" dirty="0"/>
              <a:t>.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D. J. Griffiths, D. F. </a:t>
            </a:r>
            <a:r>
              <a:rPr lang="en-US" altLang="zh-CN" sz="2000" dirty="0" err="1" smtClean="0"/>
              <a:t>Schroeter</a:t>
            </a:r>
            <a:r>
              <a:rPr lang="en-US" altLang="zh-CN" sz="2000" dirty="0" smtClean="0"/>
              <a:t>. </a:t>
            </a:r>
            <a:r>
              <a:rPr lang="en-US" altLang="zh-CN" sz="2000" i="1" dirty="0" smtClean="0"/>
              <a:t>Introduction to Quantum Mechanics</a:t>
            </a:r>
            <a:r>
              <a:rPr lang="en-US" altLang="zh-CN" sz="2000" dirty="0" smtClean="0"/>
              <a:t>, 3rd ed. Cambridge University Press, </a:t>
            </a:r>
            <a:r>
              <a:rPr lang="en-US" altLang="zh-CN" sz="2000" b="1" dirty="0" smtClean="0"/>
              <a:t>2018</a:t>
            </a:r>
            <a:r>
              <a:rPr lang="en-US" altLang="zh-CN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831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13251</TotalTime>
  <Words>523</Words>
  <Application>Microsoft Office PowerPoint</Application>
  <PresentationFormat>宽屏</PresentationFormat>
  <Paragraphs>190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698</cp:revision>
  <dcterms:created xsi:type="dcterms:W3CDTF">2026-04-13T12:58:51Z</dcterms:created>
  <dcterms:modified xsi:type="dcterms:W3CDTF">2026-07-08T07:36:41Z</dcterms:modified>
</cp:coreProperties>
</file>