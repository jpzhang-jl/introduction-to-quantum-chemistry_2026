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337" r:id="rId3"/>
    <p:sldId id="374" r:id="rId4"/>
    <p:sldId id="375" r:id="rId5"/>
    <p:sldId id="377" r:id="rId6"/>
    <p:sldId id="378" r:id="rId7"/>
    <p:sldId id="376" r:id="rId8"/>
    <p:sldId id="379" r:id="rId9"/>
    <p:sldId id="382" r:id="rId10"/>
    <p:sldId id="380" r:id="rId11"/>
    <p:sldId id="381" r:id="rId12"/>
    <p:sldId id="383" r:id="rId13"/>
    <p:sldId id="384" r:id="rId14"/>
    <p:sldId id="385" r:id="rId15"/>
    <p:sldId id="387" r:id="rId16"/>
    <p:sldId id="386" r:id="rId17"/>
    <p:sldId id="388" r:id="rId18"/>
    <p:sldId id="389" r:id="rId19"/>
    <p:sldId id="390" r:id="rId20"/>
    <p:sldId id="391" r:id="rId21"/>
    <p:sldId id="392" r:id="rId22"/>
    <p:sldId id="393" r:id="rId23"/>
    <p:sldId id="394" r:id="rId24"/>
    <p:sldId id="395" r:id="rId25"/>
    <p:sldId id="369" r:id="rId26"/>
    <p:sldId id="371" r:id="rId27"/>
    <p:sldId id="396"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37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2005" autoAdjust="0"/>
  </p:normalViewPr>
  <p:slideViewPr>
    <p:cSldViewPr snapToGrid="0">
      <p:cViewPr varScale="1">
        <p:scale>
          <a:sx n="87" d="100"/>
          <a:sy n="87" d="100"/>
        </p:scale>
        <p:origin x="53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CD0B4-0D93-4925-9AE5-BE338DE0EB77}" type="datetimeFigureOut">
              <a:rPr lang="zh-CN" altLang="en-US" smtClean="0"/>
              <a:t>2026/7/5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1C58D-F6D9-4444-8C6C-9BE396A37525}" type="slidenum">
              <a:rPr lang="zh-CN" altLang="en-US" smtClean="0"/>
              <a:t>‹#›</a:t>
            </a:fld>
            <a:endParaRPr lang="zh-CN" altLang="en-US"/>
          </a:p>
        </p:txBody>
      </p:sp>
    </p:spTree>
    <p:extLst>
      <p:ext uri="{BB962C8B-B14F-4D97-AF65-F5344CB8AC3E}">
        <p14:creationId xmlns:p14="http://schemas.microsoft.com/office/powerpoint/2010/main" val="2989509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a:t>
            </a:fld>
            <a:endParaRPr lang="zh-CN" altLang="en-US"/>
          </a:p>
        </p:txBody>
      </p:sp>
    </p:spTree>
    <p:extLst>
      <p:ext uri="{BB962C8B-B14F-4D97-AF65-F5344CB8AC3E}">
        <p14:creationId xmlns:p14="http://schemas.microsoft.com/office/powerpoint/2010/main" val="766719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a:t>
            </a:fld>
            <a:endParaRPr lang="zh-CN" altLang="en-US"/>
          </a:p>
        </p:txBody>
      </p:sp>
    </p:spTree>
    <p:extLst>
      <p:ext uri="{BB962C8B-B14F-4D97-AF65-F5344CB8AC3E}">
        <p14:creationId xmlns:p14="http://schemas.microsoft.com/office/powerpoint/2010/main" val="2601102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3</a:t>
            </a:fld>
            <a:endParaRPr lang="zh-CN" altLang="en-US"/>
          </a:p>
        </p:txBody>
      </p:sp>
    </p:spTree>
    <p:extLst>
      <p:ext uri="{BB962C8B-B14F-4D97-AF65-F5344CB8AC3E}">
        <p14:creationId xmlns:p14="http://schemas.microsoft.com/office/powerpoint/2010/main" val="2498082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4</a:t>
            </a:fld>
            <a:endParaRPr lang="zh-CN" altLang="en-US"/>
          </a:p>
        </p:txBody>
      </p:sp>
    </p:spTree>
    <p:extLst>
      <p:ext uri="{BB962C8B-B14F-4D97-AF65-F5344CB8AC3E}">
        <p14:creationId xmlns:p14="http://schemas.microsoft.com/office/powerpoint/2010/main" val="3758366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5</a:t>
            </a:fld>
            <a:endParaRPr lang="zh-CN" altLang="en-US"/>
          </a:p>
        </p:txBody>
      </p:sp>
    </p:spTree>
    <p:extLst>
      <p:ext uri="{BB962C8B-B14F-4D97-AF65-F5344CB8AC3E}">
        <p14:creationId xmlns:p14="http://schemas.microsoft.com/office/powerpoint/2010/main" val="1779897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6</a:t>
            </a:fld>
            <a:endParaRPr lang="zh-CN" altLang="en-US"/>
          </a:p>
        </p:txBody>
      </p:sp>
    </p:spTree>
    <p:extLst>
      <p:ext uri="{BB962C8B-B14F-4D97-AF65-F5344CB8AC3E}">
        <p14:creationId xmlns:p14="http://schemas.microsoft.com/office/powerpoint/2010/main" val="2509031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7</a:t>
            </a:fld>
            <a:endParaRPr lang="zh-CN" altLang="en-US"/>
          </a:p>
        </p:txBody>
      </p:sp>
    </p:spTree>
    <p:extLst>
      <p:ext uri="{BB962C8B-B14F-4D97-AF65-F5344CB8AC3E}">
        <p14:creationId xmlns:p14="http://schemas.microsoft.com/office/powerpoint/2010/main" val="1439420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8</a:t>
            </a:fld>
            <a:endParaRPr lang="zh-CN" altLang="en-US"/>
          </a:p>
        </p:txBody>
      </p:sp>
    </p:spTree>
    <p:extLst>
      <p:ext uri="{BB962C8B-B14F-4D97-AF65-F5344CB8AC3E}">
        <p14:creationId xmlns:p14="http://schemas.microsoft.com/office/powerpoint/2010/main" val="681682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9</a:t>
            </a:fld>
            <a:endParaRPr lang="zh-CN" altLang="en-US"/>
          </a:p>
        </p:txBody>
      </p:sp>
    </p:spTree>
    <p:extLst>
      <p:ext uri="{BB962C8B-B14F-4D97-AF65-F5344CB8AC3E}">
        <p14:creationId xmlns:p14="http://schemas.microsoft.com/office/powerpoint/2010/main" val="3897624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10</a:t>
            </a:fld>
            <a:endParaRPr lang="zh-CN" altLang="en-US"/>
          </a:p>
        </p:txBody>
      </p:sp>
    </p:spTree>
    <p:extLst>
      <p:ext uri="{BB962C8B-B14F-4D97-AF65-F5344CB8AC3E}">
        <p14:creationId xmlns:p14="http://schemas.microsoft.com/office/powerpoint/2010/main" val="943406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11</a:t>
            </a:fld>
            <a:endParaRPr lang="zh-CN" altLang="en-US"/>
          </a:p>
        </p:txBody>
      </p:sp>
    </p:spTree>
    <p:extLst>
      <p:ext uri="{BB962C8B-B14F-4D97-AF65-F5344CB8AC3E}">
        <p14:creationId xmlns:p14="http://schemas.microsoft.com/office/powerpoint/2010/main" val="1499573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12</a:t>
            </a:fld>
            <a:endParaRPr lang="zh-CN" altLang="en-US"/>
          </a:p>
        </p:txBody>
      </p:sp>
    </p:spTree>
    <p:extLst>
      <p:ext uri="{BB962C8B-B14F-4D97-AF65-F5344CB8AC3E}">
        <p14:creationId xmlns:p14="http://schemas.microsoft.com/office/powerpoint/2010/main" val="2080251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13</a:t>
            </a:fld>
            <a:endParaRPr lang="zh-CN" altLang="en-US"/>
          </a:p>
        </p:txBody>
      </p:sp>
    </p:spTree>
    <p:extLst>
      <p:ext uri="{BB962C8B-B14F-4D97-AF65-F5344CB8AC3E}">
        <p14:creationId xmlns:p14="http://schemas.microsoft.com/office/powerpoint/2010/main" val="3286022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14</a:t>
            </a:fld>
            <a:endParaRPr lang="zh-CN" altLang="en-US"/>
          </a:p>
        </p:txBody>
      </p:sp>
    </p:spTree>
    <p:extLst>
      <p:ext uri="{BB962C8B-B14F-4D97-AF65-F5344CB8AC3E}">
        <p14:creationId xmlns:p14="http://schemas.microsoft.com/office/powerpoint/2010/main" val="1273681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15</a:t>
            </a:fld>
            <a:endParaRPr lang="zh-CN" altLang="en-US"/>
          </a:p>
        </p:txBody>
      </p:sp>
    </p:spTree>
    <p:extLst>
      <p:ext uri="{BB962C8B-B14F-4D97-AF65-F5344CB8AC3E}">
        <p14:creationId xmlns:p14="http://schemas.microsoft.com/office/powerpoint/2010/main" val="3429339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16</a:t>
            </a:fld>
            <a:endParaRPr lang="zh-CN" altLang="en-US"/>
          </a:p>
        </p:txBody>
      </p:sp>
    </p:spTree>
    <p:extLst>
      <p:ext uri="{BB962C8B-B14F-4D97-AF65-F5344CB8AC3E}">
        <p14:creationId xmlns:p14="http://schemas.microsoft.com/office/powerpoint/2010/main" val="692761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17</a:t>
            </a:fld>
            <a:endParaRPr lang="zh-CN" altLang="en-US"/>
          </a:p>
        </p:txBody>
      </p:sp>
    </p:spTree>
    <p:extLst>
      <p:ext uri="{BB962C8B-B14F-4D97-AF65-F5344CB8AC3E}">
        <p14:creationId xmlns:p14="http://schemas.microsoft.com/office/powerpoint/2010/main" val="1627429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18</a:t>
            </a:fld>
            <a:endParaRPr lang="zh-CN" altLang="en-US"/>
          </a:p>
        </p:txBody>
      </p:sp>
    </p:spTree>
    <p:extLst>
      <p:ext uri="{BB962C8B-B14F-4D97-AF65-F5344CB8AC3E}">
        <p14:creationId xmlns:p14="http://schemas.microsoft.com/office/powerpoint/2010/main" val="36864620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19</a:t>
            </a:fld>
            <a:endParaRPr lang="zh-CN" altLang="en-US"/>
          </a:p>
        </p:txBody>
      </p:sp>
    </p:spTree>
    <p:extLst>
      <p:ext uri="{BB962C8B-B14F-4D97-AF65-F5344CB8AC3E}">
        <p14:creationId xmlns:p14="http://schemas.microsoft.com/office/powerpoint/2010/main" val="3015062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20</a:t>
            </a:fld>
            <a:endParaRPr lang="zh-CN" altLang="en-US"/>
          </a:p>
        </p:txBody>
      </p:sp>
    </p:spTree>
    <p:extLst>
      <p:ext uri="{BB962C8B-B14F-4D97-AF65-F5344CB8AC3E}">
        <p14:creationId xmlns:p14="http://schemas.microsoft.com/office/powerpoint/2010/main" val="2599872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21</a:t>
            </a:fld>
            <a:endParaRPr lang="zh-CN" altLang="en-US"/>
          </a:p>
        </p:txBody>
      </p:sp>
    </p:spTree>
    <p:extLst>
      <p:ext uri="{BB962C8B-B14F-4D97-AF65-F5344CB8AC3E}">
        <p14:creationId xmlns:p14="http://schemas.microsoft.com/office/powerpoint/2010/main" val="3945126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22</a:t>
            </a:fld>
            <a:endParaRPr lang="zh-CN" altLang="en-US"/>
          </a:p>
        </p:txBody>
      </p:sp>
    </p:spTree>
    <p:extLst>
      <p:ext uri="{BB962C8B-B14F-4D97-AF65-F5344CB8AC3E}">
        <p14:creationId xmlns:p14="http://schemas.microsoft.com/office/powerpoint/2010/main" val="1531378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23</a:t>
            </a:fld>
            <a:endParaRPr lang="zh-CN" altLang="en-US"/>
          </a:p>
        </p:txBody>
      </p:sp>
    </p:spTree>
    <p:extLst>
      <p:ext uri="{BB962C8B-B14F-4D97-AF65-F5344CB8AC3E}">
        <p14:creationId xmlns:p14="http://schemas.microsoft.com/office/powerpoint/2010/main" val="1337942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24</a:t>
            </a:fld>
            <a:endParaRPr lang="zh-CN" altLang="en-US"/>
          </a:p>
        </p:txBody>
      </p:sp>
    </p:spTree>
    <p:extLst>
      <p:ext uri="{BB962C8B-B14F-4D97-AF65-F5344CB8AC3E}">
        <p14:creationId xmlns:p14="http://schemas.microsoft.com/office/powerpoint/2010/main" val="656353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25</a:t>
            </a:fld>
            <a:endParaRPr lang="zh-CN" altLang="en-US"/>
          </a:p>
        </p:txBody>
      </p:sp>
    </p:spTree>
    <p:extLst>
      <p:ext uri="{BB962C8B-B14F-4D97-AF65-F5344CB8AC3E}">
        <p14:creationId xmlns:p14="http://schemas.microsoft.com/office/powerpoint/2010/main" val="329107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26</a:t>
            </a:fld>
            <a:endParaRPr lang="zh-CN" altLang="en-US"/>
          </a:p>
        </p:txBody>
      </p:sp>
    </p:spTree>
    <p:extLst>
      <p:ext uri="{BB962C8B-B14F-4D97-AF65-F5344CB8AC3E}">
        <p14:creationId xmlns:p14="http://schemas.microsoft.com/office/powerpoint/2010/main" val="2124279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27</a:t>
            </a:fld>
            <a:endParaRPr lang="zh-CN" altLang="en-US"/>
          </a:p>
        </p:txBody>
      </p:sp>
    </p:spTree>
    <p:extLst>
      <p:ext uri="{BB962C8B-B14F-4D97-AF65-F5344CB8AC3E}">
        <p14:creationId xmlns:p14="http://schemas.microsoft.com/office/powerpoint/2010/main" val="3628527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D04F24E-D5DB-4E44-B9C1-1C9F966D9DE0}" type="datetime1">
              <a:rPr lang="zh-CN" altLang="en-US" smtClean="0"/>
              <a:t>2026/7/5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080427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C644C8-A75A-4271-B806-197E7CBB3043}" type="datetime1">
              <a:rPr lang="zh-CN" altLang="en-US" smtClean="0"/>
              <a:t>2026/7/5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3742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E0EAEB6-6817-4662-A1D3-3BC44BA693B7}" type="datetime1">
              <a:rPr lang="zh-CN" altLang="en-US" smtClean="0"/>
              <a:t>2026/7/5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25973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8712959-142D-4B7D-99C2-885C08D89CC3}" type="datetime1">
              <a:rPr lang="zh-CN" altLang="en-US" smtClean="0"/>
              <a:t>2026/7/5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05098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B0402A6-6B27-4F12-88C3-26F3AADB1B4A}" type="datetime1">
              <a:rPr lang="zh-CN" altLang="en-US" smtClean="0"/>
              <a:t>2026/7/5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144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A08A87C-D3D9-4098-8262-38F46DBFE130}" type="datetime1">
              <a:rPr lang="zh-CN" altLang="en-US" smtClean="0"/>
              <a:t>2026/7/5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926015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A405D1-58D2-499A-8919-5CFDC4F042E9}" type="datetime1">
              <a:rPr lang="zh-CN" altLang="en-US" smtClean="0"/>
              <a:t>2026/7/5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247771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83647B-B16E-4175-BFE9-E10D077C5782}" type="datetime1">
              <a:rPr lang="zh-CN" altLang="en-US" smtClean="0"/>
              <a:t>2026/7/5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5063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6E63D96-C799-489A-9DE7-F5DBBF900548}" type="datetime1">
              <a:rPr lang="zh-CN" altLang="en-US" smtClean="0"/>
              <a:t>2026/7/5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645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DC37679-E711-45F2-B537-122BD96A4634}" type="datetime1">
              <a:rPr lang="zh-CN" altLang="en-US" smtClean="0"/>
              <a:t>2026/7/5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723931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260A1E-7A35-43E8-B9E2-C715633E112E}" type="datetime1">
              <a:rPr lang="zh-CN" altLang="en-US" smtClean="0"/>
              <a:t>2026/7/5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33159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EBADF-EE84-4603-B97B-F3FFE6AB9912}" type="datetime1">
              <a:rPr lang="zh-CN" altLang="en-US" smtClean="0"/>
              <a:t>2026/7/5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74579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4.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0.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 xmlns:a16="http://schemas.microsoft.com/office/drawing/2014/main" id="{6035010B-2434-47C2-8100-5A5F5450EB77}"/>
              </a:ext>
            </a:extLst>
          </p:cNvPr>
          <p:cNvPicPr>
            <a:picLocks noChangeAspect="1"/>
          </p:cNvPicPr>
          <p:nvPr/>
        </p:nvPicPr>
        <p:blipFill>
          <a:blip r:embed="rId3"/>
          <a:stretch>
            <a:fillRect/>
          </a:stretch>
        </p:blipFill>
        <p:spPr>
          <a:xfrm>
            <a:off x="0" y="0"/>
            <a:ext cx="12192000" cy="6857999"/>
          </a:xfrm>
          <a:prstGeom prst="rect">
            <a:avLst/>
          </a:prstGeom>
        </p:spPr>
      </p:pic>
      <p:pic>
        <p:nvPicPr>
          <p:cNvPr id="2" name="图片 1">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87034" y="484388"/>
            <a:ext cx="1617921" cy="1617921"/>
          </a:xfrm>
          <a:prstGeom prst="rect">
            <a:avLst/>
          </a:prstGeom>
        </p:spPr>
      </p:pic>
      <p:sp>
        <p:nvSpPr>
          <p:cNvPr id="3" name="矩形 12"/>
          <p:cNvSpPr/>
          <p:nvPr/>
        </p:nvSpPr>
        <p:spPr>
          <a:xfrm>
            <a:off x="2889789" y="4196487"/>
            <a:ext cx="6412417" cy="81708"/>
          </a:xfrm>
          <a:prstGeom prst="rect">
            <a:avLst/>
          </a:prstGeom>
          <a:solidFill>
            <a:srgbClr val="002060"/>
          </a:solidFill>
          <a:ln w="9525">
            <a:noFill/>
          </a:ln>
        </p:spPr>
        <p:txBody>
          <a:bodyPr anchor="ctr"/>
          <a:lstStyle/>
          <a:p>
            <a:pPr algn="ctr" eaLnBrk="1" hangingPunct="1"/>
            <a:endParaRPr lang="zh-CN" altLang="en-US" sz="2400" dirty="0">
              <a:solidFill>
                <a:srgbClr val="0070C0"/>
              </a:solidFill>
              <a:latin typeface="等线" panose="02010600030101010101" pitchFamily="2" charset="-122"/>
              <a:ea typeface="等线" panose="02010600030101010101" pitchFamily="2" charset="-122"/>
            </a:endParaRPr>
          </a:p>
        </p:txBody>
      </p:sp>
      <p:sp>
        <p:nvSpPr>
          <p:cNvPr id="5" name="矩形 4"/>
          <p:cNvSpPr/>
          <p:nvPr/>
        </p:nvSpPr>
        <p:spPr>
          <a:xfrm>
            <a:off x="470405" y="2377744"/>
            <a:ext cx="11251177" cy="1692771"/>
          </a:xfrm>
          <a:prstGeom prst="rect">
            <a:avLst/>
          </a:prstGeom>
        </p:spPr>
        <p:txBody>
          <a:bodyPr wrap="square">
            <a:spAutoFit/>
          </a:bodyPr>
          <a:lstStyle/>
          <a:p>
            <a:pPr algn="ctr" fontAlgn="base">
              <a:spcBef>
                <a:spcPct val="0"/>
              </a:spcBef>
              <a:spcAft>
                <a:spcPct val="0"/>
              </a:spcAft>
            </a:pPr>
            <a:r>
              <a:rPr lang="en-US" altLang="zh-CN" sz="4400" b="1" dirty="0" smtClean="0">
                <a:latin typeface="Arial" panose="020B0604020202020204" pitchFamily="34" charset="0"/>
                <a:ea typeface="Arial Unicode MS" panose="020B0604020202020204" pitchFamily="34" charset="-122"/>
                <a:cs typeface="Arial" panose="020B0604020202020204" pitchFamily="34" charset="0"/>
              </a:rPr>
              <a:t>Introduction to Quantum Chemistry</a:t>
            </a:r>
          </a:p>
          <a:p>
            <a:pPr algn="ctr" fontAlgn="base">
              <a:lnSpc>
                <a:spcPct val="150000"/>
              </a:lnSpc>
              <a:spcBef>
                <a:spcPct val="0"/>
              </a:spcBef>
              <a:spcAft>
                <a:spcPct val="0"/>
              </a:spcAft>
            </a:pPr>
            <a:r>
              <a:rPr lang="en-US" altLang="zh-CN" sz="4000" b="1" dirty="0" smtClean="0">
                <a:latin typeface="Arial" panose="020B0604020202020204" pitchFamily="34" charset="0"/>
                <a:ea typeface="Arial Unicode MS" panose="020B0604020202020204" pitchFamily="34" charset="-122"/>
                <a:cs typeface="Arial" panose="020B0604020202020204" pitchFamily="34" charset="0"/>
              </a:rPr>
              <a:t>——Quantum Mechanics 1</a:t>
            </a:r>
            <a:endParaRPr lang="zh-CN" altLang="en-US" sz="40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6" name="矩形 5"/>
          <p:cNvSpPr/>
          <p:nvPr/>
        </p:nvSpPr>
        <p:spPr>
          <a:xfrm>
            <a:off x="3654370" y="4553630"/>
            <a:ext cx="4883252" cy="1421928"/>
          </a:xfrm>
          <a:prstGeom prst="rect">
            <a:avLst/>
          </a:prstGeom>
        </p:spPr>
        <p:txBody>
          <a:bodyPr wrap="square">
            <a:spAutoFit/>
          </a:bodyPr>
          <a:lstStyle/>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张冀鹏</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北京师范大学化学学院</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en-US" altLang="zh-CN" sz="2400" dirty="0" smtClean="0">
                <a:latin typeface="微软雅黑" panose="020B0503020204020204" pitchFamily="34" charset="-122"/>
                <a:ea typeface="微软雅黑" panose="020B0503020204020204" pitchFamily="34" charset="-122"/>
                <a:sym typeface="微软雅黑" panose="020B0503020204020204" charset="-122"/>
              </a:rPr>
              <a:t>2026. 7. 13</a:t>
            </a:r>
            <a:endParaRPr lang="zh-CN" altLang="en-US" sz="2400" dirty="0">
              <a:latin typeface="微软雅黑" panose="020B0503020204020204" pitchFamily="34" charset="-122"/>
              <a:ea typeface="微软雅黑" panose="020B0503020204020204" pitchFamily="34" charset="-122"/>
              <a:sym typeface="微软雅黑" panose="020B0503020204020204" charset="-122"/>
            </a:endParaRPr>
          </a:p>
        </p:txBody>
      </p:sp>
    </p:spTree>
    <p:extLst>
      <p:ext uri="{BB962C8B-B14F-4D97-AF65-F5344CB8AC3E}">
        <p14:creationId xmlns:p14="http://schemas.microsoft.com/office/powerpoint/2010/main" val="3978655946"/>
      </p:ext>
    </p:extLst>
  </p:cSld>
  <p:clrMapOvr>
    <a:masterClrMapping/>
  </p:clrMapOvr>
  <mc:AlternateContent xmlns:mc="http://schemas.openxmlformats.org/markup-compatibility/2006" xmlns:p14="http://schemas.microsoft.com/office/powerpoint/2010/main">
    <mc:Choice Requires="p14">
      <p:transition spd="slow" p14:dur="2000" advTm="8855"/>
    </mc:Choice>
    <mc:Fallback xmlns="">
      <p:transition spd="slow" advTm="8855"/>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Review: Classical mechanics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620712" y="1040977"/>
                <a:ext cx="10000396" cy="5732851"/>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经典力学中，在某个给定参考系下，一个粒子的状态，是以其在某一时刻</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𝑡</m:t>
                    </m:r>
                  </m:oMath>
                </a14:m>
                <a:r>
                  <a:rPr lang="zh-CN" altLang="en-US" dirty="0" smtClean="0">
                    <a:latin typeface="微软雅黑" panose="020B0503020204020204" pitchFamily="34" charset="-122"/>
                    <a:ea typeface="微软雅黑" panose="020B0503020204020204" pitchFamily="34" charset="-122"/>
                  </a:rPr>
                  <a:t>下的位置</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𝑥</m:t>
                        </m:r>
                      </m:e>
                    </m:acc>
                  </m:oMath>
                </a14:m>
                <a:r>
                  <a:rPr lang="zh-CN" altLang="en-US" dirty="0" smtClean="0">
                    <a:latin typeface="微软雅黑" panose="020B0503020204020204" pitchFamily="34" charset="-122"/>
                    <a:ea typeface="微软雅黑" panose="020B0503020204020204" pitchFamily="34" charset="-122"/>
                  </a:rPr>
                  <a:t>确定的：</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𝑥</m:t>
                          </m:r>
                        </m:e>
                      </m:acc>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𝑥</m:t>
                          </m:r>
                        </m:e>
                      </m:acc>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𝑡</m:t>
                          </m:r>
                        </m:e>
                      </m:d>
                      <m:r>
                        <a:rPr lang="en-US" altLang="zh-CN" b="0" i="1" dirty="0" smtClean="0">
                          <a:latin typeface="Cambria Math" panose="02040503050406030204" pitchFamily="18" charset="0"/>
                          <a:ea typeface="微软雅黑" panose="020B0503020204020204" pitchFamily="34" charset="-122"/>
                        </a:rPr>
                        <m:t>=</m:t>
                      </m:r>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𝑥</m:t>
                          </m:r>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𝑡</m:t>
                              </m:r>
                            </m:e>
                          </m:d>
                          <m:r>
                            <a:rPr lang="en-US" altLang="zh-CN" b="0" i="1" dirty="0" smtClean="0">
                              <a:latin typeface="Cambria Math" panose="02040503050406030204" pitchFamily="18" charset="0"/>
                              <a:ea typeface="微软雅黑" panose="020B0503020204020204" pitchFamily="34" charset="-122"/>
                            </a:rPr>
                            <m:t>, </m:t>
                          </m:r>
                          <m:r>
                            <a:rPr lang="en-US" altLang="zh-CN" b="0" i="1" dirty="0" smtClean="0">
                              <a:latin typeface="Cambria Math" panose="02040503050406030204" pitchFamily="18" charset="0"/>
                              <a:ea typeface="微软雅黑" panose="020B0503020204020204" pitchFamily="34" charset="-122"/>
                            </a:rPr>
                            <m:t>𝑦</m:t>
                          </m:r>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𝑡</m:t>
                              </m:r>
                            </m:e>
                          </m:d>
                          <m:r>
                            <a:rPr lang="en-US" altLang="zh-CN" b="0" i="1" dirty="0" smtClean="0">
                              <a:latin typeface="Cambria Math" panose="02040503050406030204" pitchFamily="18" charset="0"/>
                              <a:ea typeface="微软雅黑" panose="020B0503020204020204" pitchFamily="34" charset="-122"/>
                            </a:rPr>
                            <m:t>, </m:t>
                          </m:r>
                          <m:r>
                            <a:rPr lang="en-US" altLang="zh-CN" b="0" i="1" dirty="0" smtClean="0">
                              <a:latin typeface="Cambria Math" panose="02040503050406030204" pitchFamily="18" charset="0"/>
                              <a:ea typeface="微软雅黑" panose="020B0503020204020204" pitchFamily="34" charset="-122"/>
                            </a:rPr>
                            <m:t>𝑧</m:t>
                          </m:r>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𝑡</m:t>
                              </m:r>
                            </m:e>
                          </m:d>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结合粒子的固有属性（如质量），得到一些反映粒子运动特征的物理量：</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速度：</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𝑣</m:t>
                        </m:r>
                      </m:e>
                    </m:acc>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𝑡</m:t>
                        </m:r>
                      </m:e>
                    </m:d>
                    <m:r>
                      <a:rPr lang="en-US" altLang="zh-CN" b="0" i="1" dirty="0" smtClean="0">
                        <a:latin typeface="Cambria Math" panose="02040503050406030204" pitchFamily="18" charset="0"/>
                        <a:ea typeface="微软雅黑" panose="020B0503020204020204" pitchFamily="34" charset="-122"/>
                      </a:rPr>
                      <m:t>=</m:t>
                    </m:r>
                    <m:f>
                      <m:fPr>
                        <m:ctrlPr>
                          <a:rPr lang="en-US" altLang="zh-CN" b="0" i="1" dirty="0" smtClean="0">
                            <a:latin typeface="Cambria Math" panose="02040503050406030204" pitchFamily="18" charset="0"/>
                            <a:ea typeface="微软雅黑" panose="020B0503020204020204" pitchFamily="34" charset="-122"/>
                          </a:rPr>
                        </m:ctrlPr>
                      </m:fPr>
                      <m:num>
                        <m:r>
                          <m:rPr>
                            <m:sty m:val="p"/>
                          </m:rPr>
                          <a:rPr lang="en-US" altLang="zh-CN" b="0" i="0" dirty="0" smtClean="0">
                            <a:latin typeface="Cambria Math" panose="02040503050406030204" pitchFamily="18" charset="0"/>
                            <a:ea typeface="微软雅黑" panose="020B0503020204020204" pitchFamily="34" charset="-122"/>
                          </a:rPr>
                          <m:t>d</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𝑥</m:t>
                            </m:r>
                          </m:e>
                        </m:acc>
                      </m:num>
                      <m:den>
                        <m:r>
                          <m:rPr>
                            <m:sty m:val="p"/>
                          </m:rPr>
                          <a:rPr lang="en-US" altLang="zh-CN" b="0" i="0" dirty="0" smtClean="0">
                            <a:latin typeface="Cambria Math" panose="02040503050406030204" pitchFamily="18" charset="0"/>
                            <a:ea typeface="微软雅黑" panose="020B0503020204020204" pitchFamily="34" charset="-122"/>
                          </a:rPr>
                          <m:t>d</m:t>
                        </m:r>
                        <m:r>
                          <a:rPr lang="en-US" altLang="zh-CN" b="0" i="1" dirty="0" smtClean="0">
                            <a:latin typeface="Cambria Math" panose="02040503050406030204" pitchFamily="18" charset="0"/>
                            <a:ea typeface="微软雅黑" panose="020B0503020204020204" pitchFamily="34" charset="-122"/>
                          </a:rPr>
                          <m:t>𝑡</m:t>
                        </m:r>
                      </m:den>
                    </m:f>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𝑥</m:t>
                            </m:r>
                          </m:e>
                        </m:acc>
                      </m:e>
                    </m:acc>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动量：</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𝑝</m:t>
                        </m:r>
                      </m:e>
                    </m:acc>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𝑡</m:t>
                        </m:r>
                      </m:e>
                    </m:d>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𝑚</m:t>
                    </m:r>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𝑣</m:t>
                        </m:r>
                      </m:e>
                    </m:acc>
                    <m:d>
                      <m:dPr>
                        <m:ctrlPr>
                          <a:rPr lang="en-US" altLang="zh-CN" i="1" dirty="0">
                            <a:latin typeface="Cambria Math" panose="02040503050406030204" pitchFamily="18" charset="0"/>
                            <a:ea typeface="微软雅黑" panose="020B0503020204020204" pitchFamily="34" charset="-122"/>
                          </a:rPr>
                        </m:ctrlPr>
                      </m:dPr>
                      <m:e>
                        <m:r>
                          <a:rPr lang="en-US" altLang="zh-CN" i="1" dirty="0">
                            <a:latin typeface="Cambria Math" panose="02040503050406030204" pitchFamily="18" charset="0"/>
                            <a:ea typeface="微软雅黑" panose="020B0503020204020204" pitchFamily="34" charset="-122"/>
                          </a:rPr>
                          <m:t>𝑡</m:t>
                        </m:r>
                      </m:e>
                    </m:d>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𝑚</m:t>
                    </m:r>
                    <m:acc>
                      <m:accPr>
                        <m:chr m:val="̇"/>
                        <m:ctrlPr>
                          <a:rPr lang="en-US" altLang="zh-CN" b="0" i="1" dirty="0" smtClean="0">
                            <a:latin typeface="Cambria Math" panose="02040503050406030204" pitchFamily="18" charset="0"/>
                            <a:ea typeface="微软雅黑" panose="020B0503020204020204" pitchFamily="34" charset="-122"/>
                          </a:rPr>
                        </m:ctrlPr>
                      </m:acc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𝑥</m:t>
                            </m:r>
                          </m:e>
                        </m:acc>
                      </m:e>
                    </m:acc>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动能：</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𝐸</m:t>
                        </m:r>
                      </m:e>
                      <m:sub>
                        <m:r>
                          <a:rPr lang="en-US" altLang="zh-CN" b="0" i="1" smtClean="0">
                            <a:latin typeface="Cambria Math" panose="02040503050406030204" pitchFamily="18" charset="0"/>
                            <a:ea typeface="微软雅黑" panose="020B0503020204020204" pitchFamily="34" charset="-122"/>
                          </a:rPr>
                          <m:t>𝑘</m:t>
                        </m:r>
                      </m:sub>
                    </m:sSub>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𝑚</m:t>
                    </m:r>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𝑣</m:t>
                        </m:r>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𝑚</m:t>
                    </m:r>
                    <m:sSup>
                      <m:sSupPr>
                        <m:ctrlPr>
                          <a:rPr lang="en-US" altLang="zh-CN" b="0" i="1" dirty="0" smtClean="0">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𝑥</m:t>
                            </m:r>
                          </m:e>
                        </m:acc>
                      </m:e>
                      <m:sup>
                        <m:r>
                          <a:rPr lang="en-US" altLang="zh-CN" b="0" i="1" dirty="0" smtClean="0">
                            <a:latin typeface="Cambria Math" panose="02040503050406030204" pitchFamily="18" charset="0"/>
                            <a:ea typeface="微软雅黑" panose="020B0503020204020204" pitchFamily="34" charset="-122"/>
                          </a:rPr>
                          <m:t>2</m:t>
                        </m:r>
                      </m:sup>
                    </m:sSup>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物体的运动由牛顿第二定律决定：</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𝐹</m:t>
                          </m:r>
                        </m:e>
                      </m:acc>
                      <m:r>
                        <a:rPr lang="en-US" altLang="zh-CN" b="0" i="1" dirty="0" smtClean="0">
                          <a:latin typeface="Cambria Math" panose="02040503050406030204" pitchFamily="18" charset="0"/>
                          <a:ea typeface="微软雅黑" panose="020B0503020204020204" pitchFamily="34" charset="-122"/>
                        </a:rPr>
                        <m:t>= </m:t>
                      </m:r>
                      <m:f>
                        <m:fPr>
                          <m:ctrlPr>
                            <a:rPr lang="en-US" altLang="zh-CN" b="0" i="1" dirty="0" smtClean="0">
                              <a:latin typeface="Cambria Math" panose="02040503050406030204" pitchFamily="18" charset="0"/>
                              <a:ea typeface="微软雅黑" panose="020B0503020204020204" pitchFamily="34" charset="-122"/>
                            </a:rPr>
                          </m:ctrlPr>
                        </m:fPr>
                        <m:num>
                          <m:r>
                            <m:rPr>
                              <m:sty m:val="p"/>
                            </m:rPr>
                            <a:rPr lang="en-US" altLang="zh-CN" b="0" i="0" smtClean="0">
                              <a:latin typeface="Cambria Math" panose="02040503050406030204" pitchFamily="18" charset="0"/>
                              <a:ea typeface="微软雅黑" panose="020B0503020204020204" pitchFamily="34" charset="-122"/>
                            </a:rPr>
                            <m:t>d</m:t>
                          </m:r>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𝑝</m:t>
                              </m:r>
                            </m:e>
                          </m:acc>
                          <m:d>
                            <m:dPr>
                              <m:ctrlPr>
                                <a:rPr lang="en-US" altLang="zh-CN" i="1" dirty="0">
                                  <a:latin typeface="Cambria Math" panose="02040503050406030204" pitchFamily="18" charset="0"/>
                                  <a:ea typeface="微软雅黑" panose="020B0503020204020204" pitchFamily="34" charset="-122"/>
                                </a:rPr>
                              </m:ctrlPr>
                            </m:dPr>
                            <m:e>
                              <m:r>
                                <a:rPr lang="en-US" altLang="zh-CN" i="1" dirty="0">
                                  <a:latin typeface="Cambria Math" panose="02040503050406030204" pitchFamily="18" charset="0"/>
                                  <a:ea typeface="微软雅黑" panose="020B0503020204020204" pitchFamily="34" charset="-122"/>
                                </a:rPr>
                                <m:t>𝑡</m:t>
                              </m:r>
                            </m:e>
                          </m:d>
                        </m:num>
                        <m:den>
                          <m:r>
                            <m:rPr>
                              <m:sty m:val="p"/>
                            </m:rPr>
                            <a:rPr lang="en-US" altLang="zh-CN" b="0" i="0" dirty="0" smtClean="0">
                              <a:latin typeface="Cambria Math" panose="02040503050406030204" pitchFamily="18" charset="0"/>
                              <a:ea typeface="微软雅黑" panose="020B0503020204020204" pitchFamily="34" charset="-122"/>
                            </a:rPr>
                            <m:t>d</m:t>
                          </m:r>
                          <m:r>
                            <a:rPr lang="en-US" altLang="zh-CN" b="0" i="1" dirty="0" smtClean="0">
                              <a:latin typeface="Cambria Math" panose="02040503050406030204" pitchFamily="18" charset="0"/>
                              <a:ea typeface="微软雅黑" panose="020B0503020204020204" pitchFamily="34" charset="-122"/>
                            </a:rPr>
                            <m:t>𝑡</m:t>
                          </m:r>
                        </m:den>
                      </m:f>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如果</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𝐹</m:t>
                        </m:r>
                      </m:e>
                    </m:acc>
                  </m:oMath>
                </a14:m>
                <a:r>
                  <a:rPr lang="zh-CN" altLang="en-US" dirty="0" smtClean="0">
                    <a:latin typeface="微软雅黑" panose="020B0503020204020204" pitchFamily="34" charset="-122"/>
                    <a:ea typeface="微软雅黑" panose="020B0503020204020204" pitchFamily="34" charset="-122"/>
                  </a:rPr>
                  <a:t>可以被写成某个势函数的梯度：</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𝐹</m:t>
                        </m:r>
                      </m:e>
                    </m:acc>
                    <m:r>
                      <a:rPr lang="en-US" altLang="zh-CN" b="0" i="1" dirty="0" smtClean="0">
                        <a:latin typeface="Cambria Math" panose="02040503050406030204" pitchFamily="18" charset="0"/>
                        <a:ea typeface="微软雅黑" panose="020B0503020204020204" pitchFamily="34" charset="-122"/>
                      </a:rPr>
                      <m:t>=−</m:t>
                    </m:r>
                    <m:r>
                      <a:rPr lang="en-US" altLang="zh-CN" b="0" i="0"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𝑈</m:t>
                    </m:r>
                    <m:d>
                      <m:dPr>
                        <m:ctrlPr>
                          <a:rPr lang="en-US" altLang="zh-CN" b="0" i="1" dirty="0" smtClean="0">
                            <a:latin typeface="Cambria Math" panose="02040503050406030204" pitchFamily="18" charset="0"/>
                            <a:ea typeface="微软雅黑" panose="020B0503020204020204" pitchFamily="34" charset="-122"/>
                          </a:rPr>
                        </m:ctrlPr>
                      </m:d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𝑥</m:t>
                            </m:r>
                          </m:e>
                        </m:acc>
                      </m:e>
                    </m:d>
                    <m:r>
                      <a:rPr lang="en-US" altLang="zh-CN" b="0" i="1" dirty="0" smtClean="0">
                        <a:latin typeface="Cambria Math" panose="02040503050406030204" pitchFamily="18" charset="0"/>
                        <a:ea typeface="微软雅黑" panose="020B0503020204020204" pitchFamily="34" charset="-122"/>
                      </a:rPr>
                      <m:t>=−</m:t>
                    </m:r>
                    <m:d>
                      <m:dPr>
                        <m:ctrlPr>
                          <a:rPr lang="en-US" altLang="zh-CN" b="0" i="1" dirty="0" smtClean="0">
                            <a:latin typeface="Cambria Math" panose="02040503050406030204" pitchFamily="18" charset="0"/>
                            <a:ea typeface="微软雅黑" panose="020B0503020204020204" pitchFamily="34" charset="-122"/>
                          </a:rPr>
                        </m:ctrlPr>
                      </m:dPr>
                      <m:e>
                        <m:f>
                          <m:fPr>
                            <m:ctrlPr>
                              <a:rPr lang="en-US" altLang="zh-CN" b="0" i="1" dirty="0" smtClean="0">
                                <a:latin typeface="Cambria Math" panose="02040503050406030204" pitchFamily="18" charset="0"/>
                                <a:ea typeface="微软雅黑" panose="020B0503020204020204" pitchFamily="34" charset="-122"/>
                              </a:rPr>
                            </m:ctrlPr>
                          </m:fPr>
                          <m:num>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𝑈</m:t>
                            </m:r>
                          </m:num>
                          <m:den>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𝑥</m:t>
                            </m:r>
                          </m:den>
                        </m:f>
                        <m:r>
                          <a:rPr lang="en-US" altLang="zh-CN" b="0" i="1" dirty="0" smtClean="0">
                            <a:latin typeface="Cambria Math" panose="02040503050406030204" pitchFamily="18" charset="0"/>
                            <a:ea typeface="微软雅黑" panose="020B0503020204020204" pitchFamily="34" charset="-122"/>
                          </a:rPr>
                          <m:t>,</m:t>
                        </m:r>
                        <m:f>
                          <m:fPr>
                            <m:ctrlPr>
                              <a:rPr lang="en-US" altLang="zh-CN" b="0" i="1" dirty="0" smtClean="0">
                                <a:latin typeface="Cambria Math" panose="02040503050406030204" pitchFamily="18" charset="0"/>
                                <a:ea typeface="微软雅黑" panose="020B0503020204020204" pitchFamily="34" charset="-122"/>
                              </a:rPr>
                            </m:ctrlPr>
                          </m:fPr>
                          <m:num>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𝑈</m:t>
                            </m:r>
                          </m:num>
                          <m:den>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𝑦</m:t>
                            </m:r>
                          </m:den>
                        </m:f>
                        <m:r>
                          <a:rPr lang="en-US" altLang="zh-CN" b="0" i="1" dirty="0" smtClean="0">
                            <a:latin typeface="Cambria Math" panose="02040503050406030204" pitchFamily="18" charset="0"/>
                            <a:ea typeface="微软雅黑" panose="020B0503020204020204" pitchFamily="34" charset="-122"/>
                          </a:rPr>
                          <m:t>,</m:t>
                        </m:r>
                        <m:f>
                          <m:fPr>
                            <m:ctrlPr>
                              <a:rPr lang="en-US" altLang="zh-CN" b="0" i="1" dirty="0" smtClean="0">
                                <a:latin typeface="Cambria Math" panose="02040503050406030204" pitchFamily="18" charset="0"/>
                                <a:ea typeface="微软雅黑" panose="020B0503020204020204" pitchFamily="34" charset="-122"/>
                              </a:rPr>
                            </m:ctrlPr>
                          </m:fPr>
                          <m:num>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𝑈</m:t>
                            </m:r>
                          </m:num>
                          <m:den>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𝑧</m:t>
                            </m:r>
                          </m:den>
                        </m:f>
                      </m:e>
                    </m:d>
                  </m:oMath>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牛顿第二定律变成：</a:t>
                </a:r>
                <a14:m>
                  <m:oMath xmlns:m="http://schemas.openxmlformats.org/officeDocument/2006/math">
                    <m:f>
                      <m:fPr>
                        <m:ctrlPr>
                          <a:rPr lang="en-US" altLang="zh-CN" i="1" dirty="0">
                            <a:latin typeface="Cambria Math" panose="02040503050406030204" pitchFamily="18" charset="0"/>
                            <a:ea typeface="微软雅黑" panose="020B0503020204020204" pitchFamily="34" charset="-122"/>
                          </a:rPr>
                        </m:ctrlPr>
                      </m:fPr>
                      <m:num>
                        <m:r>
                          <m:rPr>
                            <m:sty m:val="p"/>
                          </m:rPr>
                          <a:rPr lang="en-US" altLang="zh-CN">
                            <a:latin typeface="Cambria Math" panose="02040503050406030204" pitchFamily="18" charset="0"/>
                            <a:ea typeface="微软雅黑" panose="020B0503020204020204" pitchFamily="34" charset="-122"/>
                          </a:rPr>
                          <m:t>d</m:t>
                        </m:r>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𝑝</m:t>
                            </m:r>
                          </m:e>
                        </m:acc>
                        <m:d>
                          <m:dPr>
                            <m:ctrlPr>
                              <a:rPr lang="en-US" altLang="zh-CN" i="1" dirty="0">
                                <a:latin typeface="Cambria Math" panose="02040503050406030204" pitchFamily="18" charset="0"/>
                                <a:ea typeface="微软雅黑" panose="020B0503020204020204" pitchFamily="34" charset="-122"/>
                              </a:rPr>
                            </m:ctrlPr>
                          </m:dPr>
                          <m:e>
                            <m:r>
                              <a:rPr lang="en-US" altLang="zh-CN" i="1" dirty="0">
                                <a:latin typeface="Cambria Math" panose="02040503050406030204" pitchFamily="18" charset="0"/>
                                <a:ea typeface="微软雅黑" panose="020B0503020204020204" pitchFamily="34" charset="-122"/>
                              </a:rPr>
                              <m:t>𝑡</m:t>
                            </m:r>
                          </m:e>
                        </m:d>
                      </m:num>
                      <m:den>
                        <m:r>
                          <m:rPr>
                            <m:sty m:val="p"/>
                          </m:rPr>
                          <a:rPr lang="en-US" altLang="zh-CN" dirty="0">
                            <a:latin typeface="Cambria Math" panose="02040503050406030204" pitchFamily="18" charset="0"/>
                            <a:ea typeface="微软雅黑" panose="020B0503020204020204" pitchFamily="34" charset="-122"/>
                          </a:rPr>
                          <m:t>d</m:t>
                        </m:r>
                        <m:r>
                          <a:rPr lang="en-US" altLang="zh-CN" i="1" dirty="0">
                            <a:latin typeface="Cambria Math" panose="02040503050406030204" pitchFamily="18" charset="0"/>
                            <a:ea typeface="微软雅黑" panose="020B0503020204020204" pitchFamily="34" charset="-122"/>
                          </a:rPr>
                          <m:t>𝑡</m:t>
                        </m:r>
                      </m:den>
                    </m:f>
                    <m:r>
                      <a:rPr lang="en-US" altLang="zh-CN" b="0" i="1" dirty="0" smtClean="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m:t>
                    </m:r>
                    <m:r>
                      <a:rPr lang="en-US" altLang="zh-CN" dirty="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𝑈</m:t>
                    </m:r>
                    <m:d>
                      <m:dPr>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𝑥</m:t>
                            </m:r>
                          </m:e>
                        </m:acc>
                      </m:e>
                    </m:d>
                  </m:oMath>
                </a14:m>
                <a:r>
                  <a:rPr lang="zh-CN" altLang="en-US" dirty="0" smtClean="0">
                    <a:latin typeface="微软雅黑" panose="020B0503020204020204" pitchFamily="34" charset="-122"/>
                    <a:ea typeface="微软雅黑" panose="020B0503020204020204" pitchFamily="34" charset="-122"/>
                  </a:rPr>
                  <a:t>，或者是</a:t>
                </a:r>
                <a14:m>
                  <m:oMath xmlns:m="http://schemas.openxmlformats.org/officeDocument/2006/math">
                    <m:r>
                      <a:rPr lang="en-US" altLang="zh-CN" i="1" dirty="0">
                        <a:latin typeface="Cambria Math" panose="02040503050406030204" pitchFamily="18" charset="0"/>
                        <a:ea typeface="微软雅黑" panose="020B0503020204020204" pitchFamily="34" charset="-122"/>
                      </a:rPr>
                      <m:t>𝑚</m:t>
                    </m:r>
                    <m:f>
                      <m:fPr>
                        <m:ctrlPr>
                          <a:rPr lang="en-US" altLang="zh-CN" i="1" dirty="0">
                            <a:latin typeface="Cambria Math" panose="02040503050406030204" pitchFamily="18" charset="0"/>
                            <a:ea typeface="微软雅黑" panose="020B0503020204020204" pitchFamily="34" charset="-122"/>
                          </a:rPr>
                        </m:ctrlPr>
                      </m:fPr>
                      <m:num>
                        <m:sSup>
                          <m:sSupPr>
                            <m:ctrlPr>
                              <a:rPr lang="en-US" altLang="zh-CN" b="0" i="1" smtClean="0">
                                <a:latin typeface="Cambria Math" panose="02040503050406030204" pitchFamily="18" charset="0"/>
                                <a:ea typeface="微软雅黑" panose="020B0503020204020204" pitchFamily="34" charset="-122"/>
                              </a:rPr>
                            </m:ctrlPr>
                          </m:sSupPr>
                          <m:e>
                            <m:r>
                              <m:rPr>
                                <m:sty m:val="p"/>
                              </m:rPr>
                              <a:rPr lang="en-US" altLang="zh-CN">
                                <a:latin typeface="Cambria Math" panose="02040503050406030204" pitchFamily="18" charset="0"/>
                                <a:ea typeface="微软雅黑" panose="020B0503020204020204" pitchFamily="34" charset="-122"/>
                              </a:rPr>
                              <m:t>d</m:t>
                            </m:r>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𝑥</m:t>
                        </m:r>
                      </m:num>
                      <m:den>
                        <m:r>
                          <m:rPr>
                            <m:sty m:val="p"/>
                          </m:rPr>
                          <a:rPr lang="en-US" altLang="zh-CN" dirty="0">
                            <a:latin typeface="Cambria Math" panose="02040503050406030204" pitchFamily="18" charset="0"/>
                            <a:ea typeface="微软雅黑" panose="020B0503020204020204" pitchFamily="34" charset="-122"/>
                          </a:rPr>
                          <m:t>d</m:t>
                        </m:r>
                        <m:sSup>
                          <m:sSupPr>
                            <m:ctrlPr>
                              <a:rPr lang="en-US" altLang="zh-CN" b="0" i="1" dirty="0" smtClean="0">
                                <a:latin typeface="Cambria Math" panose="02040503050406030204" pitchFamily="18" charset="0"/>
                                <a:ea typeface="微软雅黑" panose="020B0503020204020204" pitchFamily="34" charset="-122"/>
                              </a:rPr>
                            </m:ctrlPr>
                          </m:sSupPr>
                          <m:e>
                            <m:r>
                              <a:rPr lang="en-US" altLang="zh-CN" i="1" dirty="0">
                                <a:latin typeface="Cambria Math" panose="02040503050406030204" pitchFamily="18" charset="0"/>
                                <a:ea typeface="微软雅黑" panose="020B0503020204020204" pitchFamily="34" charset="-122"/>
                              </a:rPr>
                              <m:t>𝑡</m:t>
                            </m:r>
                          </m:e>
                          <m:sup>
                            <m:r>
                              <a:rPr lang="en-US" altLang="zh-CN" b="0" i="1" dirty="0" smtClean="0">
                                <a:latin typeface="Cambria Math" panose="02040503050406030204" pitchFamily="18" charset="0"/>
                                <a:ea typeface="微软雅黑" panose="020B0503020204020204" pitchFamily="34" charset="-122"/>
                              </a:rPr>
                              <m:t>2</m:t>
                            </m:r>
                          </m:sup>
                        </m:sSup>
                      </m:den>
                    </m:f>
                    <m:r>
                      <a:rPr lang="en-US" altLang="zh-CN" i="1" dirty="0">
                        <a:latin typeface="Cambria Math" panose="02040503050406030204" pitchFamily="18" charset="0"/>
                        <a:ea typeface="微软雅黑" panose="020B0503020204020204" pitchFamily="34" charset="-122"/>
                      </a:rPr>
                      <m:t>=−</m:t>
                    </m:r>
                    <m:r>
                      <a:rPr lang="en-US" altLang="zh-CN" dirty="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𝑈</m:t>
                    </m:r>
                    <m:d>
                      <m:dPr>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𝑥</m:t>
                            </m:r>
                          </m:e>
                        </m:acc>
                      </m:e>
                    </m:d>
                  </m:oMath>
                </a14:m>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620712" y="1040977"/>
                <a:ext cx="10000396" cy="5732851"/>
              </a:xfrm>
              <a:prstGeom prst="rect">
                <a:avLst/>
              </a:prstGeom>
              <a:blipFill rotWithShape="0">
                <a:blip r:embed="rId5"/>
                <a:stretch>
                  <a:fillRect l="-549" t="-13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097050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Review: Classical mechanics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620712" y="1586100"/>
                <a:ext cx="11319242" cy="4250138"/>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微软雅黑" panose="020B0503020204020204" pitchFamily="34" charset="-122"/>
                        </a:rPr>
                        <m:t>𝑚</m:t>
                      </m:r>
                      <m:f>
                        <m:fPr>
                          <m:ctrlPr>
                            <a:rPr lang="en-US" altLang="zh-CN" i="1" dirty="0">
                              <a:latin typeface="Cambria Math" panose="02040503050406030204" pitchFamily="18" charset="0"/>
                              <a:ea typeface="微软雅黑" panose="020B0503020204020204" pitchFamily="34" charset="-122"/>
                            </a:rPr>
                          </m:ctrlPr>
                        </m:fPr>
                        <m:num>
                          <m:sSup>
                            <m:sSupPr>
                              <m:ctrlPr>
                                <a:rPr lang="en-US" altLang="zh-CN" b="0" i="1" smtClean="0">
                                  <a:latin typeface="Cambria Math" panose="02040503050406030204" pitchFamily="18" charset="0"/>
                                  <a:ea typeface="微软雅黑" panose="020B0503020204020204" pitchFamily="34" charset="-122"/>
                                </a:rPr>
                              </m:ctrlPr>
                            </m:sSupPr>
                            <m:e>
                              <m:r>
                                <m:rPr>
                                  <m:sty m:val="p"/>
                                </m:rPr>
                                <a:rPr lang="en-US" altLang="zh-CN">
                                  <a:latin typeface="Cambria Math" panose="02040503050406030204" pitchFamily="18" charset="0"/>
                                  <a:ea typeface="微软雅黑" panose="020B0503020204020204" pitchFamily="34" charset="-122"/>
                                </a:rPr>
                                <m:t>d</m:t>
                              </m:r>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𝑥</m:t>
                          </m:r>
                        </m:num>
                        <m:den>
                          <m:r>
                            <m:rPr>
                              <m:sty m:val="p"/>
                            </m:rPr>
                            <a:rPr lang="en-US" altLang="zh-CN" dirty="0">
                              <a:latin typeface="Cambria Math" panose="02040503050406030204" pitchFamily="18" charset="0"/>
                              <a:ea typeface="微软雅黑" panose="020B0503020204020204" pitchFamily="34" charset="-122"/>
                            </a:rPr>
                            <m:t>d</m:t>
                          </m:r>
                          <m:sSup>
                            <m:sSupPr>
                              <m:ctrlPr>
                                <a:rPr lang="en-US" altLang="zh-CN" b="0" i="1" dirty="0" smtClean="0">
                                  <a:latin typeface="Cambria Math" panose="02040503050406030204" pitchFamily="18" charset="0"/>
                                  <a:ea typeface="微软雅黑" panose="020B0503020204020204" pitchFamily="34" charset="-122"/>
                                </a:rPr>
                              </m:ctrlPr>
                            </m:sSupPr>
                            <m:e>
                              <m:r>
                                <a:rPr lang="en-US" altLang="zh-CN" i="1" dirty="0">
                                  <a:latin typeface="Cambria Math" panose="02040503050406030204" pitchFamily="18" charset="0"/>
                                  <a:ea typeface="微软雅黑" panose="020B0503020204020204" pitchFamily="34" charset="-122"/>
                                </a:rPr>
                                <m:t>𝑡</m:t>
                              </m:r>
                            </m:e>
                            <m:sup>
                              <m:r>
                                <a:rPr lang="en-US" altLang="zh-CN" b="0" i="1" dirty="0" smtClean="0">
                                  <a:latin typeface="Cambria Math" panose="02040503050406030204" pitchFamily="18" charset="0"/>
                                  <a:ea typeface="微软雅黑" panose="020B0503020204020204" pitchFamily="34" charset="-122"/>
                                </a:rPr>
                                <m:t>2</m:t>
                              </m:r>
                            </m:sup>
                          </m:sSup>
                        </m:den>
                      </m:f>
                      <m:r>
                        <a:rPr lang="en-US" altLang="zh-CN" i="1" dirty="0">
                          <a:latin typeface="Cambria Math" panose="02040503050406030204" pitchFamily="18" charset="0"/>
                          <a:ea typeface="微软雅黑" panose="020B0503020204020204" pitchFamily="34" charset="-122"/>
                        </a:rPr>
                        <m:t>=−</m:t>
                      </m:r>
                      <m:r>
                        <a:rPr lang="en-US" altLang="zh-CN" dirty="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𝑈</m:t>
                      </m:r>
                      <m:d>
                        <m:dPr>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𝑥</m:t>
                              </m:r>
                            </m:e>
                          </m:acc>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结合初始条件</a:t>
                </a:r>
                <a14:m>
                  <m:oMath xmlns:m="http://schemas.openxmlformats.org/officeDocument/2006/math">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𝑥</m:t>
                        </m:r>
                      </m:e>
                    </m:acc>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0</m:t>
                        </m:r>
                      </m:e>
                    </m:d>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𝑥</m:t>
                            </m:r>
                          </m:e>
                        </m:acc>
                      </m:e>
                      <m:sub>
                        <m:r>
                          <a:rPr lang="en-US" altLang="zh-CN" b="0" i="1" dirty="0" smtClean="0">
                            <a:latin typeface="Cambria Math" panose="02040503050406030204" pitchFamily="18" charset="0"/>
                            <a:ea typeface="微软雅黑" panose="020B0503020204020204" pitchFamily="34" charset="-122"/>
                          </a:rPr>
                          <m:t>0</m:t>
                        </m:r>
                      </m:sub>
                    </m:sSub>
                  </m:oMath>
                </a14:m>
                <a:r>
                  <a:rPr lang="zh-CN" altLang="en-US" dirty="0" smtClean="0">
                    <a:latin typeface="微软雅黑" panose="020B0503020204020204" pitchFamily="34" charset="-122"/>
                    <a:ea typeface="微软雅黑" panose="020B0503020204020204" pitchFamily="34" charset="-122"/>
                  </a:rPr>
                  <a:t>求解二阶微分方程，得到</a:t>
                </a:r>
                <a14:m>
                  <m:oMath xmlns:m="http://schemas.openxmlformats.org/officeDocument/2006/math">
                    <m:r>
                      <a:rPr lang="en-US" altLang="zh-CN" i="1">
                        <a:latin typeface="Cambria Math" panose="02040503050406030204" pitchFamily="18" charset="0"/>
                        <a:ea typeface="微软雅黑" panose="020B0503020204020204" pitchFamily="34" charset="-122"/>
                      </a:rPr>
                      <m:t>𝑥</m:t>
                    </m:r>
                  </m:oMath>
                </a14:m>
                <a:r>
                  <a:rPr lang="zh-CN" altLang="en-US" dirty="0" smtClean="0">
                    <a:latin typeface="微软雅黑" panose="020B0503020204020204" pitchFamily="34" charset="-122"/>
                    <a:ea typeface="微软雅黑" panose="020B0503020204020204" pitchFamily="34" charset="-122"/>
                  </a:rPr>
                  <a:t>关于</a:t>
                </a:r>
                <a14:m>
                  <m:oMath xmlns:m="http://schemas.openxmlformats.org/officeDocument/2006/math">
                    <m:r>
                      <a:rPr lang="en-US" altLang="zh-CN" i="1" dirty="0">
                        <a:latin typeface="Cambria Math" panose="02040503050406030204" pitchFamily="18" charset="0"/>
                        <a:ea typeface="微软雅黑" panose="020B0503020204020204" pitchFamily="34" charset="-122"/>
                      </a:rPr>
                      <m:t>𝑡</m:t>
                    </m:r>
                  </m:oMath>
                </a14:m>
                <a:r>
                  <a:rPr lang="zh-CN" altLang="en-US" dirty="0" smtClean="0">
                    <a:latin typeface="微软雅黑" panose="020B0503020204020204" pitchFamily="34" charset="-122"/>
                    <a:ea typeface="微软雅黑" panose="020B0503020204020204" pitchFamily="34" charset="-122"/>
                  </a:rPr>
                  <a:t>的函数</a:t>
                </a:r>
                <a14:m>
                  <m:oMath xmlns:m="http://schemas.openxmlformats.org/officeDocument/2006/math">
                    <m:r>
                      <a:rPr lang="en-US" altLang="zh-CN" i="1">
                        <a:latin typeface="Cambria Math" panose="02040503050406030204" pitchFamily="18" charset="0"/>
                        <a:ea typeface="微软雅黑" panose="020B0503020204020204" pitchFamily="34" charset="-122"/>
                      </a:rPr>
                      <m:t>𝑥</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𝑡</m:t>
                    </m:r>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，进而可以得到任意时刻下的物理量。</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也就是说，在经典力学框架下，只要求解牛顿运动方程，就知道了任一时刻下质点的全部信息，质点的运动被</a:t>
                </a:r>
                <a14:m>
                  <m:oMath xmlns:m="http://schemas.openxmlformats.org/officeDocument/2006/math">
                    <m:r>
                      <a:rPr lang="en-US" altLang="zh-CN" i="1">
                        <a:latin typeface="Cambria Math" panose="02040503050406030204" pitchFamily="18" charset="0"/>
                        <a:ea typeface="微软雅黑" panose="020B0503020204020204" pitchFamily="34" charset="-122"/>
                      </a:rPr>
                      <m:t>𝑥</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𝑡</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所完全确定。</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利用</a:t>
                </a:r>
                <a:r>
                  <a:rPr lang="zh-CN" altLang="en-US" dirty="0" smtClean="0">
                    <a:solidFill>
                      <a:srgbClr val="FF0000"/>
                    </a:solidFill>
                    <a:latin typeface="微软雅黑" panose="020B0503020204020204" pitchFamily="34" charset="-122"/>
                    <a:ea typeface="微软雅黑" panose="020B0503020204020204" pitchFamily="34" charset="-122"/>
                  </a:rPr>
                  <a:t>位置</a:t>
                </a:r>
                <a:r>
                  <a:rPr lang="zh-CN" altLang="en-US" dirty="0" smtClean="0">
                    <a:latin typeface="微软雅黑" panose="020B0503020204020204" pitchFamily="34" charset="-122"/>
                    <a:ea typeface="微软雅黑" panose="020B0503020204020204" pitchFamily="34" charset="-122"/>
                  </a:rPr>
                  <a:t>对质点的“状态” 进行描述，看起来能得到很完美的结果（在绝大多数场景下），但说到底这是一种以外部可观测量</a:t>
                </a:r>
                <a:r>
                  <a:rPr lang="zh-CN" altLang="en-US" dirty="0" smtClean="0">
                    <a:solidFill>
                      <a:srgbClr val="FF0000"/>
                    </a:solidFill>
                    <a:latin typeface="微软雅黑" panose="020B0503020204020204" pitchFamily="34" charset="-122"/>
                    <a:ea typeface="微软雅黑" panose="020B0503020204020204" pitchFamily="34" charset="-122"/>
                  </a:rPr>
                  <a:t>等效</a:t>
                </a:r>
                <a:r>
                  <a:rPr lang="zh-CN" altLang="en-US" dirty="0" smtClean="0">
                    <a:latin typeface="微软雅黑" panose="020B0503020204020204" pitchFamily="34" charset="-122"/>
                    <a:ea typeface="微软雅黑" panose="020B0503020204020204" pitchFamily="34" charset="-122"/>
                  </a:rPr>
                  <a:t>粒子内禀状态的描述方法（在观测角度上粒子的位置是最好捕捉的量）。</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随着物理学的发展，越来越多的实验现象无法在经典力学的框架下描述。</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620712" y="1586100"/>
                <a:ext cx="11319242" cy="4250138"/>
              </a:xfrm>
              <a:prstGeom prst="rect">
                <a:avLst/>
              </a:prstGeom>
              <a:blipFill rotWithShape="0">
                <a:blip r:embed="rId5"/>
                <a:stretch>
                  <a:fillRect l="-485" b="-2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238275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Review: Old quantum theory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214093" y="1049769"/>
            <a:ext cx="11692890" cy="5493812"/>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普朗</a:t>
            </a:r>
            <a:r>
              <a:rPr lang="zh-CN" altLang="en-US" dirty="0" smtClean="0">
                <a:latin typeface="微软雅黑" panose="020B0503020204020204" pitchFamily="34" charset="-122"/>
                <a:ea typeface="微软雅黑" panose="020B0503020204020204" pitchFamily="34" charset="-122"/>
              </a:rPr>
              <a:t>克在解决黑体辐射问题的过程中</a:t>
            </a:r>
            <a:r>
              <a:rPr lang="zh-CN" altLang="en-US" dirty="0">
                <a:latin typeface="微软雅黑" panose="020B0503020204020204" pitchFamily="34" charset="-122"/>
                <a:ea typeface="微软雅黑" panose="020B0503020204020204" pitchFamily="34" charset="-122"/>
              </a:rPr>
              <a:t>提出</a:t>
            </a:r>
            <a:r>
              <a:rPr lang="zh-CN" altLang="en-US" dirty="0" smtClean="0">
                <a:latin typeface="微软雅黑" panose="020B0503020204020204" pitchFamily="34" charset="-122"/>
                <a:ea typeface="微软雅黑" panose="020B0503020204020204" pitchFamily="34" charset="-122"/>
              </a:rPr>
              <a:t>了能量量子化的假说，是量子力学中“量子”的最早来源</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波</a:t>
            </a:r>
            <a:r>
              <a:rPr lang="zh-CN" altLang="en-US" dirty="0" smtClean="0">
                <a:latin typeface="微软雅黑" panose="020B0503020204020204" pitchFamily="34" charset="-122"/>
                <a:ea typeface="微软雅黑" panose="020B0503020204020204" pitchFamily="34" charset="-122"/>
              </a:rPr>
              <a:t>尔借用这一概念，在能量量子化基础上又加入</a:t>
            </a:r>
            <a:r>
              <a:rPr lang="zh-CN" altLang="en-US" dirty="0">
                <a:latin typeface="微软雅黑" panose="020B0503020204020204" pitchFamily="34" charset="-122"/>
                <a:ea typeface="微软雅黑" panose="020B0503020204020204" pitchFamily="34" charset="-122"/>
              </a:rPr>
              <a:t>所谓“定态”的</a:t>
            </a:r>
            <a:r>
              <a:rPr lang="zh-CN" altLang="en-US" dirty="0" smtClean="0">
                <a:latin typeface="微软雅黑" panose="020B0503020204020204" pitchFamily="34" charset="-122"/>
                <a:ea typeface="微软雅黑" panose="020B0503020204020204" pitchFamily="34" charset="-122"/>
              </a:rPr>
              <a:t>概念（本质就是轨道角动量量子化），成功解释了氢原子光谱</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爱因斯坦则在解释光电效应时将能量量子化的思想运用到光的传播中，提出光量子假说</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早期量子化的方式是在经典力学的框架下，人为添加量子化假定。这虽然可以完美解释一些特定问题，但范围有限（比如说，将氢原子换成多一个电子的氦原子，光谱就无法做定量解释），而且定态假设本身与电子绕核运动中因辐射损失能量这件事情是相悖的</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本质上这是由经典力学描述粒子的固有缺陷（用位置等效粒子状态）造成的，想要解决这一缺陷就要直面粒子属性本质这一难题，并采用一套</a:t>
            </a:r>
            <a:r>
              <a:rPr lang="zh-CN" altLang="en-US" dirty="0" smtClean="0">
                <a:solidFill>
                  <a:srgbClr val="FF0000"/>
                </a:solidFill>
                <a:latin typeface="微软雅黑" panose="020B0503020204020204" pitchFamily="34" charset="-122"/>
                <a:ea typeface="微软雅黑" panose="020B0503020204020204" pitchFamily="34" charset="-122"/>
              </a:rPr>
              <a:t>全新的数学语言</a:t>
            </a:r>
            <a:r>
              <a:rPr lang="zh-CN" altLang="en-US" dirty="0" smtClean="0">
                <a:latin typeface="微软雅黑" panose="020B0503020204020204" pitchFamily="34" charset="-122"/>
                <a:ea typeface="微软雅黑" panose="020B0503020204020204" pitchFamily="34" charset="-122"/>
              </a:rPr>
              <a:t>来描述粒子运动</a:t>
            </a:r>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214187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Transition to modern quantum mechanics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5" name="文本框 4"/>
          <p:cNvSpPr txBox="1"/>
          <p:nvPr/>
        </p:nvSpPr>
        <p:spPr>
          <a:xfrm>
            <a:off x="93784" y="873094"/>
            <a:ext cx="12098216" cy="5909310"/>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海森堡从“可观测量”的角度出发，即不追踪电子的位置和速度，而是去看电子一些可被探测的物理量（比如说电子跃迁的频率等等），来描述电子的状态，效果相当于在做矩阵运算，是</a:t>
            </a:r>
            <a:r>
              <a:rPr lang="zh-CN" altLang="en-US" dirty="0" smtClean="0">
                <a:solidFill>
                  <a:srgbClr val="FF0000"/>
                </a:solidFill>
                <a:latin typeface="微软雅黑" panose="020B0503020204020204" pitchFamily="34" charset="-122"/>
                <a:ea typeface="微软雅黑" panose="020B0503020204020204" pitchFamily="34" charset="-122"/>
              </a:rPr>
              <a:t>矩阵力学</a:t>
            </a:r>
            <a:r>
              <a:rPr lang="zh-CN" altLang="en-US" dirty="0" smtClean="0">
                <a:latin typeface="微软雅黑" panose="020B0503020204020204" pitchFamily="34" charset="-122"/>
                <a:ea typeface="微软雅黑" panose="020B0503020204020204" pitchFamily="34" charset="-122"/>
              </a:rPr>
              <a:t>的开端</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另一</a:t>
            </a:r>
            <a:r>
              <a:rPr lang="zh-CN" altLang="en-US" dirty="0" smtClean="0">
                <a:latin typeface="微软雅黑" panose="020B0503020204020204" pitchFamily="34" charset="-122"/>
                <a:ea typeface="微软雅黑" panose="020B0503020204020204" pitchFamily="34" charset="-122"/>
              </a:rPr>
              <a:t>条更为熟知和被接受的路线是从德布罗意提出“实物粒子有波粒二象性”出发。薛定谔受此启发，选择用波的数学形式来描述电子，并给出了与牛顿第二定律地位类似的运动方程（薛定谔方程），开创了</a:t>
            </a:r>
            <a:r>
              <a:rPr lang="zh-CN" altLang="en-US" dirty="0" smtClean="0">
                <a:solidFill>
                  <a:srgbClr val="FF0000"/>
                </a:solidFill>
                <a:latin typeface="微软雅黑" panose="020B0503020204020204" pitchFamily="34" charset="-122"/>
                <a:ea typeface="微软雅黑" panose="020B0503020204020204" pitchFamily="34" charset="-122"/>
              </a:rPr>
              <a:t>波动力学</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波的态叠加原理，和线性代数里用基向量线性表出向量不谋而合。薛定谔证明了波动力学和矩阵力学的等价性，将两者相统一。波恩随后引入</a:t>
            </a:r>
            <a:r>
              <a:rPr lang="zh-CN" altLang="en-US" dirty="0" smtClean="0">
                <a:solidFill>
                  <a:srgbClr val="FF0000"/>
                </a:solidFill>
                <a:latin typeface="微软雅黑" panose="020B0503020204020204" pitchFamily="34" charset="-122"/>
                <a:ea typeface="微软雅黑" panose="020B0503020204020204" pitchFamily="34" charset="-122"/>
              </a:rPr>
              <a:t>概率</a:t>
            </a:r>
            <a:r>
              <a:rPr lang="zh-CN" altLang="en-US" dirty="0" smtClean="0">
                <a:latin typeface="微软雅黑" panose="020B0503020204020204" pitchFamily="34" charset="-122"/>
                <a:ea typeface="微软雅黑" panose="020B0503020204020204" pitchFamily="34" charset="-122"/>
              </a:rPr>
              <a:t>来解释态叠加系数的物理含义，海森堡也在后来提出</a:t>
            </a:r>
            <a:r>
              <a:rPr lang="zh-CN" altLang="en-US" dirty="0" smtClean="0">
                <a:solidFill>
                  <a:srgbClr val="FF0000"/>
                </a:solidFill>
                <a:latin typeface="微软雅黑" panose="020B0503020204020204" pitchFamily="34" charset="-122"/>
                <a:ea typeface="微软雅黑" panose="020B0503020204020204" pitchFamily="34" charset="-122"/>
              </a:rPr>
              <a:t>不确定性原理</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基于上面的几个重要工作，在希尔伯特、狄拉克、外尔、冯</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诺伊曼等人的努力下，现代量子力学完整的公理化体系</a:t>
            </a:r>
            <a:r>
              <a:rPr lang="zh-CN" altLang="en-US" dirty="0">
                <a:latin typeface="微软雅黑" panose="020B0503020204020204" pitchFamily="34" charset="-122"/>
                <a:ea typeface="微软雅黑" panose="020B0503020204020204" pitchFamily="34" charset="-122"/>
              </a:rPr>
              <a:t>被</a:t>
            </a:r>
            <a:r>
              <a:rPr lang="zh-CN" altLang="en-US" dirty="0" smtClean="0">
                <a:latin typeface="微软雅黑" panose="020B0503020204020204" pitchFamily="34" charset="-122"/>
                <a:ea typeface="微软雅黑" panose="020B0503020204020204" pitchFamily="34" charset="-122"/>
              </a:rPr>
              <a:t>最终确立下来</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我们不从连续空间下的波动力学入手量子力学的学习，这样入手并不容易看到量子力学与经典力学的差别，而是在介绍完量子力学的基本公设与数学形式后，从数学上最简单，但经典情况下不存在的自旋入手</a:t>
            </a:r>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8029789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mc:AlternateContent xmlns:mc="http://schemas.openxmlformats.org/markup-compatibility/2006" xmlns:a14="http://schemas.microsoft.com/office/drawing/2010/main">
        <mc:Choice Requires="a14">
          <p:sp>
            <p:nvSpPr>
              <p:cNvPr id="2" name="文本框 1"/>
              <p:cNvSpPr txBox="1"/>
              <p:nvPr/>
            </p:nvSpPr>
            <p:spPr>
              <a:xfrm>
                <a:off x="499110" y="1046284"/>
                <a:ext cx="11801328" cy="5558638"/>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粒子状态的描述：由</a:t>
                </a:r>
                <a:r>
                  <a:rPr lang="en-US" altLang="zh-CN" sz="2000" dirty="0" smtClean="0">
                    <a:latin typeface="微软雅黑" panose="020B0503020204020204" pitchFamily="34" charset="-122"/>
                    <a:ea typeface="微软雅黑" panose="020B0503020204020204" pitchFamily="34" charset="-122"/>
                  </a:rPr>
                  <a:t>Hilbert</a:t>
                </a:r>
                <a:r>
                  <a:rPr lang="zh-CN" altLang="en-US" sz="2000" dirty="0" smtClean="0">
                    <a:latin typeface="微软雅黑" panose="020B0503020204020204" pitchFamily="34" charset="-122"/>
                    <a:ea typeface="微软雅黑" panose="020B0503020204020204" pitchFamily="34" charset="-122"/>
                  </a:rPr>
                  <a:t>空间里的一个“矢量”</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m:t>
                    </m:r>
                    <m:r>
                      <m:rPr>
                        <m:sty m:val="p"/>
                      </m:rPr>
                      <a:rPr lang="en-US" altLang="zh-CN" sz="2000" b="0" i="0" smtClean="0">
                        <a:latin typeface="Cambria Math" panose="02040503050406030204" pitchFamily="18" charset="0"/>
                        <a:ea typeface="微软雅黑" panose="020B0503020204020204" pitchFamily="34" charset="-122"/>
                      </a:rPr>
                      <m:t>Ψ</m:t>
                    </m:r>
                    <m:r>
                      <a:rPr lang="en-US" altLang="zh-CN" sz="2000" b="0" i="1" smtClean="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描述</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sz="2000" i="1">
                        <a:latin typeface="Cambria Math" panose="02040503050406030204" pitchFamily="18" charset="0"/>
                        <a:ea typeface="微软雅黑" panose="020B0503020204020204" pitchFamily="34" charset="-122"/>
                      </a:rPr>
                      <m:t>|</m:t>
                    </m:r>
                    <m:r>
                      <m:rPr>
                        <m:sty m:val="p"/>
                      </m:rPr>
                      <a:rPr lang="en-US" altLang="zh-CN" sz="2000">
                        <a:latin typeface="Cambria Math" panose="02040503050406030204" pitchFamily="18" charset="0"/>
                        <a:ea typeface="微软雅黑" panose="020B0503020204020204" pitchFamily="34" charset="-122"/>
                      </a:rPr>
                      <m:t>Ψ</m:t>
                    </m:r>
                    <m:r>
                      <a:rPr lang="en-US" altLang="zh-CN" sz="2000" i="1">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称作是一个</a:t>
                </a:r>
                <a:r>
                  <a:rPr lang="zh-CN" altLang="en-US" sz="2000" dirty="0">
                    <a:solidFill>
                      <a:srgbClr val="FF0000"/>
                    </a:solidFill>
                    <a:latin typeface="微软雅黑" panose="020B0503020204020204" pitchFamily="34" charset="-122"/>
                    <a:ea typeface="微软雅黑" panose="020B0503020204020204" pitchFamily="34" charset="-122"/>
                  </a:rPr>
                  <a:t>右</a:t>
                </a:r>
                <a:r>
                  <a:rPr lang="zh-CN" altLang="en-US" sz="2000" dirty="0" smtClean="0">
                    <a:solidFill>
                      <a:srgbClr val="FF0000"/>
                    </a:solidFill>
                    <a:latin typeface="微软雅黑" panose="020B0503020204020204" pitchFamily="34" charset="-122"/>
                    <a:ea typeface="微软雅黑" panose="020B0503020204020204" pitchFamily="34" charset="-122"/>
                  </a:rPr>
                  <a:t>矢 </a:t>
                </a:r>
                <a:r>
                  <a:rPr lang="zh-CN" altLang="en-US" sz="2000" dirty="0" smtClean="0">
                    <a:latin typeface="微软雅黑" panose="020B0503020204020204" pitchFamily="34" charset="-122"/>
                    <a:ea typeface="微软雅黑" panose="020B0503020204020204" pitchFamily="34" charset="-122"/>
                  </a:rPr>
                  <a:t>（</a:t>
                </a:r>
                <a:r>
                  <a:rPr lang="zh-CN" altLang="en-US" sz="2000" dirty="0" smtClean="0">
                    <a:solidFill>
                      <a:schemeClr val="tx1"/>
                    </a:solidFill>
                    <a:latin typeface="微软雅黑" panose="020B0503020204020204" pitchFamily="34" charset="-122"/>
                    <a:ea typeface="微软雅黑" panose="020B0503020204020204" pitchFamily="34" charset="-122"/>
                  </a:rPr>
                  <a:t>将</a:t>
                </a:r>
                <a14:m>
                  <m:oMath xmlns:m="http://schemas.openxmlformats.org/officeDocument/2006/math">
                    <m:r>
                      <a:rPr lang="en-US" altLang="zh-CN" sz="2000" b="0" i="1" smtClean="0">
                        <a:solidFill>
                          <a:schemeClr val="tx1"/>
                        </a:solidFill>
                        <a:latin typeface="Cambria Math" panose="02040503050406030204" pitchFamily="18" charset="0"/>
                        <a:ea typeface="微软雅黑" panose="020B0503020204020204" pitchFamily="34" charset="-122"/>
                      </a:rPr>
                      <m:t>⟨</m:t>
                    </m:r>
                    <m:r>
                      <m:rPr>
                        <m:sty m:val="p"/>
                      </m:rPr>
                      <a:rPr lang="en-US" altLang="zh-CN" sz="2000" b="0" i="0" smtClean="0">
                        <a:solidFill>
                          <a:schemeClr val="tx1"/>
                        </a:solidFill>
                        <a:latin typeface="Cambria Math" panose="02040503050406030204" pitchFamily="18" charset="0"/>
                        <a:ea typeface="微软雅黑" panose="020B0503020204020204" pitchFamily="34" charset="-122"/>
                      </a:rPr>
                      <m:t>Ψ</m:t>
                    </m:r>
                    <m:r>
                      <a:rPr lang="en-US" altLang="zh-CN" sz="2000" b="0" i="1" smtClean="0">
                        <a:solidFill>
                          <a:schemeClr val="tx1"/>
                        </a:solidFill>
                        <a:latin typeface="Cambria Math" panose="02040503050406030204" pitchFamily="18" charset="0"/>
                        <a:ea typeface="微软雅黑" panose="020B0503020204020204" pitchFamily="34" charset="-122"/>
                      </a:rPr>
                      <m:t>|</m:t>
                    </m:r>
                  </m:oMath>
                </a14:m>
                <a:r>
                  <a:rPr lang="zh-CN" altLang="en-US" sz="2000" dirty="0" smtClean="0">
                    <a:solidFill>
                      <a:schemeClr val="tx1"/>
                    </a:solidFill>
                    <a:latin typeface="微软雅黑" panose="020B0503020204020204" pitchFamily="34" charset="-122"/>
                    <a:ea typeface="微软雅黑" panose="020B0503020204020204" pitchFamily="34" charset="-122"/>
                  </a:rPr>
                  <a:t>称为</a:t>
                </a:r>
                <a:r>
                  <a:rPr lang="zh-CN" altLang="en-US" sz="2000" dirty="0">
                    <a:solidFill>
                      <a:srgbClr val="FF0000"/>
                    </a:solidFill>
                    <a:latin typeface="微软雅黑" panose="020B0503020204020204" pitchFamily="34" charset="-122"/>
                    <a:ea typeface="微软雅黑" panose="020B0503020204020204" pitchFamily="34" charset="-122"/>
                  </a:rPr>
                  <a:t>左</a:t>
                </a:r>
                <a:r>
                  <a:rPr lang="zh-CN" altLang="en-US" sz="2000" dirty="0" smtClean="0">
                    <a:solidFill>
                      <a:srgbClr val="FF0000"/>
                    </a:solidFill>
                    <a:latin typeface="微软雅黑" panose="020B0503020204020204" pitchFamily="34" charset="-122"/>
                    <a:ea typeface="微软雅黑" panose="020B0503020204020204" pitchFamily="34" charset="-122"/>
                  </a:rPr>
                  <a:t>矢</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Hilbert</a:t>
                </a:r>
                <a:r>
                  <a:rPr lang="zh-CN" altLang="en-US" sz="2000" dirty="0" smtClean="0">
                    <a:latin typeface="微软雅黑" panose="020B0503020204020204" pitchFamily="34" charset="-122"/>
                    <a:ea typeface="微软雅黑" panose="020B0503020204020204" pitchFamily="34" charset="-122"/>
                  </a:rPr>
                  <a:t>空间是定义在复数域上的完备内积空间，对于这个概念不需要记，只需知道这样的一个线性空间满足两点：</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latin typeface="微软雅黑" panose="020B0503020204020204" pitchFamily="34" charset="-122"/>
                    <a:ea typeface="微软雅黑" panose="020B0503020204020204" pitchFamily="34" charset="-122"/>
                  </a:rPr>
                  <a:t>1. </a:t>
                </a:r>
                <a:r>
                  <a:rPr lang="zh-CN" altLang="en-US" dirty="0" smtClean="0">
                    <a:latin typeface="微软雅黑" panose="020B0503020204020204" pitchFamily="34" charset="-122"/>
                    <a:ea typeface="微软雅黑" panose="020B0503020204020204" pitchFamily="34" charset="-122"/>
                  </a:rPr>
                  <a:t>具有复内积：</a:t>
                </a:r>
                <a:r>
                  <a:rPr lang="en-US" altLang="zh-CN" dirty="0">
                    <a:ea typeface="微软雅黑" panose="020B0503020204020204" pitchFamily="34" charset="-122"/>
                  </a:rPr>
                  <a:t> </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Φ</m:t>
                        </m:r>
                      </m:e>
                      <m:e>
                        <m:r>
                          <m:rPr>
                            <m:sty m:val="p"/>
                          </m:rPr>
                          <a:rPr lang="en-US" altLang="zh-CN">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e>
                          <m:e>
                            <m:r>
                              <m:rPr>
                                <m:sty m:val="p"/>
                              </m:rPr>
                              <a:rPr lang="en-US" altLang="zh-CN" b="0" i="0" smtClean="0">
                                <a:latin typeface="Cambria Math" panose="02040503050406030204" pitchFamily="18" charset="0"/>
                                <a:ea typeface="微软雅黑" panose="020B0503020204020204" pitchFamily="34" charset="-122"/>
                              </a:rPr>
                              <m:t>Φ</m:t>
                            </m:r>
                          </m:e>
                        </m:d>
                      </m:e>
                      <m:sup>
                        <m:r>
                          <a:rPr lang="en-US" altLang="zh-CN" b="0" i="1" smtClean="0">
                            <a:latin typeface="Cambria Math" panose="02040503050406030204" pitchFamily="18" charset="0"/>
                            <a:ea typeface="微软雅黑" panose="020B0503020204020204" pitchFamily="34" charset="-122"/>
                          </a:rPr>
                          <m:t>∗</m:t>
                        </m:r>
                      </m:sup>
                    </m:sSup>
                  </m:oMath>
                </a14:m>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（有限维和无穷维空间的复内积在数学部分都已</a:t>
                </a:r>
                <a:r>
                  <a:rPr lang="zh-CN" altLang="en-US" dirty="0">
                    <a:latin typeface="微软雅黑" panose="020B0503020204020204" pitchFamily="34" charset="-122"/>
                    <a:ea typeface="微软雅黑" panose="020B0503020204020204" pitchFamily="34" charset="-122"/>
                  </a:rPr>
                  <a:t>介绍</a:t>
                </a:r>
                <a:r>
                  <a:rPr lang="zh-CN" altLang="en-US" dirty="0" smtClean="0">
                    <a:latin typeface="微软雅黑" panose="020B0503020204020204" pitchFamily="34" charset="-122"/>
                    <a:ea typeface="微软雅黑" panose="020B0503020204020204" pitchFamily="34" charset="-122"/>
                  </a:rPr>
                  <a:t>过）</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latin typeface="微软雅黑" panose="020B0503020204020204" pitchFamily="34" charset="-122"/>
                    <a:ea typeface="微软雅黑" panose="020B0503020204020204" pitchFamily="34" charset="-122"/>
                  </a:rPr>
                  <a:t>2. </a:t>
                </a:r>
                <a:r>
                  <a:rPr lang="zh-CN" altLang="en-US" dirty="0" smtClean="0">
                    <a:latin typeface="微软雅黑" panose="020B0503020204020204" pitchFamily="34" charset="-122"/>
                    <a:ea typeface="微软雅黑" panose="020B0503020204020204" pitchFamily="34" charset="-122"/>
                  </a:rPr>
                  <a:t>对于无穷维空间（特别复函数空间）满足平方可积性：</a:t>
                </a:r>
                <a14:m>
                  <m:oMath xmlns:m="http://schemas.openxmlformats.org/officeDocument/2006/math">
                    <m:nary>
                      <m:naryPr>
                        <m:ctrlPr>
                          <a:rPr lang="en-US" altLang="zh-CN" b="0" i="1" smtClean="0">
                            <a:latin typeface="Cambria Math" panose="02040503050406030204" pitchFamily="18" charset="0"/>
                            <a:ea typeface="微软雅黑" panose="020B0503020204020204" pitchFamily="34" charset="-122"/>
                          </a:rPr>
                        </m:ctrlPr>
                      </m:naryPr>
                      <m:sub>
                        <m:r>
                          <m:rPr>
                            <m:brk m:alnAt="23"/>
                          </m:rP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sub>
                      <m:sup>
                        <m:r>
                          <a:rPr lang="en-US" altLang="zh-CN" b="0" i="1" smtClean="0">
                            <a:latin typeface="Cambria Math" panose="02040503050406030204" pitchFamily="18" charset="0"/>
                            <a:ea typeface="微软雅黑" panose="020B0503020204020204" pitchFamily="34" charset="-122"/>
                          </a:rPr>
                          <m:t>∞</m:t>
                        </m:r>
                      </m:sup>
                      <m:e>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𝑥</m:t>
                                    </m:r>
                                  </m:e>
                                </m:d>
                              </m:e>
                            </m:d>
                          </m:e>
                          <m:sup>
                            <m:r>
                              <a:rPr lang="en-US" altLang="zh-CN" b="0" i="1" smtClean="0">
                                <a:latin typeface="Cambria Math" panose="02040503050406030204" pitchFamily="18" charset="0"/>
                                <a:ea typeface="微软雅黑" panose="020B0503020204020204" pitchFamily="34" charset="-122"/>
                              </a:rPr>
                              <m:t>2</m:t>
                            </m:r>
                          </m:sup>
                        </m:sSup>
                      </m:e>
                    </m:nary>
                    <m:r>
                      <m:rPr>
                        <m:sty m:val="p"/>
                      </m:rPr>
                      <a:rPr lang="en-US" altLang="zh-CN" b="0" i="0" smtClean="0">
                        <a:latin typeface="Cambria Math" panose="02040503050406030204" pitchFamily="18" charset="0"/>
                        <a:ea typeface="微软雅黑" panose="020B0503020204020204" pitchFamily="34" charset="-122"/>
                      </a:rPr>
                      <m:t>d</m:t>
                    </m:r>
                    <m:r>
                      <a:rPr lang="en-US" altLang="zh-CN" b="0" i="1" smtClean="0">
                        <a:latin typeface="Cambria Math" panose="02040503050406030204" pitchFamily="18" charset="0"/>
                        <a:ea typeface="微软雅黑" panose="020B0503020204020204" pitchFamily="34" charset="-122"/>
                      </a:rPr>
                      <m:t>𝑥</m:t>
                    </m:r>
                  </m:oMath>
                </a14:m>
                <a:r>
                  <a:rPr lang="zh-CN" altLang="en-US" dirty="0" smtClean="0">
                    <a:latin typeface="微软雅黑" panose="020B0503020204020204" pitchFamily="34" charset="-122"/>
                    <a:ea typeface="微软雅黑" panose="020B0503020204020204" pitchFamily="34" charset="-122"/>
                  </a:rPr>
                  <a:t>有限</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粒子的状态满足态叠加原理：</a:t>
                </a:r>
                <a:r>
                  <a:rPr lang="en-US" altLang="zh-CN" sz="2000" dirty="0">
                    <a:ea typeface="微软雅黑" panose="020B0503020204020204" pitchFamily="34" charset="-122"/>
                  </a:rPr>
                  <a:t> </a:t>
                </a:r>
                <a14:m>
                  <m:oMath xmlns:m="http://schemas.openxmlformats.org/officeDocument/2006/math">
                    <m:d>
                      <m:dPr>
                        <m:begChr m:val="|"/>
                        <m:endChr m:val="⟩"/>
                        <m:ctrlPr>
                          <a:rPr lang="en-US" altLang="zh-CN" sz="2000" i="1">
                            <a:latin typeface="Cambria Math" panose="02040503050406030204" pitchFamily="18" charset="0"/>
                            <a:ea typeface="微软雅黑" panose="020B0503020204020204" pitchFamily="34" charset="-122"/>
                          </a:rPr>
                        </m:ctrlPr>
                      </m:dPr>
                      <m:e>
                        <m:r>
                          <m:rPr>
                            <m:sty m:val="p"/>
                          </m:rPr>
                          <a:rPr lang="en-US" altLang="zh-CN" sz="2000">
                            <a:latin typeface="Cambria Math" panose="02040503050406030204" pitchFamily="18" charset="0"/>
                            <a:ea typeface="微软雅黑" panose="020B0503020204020204" pitchFamily="34" charset="-122"/>
                          </a:rPr>
                          <m:t>Ψ</m:t>
                        </m:r>
                      </m:e>
                    </m:d>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𝑐</m:t>
                        </m:r>
                      </m:e>
                      <m:sub>
                        <m:r>
                          <a:rPr lang="en-US" altLang="zh-CN" sz="2000" b="0" i="1" smtClean="0">
                            <a:latin typeface="Cambria Math" panose="02040503050406030204" pitchFamily="18" charset="0"/>
                            <a:ea typeface="微软雅黑" panose="020B0503020204020204" pitchFamily="34" charset="-122"/>
                          </a:rPr>
                          <m:t>1</m:t>
                        </m:r>
                      </m:sub>
                    </m:sSub>
                    <m:d>
                      <m:dPr>
                        <m:begChr m:val="|"/>
                        <m:endChr m:val="⟩"/>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𝜓</m:t>
                            </m:r>
                          </m:e>
                          <m:sub>
                            <m:r>
                              <a:rPr lang="en-US" altLang="zh-CN" sz="2000" b="0" i="1" smtClean="0">
                                <a:latin typeface="Cambria Math" panose="02040503050406030204" pitchFamily="18" charset="0"/>
                                <a:ea typeface="微软雅黑" panose="020B0503020204020204" pitchFamily="34" charset="-122"/>
                              </a:rPr>
                              <m:t>1</m:t>
                            </m:r>
                          </m:sub>
                        </m:sSub>
                      </m:e>
                    </m:d>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𝑐</m:t>
                        </m:r>
                      </m:e>
                      <m:sub>
                        <m:r>
                          <a:rPr lang="en-US" altLang="zh-CN" sz="2000" b="0" i="1" smtClean="0">
                            <a:latin typeface="Cambria Math" panose="02040503050406030204" pitchFamily="18" charset="0"/>
                            <a:ea typeface="微软雅黑" panose="020B0503020204020204" pitchFamily="34" charset="-122"/>
                          </a:rPr>
                          <m:t>2</m:t>
                        </m:r>
                      </m:sub>
                    </m:sSub>
                    <m:d>
                      <m:dPr>
                        <m:begChr m:val="|"/>
                        <m:endChr m:val="⟩"/>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𝜓</m:t>
                            </m:r>
                          </m:e>
                          <m:sub>
                            <m:r>
                              <a:rPr lang="en-US" altLang="zh-CN" sz="2000" b="0" i="1" smtClean="0">
                                <a:latin typeface="Cambria Math" panose="02040503050406030204" pitchFamily="18" charset="0"/>
                                <a:ea typeface="微软雅黑" panose="020B0503020204020204" pitchFamily="34" charset="-122"/>
                              </a:rPr>
                              <m:t>2</m:t>
                            </m:r>
                          </m:sub>
                        </m:sSub>
                      </m:e>
                    </m:d>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𝑐</m:t>
                        </m:r>
                      </m:e>
                      <m:sub>
                        <m:r>
                          <a:rPr lang="en-US" altLang="zh-CN" sz="2000" b="0" i="1" smtClean="0">
                            <a:latin typeface="Cambria Math" panose="02040503050406030204" pitchFamily="18" charset="0"/>
                            <a:ea typeface="微软雅黑" panose="020B0503020204020204" pitchFamily="34" charset="-122"/>
                          </a:rPr>
                          <m:t>𝑛</m:t>
                        </m:r>
                      </m:sub>
                    </m:sSub>
                    <m:d>
                      <m:dPr>
                        <m:begChr m:val="|"/>
                        <m:endChr m:val="⟩"/>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𝜓</m:t>
                            </m:r>
                          </m:e>
                          <m:sub>
                            <m:r>
                              <a:rPr lang="en-US" altLang="zh-CN" sz="2000" b="0" i="1" smtClean="0">
                                <a:latin typeface="Cambria Math" panose="02040503050406030204" pitchFamily="18" charset="0"/>
                                <a:ea typeface="微软雅黑" panose="020B0503020204020204" pitchFamily="34" charset="-122"/>
                              </a:rPr>
                              <m:t>𝑛</m:t>
                            </m:r>
                          </m:sub>
                        </m:sSub>
                      </m:e>
                    </m:d>
                    <m:r>
                      <a:rPr lang="en-US" altLang="zh-CN" sz="2000" b="0" i="1" smtClean="0">
                        <a:latin typeface="Cambria Math" panose="02040503050406030204" pitchFamily="18" charset="0"/>
                        <a:ea typeface="微软雅黑" panose="020B0503020204020204" pitchFamily="34" charset="-122"/>
                      </a:rPr>
                      <m:t>+…</m:t>
                    </m:r>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其中</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𝑛</m:t>
                            </m:r>
                          </m:sub>
                        </m:sSub>
                      </m:e>
                    </m:d>
                    <m:r>
                      <a:rPr lang="en-US" altLang="zh-CN" b="0" i="1" smtClean="0">
                        <a:latin typeface="Cambria Math" panose="02040503050406030204" pitchFamily="18" charset="0"/>
                        <a:ea typeface="微软雅黑" panose="020B0503020204020204" pitchFamily="34" charset="-122"/>
                      </a:rPr>
                      <m:t>,…</m:t>
                    </m:r>
                  </m:oMath>
                </a14:m>
                <a:r>
                  <a:rPr lang="zh-CN" altLang="en-US" b="0" dirty="0" smtClean="0">
                    <a:latin typeface="微软雅黑" panose="020B0503020204020204" pitchFamily="34" charset="-122"/>
                    <a:ea typeface="微软雅黑" panose="020B0503020204020204" pitchFamily="34" charset="-122"/>
                  </a:rPr>
                  <a:t>是</a:t>
                </a:r>
                <a:r>
                  <a:rPr lang="zh-CN" altLang="en-US" b="0" dirty="0" smtClean="0">
                    <a:solidFill>
                      <a:srgbClr val="FF0000"/>
                    </a:solidFill>
                    <a:latin typeface="微软雅黑" panose="020B0503020204020204" pitchFamily="34" charset="-122"/>
                    <a:ea typeface="微软雅黑" panose="020B0503020204020204" pitchFamily="34" charset="-122"/>
                  </a:rPr>
                  <a:t>线性无关</a:t>
                </a:r>
                <a:r>
                  <a:rPr lang="zh-CN" altLang="en-US" b="0" dirty="0" smtClean="0">
                    <a:latin typeface="微软雅黑" panose="020B0503020204020204" pitchFamily="34" charset="-122"/>
                    <a:ea typeface="微软雅黑" panose="020B0503020204020204" pitchFamily="34" charset="-122"/>
                  </a:rPr>
                  <a:t>的基矢，在量子力学里认为两个</a:t>
                </a:r>
                <a:r>
                  <a:rPr lang="zh-CN" altLang="en-US" b="0" dirty="0" smtClean="0">
                    <a:solidFill>
                      <a:srgbClr val="FF0000"/>
                    </a:solidFill>
                    <a:latin typeface="微软雅黑" panose="020B0503020204020204" pitchFamily="34" charset="-122"/>
                    <a:ea typeface="微软雅黑" panose="020B0503020204020204" pitchFamily="34" charset="-122"/>
                  </a:rPr>
                  <a:t>线性无关</a:t>
                </a:r>
                <a:r>
                  <a:rPr lang="zh-CN" altLang="en-US" b="0" dirty="0" smtClean="0">
                    <a:latin typeface="微软雅黑" panose="020B0503020204020204" pitchFamily="34" charset="-122"/>
                    <a:ea typeface="微软雅黑" panose="020B0503020204020204" pitchFamily="34" charset="-122"/>
                  </a:rPr>
                  <a:t>的矢量才是不同的态</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b="0" dirty="0" smtClean="0">
                    <a:latin typeface="微软雅黑" panose="020B0503020204020204" pitchFamily="34" charset="-122"/>
                    <a:ea typeface="微软雅黑" panose="020B0503020204020204" pitchFamily="34" charset="-122"/>
                  </a:rPr>
                  <a:t>即</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r>
                  <a:rPr lang="zh-CN" altLang="en-US" b="0"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𝑘</m:t>
                    </m:r>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r>
                  <a:rPr lang="zh-CN" altLang="en-US" b="0" dirty="0" smtClean="0">
                    <a:latin typeface="微软雅黑" panose="020B0503020204020204" pitchFamily="34" charset="-122"/>
                    <a:ea typeface="微软雅黑" panose="020B0503020204020204" pitchFamily="34" charset="-122"/>
                  </a:rPr>
                  <a:t>认为是同一个态，这点在后面会进行讨论</a:t>
                </a:r>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因此在基矢的选取上，通常选择一组正交归一基，满足</a:t>
                </a:r>
                <a14:m>
                  <m:oMath xmlns:m="http://schemas.openxmlformats.org/officeDocument/2006/math">
                    <m:r>
                      <a:rPr lang="en-US" altLang="zh-CN" b="0" i="0"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𝛿</m:t>
                        </m:r>
                      </m:e>
                      <m:sub>
                        <m:r>
                          <a:rPr lang="en-US" altLang="zh-CN" b="0" i="1" smtClean="0">
                            <a:latin typeface="Cambria Math" panose="02040503050406030204" pitchFamily="18" charset="0"/>
                            <a:ea typeface="微软雅黑" panose="020B0503020204020204" pitchFamily="34" charset="-122"/>
                          </a:rPr>
                          <m:t>𝑖𝑗</m:t>
                        </m:r>
                      </m:sub>
                    </m:sSub>
                  </m:oMath>
                </a14:m>
                <a:endParaRPr lang="en-US" altLang="zh-CN" b="0" dirty="0" smtClean="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99110" y="1046284"/>
                <a:ext cx="11801328" cy="5558638"/>
              </a:xfrm>
              <a:prstGeom prst="rect">
                <a:avLst/>
              </a:prstGeom>
              <a:blipFill rotWithShape="0">
                <a:blip r:embed="rId3"/>
                <a:stretch>
                  <a:fillRect l="-5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2615287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2" name="文本框 1"/>
          <p:cNvSpPr txBox="1"/>
          <p:nvPr/>
        </p:nvSpPr>
        <p:spPr>
          <a:xfrm>
            <a:off x="418147" y="873094"/>
            <a:ext cx="2149207" cy="553998"/>
          </a:xfrm>
          <a:prstGeom prst="rect">
            <a:avLst/>
          </a:prstGeom>
          <a:noFill/>
        </p:spPr>
        <p:txBody>
          <a:bodyPr wrap="square" rtlCol="0">
            <a:spAutoFit/>
          </a:bodyPr>
          <a:lstStyle/>
          <a:p>
            <a:pPr>
              <a:lnSpc>
                <a:spcPct val="150000"/>
              </a:lnSpc>
            </a:pPr>
            <a:r>
              <a:rPr lang="zh-CN" altLang="en-US" sz="2000" b="1" dirty="0" smtClean="0">
                <a:latin typeface="微软雅黑" panose="020B0503020204020204" pitchFamily="34" charset="-122"/>
                <a:ea typeface="微软雅黑" panose="020B0503020204020204" pitchFamily="34" charset="-122"/>
              </a:rPr>
              <a:t>狄拉克投影算符</a:t>
            </a:r>
            <a:endParaRPr lang="en-US" altLang="zh-CN" b="1" dirty="0" smtClean="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矩形 4"/>
              <p:cNvSpPr/>
              <p:nvPr/>
            </p:nvSpPr>
            <p:spPr>
              <a:xfrm>
                <a:off x="742315" y="1320367"/>
                <a:ext cx="4283224" cy="507831"/>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1</m:t>
                          </m:r>
                        </m:sub>
                      </m:sSub>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2</m:t>
                          </m:r>
                        </m:sub>
                      </m:sSub>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𝑛</m:t>
                          </m:r>
                        </m:sub>
                      </m:sSub>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𝑛</m:t>
                              </m:r>
                            </m:sub>
                          </m:sSub>
                        </m:e>
                      </m:d>
                      <m:r>
                        <a:rPr lang="en-US" altLang="zh-CN" i="1">
                          <a:latin typeface="Cambria Math" panose="02040503050406030204" pitchFamily="18" charset="0"/>
                          <a:ea typeface="微软雅黑" panose="020B0503020204020204" pitchFamily="34" charset="-122"/>
                        </a:rPr>
                        <m:t>+…</m:t>
                      </m:r>
                    </m:oMath>
                  </m:oMathPara>
                </a14:m>
                <a:endParaRPr lang="en-US" altLang="zh-CN" dirty="0">
                  <a:latin typeface="微软雅黑" panose="020B0503020204020204" pitchFamily="34" charset="-122"/>
                  <a:ea typeface="微软雅黑" panose="020B0503020204020204" pitchFamily="34"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742315" y="1320367"/>
                <a:ext cx="4283224" cy="507831"/>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418147" y="1825124"/>
                <a:ext cx="11407165" cy="646331"/>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选</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i="1">
                        <a:latin typeface="Cambria Math" panose="02040503050406030204" pitchFamily="18" charset="0"/>
                        <a:ea typeface="微软雅黑" panose="020B0503020204020204" pitchFamily="34" charset="-122"/>
                      </a:rPr>
                      <m:t>, </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𝑛</m:t>
                            </m:r>
                          </m:sub>
                        </m:sSub>
                      </m:e>
                    </m:d>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是正交归一基后，可以同在数学部分时的操作一样，分别对等式两侧乘上左矢</a:t>
                </a:r>
                <a14:m>
                  <m:oMath xmlns:m="http://schemas.openxmlformats.org/officeDocument/2006/math">
                    <m:r>
                      <a:rPr lang="en-US" altLang="zh-CN" i="1">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做内积，结果有</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18147" y="1825124"/>
                <a:ext cx="11407165" cy="646331"/>
              </a:xfrm>
              <a:prstGeom prst="rect">
                <a:avLst/>
              </a:prstGeom>
              <a:blipFill rotWithShape="0">
                <a:blip r:embed="rId4"/>
                <a:stretch>
                  <a:fillRect l="-481" t="-4717" r="-2405"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20712" y="2408541"/>
                <a:ext cx="7663059" cy="507831"/>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𝑖</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𝑛</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𝑛</m:t>
                              </m:r>
                            </m:sub>
                          </m:sSub>
                        </m:e>
                      </m:d>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𝑖</m:t>
                          </m:r>
                        </m:sub>
                      </m:sSub>
                    </m:oMath>
                  </m:oMathPara>
                </a14:m>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620712" y="2408541"/>
                <a:ext cx="7663059" cy="507831"/>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418147" y="3051798"/>
                <a:ext cx="12003845" cy="1903983"/>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将结果代入到</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里，将</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重写为</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d>
                        <m:dPr>
                          <m:beg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1</m:t>
                              </m:r>
                            </m:sub>
                          </m:sSub>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e>
                          </m:d>
                        </m:e>
                      </m:d>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d>
                        <m:dPr>
                          <m:beg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2</m:t>
                              </m:r>
                            </m:sub>
                          </m:sSub>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e>
                      </m:d>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d>
                        <m:dPr>
                          <m:beg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𝑛</m:t>
                              </m:r>
                            </m:sub>
                          </m:sSub>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e>
                      </m:d>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𝑛</m:t>
                              </m:r>
                            </m:sub>
                          </m:sSub>
                        </m:e>
                      </m:d>
                      <m:r>
                        <a:rPr lang="en-US" altLang="zh-CN" b="0" i="1" smtClean="0">
                          <a:latin typeface="Cambria Math" panose="02040503050406030204" pitchFamily="18" charset="0"/>
                          <a:ea typeface="微软雅黑" panose="020B0503020204020204" pitchFamily="34" charset="-122"/>
                        </a:rPr>
                        <m:t>+⋯</m:t>
                      </m:r>
                    </m:oMath>
                  </m:oMathPara>
                </a14:m>
                <a:endParaRPr lang="en-US" altLang="zh-CN" b="0" i="1" dirty="0" smtClean="0">
                  <a:latin typeface="Cambria Math" panose="02040503050406030204" pitchFamily="18" charset="0"/>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solidFill>
                                <a:srgbClr val="FF0000"/>
                              </a:solidFill>
                              <a:latin typeface="Cambria Math" panose="02040503050406030204" pitchFamily="18" charset="0"/>
                              <a:ea typeface="微软雅黑" panose="020B0503020204020204" pitchFamily="34" charset="-122"/>
                            </a:rPr>
                          </m:ctrlPr>
                        </m:dPr>
                        <m:e>
                          <m:sSub>
                            <m:sSubPr>
                              <m:ctrlPr>
                                <a:rPr lang="en-US" altLang="zh-CN" b="0" i="1" smtClean="0">
                                  <a:solidFill>
                                    <a:srgbClr val="FF0000"/>
                                  </a:solidFill>
                                  <a:latin typeface="Cambria Math" panose="02040503050406030204" pitchFamily="18" charset="0"/>
                                  <a:ea typeface="微软雅黑" panose="020B0503020204020204" pitchFamily="34" charset="-122"/>
                                </a:rPr>
                              </m:ctrlPr>
                            </m:sSubPr>
                            <m:e>
                              <m:r>
                                <a:rPr lang="en-US" altLang="zh-CN" b="0" i="1" smtClean="0">
                                  <a:solidFill>
                                    <a:srgbClr val="FF0000"/>
                                  </a:solidFill>
                                  <a:latin typeface="Cambria Math" panose="02040503050406030204" pitchFamily="18" charset="0"/>
                                  <a:ea typeface="微软雅黑" panose="020B0503020204020204" pitchFamily="34" charset="-122"/>
                                </a:rPr>
                                <m:t>𝜓</m:t>
                              </m:r>
                            </m:e>
                            <m:sub>
                              <m:r>
                                <a:rPr lang="en-US" altLang="zh-CN" b="0" i="1" smtClean="0">
                                  <a:solidFill>
                                    <a:srgbClr val="FF0000"/>
                                  </a:solidFill>
                                  <a:latin typeface="Cambria Math" panose="02040503050406030204" pitchFamily="18" charset="0"/>
                                  <a:ea typeface="微软雅黑" panose="020B0503020204020204" pitchFamily="34" charset="-122"/>
                                </a:rPr>
                                <m:t>1</m:t>
                              </m:r>
                            </m:sub>
                          </m:sSub>
                        </m:e>
                      </m:d>
                      <m:d>
                        <m:dPr>
                          <m:begChr m:val="⟨"/>
                          <m:endChr m:val="⟩"/>
                          <m:ctrlPr>
                            <a:rPr lang="en-US" altLang="zh-CN" b="0" i="1" smtClean="0">
                              <a:solidFill>
                                <a:srgbClr val="FF0000"/>
                              </a:solidFill>
                              <a:latin typeface="Cambria Math" panose="02040503050406030204" pitchFamily="18" charset="0"/>
                              <a:ea typeface="微软雅黑" panose="020B0503020204020204" pitchFamily="34" charset="-122"/>
                            </a:rPr>
                          </m:ctrlPr>
                        </m:dPr>
                        <m:e>
                          <m:sSub>
                            <m:sSubPr>
                              <m:ctrlPr>
                                <a:rPr lang="en-US" altLang="zh-CN" b="0" i="1" smtClean="0">
                                  <a:solidFill>
                                    <a:srgbClr val="FF0000"/>
                                  </a:solidFill>
                                  <a:latin typeface="Cambria Math" panose="02040503050406030204" pitchFamily="18" charset="0"/>
                                  <a:ea typeface="微软雅黑" panose="020B0503020204020204" pitchFamily="34" charset="-122"/>
                                </a:rPr>
                              </m:ctrlPr>
                            </m:sSubPr>
                            <m:e>
                              <m:r>
                                <a:rPr lang="en-US" altLang="zh-CN" b="0" i="1" smtClean="0">
                                  <a:solidFill>
                                    <a:srgbClr val="FF0000"/>
                                  </a:solidFill>
                                  <a:latin typeface="Cambria Math" panose="02040503050406030204" pitchFamily="18" charset="0"/>
                                  <a:ea typeface="微软雅黑" panose="020B0503020204020204" pitchFamily="34" charset="-122"/>
                                </a:rPr>
                                <m:t>𝜓</m:t>
                              </m:r>
                            </m:e>
                            <m:sub>
                              <m:r>
                                <a:rPr lang="en-US" altLang="zh-CN" b="0" i="1" smtClean="0">
                                  <a:solidFill>
                                    <a:srgbClr val="FF0000"/>
                                  </a:solidFill>
                                  <a:latin typeface="Cambria Math" panose="02040503050406030204" pitchFamily="18" charset="0"/>
                                  <a:ea typeface="微软雅黑" panose="020B0503020204020204" pitchFamily="34" charset="-122"/>
                                </a:rPr>
                                <m:t>1</m:t>
                              </m:r>
                            </m:sub>
                          </m:sSub>
                        </m:e>
                        <m:e>
                          <m:r>
                            <m:rPr>
                              <m:sty m:val="p"/>
                            </m:rPr>
                            <a:rPr lang="en-US" altLang="zh-CN" b="0" i="0" smtClean="0">
                              <a:solidFill>
                                <a:schemeClr val="tx1"/>
                              </a:solidFill>
                              <a:latin typeface="Cambria Math" panose="02040503050406030204" pitchFamily="18" charset="0"/>
                              <a:ea typeface="微软雅黑" panose="020B0503020204020204" pitchFamily="34" charset="-122"/>
                            </a:rPr>
                            <m:t>Ψ</m:t>
                          </m:r>
                        </m:e>
                      </m:d>
                      <m:r>
                        <a:rPr lang="en-US" altLang="zh-CN" b="0" i="1" smtClean="0">
                          <a:solidFill>
                            <a:schemeClr val="tx1"/>
                          </a:solidFill>
                          <a:latin typeface="Cambria Math" panose="02040503050406030204" pitchFamily="18" charset="0"/>
                          <a:ea typeface="微软雅黑" panose="020B0503020204020204" pitchFamily="34" charset="-122"/>
                        </a:rPr>
                        <m:t>+</m:t>
                      </m:r>
                      <m:d>
                        <m:dPr>
                          <m:begChr m:val="|"/>
                          <m:endChr m:val="⟩"/>
                          <m:ctrlPr>
                            <a:rPr lang="en-US" altLang="zh-CN" i="1">
                              <a:solidFill>
                                <a:srgbClr val="FF0000"/>
                              </a:solidFill>
                              <a:latin typeface="Cambria Math" panose="02040503050406030204" pitchFamily="18" charset="0"/>
                              <a:ea typeface="微软雅黑" panose="020B0503020204020204" pitchFamily="34" charset="-122"/>
                            </a:rPr>
                          </m:ctrlPr>
                        </m:dPr>
                        <m:e>
                          <m:sSub>
                            <m:sSubPr>
                              <m:ctrlPr>
                                <a:rPr lang="en-US" altLang="zh-CN" i="1">
                                  <a:solidFill>
                                    <a:srgbClr val="FF0000"/>
                                  </a:solidFill>
                                  <a:latin typeface="Cambria Math" panose="02040503050406030204" pitchFamily="18" charset="0"/>
                                  <a:ea typeface="微软雅黑" panose="020B0503020204020204" pitchFamily="34" charset="-122"/>
                                </a:rPr>
                              </m:ctrlPr>
                            </m:sSubPr>
                            <m:e>
                              <m:r>
                                <a:rPr lang="en-US" altLang="zh-CN" i="1">
                                  <a:solidFill>
                                    <a:srgbClr val="FF0000"/>
                                  </a:solidFill>
                                  <a:latin typeface="Cambria Math" panose="02040503050406030204" pitchFamily="18" charset="0"/>
                                  <a:ea typeface="微软雅黑" panose="020B0503020204020204" pitchFamily="34" charset="-122"/>
                                </a:rPr>
                                <m:t>𝜓</m:t>
                              </m:r>
                            </m:e>
                            <m:sub>
                              <m:r>
                                <a:rPr lang="en-US" altLang="zh-CN" b="0" i="1" smtClean="0">
                                  <a:solidFill>
                                    <a:srgbClr val="FF0000"/>
                                  </a:solidFill>
                                  <a:latin typeface="Cambria Math" panose="02040503050406030204" pitchFamily="18" charset="0"/>
                                  <a:ea typeface="微软雅黑" panose="020B0503020204020204" pitchFamily="34" charset="-122"/>
                                </a:rPr>
                                <m:t>2</m:t>
                              </m:r>
                            </m:sub>
                          </m:sSub>
                        </m:e>
                      </m:d>
                      <m:d>
                        <m:dPr>
                          <m:begChr m:val="⟨"/>
                          <m:endChr m:val="⟩"/>
                          <m:ctrlPr>
                            <a:rPr lang="en-US" altLang="zh-CN" i="1">
                              <a:solidFill>
                                <a:srgbClr val="FF0000"/>
                              </a:solidFill>
                              <a:latin typeface="Cambria Math" panose="02040503050406030204" pitchFamily="18" charset="0"/>
                              <a:ea typeface="微软雅黑" panose="020B0503020204020204" pitchFamily="34" charset="-122"/>
                            </a:rPr>
                          </m:ctrlPr>
                        </m:dPr>
                        <m:e>
                          <m:sSub>
                            <m:sSubPr>
                              <m:ctrlPr>
                                <a:rPr lang="en-US" altLang="zh-CN" i="1">
                                  <a:solidFill>
                                    <a:srgbClr val="FF0000"/>
                                  </a:solidFill>
                                  <a:latin typeface="Cambria Math" panose="02040503050406030204" pitchFamily="18" charset="0"/>
                                  <a:ea typeface="微软雅黑" panose="020B0503020204020204" pitchFamily="34" charset="-122"/>
                                </a:rPr>
                              </m:ctrlPr>
                            </m:sSubPr>
                            <m:e>
                              <m:r>
                                <a:rPr lang="en-US" altLang="zh-CN" i="1">
                                  <a:solidFill>
                                    <a:srgbClr val="FF0000"/>
                                  </a:solidFill>
                                  <a:latin typeface="Cambria Math" panose="02040503050406030204" pitchFamily="18" charset="0"/>
                                  <a:ea typeface="微软雅黑" panose="020B0503020204020204" pitchFamily="34" charset="-122"/>
                                </a:rPr>
                                <m:t>𝜓</m:t>
                              </m:r>
                            </m:e>
                            <m:sub>
                              <m:r>
                                <a:rPr lang="en-US" altLang="zh-CN" b="0" i="1" smtClean="0">
                                  <a:solidFill>
                                    <a:srgbClr val="FF0000"/>
                                  </a:solidFill>
                                  <a:latin typeface="Cambria Math" panose="02040503050406030204" pitchFamily="18" charset="0"/>
                                  <a:ea typeface="微软雅黑" panose="020B0503020204020204" pitchFamily="34" charset="-122"/>
                                </a:rPr>
                                <m:t>2</m:t>
                              </m:r>
                            </m:sub>
                          </m:sSub>
                        </m:e>
                        <m:e>
                          <m:r>
                            <m:rPr>
                              <m:sty m:val="p"/>
                            </m:rPr>
                            <a:rPr lang="en-US" altLang="zh-CN">
                              <a:latin typeface="Cambria Math" panose="02040503050406030204" pitchFamily="18" charset="0"/>
                              <a:ea typeface="微软雅黑" panose="020B0503020204020204" pitchFamily="34" charset="-122"/>
                            </a:rPr>
                            <m:t>Ψ</m:t>
                          </m:r>
                        </m:e>
                      </m:d>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solidFill>
                                <a:srgbClr val="FF0000"/>
                              </a:solidFill>
                              <a:latin typeface="Cambria Math" panose="02040503050406030204" pitchFamily="18" charset="0"/>
                              <a:ea typeface="微软雅黑" panose="020B0503020204020204" pitchFamily="34" charset="-122"/>
                            </a:rPr>
                          </m:ctrlPr>
                        </m:dPr>
                        <m:e>
                          <m:sSub>
                            <m:sSubPr>
                              <m:ctrlPr>
                                <a:rPr lang="en-US" altLang="zh-CN" i="1">
                                  <a:solidFill>
                                    <a:srgbClr val="FF0000"/>
                                  </a:solidFill>
                                  <a:latin typeface="Cambria Math" panose="02040503050406030204" pitchFamily="18" charset="0"/>
                                  <a:ea typeface="微软雅黑" panose="020B0503020204020204" pitchFamily="34" charset="-122"/>
                                </a:rPr>
                              </m:ctrlPr>
                            </m:sSubPr>
                            <m:e>
                              <m:r>
                                <a:rPr lang="en-US" altLang="zh-CN" i="1">
                                  <a:solidFill>
                                    <a:srgbClr val="FF0000"/>
                                  </a:solidFill>
                                  <a:latin typeface="Cambria Math" panose="02040503050406030204" pitchFamily="18" charset="0"/>
                                  <a:ea typeface="微软雅黑" panose="020B0503020204020204" pitchFamily="34" charset="-122"/>
                                </a:rPr>
                                <m:t>𝜓</m:t>
                              </m:r>
                            </m:e>
                            <m:sub>
                              <m:r>
                                <a:rPr lang="en-US" altLang="zh-CN" b="0" i="1" smtClean="0">
                                  <a:solidFill>
                                    <a:srgbClr val="FF0000"/>
                                  </a:solidFill>
                                  <a:latin typeface="Cambria Math" panose="02040503050406030204" pitchFamily="18" charset="0"/>
                                  <a:ea typeface="微软雅黑" panose="020B0503020204020204" pitchFamily="34" charset="-122"/>
                                </a:rPr>
                                <m:t>𝑛</m:t>
                              </m:r>
                            </m:sub>
                          </m:sSub>
                        </m:e>
                      </m:d>
                      <m:d>
                        <m:dPr>
                          <m:begChr m:val="⟨"/>
                          <m:endChr m:val="⟩"/>
                          <m:ctrlPr>
                            <a:rPr lang="en-US" altLang="zh-CN" i="1">
                              <a:solidFill>
                                <a:srgbClr val="FF0000"/>
                              </a:solidFill>
                              <a:latin typeface="Cambria Math" panose="02040503050406030204" pitchFamily="18" charset="0"/>
                              <a:ea typeface="微软雅黑" panose="020B0503020204020204" pitchFamily="34" charset="-122"/>
                            </a:rPr>
                          </m:ctrlPr>
                        </m:dPr>
                        <m:e>
                          <m:sSub>
                            <m:sSubPr>
                              <m:ctrlPr>
                                <a:rPr lang="en-US" altLang="zh-CN" i="1">
                                  <a:solidFill>
                                    <a:srgbClr val="FF0000"/>
                                  </a:solidFill>
                                  <a:latin typeface="Cambria Math" panose="02040503050406030204" pitchFamily="18" charset="0"/>
                                  <a:ea typeface="微软雅黑" panose="020B0503020204020204" pitchFamily="34" charset="-122"/>
                                </a:rPr>
                              </m:ctrlPr>
                            </m:sSubPr>
                            <m:e>
                              <m:r>
                                <a:rPr lang="en-US" altLang="zh-CN" i="1">
                                  <a:solidFill>
                                    <a:srgbClr val="FF0000"/>
                                  </a:solidFill>
                                  <a:latin typeface="Cambria Math" panose="02040503050406030204" pitchFamily="18" charset="0"/>
                                  <a:ea typeface="微软雅黑" panose="020B0503020204020204" pitchFamily="34" charset="-122"/>
                                </a:rPr>
                                <m:t>𝜓</m:t>
                              </m:r>
                            </m:e>
                            <m:sub>
                              <m:r>
                                <a:rPr lang="en-US" altLang="zh-CN" b="0" i="1" smtClean="0">
                                  <a:solidFill>
                                    <a:srgbClr val="FF0000"/>
                                  </a:solidFill>
                                  <a:latin typeface="Cambria Math" panose="02040503050406030204" pitchFamily="18" charset="0"/>
                                  <a:ea typeface="微软雅黑" panose="020B0503020204020204" pitchFamily="34" charset="-122"/>
                                </a:rPr>
                                <m:t>𝑛</m:t>
                              </m:r>
                            </m:sub>
                          </m:sSub>
                        </m:e>
                        <m:e>
                          <m:r>
                            <m:rPr>
                              <m:sty m:val="p"/>
                            </m:rPr>
                            <a:rPr lang="en-US" altLang="zh-CN">
                              <a:latin typeface="Cambria Math" panose="02040503050406030204" pitchFamily="18" charset="0"/>
                              <a:ea typeface="微软雅黑" panose="020B0503020204020204" pitchFamily="34" charset="-122"/>
                            </a:rPr>
                            <m:t>Ψ</m:t>
                          </m:r>
                        </m:e>
                      </m:d>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记算符</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𝑃</m:t>
                            </m:r>
                          </m:e>
                        </m:acc>
                      </m:e>
                      <m:sub>
                        <m:r>
                          <a:rPr lang="en-US" altLang="zh-CN" b="0" i="1" smtClean="0">
                            <a:latin typeface="Cambria Math" panose="02040503050406030204" pitchFamily="18" charset="0"/>
                            <a:ea typeface="微软雅黑" panose="020B0503020204020204" pitchFamily="34" charset="-122"/>
                          </a:rPr>
                          <m:t>𝑖</m:t>
                        </m:r>
                      </m:sub>
                    </m:sSub>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i="1" smtClean="0">
                            <a:solidFill>
                              <a:schemeClr val="tx1"/>
                            </a:solidFill>
                            <a:latin typeface="Cambria Math" panose="02040503050406030204" pitchFamily="18" charset="0"/>
                            <a:ea typeface="微软雅黑" panose="020B0503020204020204" pitchFamily="34" charset="-122"/>
                          </a:rPr>
                        </m:ctrlPr>
                      </m:dPr>
                      <m:e>
                        <m:sSub>
                          <m:sSubPr>
                            <m:ctrlPr>
                              <a:rPr lang="en-US" altLang="zh-CN" i="1">
                                <a:solidFill>
                                  <a:schemeClr val="tx1"/>
                                </a:solidFill>
                                <a:latin typeface="Cambria Math" panose="02040503050406030204" pitchFamily="18" charset="0"/>
                                <a:ea typeface="微软雅黑" panose="020B0503020204020204" pitchFamily="34" charset="-122"/>
                              </a:rPr>
                            </m:ctrlPr>
                          </m:sSubPr>
                          <m:e>
                            <m:r>
                              <a:rPr lang="en-US" altLang="zh-CN" i="1">
                                <a:solidFill>
                                  <a:schemeClr val="tx1"/>
                                </a:solidFill>
                                <a:latin typeface="Cambria Math" panose="02040503050406030204" pitchFamily="18" charset="0"/>
                                <a:ea typeface="微软雅黑" panose="020B0503020204020204" pitchFamily="34" charset="-122"/>
                              </a:rPr>
                              <m:t>𝜓</m:t>
                            </m:r>
                          </m:e>
                          <m:sub>
                            <m:r>
                              <a:rPr lang="en-US" altLang="zh-CN" b="0" i="1" smtClean="0">
                                <a:solidFill>
                                  <a:schemeClr val="tx1"/>
                                </a:solidFill>
                                <a:latin typeface="Cambria Math" panose="02040503050406030204" pitchFamily="18" charset="0"/>
                                <a:ea typeface="微软雅黑" panose="020B0503020204020204" pitchFamily="34" charset="-122"/>
                              </a:rPr>
                              <m:t>𝑖</m:t>
                            </m:r>
                          </m:sub>
                        </m:sSub>
                      </m:e>
                    </m:d>
                    <m:r>
                      <a:rPr lang="en-US" altLang="zh-CN" b="0" i="1" smtClean="0">
                        <a:solidFill>
                          <a:schemeClr val="tx1"/>
                        </a:solidFill>
                        <a:latin typeface="Cambria Math" panose="02040503050406030204" pitchFamily="18" charset="0"/>
                        <a:ea typeface="微软雅黑" panose="020B0503020204020204" pitchFamily="34" charset="-122"/>
                      </a:rPr>
                      <m:t>⟨</m:t>
                    </m:r>
                    <m:sSub>
                      <m:sSubPr>
                        <m:ctrlPr>
                          <a:rPr lang="en-US" altLang="zh-CN" b="0" i="1" smtClean="0">
                            <a:solidFill>
                              <a:schemeClr val="tx1"/>
                            </a:solidFill>
                            <a:latin typeface="Cambria Math" panose="02040503050406030204" pitchFamily="18" charset="0"/>
                            <a:ea typeface="微软雅黑" panose="020B0503020204020204" pitchFamily="34" charset="-122"/>
                          </a:rPr>
                        </m:ctrlPr>
                      </m:sSubPr>
                      <m:e>
                        <m:r>
                          <a:rPr lang="en-US" altLang="zh-CN" b="0" i="1" smtClean="0">
                            <a:solidFill>
                              <a:schemeClr val="tx1"/>
                            </a:solidFill>
                            <a:latin typeface="Cambria Math" panose="02040503050406030204" pitchFamily="18" charset="0"/>
                            <a:ea typeface="微软雅黑" panose="020B0503020204020204" pitchFamily="34" charset="-122"/>
                          </a:rPr>
                          <m:t>𝜓</m:t>
                        </m:r>
                      </m:e>
                      <m:sub>
                        <m:r>
                          <a:rPr lang="en-US" altLang="zh-CN" b="0" i="1" smtClean="0">
                            <a:solidFill>
                              <a:schemeClr val="tx1"/>
                            </a:solidFill>
                            <a:latin typeface="Cambria Math" panose="02040503050406030204" pitchFamily="18" charset="0"/>
                            <a:ea typeface="微软雅黑" panose="020B0503020204020204" pitchFamily="34" charset="-122"/>
                          </a:rPr>
                          <m:t>𝑖</m:t>
                        </m:r>
                      </m:sub>
                    </m:sSub>
                    <m:r>
                      <a:rPr lang="en-US" altLang="zh-CN" b="0" i="1" smtClean="0">
                        <a:solidFill>
                          <a:schemeClr val="tx1"/>
                        </a:solidFill>
                        <a:latin typeface="Cambria Math" panose="02040503050406030204" pitchFamily="18" charset="0"/>
                        <a:ea typeface="微软雅黑" panose="020B0503020204020204" pitchFamily="34" charset="-122"/>
                      </a:rPr>
                      <m:t>|</m:t>
                    </m:r>
                  </m:oMath>
                </a14:m>
                <a:r>
                  <a:rPr lang="zh-CN" altLang="en-US" dirty="0" smtClean="0">
                    <a:solidFill>
                      <a:schemeClr val="tx1"/>
                    </a:solidFill>
                    <a:latin typeface="微软雅黑" panose="020B0503020204020204" pitchFamily="34" charset="-122"/>
                    <a:ea typeface="微软雅黑" panose="020B0503020204020204" pitchFamily="34" charset="-122"/>
                  </a:rPr>
                  <a:t>，可得</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oMath>
                </a14:m>
                <a:endParaRPr lang="en-US" altLang="zh-CN" dirty="0" smtClean="0">
                  <a:solidFill>
                    <a:schemeClr val="tx1"/>
                  </a:solidFill>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即这个算符的效果相当于将态</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投影到它的第</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𝑖</m:t>
                    </m:r>
                  </m:oMath>
                </a14:m>
                <a:r>
                  <a:rPr lang="zh-CN" altLang="en-US" dirty="0" smtClean="0">
                    <a:latin typeface="微软雅黑" panose="020B0503020204020204" pitchFamily="34" charset="-122"/>
                    <a:ea typeface="微软雅黑" panose="020B0503020204020204" pitchFamily="34" charset="-122"/>
                  </a:rPr>
                  <a:t>个基上，分量</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𝑖</m:t>
                        </m:r>
                      </m:sub>
                    </m:sSub>
                  </m:oMath>
                </a14:m>
                <a:r>
                  <a:rPr lang="zh-CN" altLang="en-US" dirty="0" smtClean="0">
                    <a:latin typeface="微软雅黑" panose="020B0503020204020204" pitchFamily="34" charset="-122"/>
                    <a:ea typeface="微软雅黑" panose="020B0503020204020204" pitchFamily="34" charset="-122"/>
                  </a:rPr>
                  <a:t>由</a:t>
                </a:r>
                <a14:m>
                  <m:oMath xmlns:m="http://schemas.openxmlformats.org/officeDocument/2006/math">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给出，称为</a:t>
                </a:r>
                <a:r>
                  <a:rPr lang="zh-CN" altLang="en-US" dirty="0" smtClean="0">
                    <a:solidFill>
                      <a:srgbClr val="FF0000"/>
                    </a:solidFill>
                    <a:latin typeface="微软雅黑" panose="020B0503020204020204" pitchFamily="34" charset="-122"/>
                    <a:ea typeface="微软雅黑" panose="020B0503020204020204" pitchFamily="34" charset="-122"/>
                  </a:rPr>
                  <a:t>投影算符</a:t>
                </a:r>
                <a:endParaRPr lang="en-US" altLang="zh-CN" dirty="0" smtClean="0">
                  <a:solidFill>
                    <a:srgbClr val="FF0000"/>
                  </a:solidFill>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也就是说，在量子力学中，态右矢与态左矢做乘法结果是一个算符，而态左矢与态右矢做乘法结果是内积（一个数）</a:t>
                </a:r>
                <a:endParaRPr lang="zh-CN" altLang="en-US" dirty="0">
                  <a:latin typeface="微软雅黑" panose="020B0503020204020204" pitchFamily="34" charset="-122"/>
                  <a:ea typeface="微软雅黑"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18147" y="3051798"/>
                <a:ext cx="12003845" cy="1903983"/>
              </a:xfrm>
              <a:prstGeom prst="rect">
                <a:avLst/>
              </a:prstGeom>
              <a:blipFill rotWithShape="0">
                <a:blip r:embed="rId6"/>
                <a:stretch>
                  <a:fillRect l="-457" t="-1923" b="-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418147" y="5029200"/>
                <a:ext cx="9719384" cy="1681679"/>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将投影算符代入到</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表达式里可以得到</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sSub>
                            <m:sSubPr>
                              <m:ctrlPr>
                                <a:rPr lang="en-US" altLang="zh-CN" b="0" i="1" dirty="0"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𝑃</m:t>
                                  </m:r>
                                </m:e>
                              </m:acc>
                            </m:e>
                            <m:sub>
                              <m:r>
                                <a:rPr lang="en-US" altLang="zh-CN" b="0" i="1" dirty="0" smtClean="0">
                                  <a:latin typeface="Cambria Math" panose="02040503050406030204" pitchFamily="18" charset="0"/>
                                  <a:ea typeface="微软雅黑" panose="020B0503020204020204" pitchFamily="34" charset="-122"/>
                                </a:rPr>
                                <m:t>𝑖</m:t>
                              </m:r>
                            </m:sub>
                          </m:sSub>
                        </m:e>
                      </m:nary>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e>
                          </m:nary>
                        </m:e>
                      </m:d>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我们</a:t>
                </a:r>
                <a:r>
                  <a:rPr lang="zh-CN" altLang="en-US" dirty="0" smtClean="0">
                    <a:latin typeface="微软雅黑" panose="020B0503020204020204" pitchFamily="34" charset="-122"/>
                    <a:ea typeface="微软雅黑" panose="020B0503020204020204" pitchFamily="34" charset="-122"/>
                  </a:rPr>
                  <a:t>知道一个恒等算符</a:t>
                </a:r>
                <a14:m>
                  <m:oMath xmlns:m="http://schemas.openxmlformats.org/officeDocument/2006/math">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𝐼</m:t>
                        </m:r>
                      </m:e>
                    </m:acc>
                  </m:oMath>
                </a14:m>
                <a:r>
                  <a:rPr lang="zh-CN" altLang="en-US" dirty="0" smtClean="0">
                    <a:latin typeface="微软雅黑" panose="020B0503020204020204" pitchFamily="34" charset="-122"/>
                    <a:ea typeface="微软雅黑" panose="020B0503020204020204" pitchFamily="34" charset="-122"/>
                  </a:rPr>
                  <a:t>满足</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𝐼</m:t>
                        </m:r>
                      </m:e>
                    </m:acc>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e>
                    </m:d>
                  </m:oMath>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故</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𝐼</m:t>
                        </m:r>
                      </m:e>
                    </m:acc>
                  </m:oMath>
                </a14:m>
                <a:r>
                  <a:rPr lang="zh-CN" altLang="en-US" dirty="0" smtClean="0">
                    <a:latin typeface="微软雅黑" panose="020B0503020204020204" pitchFamily="34" charset="-122"/>
                    <a:ea typeface="微软雅黑" panose="020B0503020204020204" pitchFamily="34" charset="-122"/>
                  </a:rPr>
                  <a:t>又可以写为：</a:t>
                </a:r>
                <a14:m>
                  <m:oMath xmlns:m="http://schemas.openxmlformats.org/officeDocument/2006/math">
                    <m:acc>
                      <m:accPr>
                        <m:chr m:val="̂"/>
                        <m:ctrlPr>
                          <a:rPr lang="en-US" altLang="zh-CN" b="0" i="1" smtClean="0">
                            <a:solidFill>
                              <a:srgbClr val="FF0000"/>
                            </a:solidFill>
                            <a:latin typeface="Cambria Math" panose="02040503050406030204" pitchFamily="18" charset="0"/>
                            <a:ea typeface="微软雅黑" panose="020B0503020204020204" pitchFamily="34" charset="-122"/>
                          </a:rPr>
                        </m:ctrlPr>
                      </m:accPr>
                      <m:e>
                        <m:r>
                          <a:rPr lang="en-US" altLang="zh-CN" b="0" i="1" smtClean="0">
                            <a:solidFill>
                              <a:srgbClr val="FF0000"/>
                            </a:solidFill>
                            <a:latin typeface="Cambria Math" panose="02040503050406030204" pitchFamily="18" charset="0"/>
                            <a:ea typeface="微软雅黑" panose="020B0503020204020204" pitchFamily="34" charset="-122"/>
                          </a:rPr>
                          <m:t>𝐼</m:t>
                        </m:r>
                      </m:e>
                    </m:acc>
                    <m:r>
                      <a:rPr lang="en-US" altLang="zh-CN" b="0" i="1" dirty="0" smtClean="0">
                        <a:solidFill>
                          <a:srgbClr val="FF0000"/>
                        </a:solidFill>
                        <a:latin typeface="Cambria Math" panose="02040503050406030204" pitchFamily="18" charset="0"/>
                        <a:ea typeface="微软雅黑" panose="020B0503020204020204" pitchFamily="34" charset="-122"/>
                      </a:rPr>
                      <m:t>= </m:t>
                    </m:r>
                    <m:nary>
                      <m:naryPr>
                        <m:chr m:val="∑"/>
                        <m:supHide m:val="on"/>
                        <m:ctrlPr>
                          <a:rPr lang="en-US" altLang="zh-CN" i="1">
                            <a:solidFill>
                              <a:srgbClr val="FF0000"/>
                            </a:solidFill>
                            <a:latin typeface="Cambria Math" panose="02040503050406030204" pitchFamily="18" charset="0"/>
                            <a:ea typeface="微软雅黑" panose="020B0503020204020204" pitchFamily="34" charset="-122"/>
                          </a:rPr>
                        </m:ctrlPr>
                      </m:naryPr>
                      <m:sub>
                        <m:r>
                          <a:rPr lang="en-US" altLang="zh-CN" i="1">
                            <a:solidFill>
                              <a:srgbClr val="FF0000"/>
                            </a:solidFill>
                            <a:latin typeface="Cambria Math" panose="02040503050406030204" pitchFamily="18" charset="0"/>
                            <a:ea typeface="微软雅黑" panose="020B0503020204020204" pitchFamily="34" charset="-122"/>
                          </a:rPr>
                          <m:t>𝑖</m:t>
                        </m:r>
                      </m:sub>
                      <m:sup/>
                      <m:e>
                        <m:d>
                          <m:dPr>
                            <m:begChr m:val="|"/>
                            <m:endChr m:val="⟩"/>
                            <m:ctrlPr>
                              <a:rPr lang="en-US" altLang="zh-CN" i="1">
                                <a:solidFill>
                                  <a:srgbClr val="FF0000"/>
                                </a:solidFill>
                                <a:latin typeface="Cambria Math" panose="02040503050406030204" pitchFamily="18" charset="0"/>
                                <a:ea typeface="微软雅黑" panose="020B0503020204020204" pitchFamily="34" charset="-122"/>
                              </a:rPr>
                            </m:ctrlPr>
                          </m:dPr>
                          <m:e>
                            <m:sSub>
                              <m:sSubPr>
                                <m:ctrlPr>
                                  <a:rPr lang="en-US" altLang="zh-CN" i="1">
                                    <a:solidFill>
                                      <a:srgbClr val="FF0000"/>
                                    </a:solidFill>
                                    <a:latin typeface="Cambria Math" panose="02040503050406030204" pitchFamily="18" charset="0"/>
                                    <a:ea typeface="微软雅黑" panose="020B0503020204020204" pitchFamily="34" charset="-122"/>
                                  </a:rPr>
                                </m:ctrlPr>
                              </m:sSubPr>
                              <m:e>
                                <m:r>
                                  <a:rPr lang="en-US" altLang="zh-CN" i="1">
                                    <a:solidFill>
                                      <a:srgbClr val="FF0000"/>
                                    </a:solidFill>
                                    <a:latin typeface="Cambria Math" panose="02040503050406030204" pitchFamily="18" charset="0"/>
                                    <a:ea typeface="微软雅黑" panose="020B0503020204020204" pitchFamily="34" charset="-122"/>
                                  </a:rPr>
                                  <m:t>𝜓</m:t>
                                </m:r>
                              </m:e>
                              <m:sub>
                                <m:r>
                                  <a:rPr lang="en-US" altLang="zh-CN" i="1">
                                    <a:solidFill>
                                      <a:srgbClr val="FF0000"/>
                                    </a:solidFill>
                                    <a:latin typeface="Cambria Math" panose="02040503050406030204" pitchFamily="18" charset="0"/>
                                    <a:ea typeface="微软雅黑" panose="020B0503020204020204" pitchFamily="34" charset="-122"/>
                                  </a:rPr>
                                  <m:t>𝑖</m:t>
                                </m:r>
                              </m:sub>
                            </m:sSub>
                          </m:e>
                        </m:d>
                        <m:d>
                          <m:dPr>
                            <m:begChr m:val="⟨"/>
                            <m:endChr m:val="|"/>
                            <m:ctrlPr>
                              <a:rPr lang="en-US" altLang="zh-CN" i="1">
                                <a:solidFill>
                                  <a:srgbClr val="FF0000"/>
                                </a:solidFill>
                                <a:latin typeface="Cambria Math" panose="02040503050406030204" pitchFamily="18" charset="0"/>
                                <a:ea typeface="微软雅黑" panose="020B0503020204020204" pitchFamily="34" charset="-122"/>
                              </a:rPr>
                            </m:ctrlPr>
                          </m:dPr>
                          <m:e>
                            <m:sSub>
                              <m:sSubPr>
                                <m:ctrlPr>
                                  <a:rPr lang="en-US" altLang="zh-CN" i="1">
                                    <a:solidFill>
                                      <a:srgbClr val="FF0000"/>
                                    </a:solidFill>
                                    <a:latin typeface="Cambria Math" panose="02040503050406030204" pitchFamily="18" charset="0"/>
                                    <a:ea typeface="微软雅黑" panose="020B0503020204020204" pitchFamily="34" charset="-122"/>
                                  </a:rPr>
                                </m:ctrlPr>
                              </m:sSubPr>
                              <m:e>
                                <m:r>
                                  <a:rPr lang="en-US" altLang="zh-CN" i="1">
                                    <a:solidFill>
                                      <a:srgbClr val="FF0000"/>
                                    </a:solidFill>
                                    <a:latin typeface="Cambria Math" panose="02040503050406030204" pitchFamily="18" charset="0"/>
                                    <a:ea typeface="微软雅黑" panose="020B0503020204020204" pitchFamily="34" charset="-122"/>
                                  </a:rPr>
                                  <m:t>𝜓</m:t>
                                </m:r>
                              </m:e>
                              <m:sub>
                                <m:r>
                                  <a:rPr lang="en-US" altLang="zh-CN" i="1">
                                    <a:solidFill>
                                      <a:srgbClr val="FF0000"/>
                                    </a:solidFill>
                                    <a:latin typeface="Cambria Math" panose="02040503050406030204" pitchFamily="18" charset="0"/>
                                    <a:ea typeface="微软雅黑" panose="020B0503020204020204" pitchFamily="34" charset="-122"/>
                                  </a:rPr>
                                  <m:t>𝑖</m:t>
                                </m:r>
                              </m:sub>
                            </m:sSub>
                          </m:e>
                        </m:d>
                      </m:e>
                    </m:nary>
                  </m:oMath>
                </a14:m>
                <a:r>
                  <a:rPr lang="zh-CN" altLang="en-US" dirty="0" smtClean="0">
                    <a:latin typeface="微软雅黑" panose="020B0503020204020204" pitchFamily="34" charset="-122"/>
                    <a:ea typeface="微软雅黑" panose="020B0503020204020204" pitchFamily="34" charset="-122"/>
                  </a:rPr>
                  <a:t>，这一结果又称为</a:t>
                </a:r>
                <a:r>
                  <a:rPr lang="zh-CN" altLang="en-US" dirty="0" smtClean="0">
                    <a:solidFill>
                      <a:srgbClr val="FF0000"/>
                    </a:solidFill>
                    <a:latin typeface="微软雅黑" panose="020B0503020204020204" pitchFamily="34" charset="-122"/>
                    <a:ea typeface="微软雅黑" panose="020B0503020204020204" pitchFamily="34" charset="-122"/>
                  </a:rPr>
                  <a:t>完备插入</a:t>
                </a:r>
                <a:r>
                  <a:rPr lang="zh-CN" altLang="en-US" dirty="0" smtClean="0">
                    <a:latin typeface="微软雅黑" panose="020B0503020204020204" pitchFamily="34" charset="-122"/>
                    <a:ea typeface="微软雅黑" panose="020B0503020204020204" pitchFamily="34" charset="-122"/>
                  </a:rPr>
                  <a:t>，是非常重要的一个恒等关系</a:t>
                </a:r>
                <a:endParaRPr lang="zh-CN" altLang="en-US" dirty="0">
                  <a:latin typeface="微软雅黑" panose="020B0503020204020204" pitchFamily="34" charset="-122"/>
                  <a:ea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418147" y="5029200"/>
                <a:ext cx="9719384" cy="1681679"/>
              </a:xfrm>
              <a:prstGeom prst="rect">
                <a:avLst/>
              </a:prstGeom>
              <a:blipFill rotWithShape="0">
                <a:blip r:embed="rId7"/>
                <a:stretch>
                  <a:fillRect l="-565" t="-1812" b="-402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9501086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7" y="949570"/>
            <a:ext cx="2411144"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可观测量的表述</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9"/>
              <p:cNvSpPr txBox="1"/>
              <p:nvPr/>
            </p:nvSpPr>
            <p:spPr>
              <a:xfrm>
                <a:off x="742315" y="1686429"/>
                <a:ext cx="647113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可观</a:t>
                </a:r>
                <a:r>
                  <a:rPr lang="zh-CN" altLang="en-US" dirty="0" smtClean="0">
                    <a:latin typeface="微软雅黑" panose="020B0503020204020204" pitchFamily="34" charset="-122"/>
                    <a:ea typeface="微软雅黑" panose="020B0503020204020204" pitchFamily="34" charset="-122"/>
                  </a:rPr>
                  <a:t>测量在经典力学下作为位置</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𝑥</m:t>
                        </m:r>
                      </m:e>
                    </m:acc>
                  </m:oMath>
                </a14:m>
                <a:r>
                  <a:rPr lang="zh-CN" altLang="en-US" dirty="0" smtClean="0">
                    <a:latin typeface="微软雅黑" panose="020B0503020204020204" pitchFamily="34" charset="-122"/>
                    <a:ea typeface="微软雅黑" panose="020B0503020204020204" pitchFamily="34" charset="-122"/>
                  </a:rPr>
                  <a:t>的函数，结果是一个实数</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742315" y="1686429"/>
                <a:ext cx="6471138" cy="369332"/>
              </a:xfrm>
              <a:prstGeom prst="rect">
                <a:avLst/>
              </a:prstGeom>
              <a:blipFill rotWithShape="0">
                <a:blip r:embed="rId3"/>
                <a:stretch>
                  <a:fillRect l="-848" t="-2166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42315" y="2392511"/>
                <a:ext cx="10960247" cy="3860159"/>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在量子力学中，粒子的状态由复矢量描述，可观测量也改用</a:t>
                </a:r>
                <a:r>
                  <a:rPr lang="zh-CN" altLang="en-US" dirty="0" smtClean="0">
                    <a:solidFill>
                      <a:srgbClr val="FF0000"/>
                    </a:solidFill>
                    <a:latin typeface="微软雅黑" panose="020B0503020204020204" pitchFamily="34" charset="-122"/>
                    <a:ea typeface="微软雅黑" panose="020B0503020204020204" pitchFamily="34" charset="-122"/>
                  </a:rPr>
                  <a:t>线性算符</a:t>
                </a:r>
                <a:r>
                  <a:rPr lang="zh-CN" altLang="en-US" dirty="0" smtClean="0">
                    <a:latin typeface="微软雅黑" panose="020B0503020204020204" pitchFamily="34" charset="-122"/>
                    <a:ea typeface="微软雅黑" panose="020B0503020204020204" pitchFamily="34" charset="-122"/>
                  </a:rPr>
                  <a:t>表述，这些算符作为线性映射，将粒子从某个态映射到另一个态：</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d>
                        <m:dPr>
                          <m:begChr m:val="|"/>
                          <m:endChr m:val="⟩"/>
                          <m:ctrlPr>
                            <a:rPr lang="en-US" altLang="zh-CN" b="0" i="1" dirty="0" smtClean="0">
                              <a:latin typeface="Cambria Math" panose="02040503050406030204" pitchFamily="18" charset="0"/>
                              <a:ea typeface="微软雅黑" panose="020B0503020204020204" pitchFamily="34" charset="-122"/>
                            </a:rPr>
                          </m:ctrlPr>
                        </m:dPr>
                        <m:e>
                          <m:r>
                            <m:rPr>
                              <m:sty m:val="p"/>
                            </m:rPr>
                            <a:rPr lang="en-US" altLang="zh-CN" b="0" i="0" dirty="0" smtClean="0">
                              <a:latin typeface="Cambria Math" panose="02040503050406030204" pitchFamily="18" charset="0"/>
                              <a:ea typeface="微软雅黑" panose="020B0503020204020204" pitchFamily="34" charset="-122"/>
                            </a:rPr>
                            <m:t>Ψ</m:t>
                          </m:r>
                        </m:e>
                      </m:d>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线性映射满足</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dirty="0">
                            <a:latin typeface="Cambria Math" panose="02040503050406030204" pitchFamily="18" charset="0"/>
                            <a:ea typeface="微软雅黑" panose="020B0503020204020204" pitchFamily="34" charset="-122"/>
                          </a:rPr>
                        </m:ctrlPr>
                      </m:dPr>
                      <m:e>
                        <m:sSub>
                          <m:sSubPr>
                            <m:ctrlPr>
                              <a:rPr lang="en-US" altLang="zh-CN" b="0" i="1" dirty="0" smtClean="0">
                                <a:latin typeface="Cambria Math" panose="02040503050406030204" pitchFamily="18" charset="0"/>
                                <a:ea typeface="微软雅黑" panose="020B0503020204020204" pitchFamily="34" charset="-122"/>
                              </a:rPr>
                            </m:ctrlPr>
                          </m:sSubPr>
                          <m:e>
                            <m:r>
                              <m:rPr>
                                <m:sty m:val="p"/>
                              </m:rPr>
                              <a:rPr lang="en-US" altLang="zh-CN" dirty="0">
                                <a:latin typeface="Cambria Math" panose="02040503050406030204" pitchFamily="18" charset="0"/>
                                <a:ea typeface="微软雅黑" panose="020B0503020204020204" pitchFamily="34" charset="-122"/>
                              </a:rPr>
                              <m:t>Ψ</m:t>
                            </m:r>
                          </m:e>
                          <m:sub>
                            <m:r>
                              <a:rPr lang="en-US" altLang="zh-CN" b="0" i="1" dirty="0" smtClean="0">
                                <a:latin typeface="Cambria Math" panose="02040503050406030204" pitchFamily="18" charset="0"/>
                                <a:ea typeface="微软雅黑" panose="020B0503020204020204" pitchFamily="34" charset="-122"/>
                              </a:rPr>
                              <m:t>1</m:t>
                            </m:r>
                          </m:sub>
                        </m:sSub>
                      </m:e>
                    </m:d>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m:rPr>
                            <m:sty m:val="p"/>
                          </m:rPr>
                          <a:rPr lang="en-US" altLang="zh-CN" b="0" i="0" dirty="0" smtClean="0">
                            <a:latin typeface="Cambria Math" panose="02040503050406030204" pitchFamily="18" charset="0"/>
                            <a:ea typeface="微软雅黑" panose="020B0503020204020204" pitchFamily="34" charset="-122"/>
                          </a:rPr>
                          <m:t>Ψ</m:t>
                        </m:r>
                      </m:e>
                      <m:sub>
                        <m:r>
                          <a:rPr lang="en-US" altLang="zh-CN" b="0" i="1" dirty="0" smtClean="0">
                            <a:latin typeface="Cambria Math" panose="02040503050406030204" pitchFamily="18" charset="0"/>
                            <a:ea typeface="微软雅黑" panose="020B0503020204020204" pitchFamily="34" charset="-122"/>
                          </a:rPr>
                          <m:t>2</m:t>
                        </m:r>
                      </m:sub>
                    </m:sSub>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m:rPr>
                            <m:sty m:val="p"/>
                          </m:rPr>
                          <a:rPr lang="en-US" altLang="zh-CN" b="0" i="0" dirty="0" smtClean="0">
                            <a:latin typeface="Cambria Math" panose="02040503050406030204" pitchFamily="18" charset="0"/>
                            <a:ea typeface="微软雅黑" panose="020B0503020204020204" pitchFamily="34" charset="-122"/>
                          </a:rPr>
                          <m:t>Ψ</m:t>
                        </m:r>
                      </m:e>
                      <m:sub>
                        <m:r>
                          <a:rPr lang="en-US" altLang="zh-CN" b="0" i="1" dirty="0" smtClean="0">
                            <a:latin typeface="Cambria Math" panose="02040503050406030204" pitchFamily="18" charset="0"/>
                            <a:ea typeface="微软雅黑" panose="020B0503020204020204" pitchFamily="34" charset="-122"/>
                          </a:rPr>
                          <m:t>1</m:t>
                        </m:r>
                      </m:sub>
                    </m:sSub>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m:rPr>
                            <m:sty m:val="p"/>
                          </m:rPr>
                          <a:rPr lang="en-US" altLang="zh-CN" b="0" i="0" dirty="0" smtClean="0">
                            <a:latin typeface="Cambria Math" panose="02040503050406030204" pitchFamily="18" charset="0"/>
                            <a:ea typeface="微软雅黑" panose="020B0503020204020204" pitchFamily="34" charset="-122"/>
                          </a:rPr>
                          <m:t>Ψ</m:t>
                        </m:r>
                      </m:e>
                      <m:sub>
                        <m:r>
                          <a:rPr lang="en-US" altLang="zh-CN" b="0" i="1" dirty="0" smtClean="0">
                            <a:latin typeface="Cambria Math" panose="02040503050406030204" pitchFamily="18" charset="0"/>
                            <a:ea typeface="微软雅黑" panose="020B0503020204020204" pitchFamily="34" charset="-122"/>
                          </a:rPr>
                          <m:t>2</m:t>
                        </m:r>
                      </m:sub>
                    </m:sSub>
                    <m:r>
                      <a:rPr lang="en-US" altLang="zh-CN" b="0" i="1" dirty="0"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𝑘</m:t>
                    </m:r>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𝑘</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 ）</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与经典力学区别最大的是，</a:t>
                </a:r>
                <a:r>
                  <a:rPr lang="zh-CN" altLang="en-US" dirty="0" smtClean="0">
                    <a:solidFill>
                      <a:srgbClr val="FF0000"/>
                    </a:solidFill>
                    <a:latin typeface="微软雅黑" panose="020B0503020204020204" pitchFamily="34" charset="-122"/>
                    <a:ea typeface="微软雅黑" panose="020B0503020204020204" pitchFamily="34" charset="-122"/>
                  </a:rPr>
                  <a:t>位置</a:t>
                </a:r>
                <a14:m>
                  <m:oMath xmlns:m="http://schemas.openxmlformats.org/officeDocument/2006/math">
                    <m:acc>
                      <m:accPr>
                        <m:chr m:val="̂"/>
                        <m:ctrlPr>
                          <a:rPr lang="en-US" altLang="zh-CN" b="0" i="1" smtClean="0">
                            <a:solidFill>
                              <a:srgbClr val="FF0000"/>
                            </a:solidFill>
                            <a:latin typeface="Cambria Math" panose="02040503050406030204" pitchFamily="18" charset="0"/>
                            <a:ea typeface="微软雅黑" panose="020B0503020204020204" pitchFamily="34" charset="-122"/>
                          </a:rPr>
                        </m:ctrlPr>
                      </m:accPr>
                      <m:e>
                        <m:r>
                          <a:rPr lang="en-US" altLang="zh-CN" b="0" i="1" smtClean="0">
                            <a:solidFill>
                              <a:srgbClr val="FF0000"/>
                            </a:solidFill>
                            <a:latin typeface="Cambria Math" panose="02040503050406030204" pitchFamily="18" charset="0"/>
                            <a:ea typeface="微软雅黑" panose="020B0503020204020204" pitchFamily="34" charset="-122"/>
                          </a:rPr>
                          <m:t>𝑥</m:t>
                        </m:r>
                      </m:e>
                    </m:acc>
                  </m:oMath>
                </a14:m>
                <a:r>
                  <a:rPr lang="zh-CN" altLang="en-US" dirty="0" smtClean="0">
                    <a:latin typeface="微软雅黑" panose="020B0503020204020204" pitchFamily="34" charset="-122"/>
                    <a:ea typeface="微软雅黑" panose="020B0503020204020204" pitchFamily="34" charset="-122"/>
                  </a:rPr>
                  <a:t>也变成一个可观测量，作为算符作用到量子态上</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此外，可观测量需要作用于量子态上的特点，使得“测量”这一概念在量子力学中至关重要。</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在现实或者说实验中得到的物理量的值，是通过对量子态“观测”得到的</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42315" y="2392511"/>
                <a:ext cx="10960247" cy="3860159"/>
              </a:xfrm>
              <a:prstGeom prst="rect">
                <a:avLst/>
              </a:prstGeom>
              <a:blipFill rotWithShape="0">
                <a:blip r:embed="rId4"/>
                <a:stretch>
                  <a:fillRect l="-501" r="-334" b="-1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126584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7" y="949570"/>
            <a:ext cx="2411144"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可观测量的表述</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9"/>
              <p:cNvSpPr txBox="1"/>
              <p:nvPr/>
            </p:nvSpPr>
            <p:spPr>
              <a:xfrm>
                <a:off x="701040" y="2106662"/>
                <a:ext cx="11241601" cy="3281348"/>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在量子力学中，我们同时还定义算符作用在态左矢上，算符</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作用在同一个态的右矢和左矢之间满足对应关系</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𝐴</m:t>
                              </m:r>
                            </m:e>
                            <m:sup>
                              <m:r>
                                <m:rPr>
                                  <m:sty m:val="p"/>
                                </m:rPr>
                                <a:rPr lang="en-US" altLang="zh-CN">
                                  <a:latin typeface="Cambria Math" panose="02040503050406030204" pitchFamily="18" charset="0"/>
                                </a:rPr>
                                <m:t>ϯ</m:t>
                              </m:r>
                            </m:sup>
                          </m:sSup>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𝐴</m:t>
                          </m:r>
                        </m:e>
                      </m:d>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其中</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𝐴</m:t>
                        </m:r>
                      </m:e>
                      <m:sup>
                        <m:r>
                          <m:rPr>
                            <m:sty m:val="p"/>
                          </m:rPr>
                          <a:rPr lang="en-US" altLang="zh-CN">
                            <a:latin typeface="Cambria Math" panose="02040503050406030204" pitchFamily="18" charset="0"/>
                          </a:rPr>
                          <m:t>ϯ</m:t>
                        </m:r>
                      </m:sup>
                    </m:sSup>
                  </m:oMath>
                </a14:m>
                <a:r>
                  <a:rPr lang="zh-CN" altLang="en-US" dirty="0" smtClean="0">
                    <a:latin typeface="微软雅黑" panose="020B0503020204020204" pitchFamily="34" charset="-122"/>
                    <a:ea typeface="微软雅黑" panose="020B0503020204020204" pitchFamily="34" charset="-122"/>
                  </a:rPr>
                  <a:t>表示</a:t>
                </a:r>
                <a14:m>
                  <m:oMath xmlns:m="http://schemas.openxmlformats.org/officeDocument/2006/math">
                    <m:r>
                      <a:rPr lang="en-US" altLang="zh-CN" i="1">
                        <a:latin typeface="Cambria Math" panose="02040503050406030204" pitchFamily="18" charset="0"/>
                        <a:ea typeface="微软雅黑" panose="020B0503020204020204" pitchFamily="34" charset="-122"/>
                      </a:rPr>
                      <m:t>𝐴</m:t>
                    </m:r>
                  </m:oMath>
                </a14:m>
                <a:r>
                  <a:rPr lang="zh-CN" altLang="en-US" dirty="0" smtClean="0">
                    <a:latin typeface="微软雅黑" panose="020B0503020204020204" pitchFamily="34" charset="-122"/>
                    <a:ea typeface="微软雅黑" panose="020B0503020204020204" pitchFamily="34" charset="-122"/>
                  </a:rPr>
                  <a:t>的厄米共轭，与复内积空间类似，其定义在内积上体现为</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Φ</m:t>
                          </m:r>
                        </m:e>
                        <m:e>
                          <m:r>
                            <a:rPr lang="en-US" altLang="zh-CN" b="0" i="1" smtClean="0">
                              <a:latin typeface="Cambria Math" panose="02040503050406030204" pitchFamily="18" charset="0"/>
                              <a:ea typeface="微软雅黑" panose="020B0503020204020204" pitchFamily="34" charset="-122"/>
                            </a:rPr>
                            <m:t> </m:t>
                          </m:r>
                          <m:d>
                            <m:dPr>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𝐴</m:t>
                              </m:r>
                            </m:e>
                            <m:e>
                              <m:r>
                                <m:rPr>
                                  <m:sty m:val="p"/>
                                </m:rPr>
                                <a:rPr lang="en-US" altLang="zh-CN" b="0" i="0" smtClean="0">
                                  <a:latin typeface="Cambria Math" panose="02040503050406030204" pitchFamily="18" charset="0"/>
                                  <a:ea typeface="微软雅黑" panose="020B0503020204020204" pitchFamily="34" charset="-122"/>
                                </a:rPr>
                                <m:t>Ψ</m:t>
                              </m:r>
                            </m:e>
                          </m:d>
                        </m:e>
                      </m:d>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d>
                            <m:dPr>
                              <m:endChr m:val="⟩"/>
                              <m:ctrlPr>
                                <a:rPr lang="en-US" altLang="zh-CN" b="0" i="1" smtClean="0">
                                  <a:latin typeface="Cambria Math" panose="02040503050406030204" pitchFamily="18" charset="0"/>
                                  <a:ea typeface="微软雅黑" panose="020B0503020204020204" pitchFamily="34" charset="-122"/>
                                </a:rPr>
                              </m:ctrlPr>
                            </m:dPr>
                            <m:e>
                              <m:d>
                                <m:dPr>
                                  <m:beg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e>
                                <m:e>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𝐴</m:t>
                                      </m:r>
                                    </m:e>
                                    <m:sup>
                                      <m:r>
                                        <m:rPr>
                                          <m:sty m:val="p"/>
                                        </m:rPr>
                                        <a:rPr lang="en-US" altLang="zh-CN">
                                          <a:latin typeface="Cambria Math" panose="02040503050406030204" pitchFamily="18" charset="0"/>
                                        </a:rPr>
                                        <m:t>ϯ</m:t>
                                      </m:r>
                                    </m:sup>
                                  </m:sSup>
                                </m:e>
                              </m:d>
                              <m:r>
                                <a:rPr lang="en-US" altLang="zh-CN" b="0" i="1" smtClean="0">
                                  <a:latin typeface="Cambria Math" panose="02040503050406030204" pitchFamily="18" charset="0"/>
                                  <a:ea typeface="微软雅黑" panose="020B0503020204020204" pitchFamily="34" charset="-122"/>
                                </a:rPr>
                                <m:t> </m:t>
                              </m:r>
                            </m:e>
                            <m:e>
                              <m:r>
                                <m:rPr>
                                  <m:sty m:val="p"/>
                                </m:rPr>
                                <a:rPr lang="en-US" altLang="zh-CN" b="0" i="0" smtClean="0">
                                  <a:latin typeface="Cambria Math" panose="02040503050406030204" pitchFamily="18" charset="0"/>
                                  <a:ea typeface="微软雅黑" panose="020B0503020204020204" pitchFamily="34" charset="-122"/>
                                </a:rPr>
                                <m:t>Φ</m:t>
                              </m:r>
                            </m:e>
                          </m:d>
                        </m:e>
                        <m:sup>
                          <m:r>
                            <a:rPr lang="en-US" altLang="zh-CN" b="0" i="1" smtClean="0">
                              <a:latin typeface="Cambria Math" panose="02040503050406030204" pitchFamily="18" charset="0"/>
                              <a:ea typeface="微软雅黑" panose="020B0503020204020204" pitchFamily="34" charset="-122"/>
                            </a:rPr>
                            <m:t>∗</m:t>
                          </m:r>
                        </m:sup>
                      </m:sSup>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通常把括号去掉以简化书写，变成</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Φ</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𝐴</m:t>
                            </m:r>
                          </m:e>
                        </m:d>
                        <m:r>
                          <m:rPr>
                            <m:sty m:val="p"/>
                          </m:rPr>
                          <a:rPr lang="en-US" altLang="zh-CN" b="0" i="0" smtClean="0">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𝐴</m:t>
                                    </m:r>
                                  </m:e>
                                  <m:sup>
                                    <m:r>
                                      <m:rPr>
                                        <m:sty m:val="p"/>
                                      </m:rPr>
                                      <a:rPr lang="en-US" altLang="zh-CN">
                                        <a:latin typeface="Cambria Math" panose="02040503050406030204" pitchFamily="18" charset="0"/>
                                      </a:rPr>
                                      <m:t>ϯ</m:t>
                                    </m:r>
                                  </m:sup>
                                </m:sSup>
                              </m:e>
                            </m:d>
                            <m:r>
                              <m:rPr>
                                <m:sty m:val="p"/>
                              </m:rPr>
                              <a:rPr lang="en-US" altLang="zh-CN" b="0" i="0" smtClean="0">
                                <a:latin typeface="Cambria Math" panose="02040503050406030204" pitchFamily="18" charset="0"/>
                                <a:ea typeface="微软雅黑" panose="020B0503020204020204" pitchFamily="34" charset="-122"/>
                              </a:rPr>
                              <m:t>Φ</m:t>
                            </m:r>
                          </m:e>
                        </m:d>
                      </m:e>
                      <m:sup>
                        <m:r>
                          <a:rPr lang="en-US" altLang="zh-CN" b="0" i="1" smtClean="0">
                            <a:latin typeface="Cambria Math" panose="02040503050406030204" pitchFamily="18" charset="0"/>
                            <a:ea typeface="微软雅黑" panose="020B0503020204020204" pitchFamily="34" charset="-122"/>
                          </a:rPr>
                          <m:t>∗</m:t>
                        </m:r>
                      </m:sup>
                    </m:sSup>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而可观测量的算符一般要求是</a:t>
                </a:r>
                <a:r>
                  <a:rPr lang="zh-CN" altLang="en-US" dirty="0" smtClean="0">
                    <a:solidFill>
                      <a:srgbClr val="FF0000"/>
                    </a:solidFill>
                    <a:latin typeface="微软雅黑" panose="020B0503020204020204" pitchFamily="34" charset="-122"/>
                    <a:ea typeface="微软雅黑" panose="020B0503020204020204" pitchFamily="34" charset="-122"/>
                  </a:rPr>
                  <a:t>厄米算符</a:t>
                </a:r>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𝐴</m:t>
                        </m:r>
                      </m:e>
                      <m:sup>
                        <m:r>
                          <m:rPr>
                            <m:sty m:val="p"/>
                          </m:rPr>
                          <a:rPr lang="en-US" altLang="zh-CN">
                            <a:latin typeface="Cambria Math" panose="02040503050406030204" pitchFamily="18" charset="0"/>
                          </a:rPr>
                          <m:t>ϯ</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𝐴</m:t>
                    </m:r>
                  </m:oMath>
                </a14:m>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701040" y="2106662"/>
                <a:ext cx="11241601" cy="3281348"/>
              </a:xfrm>
              <a:prstGeom prst="rect">
                <a:avLst/>
              </a:prstGeom>
              <a:blipFill rotWithShape="0">
                <a:blip r:embed="rId3"/>
                <a:stretch>
                  <a:fillRect l="-434" b="-5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099906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7" y="949570"/>
            <a:ext cx="2411144"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可观测量的表述</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9"/>
              <p:cNvSpPr txBox="1"/>
              <p:nvPr/>
            </p:nvSpPr>
            <p:spPr>
              <a:xfrm>
                <a:off x="742315" y="1426156"/>
                <a:ext cx="9843623" cy="5427383"/>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在量子力学中，经常要处理以可观测量作为算符的本征值问题：</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d>
                        <m:dPr>
                          <m:begChr m:val="|"/>
                          <m:endChr m:val="⟩"/>
                          <m:ctrlPr>
                            <a:rPr lang="en-US" altLang="zh-CN" b="0" i="1" dirty="0" smtClean="0">
                              <a:latin typeface="Cambria Math" panose="02040503050406030204" pitchFamily="18" charset="0"/>
                              <a:ea typeface="微软雅黑" panose="020B0503020204020204" pitchFamily="34" charset="-122"/>
                            </a:rPr>
                          </m:ctrlPr>
                        </m:dPr>
                        <m:e>
                          <m:r>
                            <m:rPr>
                              <m:sty m:val="p"/>
                            </m:rPr>
                            <a:rPr lang="en-US" altLang="zh-CN" b="0" i="0" dirty="0" smtClean="0">
                              <a:latin typeface="Cambria Math" panose="02040503050406030204" pitchFamily="18" charset="0"/>
                              <a:ea typeface="微软雅黑" panose="020B0503020204020204" pitchFamily="34" charset="-122"/>
                            </a:rPr>
                            <m:t>Ψ</m:t>
                          </m:r>
                        </m:e>
                      </m:d>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𝑎</m:t>
                      </m:r>
                      <m:d>
                        <m:dPr>
                          <m:begChr m:val="|"/>
                          <m:endChr m:val="⟩"/>
                          <m:ctrlPr>
                            <a:rPr lang="en-US" altLang="zh-CN" b="0" i="1" dirty="0" smtClean="0">
                              <a:latin typeface="Cambria Math" panose="02040503050406030204" pitchFamily="18" charset="0"/>
                              <a:ea typeface="微软雅黑" panose="020B0503020204020204" pitchFamily="34" charset="-122"/>
                            </a:rPr>
                          </m:ctrlPr>
                        </m:dPr>
                        <m:e>
                          <m:r>
                            <m:rPr>
                              <m:sty m:val="p"/>
                            </m:rPr>
                            <a:rPr lang="en-US" altLang="zh-CN" b="0" i="0" dirty="0" smtClean="0">
                              <a:latin typeface="Cambria Math" panose="02040503050406030204" pitchFamily="18" charset="0"/>
                              <a:ea typeface="微软雅黑" panose="020B0503020204020204" pitchFamily="34" charset="-122"/>
                            </a:rPr>
                            <m:t>Ψ</m:t>
                          </m:r>
                        </m:e>
                      </m:d>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理论上</a:t>
                </a:r>
                <a14:m>
                  <m:oMath xmlns:m="http://schemas.openxmlformats.org/officeDocument/2006/math">
                    <m:r>
                      <a:rPr lang="en-US" altLang="zh-CN" i="1" dirty="0">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可以取复数，但对于可观测量，我们在实验中观测的结果要求一定是实数</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故而</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要求是厄米算符，在数学部分中我们已经证明过，厄米算符的本征值一定是实数，且属于不同本征值的本征向量一定正交</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sz="1600" dirty="0" smtClean="0">
                    <a:latin typeface="微软雅黑" panose="020B0503020204020204" pitchFamily="34" charset="-122"/>
                    <a:ea typeface="微软雅黑" panose="020B0503020204020204" pitchFamily="34" charset="-122"/>
                  </a:rPr>
                  <a:t>（此处给出用狄拉克记号的证明，也可对照数学部分自行证明一遍</a:t>
                </a:r>
                <a:endParaRPr lang="en-US" altLang="zh-CN" sz="1600" dirty="0" smtClean="0">
                  <a:latin typeface="微软雅黑" panose="020B0503020204020204" pitchFamily="34" charset="-122"/>
                  <a:ea typeface="微软雅黑" panose="020B0503020204020204" pitchFamily="34" charset="-122"/>
                </a:endParaRPr>
              </a:p>
              <a:p>
                <a:pPr>
                  <a:lnSpc>
                    <a:spcPct val="150000"/>
                  </a:lnSpc>
                </a:pPr>
                <a:r>
                  <a:rPr lang="zh-CN" altLang="en-US" sz="1600" dirty="0" smtClean="0">
                    <a:latin typeface="微软雅黑" panose="020B0503020204020204" pitchFamily="34" charset="-122"/>
                    <a:ea typeface="微软雅黑" panose="020B0503020204020204" pitchFamily="34" charset="-122"/>
                  </a:rPr>
                  <a:t>记</a:t>
                </a:r>
                <a14:m>
                  <m:oMath xmlns:m="http://schemas.openxmlformats.org/officeDocument/2006/math">
                    <m:acc>
                      <m:accPr>
                        <m:chr m:val="̂"/>
                        <m:ctrlPr>
                          <a:rPr lang="en-US" altLang="zh-CN" sz="1600" b="0" i="1" smtClean="0">
                            <a:latin typeface="Cambria Math" panose="02040503050406030204" pitchFamily="18" charset="0"/>
                            <a:ea typeface="微软雅黑" panose="020B0503020204020204" pitchFamily="34" charset="-122"/>
                          </a:rPr>
                        </m:ctrlPr>
                      </m:accPr>
                      <m:e>
                        <m:r>
                          <a:rPr lang="en-US" altLang="zh-CN" sz="1600" b="0" i="1" smtClean="0">
                            <a:latin typeface="Cambria Math" panose="02040503050406030204" pitchFamily="18" charset="0"/>
                            <a:ea typeface="微软雅黑" panose="020B0503020204020204" pitchFamily="34" charset="-122"/>
                          </a:rPr>
                          <m:t>𝐴</m:t>
                        </m:r>
                      </m:e>
                    </m:acc>
                    <m:d>
                      <m:dPr>
                        <m:begChr m:val="|"/>
                        <m:endChr m:val="⟩"/>
                        <m:ctrlPr>
                          <a:rPr lang="en-US" altLang="zh-CN" sz="1600" b="0" i="1" dirty="0" smtClean="0">
                            <a:latin typeface="Cambria Math" panose="02040503050406030204" pitchFamily="18" charset="0"/>
                            <a:ea typeface="微软雅黑" panose="020B0503020204020204" pitchFamily="34" charset="-122"/>
                          </a:rPr>
                        </m:ctrlPr>
                      </m:dPr>
                      <m:e>
                        <m:r>
                          <m:rPr>
                            <m:sty m:val="p"/>
                          </m:rPr>
                          <a:rPr lang="en-US" altLang="zh-CN" sz="1600" b="0" i="0" dirty="0" smtClean="0">
                            <a:latin typeface="Cambria Math" panose="02040503050406030204" pitchFamily="18" charset="0"/>
                            <a:ea typeface="微软雅黑" panose="020B0503020204020204" pitchFamily="34" charset="-122"/>
                          </a:rPr>
                          <m:t>Ψ</m:t>
                        </m:r>
                      </m:e>
                    </m:d>
                    <m:r>
                      <a:rPr lang="en-US" altLang="zh-CN" sz="1600" b="0" i="1" dirty="0" smtClean="0">
                        <a:latin typeface="Cambria Math" panose="02040503050406030204" pitchFamily="18" charset="0"/>
                        <a:ea typeface="微软雅黑" panose="020B0503020204020204" pitchFamily="34" charset="-122"/>
                      </a:rPr>
                      <m:t>=</m:t>
                    </m:r>
                    <m:r>
                      <a:rPr lang="en-US" altLang="zh-CN" sz="1600" b="0" i="1" dirty="0" smtClean="0">
                        <a:latin typeface="Cambria Math" panose="02040503050406030204" pitchFamily="18" charset="0"/>
                        <a:ea typeface="微软雅黑" panose="020B0503020204020204" pitchFamily="34" charset="-122"/>
                      </a:rPr>
                      <m:t>𝑎</m:t>
                    </m:r>
                    <m:r>
                      <a:rPr lang="en-US" altLang="zh-CN" sz="1600" b="0" i="1" dirty="0" smtClean="0">
                        <a:latin typeface="Cambria Math" panose="02040503050406030204" pitchFamily="18" charset="0"/>
                        <a:ea typeface="微软雅黑" panose="020B0503020204020204" pitchFamily="34" charset="-122"/>
                      </a:rPr>
                      <m:t>|</m:t>
                    </m:r>
                    <m:r>
                      <m:rPr>
                        <m:sty m:val="p"/>
                      </m:rPr>
                      <a:rPr lang="en-US" altLang="zh-CN" sz="1600" b="0" i="0" dirty="0" smtClean="0">
                        <a:latin typeface="Cambria Math" panose="02040503050406030204" pitchFamily="18" charset="0"/>
                        <a:ea typeface="微软雅黑" panose="020B0503020204020204" pitchFamily="34" charset="-122"/>
                      </a:rPr>
                      <m:t>Ψ</m:t>
                    </m:r>
                    <m:r>
                      <a:rPr lang="en-US" altLang="zh-CN" sz="1600" b="0" i="1" dirty="0" smtClean="0">
                        <a:latin typeface="Cambria Math" panose="02040503050406030204" pitchFamily="18" charset="0"/>
                        <a:ea typeface="微软雅黑" panose="020B0503020204020204" pitchFamily="34" charset="-122"/>
                      </a:rPr>
                      <m:t>⟩</m:t>
                    </m:r>
                  </m:oMath>
                </a14:m>
                <a:r>
                  <a:rPr lang="zh-CN" altLang="en-US" sz="1600" dirty="0" smtClean="0">
                    <a:latin typeface="微软雅黑" panose="020B0503020204020204" pitchFamily="34" charset="-122"/>
                    <a:ea typeface="微软雅黑" panose="020B0503020204020204" pitchFamily="34" charset="-122"/>
                  </a:rPr>
                  <a:t>，</a:t>
                </a:r>
                <a:r>
                  <a:rPr lang="en-US" altLang="zh-CN" sz="1600" dirty="0">
                    <a:ea typeface="微软雅黑" panose="020B0503020204020204" pitchFamily="34" charset="-122"/>
                  </a:rPr>
                  <a:t> </a:t>
                </a:r>
                <a14:m>
                  <m:oMath xmlns:m="http://schemas.openxmlformats.org/officeDocument/2006/math">
                    <m:r>
                      <a:rPr lang="en-US" altLang="zh-CN" sz="1600" i="1" dirty="0">
                        <a:latin typeface="Cambria Math" panose="02040503050406030204" pitchFamily="18" charset="0"/>
                        <a:ea typeface="微软雅黑" panose="020B0503020204020204" pitchFamily="34" charset="-122"/>
                      </a:rPr>
                      <m:t>𝑎</m:t>
                    </m:r>
                  </m:oMath>
                </a14:m>
                <a:r>
                  <a:rPr lang="zh-CN" altLang="en-US" sz="1600" dirty="0" smtClean="0">
                    <a:latin typeface="微软雅黑" panose="020B0503020204020204" pitchFamily="34" charset="-122"/>
                    <a:ea typeface="微软雅黑" panose="020B0503020204020204" pitchFamily="34" charset="-122"/>
                  </a:rPr>
                  <a:t>是复数，两侧同时取态左矢</a:t>
                </a:r>
                <a14:m>
                  <m:oMath xmlns:m="http://schemas.openxmlformats.org/officeDocument/2006/math">
                    <m:r>
                      <a:rPr lang="en-US" altLang="zh-CN" sz="1600" i="1" dirty="0">
                        <a:latin typeface="Cambria Math" panose="02040503050406030204" pitchFamily="18" charset="0"/>
                        <a:ea typeface="微软雅黑" panose="020B0503020204020204" pitchFamily="34" charset="-122"/>
                      </a:rPr>
                      <m:t>|</m:t>
                    </m:r>
                    <m:r>
                      <m:rPr>
                        <m:sty m:val="p"/>
                      </m:rPr>
                      <a:rPr lang="en-US" altLang="zh-CN" sz="1600" dirty="0">
                        <a:latin typeface="Cambria Math" panose="02040503050406030204" pitchFamily="18" charset="0"/>
                        <a:ea typeface="微软雅黑" panose="020B0503020204020204" pitchFamily="34" charset="-122"/>
                      </a:rPr>
                      <m:t>Ψ</m:t>
                    </m:r>
                    <m:r>
                      <a:rPr lang="en-US" altLang="zh-CN" sz="1600" i="1" dirty="0">
                        <a:latin typeface="Cambria Math" panose="02040503050406030204" pitchFamily="18" charset="0"/>
                        <a:ea typeface="微软雅黑" panose="020B0503020204020204" pitchFamily="34" charset="-122"/>
                      </a:rPr>
                      <m:t>⟩</m:t>
                    </m:r>
                  </m:oMath>
                </a14:m>
                <a:r>
                  <a:rPr lang="zh-CN" altLang="en-US" sz="1600" dirty="0" smtClean="0">
                    <a:latin typeface="微软雅黑" panose="020B0503020204020204" pitchFamily="34" charset="-122"/>
                    <a:ea typeface="微软雅黑" panose="020B0503020204020204" pitchFamily="34" charset="-122"/>
                  </a:rPr>
                  <a:t>做内积</a:t>
                </a:r>
                <a:endParaRPr lang="en-US" altLang="zh-CN" sz="16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1600" b="0" i="1" smtClean="0">
                              <a:latin typeface="Cambria Math" panose="02040503050406030204" pitchFamily="18" charset="0"/>
                              <a:ea typeface="微软雅黑" panose="020B0503020204020204" pitchFamily="34" charset="-122"/>
                            </a:rPr>
                          </m:ctrlPr>
                        </m:dPr>
                        <m:e>
                          <m:r>
                            <m:rPr>
                              <m:sty m:val="p"/>
                            </m:rPr>
                            <a:rPr lang="en-US" altLang="zh-CN" sz="1600" b="0" i="0" smtClean="0">
                              <a:latin typeface="Cambria Math" panose="02040503050406030204" pitchFamily="18" charset="0"/>
                              <a:ea typeface="微软雅黑" panose="020B0503020204020204" pitchFamily="34" charset="-122"/>
                            </a:rPr>
                            <m:t>Ψ</m:t>
                          </m:r>
                          <m:d>
                            <m:dPr>
                              <m:begChr m:val="|"/>
                              <m:endChr m:val="|"/>
                              <m:ctrlPr>
                                <a:rPr lang="en-US" altLang="zh-CN" sz="1600" b="0" i="1" smtClean="0">
                                  <a:latin typeface="Cambria Math" panose="02040503050406030204" pitchFamily="18" charset="0"/>
                                  <a:ea typeface="微软雅黑" panose="020B0503020204020204" pitchFamily="34" charset="-122"/>
                                </a:rPr>
                              </m:ctrlPr>
                            </m:dPr>
                            <m:e>
                              <m:acc>
                                <m:accPr>
                                  <m:chr m:val="̂"/>
                                  <m:ctrlPr>
                                    <a:rPr lang="en-US" altLang="zh-CN" sz="1600" b="0" i="1" smtClean="0">
                                      <a:latin typeface="Cambria Math" panose="02040503050406030204" pitchFamily="18" charset="0"/>
                                      <a:ea typeface="微软雅黑" panose="020B0503020204020204" pitchFamily="34" charset="-122"/>
                                    </a:rPr>
                                  </m:ctrlPr>
                                </m:accPr>
                                <m:e>
                                  <m:r>
                                    <a:rPr lang="en-US" altLang="zh-CN" sz="1600" b="0" i="1" smtClean="0">
                                      <a:latin typeface="Cambria Math" panose="02040503050406030204" pitchFamily="18" charset="0"/>
                                      <a:ea typeface="微软雅黑" panose="020B0503020204020204" pitchFamily="34" charset="-122"/>
                                    </a:rPr>
                                    <m:t>𝐴</m:t>
                                  </m:r>
                                </m:e>
                              </m:acc>
                            </m:e>
                          </m:d>
                          <m:r>
                            <m:rPr>
                              <m:sty m:val="p"/>
                            </m:rPr>
                            <a:rPr lang="en-US" altLang="zh-CN" sz="1600" b="0" i="0" smtClean="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m:t>
                      </m:r>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Ψ</m:t>
                          </m:r>
                          <m:d>
                            <m:dPr>
                              <m:begChr m:val="|"/>
                              <m:endChr m:val="|"/>
                              <m:ctrlPr>
                                <a:rPr lang="en-US" altLang="zh-CN" sz="1600" i="1">
                                  <a:latin typeface="Cambria Math" panose="02040503050406030204" pitchFamily="18" charset="0"/>
                                  <a:ea typeface="微软雅黑" panose="020B0503020204020204" pitchFamily="34" charset="-122"/>
                                </a:rPr>
                              </m:ctrlPr>
                            </m:dPr>
                            <m:e>
                              <m:r>
                                <a:rPr lang="en-US" altLang="zh-CN" sz="1600" b="0" i="1" smtClean="0">
                                  <a:latin typeface="Cambria Math" panose="02040503050406030204" pitchFamily="18" charset="0"/>
                                  <a:ea typeface="微软雅黑" panose="020B0503020204020204" pitchFamily="34" charset="-122"/>
                                </a:rPr>
                                <m:t>𝑎</m:t>
                              </m:r>
                            </m:e>
                          </m:d>
                          <m:r>
                            <m:rPr>
                              <m:sty m:val="p"/>
                            </m:rPr>
                            <a:rPr lang="en-US" altLang="zh-CN" sz="160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𝑎</m:t>
                      </m:r>
                      <m:r>
                        <a:rPr lang="en-US" altLang="zh-CN" sz="1600" b="0" i="1" smtClean="0">
                          <a:latin typeface="Cambria Math" panose="02040503050406030204" pitchFamily="18" charset="0"/>
                          <a:ea typeface="微软雅黑" panose="020B0503020204020204" pitchFamily="34" charset="-122"/>
                        </a:rPr>
                        <m:t>⟨</m:t>
                      </m:r>
                      <m:r>
                        <m:rPr>
                          <m:sty m:val="p"/>
                        </m:rPr>
                        <a:rPr lang="en-US" altLang="zh-CN" sz="1600" b="0" i="0" smtClean="0">
                          <a:latin typeface="Cambria Math" panose="02040503050406030204" pitchFamily="18" charset="0"/>
                          <a:ea typeface="微软雅黑" panose="020B0503020204020204" pitchFamily="34" charset="-122"/>
                        </a:rPr>
                        <m:t>Ψ</m:t>
                      </m:r>
                      <m:r>
                        <a:rPr lang="en-US" altLang="zh-CN" sz="1600" b="0" i="1" smtClean="0">
                          <a:latin typeface="Cambria Math" panose="02040503050406030204" pitchFamily="18" charset="0"/>
                          <a:ea typeface="微软雅黑" panose="020B0503020204020204" pitchFamily="34" charset="-122"/>
                        </a:rPr>
                        <m:t>|</m:t>
                      </m:r>
                      <m:r>
                        <m:rPr>
                          <m:sty m:val="p"/>
                        </m:rPr>
                        <a:rPr lang="en-US" altLang="zh-CN" sz="1600" b="0" i="0" smtClean="0">
                          <a:latin typeface="Cambria Math" panose="02040503050406030204" pitchFamily="18" charset="0"/>
                          <a:ea typeface="微软雅黑" panose="020B0503020204020204" pitchFamily="34" charset="-122"/>
                        </a:rPr>
                        <m:t>Ψ</m:t>
                      </m:r>
                      <m:r>
                        <a:rPr lang="en-US" altLang="zh-CN" sz="1600" b="0" i="1" smtClean="0">
                          <a:latin typeface="Cambria Math" panose="02040503050406030204" pitchFamily="18" charset="0"/>
                          <a:ea typeface="微软雅黑" panose="020B0503020204020204" pitchFamily="34" charset="-122"/>
                        </a:rPr>
                        <m:t>⟩</m:t>
                      </m:r>
                    </m:oMath>
                  </m:oMathPara>
                </a14:m>
                <a:endParaRPr lang="en-US" altLang="zh-CN" sz="1600" dirty="0" smtClean="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而</a:t>
                </a:r>
                <a14:m>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Ψ</m:t>
                        </m:r>
                        <m:d>
                          <m:dPr>
                            <m:begChr m:val="|"/>
                            <m:endChr m:val="|"/>
                            <m:ctrlPr>
                              <a:rPr lang="en-US" altLang="zh-CN" sz="1600" i="1">
                                <a:latin typeface="Cambria Math" panose="02040503050406030204" pitchFamily="18" charset="0"/>
                                <a:ea typeface="微软雅黑" panose="020B0503020204020204" pitchFamily="34" charset="-122"/>
                              </a:rPr>
                            </m:ctrlPr>
                          </m:d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𝐴</m:t>
                                </m:r>
                              </m:e>
                            </m:acc>
                          </m:e>
                        </m:d>
                        <m:r>
                          <m:rPr>
                            <m:sty m:val="p"/>
                          </m:rPr>
                          <a:rPr lang="en-US" altLang="zh-CN" sz="160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m:t>
                    </m:r>
                    <m:sSup>
                      <m:sSupPr>
                        <m:ctrlPr>
                          <a:rPr lang="en-US" altLang="zh-CN" sz="1600" b="0" i="1" smtClean="0">
                            <a:latin typeface="Cambria Math" panose="02040503050406030204" pitchFamily="18" charset="0"/>
                            <a:ea typeface="微软雅黑" panose="020B0503020204020204" pitchFamily="34" charset="-122"/>
                          </a:rPr>
                        </m:ctrlPr>
                      </m:sSupPr>
                      <m:e>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Ψ</m:t>
                            </m:r>
                            <m:d>
                              <m:dPr>
                                <m:begChr m:val="|"/>
                                <m:endChr m:val="|"/>
                                <m:ctrlPr>
                                  <a:rPr lang="en-US" altLang="zh-CN" sz="1600" i="1">
                                    <a:latin typeface="Cambria Math" panose="02040503050406030204" pitchFamily="18" charset="0"/>
                                    <a:ea typeface="微软雅黑" panose="020B0503020204020204" pitchFamily="34" charset="-122"/>
                                  </a:rPr>
                                </m:ctrlPr>
                              </m:dPr>
                              <m:e>
                                <m:sSup>
                                  <m:sSupPr>
                                    <m:ctrlPr>
                                      <a:rPr lang="en-US" altLang="zh-CN" sz="1600" b="0" i="1" smtClean="0">
                                        <a:latin typeface="Cambria Math" panose="02040503050406030204" pitchFamily="18" charset="0"/>
                                        <a:ea typeface="微软雅黑" panose="020B0503020204020204" pitchFamily="34" charset="-122"/>
                                      </a:rPr>
                                    </m:ctrlPr>
                                  </m:sSup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𝐴</m:t>
                                        </m:r>
                                      </m:e>
                                    </m:acc>
                                  </m:e>
                                  <m:sup>
                                    <m:r>
                                      <m:rPr>
                                        <m:sty m:val="p"/>
                                      </m:rPr>
                                      <a:rPr lang="en-US" altLang="zh-CN" sz="1600">
                                        <a:latin typeface="Cambria Math" panose="02040503050406030204" pitchFamily="18" charset="0"/>
                                      </a:rPr>
                                      <m:t>ϯ</m:t>
                                    </m:r>
                                  </m:sup>
                                </m:sSup>
                              </m:e>
                            </m:d>
                            <m:r>
                              <m:rPr>
                                <m:sty m:val="p"/>
                              </m:rPr>
                              <a:rPr lang="en-US" altLang="zh-CN" sz="1600">
                                <a:latin typeface="Cambria Math" panose="02040503050406030204" pitchFamily="18" charset="0"/>
                                <a:ea typeface="微软雅黑" panose="020B0503020204020204" pitchFamily="34" charset="-122"/>
                              </a:rPr>
                              <m:t>Ψ</m:t>
                            </m:r>
                          </m:e>
                        </m:d>
                      </m:e>
                      <m:sup>
                        <m:r>
                          <a:rPr lang="en-US" altLang="zh-CN" sz="1600" b="0" i="1" smtClean="0">
                            <a:latin typeface="Cambria Math" panose="02040503050406030204" pitchFamily="18" charset="0"/>
                            <a:ea typeface="微软雅黑" panose="020B0503020204020204" pitchFamily="34" charset="-122"/>
                          </a:rPr>
                          <m:t>∗</m:t>
                        </m:r>
                      </m:sup>
                    </m:sSup>
                    <m:r>
                      <a:rPr lang="en-US" altLang="zh-CN" sz="1600" b="0" i="1" smtClean="0">
                        <a:latin typeface="Cambria Math" panose="02040503050406030204" pitchFamily="18" charset="0"/>
                        <a:ea typeface="微软雅黑" panose="020B0503020204020204" pitchFamily="34" charset="-122"/>
                      </a:rPr>
                      <m:t>=</m:t>
                    </m:r>
                    <m:sSup>
                      <m:sSupPr>
                        <m:ctrlPr>
                          <a:rPr lang="en-US" altLang="zh-CN" sz="1600" b="0" i="1" smtClean="0">
                            <a:latin typeface="Cambria Math" panose="02040503050406030204" pitchFamily="18" charset="0"/>
                            <a:ea typeface="微软雅黑" panose="020B0503020204020204" pitchFamily="34" charset="-122"/>
                          </a:rPr>
                        </m:ctrlPr>
                      </m:sSupPr>
                      <m:e>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Ψ</m:t>
                            </m:r>
                            <m:d>
                              <m:dPr>
                                <m:begChr m:val="|"/>
                                <m:endChr m:val="|"/>
                                <m:ctrlPr>
                                  <a:rPr lang="en-US" altLang="zh-CN" sz="1600" i="1">
                                    <a:latin typeface="Cambria Math" panose="02040503050406030204" pitchFamily="18" charset="0"/>
                                    <a:ea typeface="微软雅黑" panose="020B0503020204020204" pitchFamily="34" charset="-122"/>
                                  </a:rPr>
                                </m:ctrlPr>
                              </m:d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𝐴</m:t>
                                    </m:r>
                                  </m:e>
                                </m:acc>
                              </m:e>
                            </m:d>
                            <m:r>
                              <m:rPr>
                                <m:sty m:val="p"/>
                              </m:rPr>
                              <a:rPr lang="en-US" altLang="zh-CN" sz="1600">
                                <a:latin typeface="Cambria Math" panose="02040503050406030204" pitchFamily="18" charset="0"/>
                                <a:ea typeface="微软雅黑" panose="020B0503020204020204" pitchFamily="34" charset="-122"/>
                              </a:rPr>
                              <m:t>Ψ</m:t>
                            </m:r>
                          </m:e>
                        </m:d>
                      </m:e>
                      <m:sup>
                        <m:r>
                          <a:rPr lang="en-US" altLang="zh-CN" sz="1600" b="0" i="1" smtClean="0">
                            <a:latin typeface="Cambria Math" panose="02040503050406030204" pitchFamily="18" charset="0"/>
                            <a:ea typeface="微软雅黑" panose="020B0503020204020204" pitchFamily="34" charset="-122"/>
                          </a:rPr>
                          <m:t>∗</m:t>
                        </m:r>
                      </m:sup>
                    </m:sSup>
                    <m:r>
                      <a:rPr lang="en-US" altLang="zh-CN" sz="1600" b="0" i="1" smtClean="0">
                        <a:latin typeface="Cambria Math" panose="02040503050406030204" pitchFamily="18" charset="0"/>
                        <a:ea typeface="微软雅黑" panose="020B0503020204020204" pitchFamily="34" charset="-122"/>
                      </a:rPr>
                      <m:t>=</m:t>
                    </m:r>
                    <m:sSup>
                      <m:sSupPr>
                        <m:ctrlPr>
                          <a:rPr lang="en-US" altLang="zh-CN" sz="1600" b="0" i="1" smtClean="0">
                            <a:latin typeface="Cambria Math" panose="02040503050406030204" pitchFamily="18" charset="0"/>
                            <a:ea typeface="微软雅黑" panose="020B0503020204020204" pitchFamily="34" charset="-122"/>
                          </a:rPr>
                        </m:ctrlPr>
                      </m:sSupPr>
                      <m:e>
                        <m:r>
                          <a:rPr lang="en-US" altLang="zh-CN" sz="1600" b="0" i="1" smtClean="0">
                            <a:latin typeface="Cambria Math" panose="02040503050406030204" pitchFamily="18" charset="0"/>
                            <a:ea typeface="微软雅黑" panose="020B0503020204020204" pitchFamily="34" charset="-122"/>
                          </a:rPr>
                          <m:t>𝑎</m:t>
                        </m:r>
                      </m:e>
                      <m:sup>
                        <m:r>
                          <a:rPr lang="en-US" altLang="zh-CN" sz="1600" b="0" i="1" smtClean="0">
                            <a:latin typeface="Cambria Math" panose="02040503050406030204" pitchFamily="18" charset="0"/>
                            <a:ea typeface="微软雅黑" panose="020B0503020204020204" pitchFamily="34" charset="-122"/>
                          </a:rPr>
                          <m:t>∗</m:t>
                        </m:r>
                      </m:sup>
                    </m:sSup>
                    <m:sSup>
                      <m:sSupPr>
                        <m:ctrlPr>
                          <a:rPr lang="en-US" altLang="zh-CN" sz="1600" b="0" i="1" smtClean="0">
                            <a:latin typeface="Cambria Math" panose="02040503050406030204" pitchFamily="18" charset="0"/>
                            <a:ea typeface="微软雅黑" panose="020B0503020204020204" pitchFamily="34" charset="-122"/>
                          </a:rPr>
                        </m:ctrlPr>
                      </m:sSupPr>
                      <m:e>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Ψ</m:t>
                            </m:r>
                          </m:e>
                          <m:e>
                            <m:r>
                              <m:rPr>
                                <m:sty m:val="p"/>
                              </m:rPr>
                              <a:rPr lang="en-US" altLang="zh-CN" sz="1600">
                                <a:latin typeface="Cambria Math" panose="02040503050406030204" pitchFamily="18" charset="0"/>
                                <a:ea typeface="微软雅黑" panose="020B0503020204020204" pitchFamily="34" charset="-122"/>
                              </a:rPr>
                              <m:t>Ψ</m:t>
                            </m:r>
                          </m:e>
                        </m:d>
                      </m:e>
                      <m:sup>
                        <m:r>
                          <a:rPr lang="en-US" altLang="zh-CN" sz="1600" b="0" i="1" smtClean="0">
                            <a:latin typeface="Cambria Math" panose="02040503050406030204" pitchFamily="18" charset="0"/>
                            <a:ea typeface="微软雅黑" panose="020B0503020204020204" pitchFamily="34" charset="-122"/>
                          </a:rPr>
                          <m:t>∗</m:t>
                        </m:r>
                      </m:sup>
                    </m:sSup>
                    <m:r>
                      <a:rPr lang="en-US" altLang="zh-CN" sz="1600" b="0" i="1" smtClean="0">
                        <a:latin typeface="Cambria Math" panose="02040503050406030204" pitchFamily="18" charset="0"/>
                        <a:ea typeface="微软雅黑" panose="020B0503020204020204" pitchFamily="34" charset="-122"/>
                      </a:rPr>
                      <m:t>=</m:t>
                    </m:r>
                    <m:sSup>
                      <m:sSupPr>
                        <m:ctrlPr>
                          <a:rPr lang="en-US" altLang="zh-CN" sz="1600" i="1">
                            <a:latin typeface="Cambria Math" panose="02040503050406030204" pitchFamily="18" charset="0"/>
                            <a:ea typeface="微软雅黑" panose="020B0503020204020204" pitchFamily="34" charset="-122"/>
                          </a:rPr>
                        </m:ctrlPr>
                      </m:sSupPr>
                      <m:e>
                        <m:r>
                          <a:rPr lang="en-US" altLang="zh-CN" sz="1600" i="1">
                            <a:latin typeface="Cambria Math" panose="02040503050406030204" pitchFamily="18" charset="0"/>
                            <a:ea typeface="微软雅黑" panose="020B0503020204020204" pitchFamily="34" charset="-122"/>
                          </a:rPr>
                          <m:t>𝑎</m:t>
                        </m:r>
                      </m:e>
                      <m:sup>
                        <m:r>
                          <a:rPr lang="en-US" altLang="zh-CN" sz="1600" i="1">
                            <a:latin typeface="Cambria Math" panose="02040503050406030204" pitchFamily="18" charset="0"/>
                            <a:ea typeface="微软雅黑" panose="020B0503020204020204" pitchFamily="34" charset="-122"/>
                          </a:rPr>
                          <m:t>∗</m:t>
                        </m:r>
                      </m:sup>
                    </m:sSup>
                    <m:r>
                      <a:rPr lang="en-US" altLang="zh-CN" sz="1600" i="1">
                        <a:latin typeface="Cambria Math" panose="02040503050406030204" pitchFamily="18" charset="0"/>
                        <a:ea typeface="微软雅黑" panose="020B0503020204020204" pitchFamily="34" charset="-122"/>
                      </a:rPr>
                      <m:t>⟨</m:t>
                    </m:r>
                    <m:r>
                      <m:rPr>
                        <m:sty m:val="p"/>
                      </m:rPr>
                      <a:rPr lang="en-US" altLang="zh-CN" sz="1600">
                        <a:latin typeface="Cambria Math" panose="02040503050406030204" pitchFamily="18" charset="0"/>
                        <a:ea typeface="微软雅黑" panose="020B0503020204020204" pitchFamily="34" charset="-122"/>
                      </a:rPr>
                      <m:t>Ψ</m:t>
                    </m:r>
                    <m:r>
                      <a:rPr lang="en-US" altLang="zh-CN" sz="1600" i="1">
                        <a:latin typeface="Cambria Math" panose="02040503050406030204" pitchFamily="18" charset="0"/>
                        <a:ea typeface="微软雅黑" panose="020B0503020204020204" pitchFamily="34" charset="-122"/>
                      </a:rPr>
                      <m:t>|</m:t>
                    </m:r>
                    <m:r>
                      <m:rPr>
                        <m:sty m:val="p"/>
                      </m:rPr>
                      <a:rPr lang="en-US" altLang="zh-CN" sz="1600">
                        <a:latin typeface="Cambria Math" panose="02040503050406030204" pitchFamily="18" charset="0"/>
                        <a:ea typeface="微软雅黑" panose="020B0503020204020204" pitchFamily="34" charset="-122"/>
                      </a:rPr>
                      <m:t>Ψ</m:t>
                    </m:r>
                    <m:r>
                      <a:rPr lang="en-US" altLang="zh-CN" sz="1600" i="1">
                        <a:latin typeface="Cambria Math" panose="02040503050406030204" pitchFamily="18" charset="0"/>
                        <a:ea typeface="微软雅黑" panose="020B0503020204020204" pitchFamily="34" charset="-122"/>
                      </a:rPr>
                      <m:t>⟩</m:t>
                    </m:r>
                  </m:oMath>
                </a14:m>
                <a:endParaRPr lang="en-US" altLang="zh-CN" sz="1600" dirty="0" smtClean="0">
                  <a:latin typeface="微软雅黑" panose="020B0503020204020204" pitchFamily="34" charset="-122"/>
                  <a:ea typeface="微软雅黑" panose="020B0503020204020204" pitchFamily="34" charset="-122"/>
                </a:endParaRPr>
              </a:p>
              <a:p>
                <a:pPr>
                  <a:lnSpc>
                    <a:spcPct val="150000"/>
                  </a:lnSpc>
                </a:pPr>
                <a:r>
                  <a:rPr lang="zh-CN" altLang="en-US" sz="1600" dirty="0" smtClean="0">
                    <a:latin typeface="微软雅黑" panose="020B0503020204020204" pitchFamily="34" charset="-122"/>
                    <a:ea typeface="微软雅黑" panose="020B0503020204020204" pitchFamily="34" charset="-122"/>
                  </a:rPr>
                  <a:t>对比得</a:t>
                </a:r>
                <a14:m>
                  <m:oMath xmlns:m="http://schemas.openxmlformats.org/officeDocument/2006/math">
                    <m:d>
                      <m:dPr>
                        <m:ctrlPr>
                          <a:rPr lang="en-US" altLang="zh-CN" sz="1600" b="0" i="1" smtClean="0">
                            <a:latin typeface="Cambria Math" panose="02040503050406030204" pitchFamily="18" charset="0"/>
                            <a:ea typeface="微软雅黑" panose="020B0503020204020204" pitchFamily="34" charset="-122"/>
                          </a:rPr>
                        </m:ctrlPr>
                      </m:dPr>
                      <m:e>
                        <m:sSup>
                          <m:sSupPr>
                            <m:ctrlPr>
                              <a:rPr lang="en-US" altLang="zh-CN" sz="1600" i="1">
                                <a:latin typeface="Cambria Math" panose="02040503050406030204" pitchFamily="18" charset="0"/>
                                <a:ea typeface="微软雅黑" panose="020B0503020204020204" pitchFamily="34" charset="-122"/>
                              </a:rPr>
                            </m:ctrlPr>
                          </m:sSupPr>
                          <m:e>
                            <m:r>
                              <a:rPr lang="en-US" altLang="zh-CN" sz="1600" i="1">
                                <a:latin typeface="Cambria Math" panose="02040503050406030204" pitchFamily="18" charset="0"/>
                                <a:ea typeface="微软雅黑" panose="020B0503020204020204" pitchFamily="34" charset="-122"/>
                              </a:rPr>
                              <m:t>𝑎</m:t>
                            </m:r>
                          </m:e>
                          <m:sup>
                            <m:r>
                              <a:rPr lang="en-US" altLang="zh-CN" sz="1600" i="1">
                                <a:latin typeface="Cambria Math" panose="02040503050406030204" pitchFamily="18" charset="0"/>
                                <a:ea typeface="微软雅黑" panose="020B0503020204020204" pitchFamily="34" charset="-122"/>
                              </a:rPr>
                              <m:t>∗</m:t>
                            </m:r>
                          </m:sup>
                        </m:sSup>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𝑎</m:t>
                        </m:r>
                      </m:e>
                    </m:d>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Ψ</m:t>
                        </m:r>
                      </m:e>
                      <m:e>
                        <m:r>
                          <m:rPr>
                            <m:sty m:val="p"/>
                          </m:rPr>
                          <a:rPr lang="en-US" altLang="zh-CN" sz="160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=0</m:t>
                    </m:r>
                  </m:oMath>
                </a14:m>
                <a:r>
                  <a:rPr lang="zh-CN" altLang="en-US" sz="1600" dirty="0" smtClean="0">
                    <a:latin typeface="微软雅黑" panose="020B0503020204020204" pitchFamily="34" charset="-122"/>
                    <a:ea typeface="微软雅黑" panose="020B0503020204020204" pitchFamily="34" charset="-122"/>
                  </a:rPr>
                  <a:t>，而</a:t>
                </a:r>
                <a14:m>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Ψ</m:t>
                        </m:r>
                      </m:e>
                      <m:e>
                        <m:r>
                          <m:rPr>
                            <m:sty m:val="p"/>
                          </m:rPr>
                          <a:rPr lang="en-US" altLang="zh-CN" sz="160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≠0</m:t>
                    </m:r>
                  </m:oMath>
                </a14:m>
                <a:r>
                  <a:rPr lang="zh-CN" altLang="en-US" sz="1600" dirty="0" smtClean="0">
                    <a:latin typeface="微软雅黑" panose="020B0503020204020204" pitchFamily="34" charset="-122"/>
                    <a:ea typeface="微软雅黑" panose="020B0503020204020204" pitchFamily="34" charset="-122"/>
                  </a:rPr>
                  <a:t>，从而</a:t>
                </a:r>
                <a14:m>
                  <m:oMath xmlns:m="http://schemas.openxmlformats.org/officeDocument/2006/math">
                    <m:r>
                      <a:rPr lang="en-US" altLang="zh-CN" sz="1600" b="0" i="1" smtClean="0">
                        <a:latin typeface="Cambria Math" panose="02040503050406030204" pitchFamily="18" charset="0"/>
                        <a:ea typeface="微软雅黑" panose="020B0503020204020204" pitchFamily="34" charset="-122"/>
                      </a:rPr>
                      <m:t>𝑎</m:t>
                    </m:r>
                    <m:r>
                      <a:rPr lang="en-US" altLang="zh-CN" sz="1600" b="0" i="1" smtClean="0">
                        <a:latin typeface="Cambria Math" panose="02040503050406030204" pitchFamily="18" charset="0"/>
                        <a:ea typeface="微软雅黑" panose="020B0503020204020204" pitchFamily="34" charset="-122"/>
                      </a:rPr>
                      <m:t>=</m:t>
                    </m:r>
                    <m:sSup>
                      <m:sSupPr>
                        <m:ctrlPr>
                          <a:rPr lang="en-US" altLang="zh-CN" sz="1600" b="0" i="1" smtClean="0">
                            <a:latin typeface="Cambria Math" panose="02040503050406030204" pitchFamily="18" charset="0"/>
                            <a:ea typeface="微软雅黑" panose="020B0503020204020204" pitchFamily="34" charset="-122"/>
                          </a:rPr>
                        </m:ctrlPr>
                      </m:sSupPr>
                      <m:e>
                        <m:r>
                          <a:rPr lang="en-US" altLang="zh-CN" sz="1600" b="0" i="1" smtClean="0">
                            <a:latin typeface="Cambria Math" panose="02040503050406030204" pitchFamily="18" charset="0"/>
                            <a:ea typeface="微软雅黑" panose="020B0503020204020204" pitchFamily="34" charset="-122"/>
                          </a:rPr>
                          <m:t>𝑎</m:t>
                        </m:r>
                      </m:e>
                      <m:sup>
                        <m:r>
                          <a:rPr lang="en-US" altLang="zh-CN" sz="1600" b="0" i="1" smtClean="0">
                            <a:latin typeface="Cambria Math" panose="02040503050406030204" pitchFamily="18" charset="0"/>
                            <a:ea typeface="微软雅黑" panose="020B0503020204020204" pitchFamily="34" charset="-122"/>
                          </a:rPr>
                          <m:t>∗</m:t>
                        </m:r>
                      </m:sup>
                    </m:sSup>
                  </m:oMath>
                </a14:m>
                <a:endParaRPr lang="en-US" altLang="zh-CN" sz="1600" b="0" dirty="0" smtClean="0">
                  <a:latin typeface="微软雅黑" panose="020B0503020204020204" pitchFamily="34" charset="-122"/>
                  <a:ea typeface="微软雅黑" panose="020B0503020204020204" pitchFamily="34" charset="-122"/>
                </a:endParaRPr>
              </a:p>
              <a:p>
                <a:pPr>
                  <a:lnSpc>
                    <a:spcPct val="150000"/>
                  </a:lnSpc>
                </a:pPr>
                <a:r>
                  <a:rPr lang="zh-CN" altLang="en-US" sz="1600" dirty="0" smtClean="0">
                    <a:latin typeface="微软雅黑" panose="020B0503020204020204" pitchFamily="34" charset="-122"/>
                    <a:ea typeface="微软雅黑" panose="020B0503020204020204" pitchFamily="34" charset="-122"/>
                  </a:rPr>
                  <a:t>再取</a:t>
                </a:r>
                <a14:m>
                  <m:oMath xmlns:m="http://schemas.openxmlformats.org/officeDocument/2006/math">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𝐴</m:t>
                        </m:r>
                      </m:e>
                    </m:acc>
                    <m:d>
                      <m:dPr>
                        <m:begChr m:val="|"/>
                        <m:endChr m:val="⟩"/>
                        <m:ctrlPr>
                          <a:rPr lang="en-US" altLang="zh-CN" sz="1600" i="1" dirty="0">
                            <a:latin typeface="Cambria Math" panose="02040503050406030204" pitchFamily="18" charset="0"/>
                            <a:ea typeface="微软雅黑" panose="020B0503020204020204" pitchFamily="34" charset="-122"/>
                          </a:rPr>
                        </m:ctrlPr>
                      </m:dPr>
                      <m:e>
                        <m:r>
                          <m:rPr>
                            <m:sty m:val="p"/>
                          </m:rPr>
                          <a:rPr lang="en-US" altLang="zh-CN" sz="1600" b="0" i="0" dirty="0" smtClean="0">
                            <a:latin typeface="Cambria Math" panose="02040503050406030204" pitchFamily="18" charset="0"/>
                            <a:ea typeface="微软雅黑" panose="020B0503020204020204" pitchFamily="34" charset="-122"/>
                          </a:rPr>
                          <m:t>Φ</m:t>
                        </m:r>
                      </m:e>
                    </m:d>
                    <m:r>
                      <a:rPr lang="en-US" altLang="zh-CN" sz="1600" b="0" i="1" dirty="0" smtClean="0">
                        <a:latin typeface="Cambria Math" panose="02040503050406030204" pitchFamily="18" charset="0"/>
                        <a:ea typeface="微软雅黑" panose="020B0503020204020204" pitchFamily="34" charset="-122"/>
                      </a:rPr>
                      <m:t>=</m:t>
                    </m:r>
                    <m:r>
                      <a:rPr lang="en-US" altLang="zh-CN" sz="1600" b="0" i="1" dirty="0" smtClean="0">
                        <a:latin typeface="Cambria Math" panose="02040503050406030204" pitchFamily="18" charset="0"/>
                        <a:ea typeface="微软雅黑" panose="020B0503020204020204" pitchFamily="34" charset="-122"/>
                      </a:rPr>
                      <m:t>𝑏</m:t>
                    </m:r>
                    <m:r>
                      <a:rPr lang="en-US" altLang="zh-CN" sz="1600" b="0" i="1" dirty="0" smtClean="0">
                        <a:latin typeface="Cambria Math" panose="02040503050406030204" pitchFamily="18" charset="0"/>
                        <a:ea typeface="微软雅黑" panose="020B0503020204020204" pitchFamily="34" charset="-122"/>
                      </a:rPr>
                      <m:t>|</m:t>
                    </m:r>
                    <m:r>
                      <m:rPr>
                        <m:sty m:val="p"/>
                      </m:rPr>
                      <a:rPr lang="en-US" altLang="zh-CN" sz="1600" b="0" i="0" dirty="0" smtClean="0">
                        <a:latin typeface="Cambria Math" panose="02040503050406030204" pitchFamily="18" charset="0"/>
                        <a:ea typeface="微软雅黑" panose="020B0503020204020204" pitchFamily="34" charset="-122"/>
                      </a:rPr>
                      <m:t>Φ</m:t>
                    </m:r>
                    <m:r>
                      <a:rPr lang="en-US" altLang="zh-CN" sz="1600" b="0" i="1" dirty="0" smtClean="0">
                        <a:latin typeface="Cambria Math" panose="02040503050406030204" pitchFamily="18" charset="0"/>
                        <a:ea typeface="微软雅黑" panose="020B0503020204020204" pitchFamily="34" charset="-122"/>
                      </a:rPr>
                      <m:t>⟩</m:t>
                    </m:r>
                  </m:oMath>
                </a14:m>
                <a:r>
                  <a:rPr lang="zh-CN" altLang="en-US" sz="1600" dirty="0" smtClean="0">
                    <a:latin typeface="微软雅黑" panose="020B0503020204020204" pitchFamily="34" charset="-122"/>
                    <a:ea typeface="微软雅黑" panose="020B0503020204020204" pitchFamily="34" charset="-122"/>
                  </a:rPr>
                  <a:t>，有</a:t>
                </a:r>
                <a14:m>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b="0" i="0" smtClean="0">
                            <a:latin typeface="Cambria Math" panose="02040503050406030204" pitchFamily="18" charset="0"/>
                            <a:ea typeface="微软雅黑" panose="020B0503020204020204" pitchFamily="34" charset="-122"/>
                          </a:rPr>
                          <m:t>Φ</m:t>
                        </m:r>
                        <m:d>
                          <m:dPr>
                            <m:begChr m:val="|"/>
                            <m:endChr m:val="|"/>
                            <m:ctrlPr>
                              <a:rPr lang="en-US" altLang="zh-CN" sz="1600" i="1">
                                <a:latin typeface="Cambria Math" panose="02040503050406030204" pitchFamily="18" charset="0"/>
                                <a:ea typeface="微软雅黑" panose="020B0503020204020204" pitchFamily="34" charset="-122"/>
                              </a:rPr>
                            </m:ctrlPr>
                          </m:d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𝐴</m:t>
                                </m:r>
                              </m:e>
                            </m:acc>
                          </m:e>
                        </m:d>
                        <m:r>
                          <m:rPr>
                            <m:sty m:val="p"/>
                          </m:rPr>
                          <a:rPr lang="en-US" altLang="zh-CN" sz="160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𝑎</m:t>
                    </m:r>
                    <m:d>
                      <m:dPr>
                        <m:begChr m:val="⟨"/>
                        <m:endChr m:val="⟩"/>
                        <m:ctrlPr>
                          <a:rPr lang="en-US" altLang="zh-CN" sz="1600" b="0" i="1" smtClean="0">
                            <a:latin typeface="Cambria Math" panose="02040503050406030204" pitchFamily="18" charset="0"/>
                            <a:ea typeface="微软雅黑" panose="020B0503020204020204" pitchFamily="34" charset="-122"/>
                          </a:rPr>
                        </m:ctrlPr>
                      </m:dPr>
                      <m:e>
                        <m:r>
                          <m:rPr>
                            <m:sty m:val="p"/>
                          </m:rPr>
                          <a:rPr lang="en-US" altLang="zh-CN" sz="1600" b="0" i="0" smtClean="0">
                            <a:latin typeface="Cambria Math" panose="02040503050406030204" pitchFamily="18" charset="0"/>
                            <a:ea typeface="微软雅黑" panose="020B0503020204020204" pitchFamily="34" charset="-122"/>
                          </a:rPr>
                          <m:t>Φ</m:t>
                        </m:r>
                      </m:e>
                      <m:e>
                        <m:r>
                          <m:rPr>
                            <m:sty m:val="p"/>
                          </m:rPr>
                          <a:rPr lang="en-US" altLang="zh-CN" sz="1600" b="0" i="0" smtClean="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m:t>
                    </m:r>
                    <m:sSup>
                      <m:sSupPr>
                        <m:ctrlPr>
                          <a:rPr lang="en-US" altLang="zh-CN" sz="1600" b="0" i="1" smtClean="0">
                            <a:latin typeface="Cambria Math" panose="02040503050406030204" pitchFamily="18" charset="0"/>
                            <a:ea typeface="微软雅黑" panose="020B0503020204020204" pitchFamily="34" charset="-122"/>
                          </a:rPr>
                        </m:ctrlPr>
                      </m:sSupPr>
                      <m:e>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b="0" i="0" smtClean="0">
                                <a:latin typeface="Cambria Math" panose="02040503050406030204" pitchFamily="18" charset="0"/>
                                <a:ea typeface="微软雅黑" panose="020B0503020204020204" pitchFamily="34" charset="-122"/>
                              </a:rPr>
                              <m:t>Ψ</m:t>
                            </m:r>
                            <m:d>
                              <m:dPr>
                                <m:begChr m:val="|"/>
                                <m:endChr m:val="|"/>
                                <m:ctrlPr>
                                  <a:rPr lang="en-US" altLang="zh-CN" sz="1600" i="1">
                                    <a:latin typeface="Cambria Math" panose="02040503050406030204" pitchFamily="18" charset="0"/>
                                    <a:ea typeface="微软雅黑" panose="020B0503020204020204" pitchFamily="34" charset="-122"/>
                                  </a:rPr>
                                </m:ctrlPr>
                              </m:d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𝐴</m:t>
                                    </m:r>
                                  </m:e>
                                </m:acc>
                              </m:e>
                            </m:d>
                            <m:r>
                              <m:rPr>
                                <m:sty m:val="p"/>
                              </m:rPr>
                              <a:rPr lang="en-US" altLang="zh-CN" sz="1600" b="0" i="0" smtClean="0">
                                <a:latin typeface="Cambria Math" panose="02040503050406030204" pitchFamily="18" charset="0"/>
                                <a:ea typeface="微软雅黑" panose="020B0503020204020204" pitchFamily="34" charset="-122"/>
                              </a:rPr>
                              <m:t>Φ</m:t>
                            </m:r>
                          </m:e>
                        </m:d>
                      </m:e>
                      <m:sup>
                        <m:r>
                          <a:rPr lang="en-US" altLang="zh-CN" sz="1600" b="0" i="1" smtClean="0">
                            <a:latin typeface="Cambria Math" panose="02040503050406030204" pitchFamily="18" charset="0"/>
                            <a:ea typeface="微软雅黑" panose="020B0503020204020204" pitchFamily="34" charset="-122"/>
                          </a:rPr>
                          <m:t>∗</m:t>
                        </m:r>
                      </m:sup>
                    </m:sSup>
                    <m:r>
                      <a:rPr lang="en-US" altLang="zh-CN" sz="1600" b="0" i="1" smtClean="0">
                        <a:latin typeface="Cambria Math" panose="02040503050406030204" pitchFamily="18" charset="0"/>
                        <a:ea typeface="微软雅黑" panose="020B0503020204020204" pitchFamily="34" charset="-122"/>
                      </a:rPr>
                      <m:t>=</m:t>
                    </m:r>
                    <m:sSup>
                      <m:sSupPr>
                        <m:ctrlPr>
                          <a:rPr lang="en-US" altLang="zh-CN" sz="1600" b="0" i="1" smtClean="0">
                            <a:latin typeface="Cambria Math" panose="02040503050406030204" pitchFamily="18" charset="0"/>
                            <a:ea typeface="微软雅黑" panose="020B0503020204020204" pitchFamily="34" charset="-122"/>
                          </a:rPr>
                        </m:ctrlPr>
                      </m:sSupPr>
                      <m:e>
                        <m:r>
                          <a:rPr lang="en-US" altLang="zh-CN" sz="1600" b="0" i="1" smtClean="0">
                            <a:latin typeface="Cambria Math" panose="02040503050406030204" pitchFamily="18" charset="0"/>
                            <a:ea typeface="微软雅黑" panose="020B0503020204020204" pitchFamily="34" charset="-122"/>
                          </a:rPr>
                          <m:t>𝑏</m:t>
                        </m:r>
                      </m:e>
                      <m:sup>
                        <m:r>
                          <a:rPr lang="en-US" altLang="zh-CN" sz="1600" b="0" i="1" smtClean="0">
                            <a:latin typeface="Cambria Math" panose="02040503050406030204" pitchFamily="18" charset="0"/>
                            <a:ea typeface="微软雅黑" panose="020B0503020204020204" pitchFamily="34" charset="-122"/>
                          </a:rPr>
                          <m:t>∗</m:t>
                        </m:r>
                      </m:sup>
                    </m:sSup>
                    <m:sSup>
                      <m:sSupPr>
                        <m:ctrlPr>
                          <a:rPr lang="en-US" altLang="zh-CN" sz="1600" b="0" i="1" smtClean="0">
                            <a:latin typeface="Cambria Math" panose="02040503050406030204" pitchFamily="18" charset="0"/>
                            <a:ea typeface="微软雅黑" panose="020B0503020204020204" pitchFamily="34" charset="-122"/>
                          </a:rPr>
                        </m:ctrlPr>
                      </m:sSupPr>
                      <m:e>
                        <m:d>
                          <m:dPr>
                            <m:begChr m:val="⟨"/>
                            <m:endChr m:val="⟩"/>
                            <m:ctrlPr>
                              <a:rPr lang="en-US" altLang="zh-CN" sz="1600" b="0" i="1" smtClean="0">
                                <a:latin typeface="Cambria Math" panose="02040503050406030204" pitchFamily="18" charset="0"/>
                                <a:ea typeface="微软雅黑" panose="020B0503020204020204" pitchFamily="34" charset="-122"/>
                              </a:rPr>
                            </m:ctrlPr>
                          </m:dPr>
                          <m:e>
                            <m:r>
                              <m:rPr>
                                <m:sty m:val="p"/>
                              </m:rPr>
                              <a:rPr lang="en-US" altLang="zh-CN" sz="1600" b="0" i="0" smtClean="0">
                                <a:latin typeface="Cambria Math" panose="02040503050406030204" pitchFamily="18" charset="0"/>
                                <a:ea typeface="微软雅黑" panose="020B0503020204020204" pitchFamily="34" charset="-122"/>
                              </a:rPr>
                              <m:t>Ψ</m:t>
                            </m:r>
                          </m:e>
                          <m:e>
                            <m:r>
                              <m:rPr>
                                <m:sty m:val="p"/>
                              </m:rPr>
                              <a:rPr lang="en-US" altLang="zh-CN" sz="1600" b="0" i="0" smtClean="0">
                                <a:latin typeface="Cambria Math" panose="02040503050406030204" pitchFamily="18" charset="0"/>
                                <a:ea typeface="微软雅黑" panose="020B0503020204020204" pitchFamily="34" charset="-122"/>
                              </a:rPr>
                              <m:t>Φ</m:t>
                            </m:r>
                          </m:e>
                        </m:d>
                      </m:e>
                      <m:sup>
                        <m:r>
                          <a:rPr lang="en-US" altLang="zh-CN" sz="1600" b="0" i="1" smtClean="0">
                            <a:latin typeface="Cambria Math" panose="02040503050406030204" pitchFamily="18" charset="0"/>
                            <a:ea typeface="微软雅黑" panose="020B0503020204020204" pitchFamily="34" charset="-122"/>
                          </a:rPr>
                          <m:t>∗</m:t>
                        </m:r>
                      </m:sup>
                    </m:sSup>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𝑏</m:t>
                    </m:r>
                    <m:d>
                      <m:dPr>
                        <m:begChr m:val="⟨"/>
                        <m:endChr m:val="⟩"/>
                        <m:ctrlPr>
                          <a:rPr lang="en-US" altLang="zh-CN" sz="1600" b="0" i="1" smtClean="0">
                            <a:latin typeface="Cambria Math" panose="02040503050406030204" pitchFamily="18" charset="0"/>
                            <a:ea typeface="微软雅黑" panose="020B0503020204020204" pitchFamily="34" charset="-122"/>
                          </a:rPr>
                        </m:ctrlPr>
                      </m:dPr>
                      <m:e>
                        <m:r>
                          <m:rPr>
                            <m:sty m:val="p"/>
                          </m:rPr>
                          <a:rPr lang="en-US" altLang="zh-CN" sz="1600" b="0" i="0" smtClean="0">
                            <a:latin typeface="Cambria Math" panose="02040503050406030204" pitchFamily="18" charset="0"/>
                            <a:ea typeface="微软雅黑" panose="020B0503020204020204" pitchFamily="34" charset="-122"/>
                          </a:rPr>
                          <m:t>Φ</m:t>
                        </m:r>
                      </m:e>
                      <m:e>
                        <m:r>
                          <m:rPr>
                            <m:sty m:val="p"/>
                          </m:rPr>
                          <a:rPr lang="en-US" altLang="zh-CN" sz="1600" b="0" i="0" smtClean="0">
                            <a:latin typeface="Cambria Math" panose="02040503050406030204" pitchFamily="18" charset="0"/>
                            <a:ea typeface="微软雅黑" panose="020B0503020204020204" pitchFamily="34" charset="-122"/>
                          </a:rPr>
                          <m:t>Ψ</m:t>
                        </m:r>
                      </m:e>
                    </m:d>
                  </m:oMath>
                </a14:m>
                <a:endParaRPr lang="en-US" altLang="zh-CN" sz="1600" b="0" dirty="0" smtClean="0">
                  <a:latin typeface="微软雅黑" panose="020B0503020204020204" pitchFamily="34" charset="-122"/>
                  <a:ea typeface="微软雅黑" panose="020B0503020204020204" pitchFamily="34" charset="-122"/>
                </a:endParaRPr>
              </a:p>
              <a:p>
                <a:pPr>
                  <a:lnSpc>
                    <a:spcPct val="150000"/>
                  </a:lnSpc>
                </a:pPr>
                <a:r>
                  <a:rPr lang="zh-CN" altLang="en-US" sz="1600" dirty="0" smtClean="0">
                    <a:latin typeface="微软雅黑" panose="020B0503020204020204" pitchFamily="34" charset="-122"/>
                    <a:ea typeface="微软雅黑" panose="020B0503020204020204" pitchFamily="34" charset="-122"/>
                  </a:rPr>
                  <a:t>对比得</a:t>
                </a:r>
                <a14:m>
                  <m:oMath xmlns:m="http://schemas.openxmlformats.org/officeDocument/2006/math">
                    <m:d>
                      <m:dPr>
                        <m:ctrlPr>
                          <a:rPr lang="en-US" altLang="zh-CN" sz="1600" i="1">
                            <a:latin typeface="Cambria Math" panose="02040503050406030204" pitchFamily="18" charset="0"/>
                            <a:ea typeface="微软雅黑" panose="020B0503020204020204" pitchFamily="34" charset="-122"/>
                          </a:rPr>
                        </m:ctrlPr>
                      </m:dPr>
                      <m:e>
                        <m:r>
                          <a:rPr lang="en-US" altLang="zh-CN" sz="1600" b="0" i="1" smtClean="0">
                            <a:latin typeface="Cambria Math" panose="02040503050406030204" pitchFamily="18" charset="0"/>
                            <a:ea typeface="微软雅黑" panose="020B0503020204020204" pitchFamily="34" charset="-122"/>
                          </a:rPr>
                          <m:t>𝑎</m:t>
                        </m:r>
                        <m:r>
                          <a:rPr lang="en-US" altLang="zh-CN" sz="1600" i="1">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𝑏</m:t>
                        </m:r>
                      </m:e>
                    </m:d>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b="0" i="0" smtClean="0">
                            <a:latin typeface="Cambria Math" panose="02040503050406030204" pitchFamily="18" charset="0"/>
                            <a:ea typeface="微软雅黑" panose="020B0503020204020204" pitchFamily="34" charset="-122"/>
                          </a:rPr>
                          <m:t>Φ</m:t>
                        </m:r>
                      </m:e>
                      <m:e>
                        <m:r>
                          <m:rPr>
                            <m:sty m:val="p"/>
                          </m:rPr>
                          <a:rPr lang="en-US" altLang="zh-CN" sz="1600">
                            <a:latin typeface="Cambria Math" panose="02040503050406030204" pitchFamily="18" charset="0"/>
                            <a:ea typeface="微软雅黑" panose="020B0503020204020204" pitchFamily="34" charset="-122"/>
                          </a:rPr>
                          <m:t>Ψ</m:t>
                        </m:r>
                      </m:e>
                    </m:d>
                    <m:r>
                      <a:rPr lang="en-US" altLang="zh-CN" sz="1600" i="1">
                        <a:latin typeface="Cambria Math" panose="02040503050406030204" pitchFamily="18" charset="0"/>
                        <a:ea typeface="微软雅黑" panose="020B0503020204020204" pitchFamily="34" charset="-122"/>
                      </a:rPr>
                      <m:t>=0</m:t>
                    </m:r>
                  </m:oMath>
                </a14:m>
                <a:r>
                  <a:rPr lang="zh-CN" altLang="en-US" sz="1600" dirty="0" smtClean="0">
                    <a:latin typeface="微软雅黑" panose="020B0503020204020204" pitchFamily="34" charset="-122"/>
                    <a:ea typeface="微软雅黑" panose="020B0503020204020204" pitchFamily="34" charset="-122"/>
                  </a:rPr>
                  <a:t>，而</a:t>
                </a:r>
                <a14:m>
                  <m:oMath xmlns:m="http://schemas.openxmlformats.org/officeDocument/2006/math">
                    <m:r>
                      <a:rPr lang="en-US" altLang="zh-CN" sz="1600" b="0" i="1" smtClean="0">
                        <a:latin typeface="Cambria Math" panose="02040503050406030204" pitchFamily="18" charset="0"/>
                        <a:ea typeface="微软雅黑" panose="020B0503020204020204" pitchFamily="34" charset="-122"/>
                      </a:rPr>
                      <m:t>𝑎</m:t>
                    </m:r>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𝑏</m:t>
                    </m:r>
                    <m:r>
                      <a:rPr lang="en-US" altLang="zh-CN" sz="1600" b="0" i="1" smtClean="0">
                        <a:latin typeface="Cambria Math" panose="02040503050406030204" pitchFamily="18" charset="0"/>
                        <a:ea typeface="微软雅黑" panose="020B0503020204020204" pitchFamily="34" charset="-122"/>
                      </a:rPr>
                      <m:t>≠0</m:t>
                    </m:r>
                  </m:oMath>
                </a14:m>
                <a:r>
                  <a:rPr lang="zh-CN" altLang="en-US" sz="1600" dirty="0" smtClean="0">
                    <a:latin typeface="微软雅黑" panose="020B0503020204020204" pitchFamily="34" charset="-122"/>
                    <a:ea typeface="微软雅黑" panose="020B0503020204020204" pitchFamily="34" charset="-122"/>
                  </a:rPr>
                  <a:t>，从而</a:t>
                </a:r>
                <a14:m>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r>
                          <m:rPr>
                            <m:sty m:val="p"/>
                          </m:rPr>
                          <a:rPr lang="en-US" altLang="zh-CN" sz="1600">
                            <a:latin typeface="Cambria Math" panose="02040503050406030204" pitchFamily="18" charset="0"/>
                            <a:ea typeface="微软雅黑" panose="020B0503020204020204" pitchFamily="34" charset="-122"/>
                          </a:rPr>
                          <m:t>Φ</m:t>
                        </m:r>
                      </m:e>
                      <m:e>
                        <m:r>
                          <m:rPr>
                            <m:sty m:val="p"/>
                          </m:rPr>
                          <a:rPr lang="en-US" altLang="zh-CN" sz="1600">
                            <a:latin typeface="Cambria Math" panose="02040503050406030204" pitchFamily="18" charset="0"/>
                            <a:ea typeface="微软雅黑" panose="020B0503020204020204" pitchFamily="34" charset="-122"/>
                          </a:rPr>
                          <m:t>Ψ</m:t>
                        </m:r>
                      </m:e>
                    </m:d>
                    <m:r>
                      <a:rPr lang="en-US" altLang="zh-CN" sz="1600" b="0" i="1" smtClean="0">
                        <a:latin typeface="Cambria Math" panose="02040503050406030204" pitchFamily="18" charset="0"/>
                        <a:ea typeface="微软雅黑" panose="020B0503020204020204" pitchFamily="34" charset="-122"/>
                      </a:rPr>
                      <m:t>=0</m:t>
                    </m:r>
                  </m:oMath>
                </a14:m>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742315" y="1426156"/>
                <a:ext cx="9843623" cy="5427383"/>
              </a:xfrm>
              <a:prstGeom prst="rect">
                <a:avLst/>
              </a:prstGeom>
              <a:blipFill rotWithShape="0">
                <a:blip r:embed="rId3"/>
                <a:stretch>
                  <a:fillRect l="-5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8375879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7" y="949570"/>
            <a:ext cx="2411144"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可观测量间的关系</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701039" y="1426156"/>
                <a:ext cx="10632245" cy="4537204"/>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很多时候有多个可观测量连续作用在同一个量子态上，需要考察算符间的运算关系</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更</a:t>
                </a:r>
                <a:r>
                  <a:rPr lang="zh-CN" altLang="en-US" dirty="0" smtClean="0">
                    <a:latin typeface="微软雅黑" panose="020B0503020204020204" pitchFamily="34" charset="-122"/>
                    <a:ea typeface="微软雅黑" panose="020B0503020204020204" pitchFamily="34" charset="-122"/>
                  </a:rPr>
                  <a:t>具体地说，考察算符乘法是否满足交换律</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定义对易子：</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r>
                          <a:rPr lang="en-US" altLang="zh-CN" b="0" i="1" smtClean="0">
                            <a:latin typeface="Cambria Math" panose="02040503050406030204" pitchFamily="18" charset="0"/>
                            <a:ea typeface="微软雅黑" panose="020B0503020204020204" pitchFamily="34" charset="-122"/>
                          </a:rPr>
                          <m:t>, </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𝐵</m:t>
                            </m:r>
                          </m:e>
                        </m:acc>
                      </m:e>
                    </m:d>
                    <m:r>
                      <a:rPr lang="en-US" altLang="zh-CN" b="0" i="1" smtClean="0">
                        <a:latin typeface="Cambria Math" panose="02040503050406030204" pitchFamily="18" charset="0"/>
                        <a:ea typeface="微软雅黑" panose="020B0503020204020204" pitchFamily="34" charset="-122"/>
                      </a:rPr>
                      <m:t>=</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如果</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r>
                          <a:rPr lang="en-US" altLang="zh-CN" i="1">
                            <a:latin typeface="Cambria Math" panose="02040503050406030204" pitchFamily="18" charset="0"/>
                            <a:ea typeface="微软雅黑" panose="020B0503020204020204" pitchFamily="34" charset="-122"/>
                          </a:rPr>
                          <m:t>, </m:t>
                        </m:r>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𝐵</m:t>
                            </m:r>
                          </m:e>
                        </m:acc>
                      </m:e>
                    </m:d>
                    <m:r>
                      <a:rPr lang="en-US" altLang="zh-CN" b="0" i="1" smtClean="0">
                        <a:latin typeface="Cambria Math" panose="02040503050406030204" pitchFamily="18" charset="0"/>
                        <a:ea typeface="微软雅黑" panose="020B0503020204020204" pitchFamily="34" charset="-122"/>
                      </a:rPr>
                      <m:t>=0</m:t>
                    </m:r>
                  </m:oMath>
                </a14:m>
                <a:r>
                  <a:rPr lang="zh-CN" altLang="en-US" dirty="0" smtClean="0">
                    <a:latin typeface="微软雅黑" panose="020B0503020204020204" pitchFamily="34" charset="-122"/>
                    <a:ea typeface="微软雅黑" panose="020B0503020204020204" pitchFamily="34" charset="-122"/>
                  </a:rPr>
                  <a:t>，即</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𝐵</m:t>
                        </m:r>
                      </m:e>
                    </m:acc>
                  </m:oMath>
                </a14:m>
                <a:r>
                  <a:rPr lang="zh-CN" altLang="en-US" dirty="0" smtClean="0">
                    <a:latin typeface="微软雅黑" panose="020B0503020204020204" pitchFamily="34" charset="-122"/>
                    <a:ea typeface="微软雅黑" panose="020B0503020204020204" pitchFamily="34" charset="-122"/>
                  </a:rPr>
                  <a:t>可交换，称</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与</a:t>
                </a:r>
                <a14:m>
                  <m:oMath xmlns:m="http://schemas.openxmlformats.org/officeDocument/2006/math">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oMath>
                </a14:m>
                <a:r>
                  <a:rPr lang="zh-CN" altLang="en-US" dirty="0" smtClean="0">
                    <a:latin typeface="微软雅黑" panose="020B0503020204020204" pitchFamily="34" charset="-122"/>
                    <a:ea typeface="微软雅黑" panose="020B0503020204020204" pitchFamily="34" charset="-122"/>
                  </a:rPr>
                  <a:t>对易，反之则称</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a:latin typeface="微软雅黑" panose="020B0503020204020204" pitchFamily="34" charset="-122"/>
                    <a:ea typeface="微软雅黑" panose="020B0503020204020204" pitchFamily="34" charset="-122"/>
                  </a:rPr>
                  <a:t>与</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𝐵</m:t>
                        </m:r>
                      </m:e>
                    </m:acc>
                  </m:oMath>
                </a14:m>
                <a:r>
                  <a:rPr lang="zh-CN" altLang="en-US" dirty="0" smtClean="0">
                    <a:latin typeface="微软雅黑" panose="020B0503020204020204" pitchFamily="34" charset="-122"/>
                    <a:ea typeface="微软雅黑" panose="020B0503020204020204" pitchFamily="34" charset="-122"/>
                  </a:rPr>
                  <a:t>不对易</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对易是可观测量间最重要的关系之一，如果可观测量间对易，那么它们具有共同的本征态，矩阵元可以同时对角化</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如果可观测量间不对易，那么在观测中，这两个物理量不能</a:t>
                </a:r>
                <a:r>
                  <a:rPr lang="zh-CN" altLang="en-US" dirty="0" smtClean="0">
                    <a:solidFill>
                      <a:srgbClr val="FF0000"/>
                    </a:solidFill>
                    <a:latin typeface="微软雅黑" panose="020B0503020204020204" pitchFamily="34" charset="-122"/>
                    <a:ea typeface="微软雅黑" panose="020B0503020204020204" pitchFamily="34" charset="-122"/>
                  </a:rPr>
                  <a:t>同时</a:t>
                </a:r>
                <a:r>
                  <a:rPr lang="zh-CN" altLang="en-US" dirty="0" smtClean="0">
                    <a:latin typeface="微软雅黑" panose="020B0503020204020204" pitchFamily="34" charset="-122"/>
                    <a:ea typeface="微软雅黑" panose="020B0503020204020204" pitchFamily="34" charset="-122"/>
                  </a:rPr>
                  <a:t>被</a:t>
                </a:r>
                <a:r>
                  <a:rPr lang="zh-CN" altLang="en-US" dirty="0" smtClean="0">
                    <a:solidFill>
                      <a:srgbClr val="FF0000"/>
                    </a:solidFill>
                    <a:latin typeface="微软雅黑" panose="020B0503020204020204" pitchFamily="34" charset="-122"/>
                    <a:ea typeface="微软雅黑" panose="020B0503020204020204" pitchFamily="34" charset="-122"/>
                  </a:rPr>
                  <a:t>准确</a:t>
                </a:r>
                <a:r>
                  <a:rPr lang="zh-CN" altLang="en-US" dirty="0" smtClean="0">
                    <a:latin typeface="微软雅黑" panose="020B0503020204020204" pitchFamily="34" charset="-122"/>
                    <a:ea typeface="微软雅黑" panose="020B0503020204020204" pitchFamily="34" charset="-122"/>
                  </a:rPr>
                  <a:t>观测</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对于位置</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𝑥</m:t>
                        </m:r>
                      </m:e>
                    </m:acc>
                  </m:oMath>
                </a14:m>
                <a:r>
                  <a:rPr lang="zh-CN" altLang="en-US" dirty="0" smtClean="0">
                    <a:latin typeface="微软雅黑" panose="020B0503020204020204" pitchFamily="34" charset="-122"/>
                    <a:ea typeface="微软雅黑" panose="020B0503020204020204" pitchFamily="34" charset="-122"/>
                  </a:rPr>
                  <a:t>和动量</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𝑝</m:t>
                        </m:r>
                      </m:e>
                    </m:acc>
                  </m:oMath>
                </a14:m>
                <a:r>
                  <a:rPr lang="zh-CN" altLang="en-US" dirty="0" smtClean="0">
                    <a:latin typeface="微软雅黑" panose="020B0503020204020204" pitchFamily="34" charset="-122"/>
                    <a:ea typeface="微软雅黑" panose="020B0503020204020204" pitchFamily="34" charset="-122"/>
                  </a:rPr>
                  <a:t>，它们之间的对易子满足</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𝑥</m:t>
                            </m:r>
                          </m:e>
                        </m:acc>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 </m:t>
                        </m:r>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𝑝</m:t>
                            </m:r>
                          </m:e>
                        </m:acc>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𝑖</m:t>
                    </m:r>
                    <m:r>
                      <a:rPr lang="en-US" altLang="zh-CN" b="0" i="1" smtClean="0">
                        <a:latin typeface="Cambria Math" panose="02040503050406030204" pitchFamily="18" charset="0"/>
                        <a:ea typeface="微软雅黑" panose="020B0503020204020204" pitchFamily="34" charset="-122"/>
                      </a:rPr>
                      <m:t>ℏ</m:t>
                    </m:r>
                  </m:oMath>
                </a14:m>
                <a:r>
                  <a:rPr lang="zh-CN" altLang="en-US" dirty="0" smtClean="0">
                    <a:latin typeface="微软雅黑" panose="020B0503020204020204" pitchFamily="34" charset="-122"/>
                    <a:ea typeface="微软雅黑" panose="020B0503020204020204" pitchFamily="34" charset="-122"/>
                  </a:rPr>
                  <a:t>，其中</a:t>
                </a:r>
                <a14:m>
                  <m:oMath xmlns:m="http://schemas.openxmlformats.org/officeDocument/2006/math">
                    <m:r>
                      <a:rPr lang="en-US" altLang="zh-CN" i="1">
                        <a:latin typeface="Cambria Math" panose="02040503050406030204" pitchFamily="18" charset="0"/>
                        <a:ea typeface="微软雅黑" panose="020B0503020204020204" pitchFamily="34" charset="-122"/>
                      </a:rPr>
                      <m:t>ℏ</m:t>
                    </m:r>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h</m:t>
                        </m:r>
                      </m:num>
                      <m:den>
                        <m:r>
                          <a:rPr lang="en-US" altLang="zh-CN" b="0" i="1" smtClean="0">
                            <a:latin typeface="Cambria Math" panose="02040503050406030204" pitchFamily="18" charset="0"/>
                            <a:ea typeface="微软雅黑" panose="020B0503020204020204" pitchFamily="34" charset="-122"/>
                          </a:rPr>
                          <m:t>2</m:t>
                        </m:r>
                        <m:r>
                          <a:rPr lang="en-US" altLang="zh-CN" b="0" i="1" smtClean="0">
                            <a:latin typeface="Cambria Math" panose="02040503050406030204" pitchFamily="18" charset="0"/>
                            <a:ea typeface="微软雅黑" panose="020B0503020204020204" pitchFamily="34" charset="-122"/>
                          </a:rPr>
                          <m:t>𝜋</m:t>
                        </m:r>
                      </m:den>
                    </m:f>
                  </m:oMath>
                </a14:m>
                <a:r>
                  <a:rPr lang="zh-CN" altLang="en-US" dirty="0" smtClean="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r>
                      <a:rPr lang="en-US" altLang="zh-CN" i="1">
                        <a:latin typeface="Cambria Math" panose="02040503050406030204" pitchFamily="18" charset="0"/>
                        <a:ea typeface="微软雅黑" panose="020B0503020204020204" pitchFamily="34" charset="-122"/>
                      </a:rPr>
                      <m:t>h</m:t>
                    </m:r>
                  </m:oMath>
                </a14:m>
                <a:r>
                  <a:rPr lang="zh-CN" altLang="en-US" dirty="0" smtClean="0">
                    <a:latin typeface="微软雅黑" panose="020B0503020204020204" pitchFamily="34" charset="-122"/>
                    <a:ea typeface="微软雅黑" panose="020B0503020204020204" pitchFamily="34" charset="-122"/>
                  </a:rPr>
                  <a:t>为普朗克常量</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01039" y="1426156"/>
                <a:ext cx="10632245" cy="4537204"/>
              </a:xfrm>
              <a:prstGeom prst="rect">
                <a:avLst/>
              </a:prstGeom>
              <a:blipFill rotWithShape="0">
                <a:blip r:embed="rId3"/>
                <a:stretch>
                  <a:fillRect l="-4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9396345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7" y="949570"/>
            <a:ext cx="2411144"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测量与统计平均</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p:cNvSpPr txBox="1"/>
              <p:nvPr/>
            </p:nvSpPr>
            <p:spPr>
              <a:xfrm>
                <a:off x="418147" y="1426156"/>
                <a:ext cx="11773853" cy="4456285"/>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借用概率论中期望值（平均值）的概念，对一个量子态的某物理量做多次测量，得到的是可观测量统计平均值：</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e>
                      </m:d>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e>
                              </m:d>
                              <m:r>
                                <m:rPr>
                                  <m:sty m:val="p"/>
                                </m:rPr>
                                <a:rPr lang="en-US" altLang="zh-CN" b="0" i="0" smtClean="0">
                                  <a:latin typeface="Cambria Math" panose="02040503050406030204" pitchFamily="18" charset="0"/>
                                  <a:ea typeface="微软雅黑" panose="020B0503020204020204" pitchFamily="34" charset="-122"/>
                                </a:rPr>
                                <m:t>Ψ</m:t>
                              </m:r>
                            </m:e>
                          </m:d>
                        </m:num>
                        <m:den>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den>
                      </m:f>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此时如果将量子态</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变成</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𝑘</m:t>
                    </m:r>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，则有</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r>
                      <a:rPr lang="en-US" altLang="zh-CN" b="0" i="1" smtClean="0">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𝑘</m:t>
                                    </m:r>
                                  </m:e>
                                  <m:sup>
                                    <m:r>
                                      <a:rPr lang="en-US" altLang="zh-CN" b="0" i="1" smtClean="0">
                                        <a:latin typeface="Cambria Math" panose="02040503050406030204" pitchFamily="18" charset="0"/>
                                        <a:ea typeface="微软雅黑" panose="020B0503020204020204" pitchFamily="34" charset="-122"/>
                                      </a:rPr>
                                      <m:t>∗</m:t>
                                    </m:r>
                                  </m:sup>
                                </m:sSup>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r>
                                  <a:rPr lang="en-US" altLang="zh-CN" b="0" i="1" smtClean="0">
                                    <a:latin typeface="Cambria Math" panose="02040503050406030204" pitchFamily="18" charset="0"/>
                                    <a:ea typeface="微软雅黑" panose="020B0503020204020204" pitchFamily="34" charset="-122"/>
                                  </a:rPr>
                                  <m:t>𝑘</m:t>
                                </m:r>
                              </m:e>
                            </m:d>
                            <m:r>
                              <m:rPr>
                                <m:sty m:val="p"/>
                              </m:rPr>
                              <a:rPr lang="en-US" altLang="zh-CN">
                                <a:latin typeface="Cambria Math" panose="02040503050406030204" pitchFamily="18" charset="0"/>
                                <a:ea typeface="微软雅黑" panose="020B0503020204020204" pitchFamily="34" charset="-122"/>
                              </a:rPr>
                              <m:t>Ψ</m:t>
                            </m:r>
                          </m:e>
                        </m:d>
                      </m:num>
                      <m:den>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𝑘</m:t>
                            </m:r>
                          </m:e>
                          <m:sup>
                            <m:r>
                              <a:rPr lang="en-US" altLang="zh-CN" b="0" i="1" smtClean="0">
                                <a:latin typeface="Cambria Math" panose="02040503050406030204" pitchFamily="18" charset="0"/>
                                <a:ea typeface="微软雅黑" panose="020B0503020204020204" pitchFamily="34" charset="-122"/>
                              </a:rPr>
                              <m:t>∗</m:t>
                            </m:r>
                          </m:sup>
                        </m:sSup>
                        <m:r>
                          <a:rPr lang="en-US" altLang="zh-CN" b="0" i="1" smtClean="0">
                            <a:latin typeface="Cambria Math" panose="02040503050406030204" pitchFamily="18" charset="0"/>
                            <a:ea typeface="微软雅黑" panose="020B0503020204020204" pitchFamily="34" charset="-122"/>
                          </a:rPr>
                          <m:t>𝑘</m:t>
                        </m:r>
                        <m:r>
                          <a:rPr lang="en-US" altLang="zh-CN" b="0" i="1" smtClean="0">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𝑘</m:t>
                                </m:r>
                              </m:e>
                            </m:d>
                          </m:e>
                          <m:sup>
                            <m:r>
                              <a:rPr lang="en-US" altLang="zh-CN" b="0" i="1" smtClean="0">
                                <a:latin typeface="Cambria Math" panose="02040503050406030204" pitchFamily="18" charset="0"/>
                                <a:ea typeface="微软雅黑" panose="020B0503020204020204" pitchFamily="34" charset="-122"/>
                              </a:rPr>
                              <m:t>2</m:t>
                            </m:r>
                          </m:sup>
                        </m:sSup>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e>
                            </m:d>
                            <m:r>
                              <m:rPr>
                                <m:sty m:val="p"/>
                              </m:rPr>
                              <a:rPr lang="en-US" altLang="zh-CN" b="0" i="0" smtClean="0">
                                <a:latin typeface="Cambria Math" panose="02040503050406030204" pitchFamily="18" charset="0"/>
                                <a:ea typeface="微软雅黑" panose="020B0503020204020204" pitchFamily="34" charset="-122"/>
                              </a:rPr>
                              <m:t>Ψ</m:t>
                            </m:r>
                          </m:e>
                        </m:d>
                      </m:num>
                      <m:den>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𝑘</m:t>
                                </m:r>
                              </m:e>
                            </m:d>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Ψ</m:t>
                        </m:r>
                        <m:r>
                          <a:rPr lang="en-US" altLang="zh-CN" b="0" i="1" smtClean="0">
                            <a:latin typeface="Cambria Math" panose="02040503050406030204" pitchFamily="18" charset="0"/>
                            <a:ea typeface="微软雅黑" panose="020B0503020204020204" pitchFamily="34" charset="-122"/>
                          </a:rPr>
                          <m:t>⟩</m:t>
                        </m:r>
                      </m:den>
                    </m:f>
                    <m:r>
                      <a:rPr lang="en-US" altLang="zh-CN" b="0" i="1" smtClean="0">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r>
                              <m:rPr>
                                <m:sty m:val="p"/>
                              </m:rPr>
                              <a:rPr lang="en-US" altLang="zh-CN">
                                <a:latin typeface="Cambria Math" panose="02040503050406030204" pitchFamily="18" charset="0"/>
                                <a:ea typeface="微软雅黑" panose="020B0503020204020204" pitchFamily="34" charset="-122"/>
                              </a:rPr>
                              <m:t>Ψ</m:t>
                            </m:r>
                          </m:e>
                        </m:d>
                      </m:num>
                      <m:den>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den>
                    </m:f>
                  </m:oMath>
                </a14:m>
                <a:r>
                  <a:rPr lang="zh-CN" altLang="en-US" dirty="0" smtClean="0">
                    <a:latin typeface="微软雅黑" panose="020B0503020204020204" pitchFamily="34" charset="-122"/>
                    <a:ea typeface="微软雅黑" panose="020B0503020204020204" pitchFamily="34" charset="-122"/>
                  </a:rPr>
                  <a:t>，即统计值不变</a:t>
                </a:r>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这</a:t>
                </a:r>
                <a:r>
                  <a:rPr lang="zh-CN" altLang="en-US" dirty="0" smtClean="0">
                    <a:latin typeface="微软雅黑" panose="020B0503020204020204" pitchFamily="34" charset="-122"/>
                    <a:ea typeface="微软雅黑" panose="020B0503020204020204" pitchFamily="34" charset="-122"/>
                  </a:rPr>
                  <a:t>是量子力学中</a:t>
                </a:r>
                <a14:m>
                  <m:oMath xmlns:m="http://schemas.openxmlformats.org/officeDocument/2006/math">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i="1">
                        <a:latin typeface="Cambria Math" panose="02040503050406030204" pitchFamily="18" charset="0"/>
                        <a:ea typeface="微软雅黑" panose="020B0503020204020204" pitchFamily="34" charset="-122"/>
                      </a:rPr>
                      <m:t>𝑘</m:t>
                    </m:r>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表示同一个态的原因</a:t>
                </a:r>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量子态</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本身并不具备观测意义，但其与自身态左矢的内积</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rPr>
                      <m:t>⟨</m:t>
                    </m:r>
                    <m:r>
                      <m:rPr>
                        <m:sty m:val="p"/>
                      </m:rPr>
                      <a:rPr lang="en-US" altLang="zh-CN" b="0" i="0" dirty="0" smtClean="0">
                        <a:latin typeface="Cambria Math" panose="02040503050406030204" pitchFamily="18" charset="0"/>
                        <a:ea typeface="微软雅黑" panose="020B0503020204020204" pitchFamily="34" charset="-122"/>
                      </a:rPr>
                      <m:t>Ψ</m:t>
                    </m:r>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是一个实数，具有一定的物理意义</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在</a:t>
                </a:r>
                <a14:m>
                  <m:oMath xmlns:m="http://schemas.openxmlformats.org/officeDocument/2006/math">
                    <m:r>
                      <a:rPr lang="en-US" altLang="zh-CN" i="1" dirty="0">
                        <a:latin typeface="Cambria Math" panose="02040503050406030204" pitchFamily="18" charset="0"/>
                        <a:ea typeface="微软雅黑" panose="020B0503020204020204" pitchFamily="34" charset="-122"/>
                      </a:rPr>
                      <m:t>⟨</m:t>
                    </m:r>
                    <m:r>
                      <m:rPr>
                        <m:sty m:val="p"/>
                      </m:rPr>
                      <a:rPr lang="en-US" altLang="zh-CN" dirty="0">
                        <a:latin typeface="Cambria Math" panose="02040503050406030204" pitchFamily="18" charset="0"/>
                        <a:ea typeface="微软雅黑" panose="020B0503020204020204" pitchFamily="34" charset="-122"/>
                      </a:rPr>
                      <m:t>Ψ</m:t>
                    </m:r>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oMath>
                </a14:m>
                <a:r>
                  <a:rPr lang="zh-CN" altLang="en-US" dirty="0" smtClean="0">
                    <a:latin typeface="微软雅黑" panose="020B0503020204020204" pitchFamily="34" charset="-122"/>
                    <a:ea typeface="微软雅黑" panose="020B0503020204020204" pitchFamily="34" charset="-122"/>
                  </a:rPr>
                  <a:t>中插入一个恒等算符</a:t>
                </a:r>
                <a14:m>
                  <m:oMath xmlns:m="http://schemas.openxmlformats.org/officeDocument/2006/math">
                    <m:acc>
                      <m:accPr>
                        <m:chr m:val="̂"/>
                        <m:ctrlPr>
                          <a:rPr lang="en-US" altLang="zh-CN" i="1" smtClean="0">
                            <a:solidFill>
                              <a:schemeClr val="tx1"/>
                            </a:solidFill>
                            <a:latin typeface="Cambria Math" panose="02040503050406030204" pitchFamily="18" charset="0"/>
                            <a:ea typeface="微软雅黑" panose="020B0503020204020204" pitchFamily="34" charset="-122"/>
                          </a:rPr>
                        </m:ctrlPr>
                      </m:accPr>
                      <m:e>
                        <m:r>
                          <a:rPr lang="en-US" altLang="zh-CN" i="1">
                            <a:solidFill>
                              <a:schemeClr val="tx1"/>
                            </a:solidFill>
                            <a:latin typeface="Cambria Math" panose="02040503050406030204" pitchFamily="18" charset="0"/>
                            <a:ea typeface="微软雅黑" panose="020B0503020204020204" pitchFamily="34" charset="-122"/>
                          </a:rPr>
                          <m:t>𝐼</m:t>
                        </m:r>
                      </m:e>
                    </m:acc>
                    <m:r>
                      <a:rPr lang="en-US" altLang="zh-CN" i="1" dirty="0">
                        <a:solidFill>
                          <a:schemeClr val="tx1"/>
                        </a:solidFill>
                        <a:latin typeface="Cambria Math" panose="02040503050406030204" pitchFamily="18" charset="0"/>
                        <a:ea typeface="微软雅黑" panose="020B0503020204020204" pitchFamily="34" charset="-122"/>
                      </a:rPr>
                      <m:t>= </m:t>
                    </m:r>
                    <m:nary>
                      <m:naryPr>
                        <m:chr m:val="∑"/>
                        <m:supHide m:val="on"/>
                        <m:ctrlPr>
                          <a:rPr lang="en-US" altLang="zh-CN" i="1">
                            <a:solidFill>
                              <a:schemeClr val="tx1"/>
                            </a:solidFill>
                            <a:latin typeface="Cambria Math" panose="02040503050406030204" pitchFamily="18" charset="0"/>
                            <a:ea typeface="微软雅黑" panose="020B0503020204020204" pitchFamily="34" charset="-122"/>
                          </a:rPr>
                        </m:ctrlPr>
                      </m:naryPr>
                      <m:sub>
                        <m:r>
                          <a:rPr lang="en-US" altLang="zh-CN" i="1">
                            <a:solidFill>
                              <a:schemeClr val="tx1"/>
                            </a:solidFill>
                            <a:latin typeface="Cambria Math" panose="02040503050406030204" pitchFamily="18" charset="0"/>
                            <a:ea typeface="微软雅黑" panose="020B0503020204020204" pitchFamily="34" charset="-122"/>
                          </a:rPr>
                          <m:t>𝑖</m:t>
                        </m:r>
                      </m:sub>
                      <m:sup/>
                      <m:e>
                        <m:d>
                          <m:dPr>
                            <m:begChr m:val="|"/>
                            <m:endChr m:val="⟩"/>
                            <m:ctrlPr>
                              <a:rPr lang="en-US" altLang="zh-CN" i="1">
                                <a:solidFill>
                                  <a:schemeClr val="tx1"/>
                                </a:solidFill>
                                <a:latin typeface="Cambria Math" panose="02040503050406030204" pitchFamily="18" charset="0"/>
                                <a:ea typeface="微软雅黑" panose="020B0503020204020204" pitchFamily="34" charset="-122"/>
                              </a:rPr>
                            </m:ctrlPr>
                          </m:dPr>
                          <m:e>
                            <m:sSub>
                              <m:sSubPr>
                                <m:ctrlPr>
                                  <a:rPr lang="en-US" altLang="zh-CN" i="1">
                                    <a:solidFill>
                                      <a:schemeClr val="tx1"/>
                                    </a:solidFill>
                                    <a:latin typeface="Cambria Math" panose="02040503050406030204" pitchFamily="18" charset="0"/>
                                    <a:ea typeface="微软雅黑" panose="020B0503020204020204" pitchFamily="34" charset="-122"/>
                                  </a:rPr>
                                </m:ctrlPr>
                              </m:sSubPr>
                              <m:e>
                                <m:r>
                                  <a:rPr lang="en-US" altLang="zh-CN" i="1">
                                    <a:solidFill>
                                      <a:schemeClr val="tx1"/>
                                    </a:solidFill>
                                    <a:latin typeface="Cambria Math" panose="02040503050406030204" pitchFamily="18" charset="0"/>
                                    <a:ea typeface="微软雅黑" panose="020B0503020204020204" pitchFamily="34" charset="-122"/>
                                  </a:rPr>
                                  <m:t>𝜓</m:t>
                                </m:r>
                              </m:e>
                              <m:sub>
                                <m:r>
                                  <a:rPr lang="en-US" altLang="zh-CN" i="1">
                                    <a:solidFill>
                                      <a:schemeClr val="tx1"/>
                                    </a:solidFill>
                                    <a:latin typeface="Cambria Math" panose="02040503050406030204" pitchFamily="18" charset="0"/>
                                    <a:ea typeface="微软雅黑" panose="020B0503020204020204" pitchFamily="34" charset="-122"/>
                                  </a:rPr>
                                  <m:t>𝑖</m:t>
                                </m:r>
                              </m:sub>
                            </m:sSub>
                          </m:e>
                        </m:d>
                        <m:d>
                          <m:dPr>
                            <m:begChr m:val="⟨"/>
                            <m:endChr m:val="|"/>
                            <m:ctrlPr>
                              <a:rPr lang="en-US" altLang="zh-CN" i="1">
                                <a:solidFill>
                                  <a:schemeClr val="tx1"/>
                                </a:solidFill>
                                <a:latin typeface="Cambria Math" panose="02040503050406030204" pitchFamily="18" charset="0"/>
                                <a:ea typeface="微软雅黑" panose="020B0503020204020204" pitchFamily="34" charset="-122"/>
                              </a:rPr>
                            </m:ctrlPr>
                          </m:dPr>
                          <m:e>
                            <m:sSub>
                              <m:sSubPr>
                                <m:ctrlPr>
                                  <a:rPr lang="en-US" altLang="zh-CN" i="1">
                                    <a:solidFill>
                                      <a:schemeClr val="tx1"/>
                                    </a:solidFill>
                                    <a:latin typeface="Cambria Math" panose="02040503050406030204" pitchFamily="18" charset="0"/>
                                    <a:ea typeface="微软雅黑" panose="020B0503020204020204" pitchFamily="34" charset="-122"/>
                                  </a:rPr>
                                </m:ctrlPr>
                              </m:sSubPr>
                              <m:e>
                                <m:r>
                                  <a:rPr lang="en-US" altLang="zh-CN" i="1">
                                    <a:solidFill>
                                      <a:schemeClr val="tx1"/>
                                    </a:solidFill>
                                    <a:latin typeface="Cambria Math" panose="02040503050406030204" pitchFamily="18" charset="0"/>
                                    <a:ea typeface="微软雅黑" panose="020B0503020204020204" pitchFamily="34" charset="-122"/>
                                  </a:rPr>
                                  <m:t>𝜓</m:t>
                                </m:r>
                              </m:e>
                              <m:sub>
                                <m:r>
                                  <a:rPr lang="en-US" altLang="zh-CN" i="1">
                                    <a:solidFill>
                                      <a:schemeClr val="tx1"/>
                                    </a:solidFill>
                                    <a:latin typeface="Cambria Math" panose="02040503050406030204" pitchFamily="18" charset="0"/>
                                    <a:ea typeface="微软雅黑" panose="020B0503020204020204" pitchFamily="34" charset="-122"/>
                                  </a:rPr>
                                  <m:t>𝑖</m:t>
                                </m:r>
                              </m:sub>
                            </m:sSub>
                          </m:e>
                        </m:d>
                      </m:e>
                    </m:nary>
                  </m:oMath>
                </a14:m>
                <a:r>
                  <a:rPr lang="zh-CN" altLang="en-US" dirty="0" smtClean="0">
                    <a:latin typeface="微软雅黑" panose="020B0503020204020204" pitchFamily="34" charset="-122"/>
                    <a:ea typeface="微软雅黑" panose="020B0503020204020204" pitchFamily="34" charset="-122"/>
                  </a:rPr>
                  <a:t>后有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微软雅黑" panose="020B0503020204020204" pitchFamily="34" charset="-122"/>
                        </a:rPr>
                        <m:t>⟨</m:t>
                      </m:r>
                      <m:r>
                        <m:rPr>
                          <m:sty m:val="p"/>
                        </m:rPr>
                        <a:rPr lang="en-US" altLang="zh-CN" dirty="0">
                          <a:latin typeface="Cambria Math" panose="02040503050406030204" pitchFamily="18" charset="0"/>
                          <a:ea typeface="微软雅黑" panose="020B0503020204020204" pitchFamily="34" charset="-122"/>
                        </a:rPr>
                        <m:t>Ψ</m:t>
                      </m:r>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d>
                            <m:dPr>
                              <m:begChr m:val="|"/>
                              <m:endChr m:val="|"/>
                              <m:ctrlPr>
                                <a:rPr lang="en-US" altLang="zh-CN" b="0" i="1" dirty="0" smtClean="0">
                                  <a:latin typeface="Cambria Math" panose="02040503050406030204" pitchFamily="18" charset="0"/>
                                  <a:ea typeface="微软雅黑" panose="020B0503020204020204" pitchFamily="34" charset="-122"/>
                                </a:rPr>
                              </m:ctrlPr>
                            </m:dPr>
                            <m:e>
                              <m:d>
                                <m:dPr>
                                  <m:ctrlPr>
                                    <a:rPr lang="en-US" altLang="zh-CN" b="0" i="1" dirty="0" smtClean="0">
                                      <a:latin typeface="Cambria Math" panose="02040503050406030204" pitchFamily="18" charset="0"/>
                                      <a:ea typeface="微软雅黑" panose="020B0503020204020204" pitchFamily="34" charset="-122"/>
                                    </a:rPr>
                                  </m:ctrlPr>
                                </m:dPr>
                                <m:e>
                                  <m:nary>
                                    <m:naryPr>
                                      <m:chr m:val="∑"/>
                                      <m:supHide m:val="on"/>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𝑖</m:t>
                                      </m:r>
                                    </m:sub>
                                    <m:sup/>
                                    <m:e>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𝑖</m:t>
                                              </m:r>
                                            </m:sub>
                                          </m:sSub>
                                        </m:e>
                                      </m:d>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𝑖</m:t>
                                              </m:r>
                                            </m:sub>
                                          </m:sSub>
                                        </m:e>
                                      </m:d>
                                    </m:e>
                                  </m:nary>
                                </m:e>
                              </m:d>
                            </m:e>
                          </m:d>
                          <m:r>
                            <m:rPr>
                              <m:sty m:val="p"/>
                            </m:rPr>
                            <a:rPr lang="en-US" altLang="zh-CN" b="0" i="0" smtClean="0">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e>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e>
                              <m:r>
                                <m:rPr>
                                  <m:sty m:val="p"/>
                                </m:rPr>
                                <a:rPr lang="en-US" altLang="zh-CN" b="0" i="0" smtClean="0">
                                  <a:latin typeface="Cambria Math" panose="02040503050406030204" pitchFamily="18" charset="0"/>
                                  <a:ea typeface="微软雅黑" panose="020B0503020204020204" pitchFamily="34" charset="-122"/>
                                </a:rPr>
                                <m:t>Ψ</m:t>
                              </m:r>
                            </m:e>
                          </m:d>
                        </m:e>
                      </m:nary>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e>
                                  <m:r>
                                    <m:rPr>
                                      <m:sty m:val="p"/>
                                    </m:rPr>
                                    <a:rPr lang="en-US" altLang="zh-CN" b="0" i="0" smtClean="0">
                                      <a:latin typeface="Cambria Math" panose="02040503050406030204" pitchFamily="18" charset="0"/>
                                      <a:ea typeface="微软雅黑" panose="020B0503020204020204" pitchFamily="34" charset="-122"/>
                                    </a:rPr>
                                    <m:t>Ψ</m:t>
                                  </m:r>
                                </m:e>
                              </m:d>
                            </m:e>
                            <m:sup>
                              <m:r>
                                <a:rPr lang="en-US" altLang="zh-CN" b="0" i="1" smtClean="0">
                                  <a:latin typeface="Cambria Math" panose="02040503050406030204" pitchFamily="18" charset="0"/>
                                  <a:ea typeface="微软雅黑" panose="020B0503020204020204" pitchFamily="34" charset="-122"/>
                                </a:rPr>
                                <m:t>∗</m:t>
                              </m:r>
                            </m:sup>
                          </m:sSup>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e>
                              <m:r>
                                <m:rPr>
                                  <m:sty m:val="p"/>
                                </m:rPr>
                                <a:rPr lang="en-US" altLang="zh-CN" b="0" i="0" smtClean="0">
                                  <a:latin typeface="Cambria Math" panose="02040503050406030204" pitchFamily="18" charset="0"/>
                                  <a:ea typeface="微软雅黑" panose="020B0503020204020204" pitchFamily="34" charset="-122"/>
                                </a:rPr>
                                <m:t>Ψ</m:t>
                              </m:r>
                            </m:e>
                          </m:d>
                        </m:e>
                      </m:nary>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e>
                                      <m:r>
                                        <m:rPr>
                                          <m:sty m:val="p"/>
                                        </m:rPr>
                                        <a:rPr lang="en-US" altLang="zh-CN" b="0" i="0" smtClean="0">
                                          <a:latin typeface="Cambria Math" panose="02040503050406030204" pitchFamily="18" charset="0"/>
                                          <a:ea typeface="微软雅黑" panose="020B0503020204020204" pitchFamily="34" charset="-122"/>
                                        </a:rPr>
                                        <m:t>Ψ</m:t>
                                      </m:r>
                                    </m:e>
                                  </m:d>
                                </m:e>
                              </m:d>
                            </m:e>
                            <m:sup>
                              <m:r>
                                <a:rPr lang="en-US" altLang="zh-CN" b="0" i="1" smtClean="0">
                                  <a:latin typeface="Cambria Math" panose="02040503050406030204" pitchFamily="18" charset="0"/>
                                  <a:ea typeface="微软雅黑" panose="020B0503020204020204" pitchFamily="34" charset="-122"/>
                                </a:rPr>
                                <m:t>2</m:t>
                              </m:r>
                            </m:sup>
                          </m:sSup>
                        </m:e>
                      </m:nary>
                    </m:oMath>
                  </m:oMathPara>
                </a14:m>
                <a:endParaRPr lang="en-US" altLang="zh-CN" b="0"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而</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𝑖</m:t>
                            </m:r>
                          </m:sub>
                        </m:sSub>
                      </m:e>
                      <m:e>
                        <m:r>
                          <m:rPr>
                            <m:sty m:val="p"/>
                          </m:rPr>
                          <a:rPr lang="en-US" altLang="zh-CN">
                            <a:latin typeface="Cambria Math" panose="02040503050406030204" pitchFamily="18" charset="0"/>
                            <a:ea typeface="微软雅黑" panose="020B0503020204020204" pitchFamily="34" charset="-122"/>
                          </a:rPr>
                          <m:t>Ψ</m:t>
                        </m:r>
                      </m:e>
                    </m:d>
                  </m:oMath>
                </a14:m>
                <a:r>
                  <a:rPr lang="zh-CN" altLang="en-US" b="0" dirty="0" smtClean="0">
                    <a:latin typeface="微软雅黑" panose="020B0503020204020204" pitchFamily="34" charset="-122"/>
                    <a:ea typeface="微软雅黑" panose="020B0503020204020204" pitchFamily="34" charset="-122"/>
                  </a:rPr>
                  <a:t>就是展开系数</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𝑖</m:t>
                        </m:r>
                      </m:sub>
                    </m:sSub>
                  </m:oMath>
                </a14:m>
                <a:r>
                  <a:rPr lang="zh-CN" altLang="en-US" b="0" dirty="0" smtClean="0">
                    <a:latin typeface="微软雅黑" panose="020B0503020204020204" pitchFamily="34" charset="-122"/>
                    <a:ea typeface="微软雅黑" panose="020B0503020204020204" pitchFamily="34" charset="-122"/>
                  </a:rPr>
                  <a:t>，所以</a:t>
                </a:r>
                <a14:m>
                  <m:oMath xmlns:m="http://schemas.openxmlformats.org/officeDocument/2006/math">
                    <m:r>
                      <a:rPr lang="en-US" altLang="zh-CN" i="1" dirty="0">
                        <a:latin typeface="Cambria Math" panose="02040503050406030204" pitchFamily="18" charset="0"/>
                        <a:ea typeface="微软雅黑" panose="020B0503020204020204" pitchFamily="34" charset="-122"/>
                      </a:rPr>
                      <m:t>⟨</m:t>
                    </m:r>
                    <m:r>
                      <m:rPr>
                        <m:sty m:val="p"/>
                      </m:rPr>
                      <a:rPr lang="en-US" altLang="zh-CN" dirty="0">
                        <a:latin typeface="Cambria Math" panose="02040503050406030204" pitchFamily="18" charset="0"/>
                        <a:ea typeface="微软雅黑" panose="020B0503020204020204" pitchFamily="34" charset="-122"/>
                      </a:rPr>
                      <m:t>Ψ</m:t>
                    </m:r>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r>
                      <a:rPr lang="en-US" altLang="zh-CN" b="0" i="1" dirty="0" smtClean="0">
                        <a:latin typeface="Cambria Math" panose="02040503050406030204" pitchFamily="18" charset="0"/>
                        <a:ea typeface="微软雅黑" panose="020B0503020204020204" pitchFamily="34" charset="-122"/>
                      </a:rPr>
                      <m:t>=</m:t>
                    </m:r>
                    <m:sSubSup>
                      <m:sSubSupPr>
                        <m:ctrlPr>
                          <a:rPr lang="en-US" altLang="zh-CN" b="0" i="1" dirty="0" smtClean="0">
                            <a:latin typeface="Cambria Math" panose="02040503050406030204" pitchFamily="18" charset="0"/>
                            <a:ea typeface="微软雅黑" panose="020B0503020204020204" pitchFamily="34" charset="-122"/>
                          </a:rPr>
                        </m:ctrlPr>
                      </m:sSubSupPr>
                      <m:e>
                        <m:r>
                          <a:rPr lang="en-US" altLang="zh-CN" b="0" i="1" dirty="0" smtClean="0">
                            <a:latin typeface="Cambria Math" panose="02040503050406030204" pitchFamily="18" charset="0"/>
                            <a:ea typeface="微软雅黑" panose="020B0503020204020204" pitchFamily="34" charset="-122"/>
                          </a:rPr>
                          <m:t>𝑐</m:t>
                        </m:r>
                      </m:e>
                      <m:sub>
                        <m:r>
                          <a:rPr lang="en-US" altLang="zh-CN" b="0" i="1" dirty="0" smtClean="0">
                            <a:latin typeface="Cambria Math" panose="02040503050406030204" pitchFamily="18" charset="0"/>
                            <a:ea typeface="微软雅黑" panose="020B0503020204020204" pitchFamily="34" charset="-122"/>
                          </a:rPr>
                          <m:t>1</m:t>
                        </m:r>
                      </m:sub>
                      <m:sup>
                        <m:r>
                          <a:rPr lang="en-US" altLang="zh-CN" b="0" i="1" dirty="0" smtClean="0">
                            <a:latin typeface="Cambria Math" panose="02040503050406030204" pitchFamily="18" charset="0"/>
                            <a:ea typeface="微软雅黑" panose="020B0503020204020204" pitchFamily="34" charset="-122"/>
                          </a:rPr>
                          <m:t>2</m:t>
                        </m:r>
                      </m:sup>
                    </m:sSubSup>
                    <m:r>
                      <a:rPr lang="en-US" altLang="zh-CN" b="0" i="1" dirty="0" smtClean="0">
                        <a:latin typeface="Cambria Math" panose="02040503050406030204" pitchFamily="18" charset="0"/>
                        <a:ea typeface="微软雅黑" panose="020B0503020204020204" pitchFamily="34" charset="-122"/>
                      </a:rPr>
                      <m:t>+</m:t>
                    </m:r>
                    <m:sSubSup>
                      <m:sSubSupPr>
                        <m:ctrlPr>
                          <a:rPr lang="en-US" altLang="zh-CN" b="0" i="1" dirty="0" smtClean="0">
                            <a:latin typeface="Cambria Math" panose="02040503050406030204" pitchFamily="18" charset="0"/>
                            <a:ea typeface="微软雅黑" panose="020B0503020204020204" pitchFamily="34" charset="-122"/>
                          </a:rPr>
                        </m:ctrlPr>
                      </m:sSubSupPr>
                      <m:e>
                        <m:r>
                          <a:rPr lang="en-US" altLang="zh-CN" b="0" i="1" dirty="0" smtClean="0">
                            <a:latin typeface="Cambria Math" panose="02040503050406030204" pitchFamily="18" charset="0"/>
                            <a:ea typeface="微软雅黑" panose="020B0503020204020204" pitchFamily="34" charset="-122"/>
                          </a:rPr>
                          <m:t>𝑐</m:t>
                        </m:r>
                      </m:e>
                      <m:sub>
                        <m:r>
                          <a:rPr lang="en-US" altLang="zh-CN" b="0" i="1" dirty="0" smtClean="0">
                            <a:latin typeface="Cambria Math" panose="02040503050406030204" pitchFamily="18" charset="0"/>
                            <a:ea typeface="微软雅黑" panose="020B0503020204020204" pitchFamily="34" charset="-122"/>
                          </a:rPr>
                          <m:t>2</m:t>
                        </m:r>
                      </m:sub>
                      <m:sup>
                        <m:r>
                          <a:rPr lang="en-US" altLang="zh-CN" b="0" i="1" dirty="0" smtClean="0">
                            <a:latin typeface="Cambria Math" panose="02040503050406030204" pitchFamily="18" charset="0"/>
                            <a:ea typeface="微软雅黑" panose="020B0503020204020204" pitchFamily="34" charset="-122"/>
                          </a:rPr>
                          <m:t>2</m:t>
                        </m:r>
                      </m:sup>
                    </m:sSubSup>
                    <m:r>
                      <a:rPr lang="en-US" altLang="zh-CN" b="0" i="1" dirty="0" smtClean="0">
                        <a:latin typeface="Cambria Math" panose="02040503050406030204" pitchFamily="18" charset="0"/>
                        <a:ea typeface="微软雅黑" panose="020B0503020204020204" pitchFamily="34" charset="-122"/>
                      </a:rPr>
                      <m:t>+⋯+</m:t>
                    </m:r>
                    <m:sSubSup>
                      <m:sSubSupPr>
                        <m:ctrlPr>
                          <a:rPr lang="en-US" altLang="zh-CN" b="0" i="1" dirty="0" smtClean="0">
                            <a:latin typeface="Cambria Math" panose="02040503050406030204" pitchFamily="18" charset="0"/>
                            <a:ea typeface="微软雅黑" panose="020B0503020204020204" pitchFamily="34" charset="-122"/>
                          </a:rPr>
                        </m:ctrlPr>
                      </m:sSubSupPr>
                      <m:e>
                        <m:r>
                          <a:rPr lang="en-US" altLang="zh-CN" b="0" i="1" dirty="0" smtClean="0">
                            <a:latin typeface="Cambria Math" panose="02040503050406030204" pitchFamily="18" charset="0"/>
                            <a:ea typeface="微软雅黑" panose="020B0503020204020204" pitchFamily="34" charset="-122"/>
                          </a:rPr>
                          <m:t>𝑐</m:t>
                        </m:r>
                      </m:e>
                      <m:sub>
                        <m:r>
                          <a:rPr lang="en-US" altLang="zh-CN" b="0" i="1" dirty="0" smtClean="0">
                            <a:latin typeface="Cambria Math" panose="02040503050406030204" pitchFamily="18" charset="0"/>
                            <a:ea typeface="微软雅黑" panose="020B0503020204020204" pitchFamily="34" charset="-122"/>
                          </a:rPr>
                          <m:t>𝑛</m:t>
                        </m:r>
                      </m:sub>
                      <m:sup>
                        <m:r>
                          <a:rPr lang="en-US" altLang="zh-CN" b="0" i="1" dirty="0" smtClean="0">
                            <a:latin typeface="Cambria Math" panose="02040503050406030204" pitchFamily="18" charset="0"/>
                            <a:ea typeface="微软雅黑" panose="020B0503020204020204" pitchFamily="34" charset="-122"/>
                          </a:rPr>
                          <m:t>2</m:t>
                        </m:r>
                      </m:sup>
                    </m:sSubSup>
                    <m:r>
                      <a:rPr lang="en-US" altLang="zh-CN" b="0" i="1" dirty="0" smtClean="0">
                        <a:latin typeface="Cambria Math" panose="02040503050406030204" pitchFamily="18" charset="0"/>
                        <a:ea typeface="微软雅黑" panose="020B0503020204020204" pitchFamily="34" charset="-122"/>
                      </a:rPr>
                      <m:t>+⋯</m:t>
                    </m:r>
                  </m:oMath>
                </a14:m>
                <a:endParaRPr lang="en-US" altLang="zh-CN" b="0"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将</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oMath>
                </a14:m>
                <a:r>
                  <a:rPr lang="zh-CN" altLang="en-US" b="0" dirty="0" smtClean="0">
                    <a:latin typeface="微软雅黑" panose="020B0503020204020204" pitchFamily="34" charset="-122"/>
                    <a:ea typeface="微软雅黑" panose="020B0503020204020204" pitchFamily="34" charset="-122"/>
                  </a:rPr>
                  <a:t>也归一化，有</a:t>
                </a:r>
                <a14:m>
                  <m:oMath xmlns:m="http://schemas.openxmlformats.org/officeDocument/2006/math">
                    <m:sSubSup>
                      <m:sSubSupPr>
                        <m:ctrlPr>
                          <a:rPr lang="en-US" altLang="zh-CN" i="1" dirty="0">
                            <a:latin typeface="Cambria Math" panose="02040503050406030204" pitchFamily="18" charset="0"/>
                            <a:ea typeface="微软雅黑" panose="020B0503020204020204" pitchFamily="34" charset="-122"/>
                          </a:rPr>
                        </m:ctrlPr>
                      </m:sSubSupPr>
                      <m:e>
                        <m:r>
                          <a:rPr lang="en-US" altLang="zh-CN" i="1" dirty="0">
                            <a:latin typeface="Cambria Math" panose="02040503050406030204" pitchFamily="18" charset="0"/>
                            <a:ea typeface="微软雅黑" panose="020B0503020204020204" pitchFamily="34" charset="-122"/>
                          </a:rPr>
                          <m:t>𝑐</m:t>
                        </m:r>
                      </m:e>
                      <m:sub>
                        <m:r>
                          <a:rPr lang="en-US" altLang="zh-CN" i="1" dirty="0">
                            <a:latin typeface="Cambria Math" panose="02040503050406030204" pitchFamily="18" charset="0"/>
                            <a:ea typeface="微软雅黑" panose="020B0503020204020204" pitchFamily="34" charset="-122"/>
                          </a:rPr>
                          <m:t>1</m:t>
                        </m:r>
                      </m:sub>
                      <m:sup>
                        <m:r>
                          <a:rPr lang="en-US" altLang="zh-CN" i="1" dirty="0">
                            <a:latin typeface="Cambria Math" panose="02040503050406030204" pitchFamily="18" charset="0"/>
                            <a:ea typeface="微软雅黑" panose="020B0503020204020204" pitchFamily="34" charset="-122"/>
                          </a:rPr>
                          <m:t>2</m:t>
                        </m:r>
                      </m:sup>
                    </m:sSubSup>
                    <m:r>
                      <a:rPr lang="en-US" altLang="zh-CN" i="1" dirty="0">
                        <a:latin typeface="Cambria Math" panose="02040503050406030204" pitchFamily="18" charset="0"/>
                        <a:ea typeface="微软雅黑" panose="020B0503020204020204" pitchFamily="34" charset="-122"/>
                      </a:rPr>
                      <m:t>+</m:t>
                    </m:r>
                    <m:sSubSup>
                      <m:sSubSupPr>
                        <m:ctrlPr>
                          <a:rPr lang="en-US" altLang="zh-CN" i="1" dirty="0">
                            <a:latin typeface="Cambria Math" panose="02040503050406030204" pitchFamily="18" charset="0"/>
                            <a:ea typeface="微软雅黑" panose="020B0503020204020204" pitchFamily="34" charset="-122"/>
                          </a:rPr>
                        </m:ctrlPr>
                      </m:sSubSupPr>
                      <m:e>
                        <m:r>
                          <a:rPr lang="en-US" altLang="zh-CN" i="1" dirty="0">
                            <a:latin typeface="Cambria Math" panose="02040503050406030204" pitchFamily="18" charset="0"/>
                            <a:ea typeface="微软雅黑" panose="020B0503020204020204" pitchFamily="34" charset="-122"/>
                          </a:rPr>
                          <m:t>𝑐</m:t>
                        </m:r>
                      </m:e>
                      <m:sub>
                        <m:r>
                          <a:rPr lang="en-US" altLang="zh-CN" i="1" dirty="0">
                            <a:latin typeface="Cambria Math" panose="02040503050406030204" pitchFamily="18" charset="0"/>
                            <a:ea typeface="微软雅黑" panose="020B0503020204020204" pitchFamily="34" charset="-122"/>
                          </a:rPr>
                          <m:t>2</m:t>
                        </m:r>
                      </m:sub>
                      <m:sup>
                        <m:r>
                          <a:rPr lang="en-US" altLang="zh-CN" i="1" dirty="0">
                            <a:latin typeface="Cambria Math" panose="02040503050406030204" pitchFamily="18" charset="0"/>
                            <a:ea typeface="微软雅黑" panose="020B0503020204020204" pitchFamily="34" charset="-122"/>
                          </a:rPr>
                          <m:t>2</m:t>
                        </m:r>
                      </m:sup>
                    </m:sSubSup>
                    <m:r>
                      <a:rPr lang="en-US" altLang="zh-CN" i="1" dirty="0">
                        <a:latin typeface="Cambria Math" panose="02040503050406030204" pitchFamily="18" charset="0"/>
                        <a:ea typeface="微软雅黑" panose="020B0503020204020204" pitchFamily="34" charset="-122"/>
                      </a:rPr>
                      <m:t>+⋯+</m:t>
                    </m:r>
                    <m:sSubSup>
                      <m:sSubSupPr>
                        <m:ctrlPr>
                          <a:rPr lang="en-US" altLang="zh-CN" i="1" dirty="0">
                            <a:latin typeface="Cambria Math" panose="02040503050406030204" pitchFamily="18" charset="0"/>
                            <a:ea typeface="微软雅黑" panose="020B0503020204020204" pitchFamily="34" charset="-122"/>
                          </a:rPr>
                        </m:ctrlPr>
                      </m:sSubSupPr>
                      <m:e>
                        <m:r>
                          <a:rPr lang="en-US" altLang="zh-CN" i="1" dirty="0">
                            <a:latin typeface="Cambria Math" panose="02040503050406030204" pitchFamily="18" charset="0"/>
                            <a:ea typeface="微软雅黑" panose="020B0503020204020204" pitchFamily="34" charset="-122"/>
                          </a:rPr>
                          <m:t>𝑐</m:t>
                        </m:r>
                      </m:e>
                      <m:sub>
                        <m:r>
                          <a:rPr lang="en-US" altLang="zh-CN" i="1" dirty="0">
                            <a:latin typeface="Cambria Math" panose="02040503050406030204" pitchFamily="18" charset="0"/>
                            <a:ea typeface="微软雅黑" panose="020B0503020204020204" pitchFamily="34" charset="-122"/>
                          </a:rPr>
                          <m:t>𝑛</m:t>
                        </m:r>
                      </m:sub>
                      <m:sup>
                        <m:r>
                          <a:rPr lang="en-US" altLang="zh-CN" i="1" dirty="0">
                            <a:latin typeface="Cambria Math" panose="02040503050406030204" pitchFamily="18" charset="0"/>
                            <a:ea typeface="微软雅黑" panose="020B0503020204020204" pitchFamily="34" charset="-122"/>
                          </a:rPr>
                          <m:t>2</m:t>
                        </m:r>
                      </m:sup>
                    </m:sSubSup>
                    <m:r>
                      <a:rPr lang="en-US" altLang="zh-CN" b="0" i="1" dirty="0" smtClean="0">
                        <a:latin typeface="Cambria Math" panose="02040503050406030204" pitchFamily="18" charset="0"/>
                        <a:ea typeface="微软雅黑" panose="020B0503020204020204" pitchFamily="34" charset="-122"/>
                      </a:rPr>
                      <m:t>+⋯=1</m:t>
                    </m:r>
                  </m:oMath>
                </a14:m>
                <a:endParaRPr lang="en-US" altLang="zh-CN" b="0"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14:m>
                  <m:oMath xmlns:m="http://schemas.openxmlformats.org/officeDocument/2006/math">
                    <m:sSubSup>
                      <m:sSubSupPr>
                        <m:ctrlPr>
                          <a:rPr lang="en-US" altLang="zh-CN" i="1" dirty="0">
                            <a:latin typeface="Cambria Math" panose="02040503050406030204" pitchFamily="18" charset="0"/>
                            <a:ea typeface="微软雅黑" panose="020B0503020204020204" pitchFamily="34" charset="-122"/>
                          </a:rPr>
                        </m:ctrlPr>
                      </m:sSubSupPr>
                      <m:e>
                        <m:r>
                          <a:rPr lang="en-US" altLang="zh-CN" i="1" dirty="0">
                            <a:latin typeface="Cambria Math" panose="02040503050406030204" pitchFamily="18" charset="0"/>
                            <a:ea typeface="微软雅黑" panose="020B0503020204020204" pitchFamily="34" charset="-122"/>
                          </a:rPr>
                          <m:t>𝑐</m:t>
                        </m:r>
                      </m:e>
                      <m:sub>
                        <m:r>
                          <a:rPr lang="en-US" altLang="zh-CN" b="0" i="1" dirty="0" smtClean="0">
                            <a:latin typeface="Cambria Math" panose="02040503050406030204" pitchFamily="18" charset="0"/>
                            <a:ea typeface="微软雅黑" panose="020B0503020204020204" pitchFamily="34" charset="-122"/>
                          </a:rPr>
                          <m:t>𝑖</m:t>
                        </m:r>
                      </m:sub>
                      <m:sup>
                        <m:r>
                          <a:rPr lang="en-US" altLang="zh-CN" i="1" dirty="0">
                            <a:latin typeface="Cambria Math" panose="02040503050406030204" pitchFamily="18" charset="0"/>
                            <a:ea typeface="微软雅黑" panose="020B0503020204020204" pitchFamily="34" charset="-122"/>
                          </a:rPr>
                          <m:t>2</m:t>
                        </m:r>
                      </m:sup>
                    </m:sSubSup>
                  </m:oMath>
                </a14:m>
                <a:r>
                  <a:rPr lang="zh-CN" altLang="en-US" b="0" dirty="0" smtClean="0">
                    <a:latin typeface="微软雅黑" panose="020B0503020204020204" pitchFamily="34" charset="-122"/>
                    <a:ea typeface="微软雅黑" panose="020B0503020204020204" pitchFamily="34" charset="-122"/>
                  </a:rPr>
                  <a:t>的物理含义也可以用概率诠释：测量态</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oMath>
                </a14:m>
                <a:r>
                  <a:rPr lang="zh-CN" altLang="en-US" b="0" dirty="0" smtClean="0">
                    <a:latin typeface="微软雅黑" panose="020B0503020204020204" pitchFamily="34" charset="-122"/>
                    <a:ea typeface="微软雅黑" panose="020B0503020204020204" pitchFamily="34" charset="-122"/>
                  </a:rPr>
                  <a:t>的可观测量</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b="0" dirty="0" smtClean="0">
                    <a:latin typeface="微软雅黑" panose="020B0503020204020204" pitchFamily="34" charset="-122"/>
                    <a:ea typeface="微软雅黑" panose="020B0503020204020204" pitchFamily="34" charset="-122"/>
                  </a:rPr>
                  <a:t>时，</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Ψ</m:t>
                        </m:r>
                      </m:e>
                    </m:d>
                  </m:oMath>
                </a14:m>
                <a:r>
                  <a:rPr lang="zh-CN" altLang="en-US" b="0" dirty="0" smtClean="0">
                    <a:latin typeface="微软雅黑" panose="020B0503020204020204" pitchFamily="34" charset="-122"/>
                    <a:ea typeface="微软雅黑" panose="020B0503020204020204" pitchFamily="34" charset="-122"/>
                  </a:rPr>
                  <a:t>将</a:t>
                </a:r>
                <a:r>
                  <a:rPr lang="zh-CN" altLang="en-US" b="0" dirty="0" smtClean="0">
                    <a:solidFill>
                      <a:srgbClr val="FF0000"/>
                    </a:solidFill>
                    <a:latin typeface="微软雅黑" panose="020B0503020204020204" pitchFamily="34" charset="-122"/>
                    <a:ea typeface="微软雅黑" panose="020B0503020204020204" pitchFamily="34" charset="-122"/>
                  </a:rPr>
                  <a:t>随机</a:t>
                </a:r>
                <a:r>
                  <a:rPr lang="zh-CN" altLang="en-US" dirty="0" smtClean="0">
                    <a:solidFill>
                      <a:srgbClr val="FF0000"/>
                    </a:solidFill>
                    <a:latin typeface="微软雅黑" panose="020B0503020204020204" pitchFamily="34" charset="-122"/>
                    <a:ea typeface="微软雅黑" panose="020B0503020204020204" pitchFamily="34" charset="-122"/>
                  </a:rPr>
                  <a:t>坍缩</a:t>
                </a:r>
                <a:r>
                  <a:rPr lang="zh-CN" altLang="en-US" dirty="0" smtClean="0">
                    <a:solidFill>
                      <a:schemeClr val="tx1"/>
                    </a:solidFill>
                    <a:latin typeface="微软雅黑" panose="020B0503020204020204" pitchFamily="34" charset="-122"/>
                    <a:ea typeface="微软雅黑" panose="020B0503020204020204" pitchFamily="34" charset="-122"/>
                  </a:rPr>
                  <a:t>到</a:t>
                </a:r>
                <a14:m>
                  <m:oMath xmlns:m="http://schemas.openxmlformats.org/officeDocument/2006/math">
                    <m:acc>
                      <m:accPr>
                        <m:chr m:val="̂"/>
                        <m:ctrlPr>
                          <a:rPr lang="en-US" altLang="zh-CN" b="0" i="1" smtClean="0">
                            <a:solidFill>
                              <a:schemeClr val="tx1"/>
                            </a:solidFill>
                            <a:latin typeface="Cambria Math" panose="02040503050406030204" pitchFamily="18" charset="0"/>
                            <a:ea typeface="微软雅黑" panose="020B0503020204020204" pitchFamily="34" charset="-122"/>
                          </a:rPr>
                        </m:ctrlPr>
                      </m:accPr>
                      <m:e>
                        <m:r>
                          <a:rPr lang="en-US" altLang="zh-CN" i="1">
                            <a:solidFill>
                              <a:schemeClr val="tx1"/>
                            </a:solidFill>
                            <a:latin typeface="Cambria Math" panose="02040503050406030204" pitchFamily="18" charset="0"/>
                            <a:ea typeface="微软雅黑" panose="020B0503020204020204" pitchFamily="34" charset="-122"/>
                          </a:rPr>
                          <m:t>𝐴</m:t>
                        </m:r>
                      </m:e>
                    </m:acc>
                  </m:oMath>
                </a14:m>
                <a:r>
                  <a:rPr lang="zh-CN" altLang="en-US" b="0" dirty="0" smtClean="0">
                    <a:solidFill>
                      <a:schemeClr val="tx1"/>
                    </a:solidFill>
                    <a:latin typeface="微软雅黑" panose="020B0503020204020204" pitchFamily="34" charset="-122"/>
                    <a:ea typeface="微软雅黑" panose="020B0503020204020204" pitchFamily="34" charset="-122"/>
                  </a:rPr>
                  <a:t>的某一本征态</a:t>
                </a:r>
                <a14:m>
                  <m:oMath xmlns:m="http://schemas.openxmlformats.org/officeDocument/2006/math">
                    <m:d>
                      <m:dPr>
                        <m:begChr m:val="|"/>
                        <m:endChr m:val="⟩"/>
                        <m:ctrlPr>
                          <a:rPr lang="en-US" altLang="zh-CN" i="1" dirty="0">
                            <a:solidFill>
                              <a:schemeClr val="tx1"/>
                            </a:solidFill>
                            <a:latin typeface="Cambria Math" panose="02040503050406030204" pitchFamily="18" charset="0"/>
                            <a:ea typeface="微软雅黑" panose="020B0503020204020204" pitchFamily="34" charset="-122"/>
                          </a:rPr>
                        </m:ctrlPr>
                      </m:dPr>
                      <m:e>
                        <m:sSub>
                          <m:sSubPr>
                            <m:ctrlPr>
                              <a:rPr lang="en-US" altLang="zh-CN" b="0" i="1" dirty="0" smtClean="0">
                                <a:solidFill>
                                  <a:schemeClr val="tx1"/>
                                </a:solidFill>
                                <a:latin typeface="Cambria Math" panose="02040503050406030204" pitchFamily="18" charset="0"/>
                                <a:ea typeface="微软雅黑" panose="020B0503020204020204" pitchFamily="34" charset="-122"/>
                              </a:rPr>
                            </m:ctrlPr>
                          </m:sSubPr>
                          <m:e>
                            <m:r>
                              <a:rPr lang="en-US" altLang="zh-CN" b="0" i="1" dirty="0" smtClean="0">
                                <a:solidFill>
                                  <a:schemeClr val="tx1"/>
                                </a:solidFill>
                                <a:latin typeface="Cambria Math" panose="02040503050406030204" pitchFamily="18" charset="0"/>
                                <a:ea typeface="微软雅黑" panose="020B0503020204020204" pitchFamily="34" charset="-122"/>
                              </a:rPr>
                              <m:t>𝜓</m:t>
                            </m:r>
                          </m:e>
                          <m:sub>
                            <m:r>
                              <a:rPr lang="en-US" altLang="zh-CN" b="0" i="1" dirty="0" smtClean="0">
                                <a:solidFill>
                                  <a:schemeClr val="tx1"/>
                                </a:solidFill>
                                <a:latin typeface="Cambria Math" panose="02040503050406030204" pitchFamily="18" charset="0"/>
                                <a:ea typeface="微软雅黑" panose="020B0503020204020204" pitchFamily="34" charset="-122"/>
                              </a:rPr>
                              <m:t>𝑖</m:t>
                            </m:r>
                          </m:sub>
                        </m:sSub>
                      </m:e>
                    </m:d>
                  </m:oMath>
                </a14:m>
                <a:r>
                  <a:rPr lang="zh-CN" altLang="en-US" b="0"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且概率为</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𝑖</m:t>
                                </m:r>
                              </m:sub>
                            </m:sSub>
                          </m:e>
                        </m:d>
                      </m:e>
                      <m:sup>
                        <m:r>
                          <a:rPr lang="en-US" altLang="zh-CN" b="0" i="1" smtClean="0">
                            <a:latin typeface="Cambria Math" panose="02040503050406030204" pitchFamily="18" charset="0"/>
                            <a:ea typeface="微软雅黑" panose="020B0503020204020204" pitchFamily="34" charset="-122"/>
                          </a:rPr>
                          <m:t>2</m:t>
                        </m:r>
                      </m:sup>
                    </m:sSup>
                  </m:oMath>
                </a14:m>
                <a:endParaRPr lang="en-US" altLang="zh-CN" b="0" dirty="0" smtClean="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18147" y="1426156"/>
                <a:ext cx="11773853" cy="4456285"/>
              </a:xfrm>
              <a:prstGeom prst="rect">
                <a:avLst/>
              </a:prstGeom>
              <a:blipFill rotWithShape="0">
                <a:blip r:embed="rId3"/>
                <a:stretch>
                  <a:fillRect l="-466" t="-821" b="-1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90914612"/>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7" y="949570"/>
            <a:ext cx="2411144"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测量与统计平均</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p:cNvSpPr txBox="1"/>
              <p:nvPr/>
            </p:nvSpPr>
            <p:spPr>
              <a:xfrm>
                <a:off x="418147" y="1426156"/>
                <a:ext cx="11773853" cy="5171031"/>
              </a:xfrm>
              <a:prstGeom prst="rect">
                <a:avLst/>
              </a:prstGeom>
              <a:noFill/>
            </p:spPr>
            <p:txBody>
              <a:bodyPr wrap="square" rtlCol="0">
                <a:spAutoFit/>
              </a:bodyPr>
              <a:lstStyle/>
              <a:p>
                <a:r>
                  <a:rPr lang="zh-CN" altLang="en-US" b="0" dirty="0" smtClean="0">
                    <a:latin typeface="Cambria Math" panose="02040503050406030204" pitchFamily="18" charset="0"/>
                    <a:ea typeface="微软雅黑" panose="020B0503020204020204" pitchFamily="34" charset="-122"/>
                  </a:rPr>
                  <a:t>将</a:t>
                </a:r>
                <a14:m>
                  <m:oMath xmlns:m="http://schemas.openxmlformats.org/officeDocument/2006/math">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b="0" dirty="0" smtClean="0">
                    <a:latin typeface="Cambria Math" panose="02040503050406030204" pitchFamily="18" charset="0"/>
                    <a:ea typeface="微软雅黑" panose="020B0503020204020204" pitchFamily="34" charset="-122"/>
                  </a:rPr>
                  <a:t>归一化后</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oMath>
                </a14:m>
                <a:r>
                  <a:rPr lang="zh-CN" altLang="en-US" b="0" dirty="0" smtClean="0">
                    <a:latin typeface="Cambria Math" panose="02040503050406030204" pitchFamily="18" charset="0"/>
                    <a:ea typeface="微软雅黑" panose="020B0503020204020204" pitchFamily="34" charset="-122"/>
                  </a:rPr>
                  <a:t>变成</a:t>
                </a:r>
                <a:endParaRPr lang="en-US" altLang="zh-CN" b="0" dirty="0" smtClean="0">
                  <a:latin typeface="Cambria Math" panose="02040503050406030204" pitchFamily="18" charset="0"/>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r>
                            <m:rPr>
                              <m:sty m:val="p"/>
                            </m:rPr>
                            <a:rPr lang="en-US" altLang="zh-CN">
                              <a:latin typeface="Cambria Math" panose="02040503050406030204" pitchFamily="18" charset="0"/>
                              <a:ea typeface="微软雅黑" panose="020B0503020204020204" pitchFamily="34" charset="-122"/>
                            </a:rPr>
                            <m:t>Ψ</m:t>
                          </m:r>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设</a:t>
                </a:r>
                <a:r>
                  <a:rPr lang="zh-CN" altLang="en-US" dirty="0">
                    <a:latin typeface="微软雅黑" panose="020B0503020204020204" pitchFamily="34" charset="-122"/>
                    <a:ea typeface="微软雅黑" panose="020B0503020204020204" pitchFamily="34" charset="-122"/>
                  </a:rPr>
                  <a:t>基</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1</m:t>
                            </m:r>
                          </m:sub>
                        </m:sSub>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𝑛</m:t>
                            </m:r>
                          </m:sub>
                        </m:sSub>
                      </m:e>
                    </m:d>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是</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的一组正交归一的本征矢，满足</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d>
                      <m:dPr>
                        <m:begChr m:val="|"/>
                        <m:endChr m:val="⟩"/>
                        <m:ctrlPr>
                          <a:rPr lang="en-US" altLang="zh-CN" b="0" i="1" dirty="0" smtClean="0">
                            <a:latin typeface="Cambria Math" panose="02040503050406030204" pitchFamily="18" charset="0"/>
                            <a:ea typeface="微软雅黑" panose="020B0503020204020204" pitchFamily="34" charset="-122"/>
                          </a:rPr>
                        </m:ctrlPr>
                      </m:dPr>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𝑖</m:t>
                            </m:r>
                          </m:sub>
                        </m:sSub>
                      </m:e>
                    </m:d>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𝑖</m:t>
                        </m:r>
                      </m:sub>
                    </m:sSub>
                    <m:d>
                      <m:dPr>
                        <m:begChr m:val="|"/>
                        <m:endChr m:val="⟩"/>
                        <m:ctrlPr>
                          <a:rPr lang="en-US" altLang="zh-CN" b="0" i="1" dirty="0" smtClean="0">
                            <a:latin typeface="Cambria Math" panose="02040503050406030204" pitchFamily="18" charset="0"/>
                            <a:ea typeface="微软雅黑" panose="020B0503020204020204" pitchFamily="34" charset="-122"/>
                          </a:rPr>
                        </m:ctrlPr>
                      </m:dPr>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𝑖</m:t>
                            </m:r>
                          </m:sub>
                        </m:sSub>
                      </m:e>
                    </m:d>
                  </m:oMath>
                </a14:m>
                <a:endParaRPr lang="en-US" altLang="zh-CN" b="0"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下面再次利用完备插入有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a:latin typeface="Cambria Math" panose="02040503050406030204" pitchFamily="18" charset="0"/>
                              <a:ea typeface="微软雅黑" panose="020B0503020204020204" pitchFamily="34" charset="-122"/>
                            </a:rPr>
                            <m:t>Ψ</m:t>
                          </m:r>
                          <m:d>
                            <m:dPr>
                              <m:begChr m:val="|"/>
                              <m:endChr m:val="|"/>
                              <m:ctrlPr>
                                <a:rPr lang="en-US" altLang="zh-CN" b="0" i="1" smtClean="0">
                                  <a:latin typeface="Cambria Math" panose="02040503050406030204" pitchFamily="18" charset="0"/>
                                  <a:ea typeface="微软雅黑" panose="020B0503020204020204" pitchFamily="34" charset="-122"/>
                                </a:rPr>
                              </m:ctrlPr>
                            </m:dPr>
                            <m:e>
                              <m:d>
                                <m:dPr>
                                  <m:ctrlPr>
                                    <a:rPr lang="en-US" altLang="zh-CN" b="0" i="1" smtClean="0">
                                      <a:latin typeface="Cambria Math" panose="02040503050406030204" pitchFamily="18" charset="0"/>
                                      <a:ea typeface="微软雅黑" panose="020B0503020204020204" pitchFamily="34" charset="-122"/>
                                    </a:rPr>
                                  </m:ctrlPr>
                                </m:dPr>
                                <m:e>
                                  <m:nary>
                                    <m:naryPr>
                                      <m:chr m:val="∑"/>
                                      <m:supHide m:val="on"/>
                                      <m:ctrlPr>
                                        <a:rPr lang="en-US" altLang="zh-CN" i="1">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𝑗</m:t>
                                      </m:r>
                                    </m:sub>
                                    <m:sup/>
                                    <m:e>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e>
                                      </m:d>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e>
                                      </m:d>
                                    </m:e>
                                  </m:nary>
                                </m:e>
                              </m:d>
                            </m:e>
                          </m:d>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d>
                            <m:dPr>
                              <m:begChr m:val="|"/>
                              <m:endChr m:val="|"/>
                              <m:ctrlPr>
                                <a:rPr lang="en-US" altLang="zh-CN" b="0" i="1" smtClean="0">
                                  <a:latin typeface="Cambria Math" panose="02040503050406030204" pitchFamily="18" charset="0"/>
                                  <a:ea typeface="微软雅黑" panose="020B0503020204020204" pitchFamily="34" charset="-122"/>
                                </a:rPr>
                              </m:ctrlPr>
                            </m:dPr>
                            <m:e>
                              <m:d>
                                <m:dPr>
                                  <m:ctrlPr>
                                    <a:rPr lang="en-US" altLang="zh-CN" b="0" i="1" smtClean="0">
                                      <a:latin typeface="Cambria Math" panose="02040503050406030204" pitchFamily="18" charset="0"/>
                                      <a:ea typeface="微软雅黑" panose="020B0503020204020204" pitchFamily="34" charset="-122"/>
                                    </a:rPr>
                                  </m:ctrlPr>
                                </m:dPr>
                                <m:e>
                                  <m:nary>
                                    <m:naryPr>
                                      <m:chr m:val="∑"/>
                                      <m:supHide m:val="on"/>
                                      <m:ctrlPr>
                                        <a:rPr lang="en-US" altLang="zh-CN" i="1">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e>
                                  </m:nary>
                                </m:e>
                              </m:d>
                            </m:e>
                          </m:d>
                          <m:r>
                            <m:rPr>
                              <m:sty m:val="p"/>
                            </m:rPr>
                            <a:rPr lang="en-US" altLang="zh-CN" b="0" i="0" smtClean="0">
                              <a:latin typeface="Cambria Math" panose="02040503050406030204" pitchFamily="18" charset="0"/>
                              <a:ea typeface="微软雅黑" panose="020B0503020204020204" pitchFamily="34" charset="-122"/>
                            </a:rPr>
                            <m:t>Ψ</m:t>
                          </m:r>
                        </m:e>
                      </m:d>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𝑗</m:t>
                              </m:r>
                            </m:sub>
                            <m:sup/>
                            <m:e>
                              <m:d>
                                <m:dPr>
                                  <m:begChr m:val="⟨"/>
                                  <m:endChr m:val="⟩"/>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Ψ</m:t>
                                  </m:r>
                                </m:e>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e>
                              </m:d>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e>
                              </m:d>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𝑖</m:t>
                                  </m:r>
                                </m:sub>
                              </m:sSub>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𝑖</m:t>
                                  </m:r>
                                </m:sub>
                              </m:sSub>
                              <m:r>
                                <a:rPr lang="en-US" altLang="zh-CN" b="0" i="1" dirty="0" smtClean="0">
                                  <a:latin typeface="Cambria Math" panose="02040503050406030204" pitchFamily="18" charset="0"/>
                                  <a:ea typeface="微软雅黑" panose="020B0503020204020204" pitchFamily="34" charset="-122"/>
                                </a:rPr>
                                <m:t>|</m:t>
                              </m:r>
                              <m:r>
                                <m:rPr>
                                  <m:sty m:val="p"/>
                                </m:rPr>
                                <a:rPr lang="en-US" altLang="zh-CN" b="0" i="0" dirty="0" smtClean="0">
                                  <a:latin typeface="Cambria Math" panose="02040503050406030204" pitchFamily="18" charset="0"/>
                                  <a:ea typeface="微软雅黑" panose="020B0503020204020204" pitchFamily="34" charset="-122"/>
                                </a:rPr>
                                <m:t>Ψ</m:t>
                              </m:r>
                              <m:r>
                                <a:rPr lang="en-US" altLang="zh-CN" b="0" i="1" dirty="0" smtClean="0">
                                  <a:latin typeface="Cambria Math" panose="02040503050406030204" pitchFamily="18" charset="0"/>
                                  <a:ea typeface="微软雅黑" panose="020B0503020204020204" pitchFamily="34" charset="-122"/>
                                </a:rPr>
                                <m:t>⟩</m:t>
                              </m:r>
                            </m:e>
                          </m:nary>
                        </m:e>
                      </m:nary>
                    </m:oMath>
                  </m:oMathPara>
                </a14:m>
                <a:endParaRPr lang="en-US" altLang="zh-CN" b="0" i="1" dirty="0" smtClean="0">
                  <a:latin typeface="Cambria Math" panose="02040503050406030204" pitchFamily="18" charset="0"/>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𝑗</m:t>
                              </m:r>
                            </m:sub>
                            <m:sup/>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𝑗</m:t>
                                  </m:r>
                                </m:sub>
                                <m:sup>
                                  <m:r>
                                    <a:rPr lang="en-US" altLang="zh-CN" i="1">
                                      <a:latin typeface="Cambria Math" panose="02040503050406030204" pitchFamily="18" charset="0"/>
                                      <a:ea typeface="微软雅黑" panose="020B0503020204020204" pitchFamily="34" charset="-122"/>
                                    </a:rPr>
                                    <m:t>∗</m:t>
                                  </m:r>
                                </m:sup>
                              </m:sSub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𝑖</m:t>
                                  </m:r>
                                </m:sub>
                              </m:sSub>
                            </m:e>
                          </m:nary>
                        </m:e>
                      </m:nary>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𝑗</m:t>
                              </m:r>
                            </m:sub>
                          </m:sSub>
                        </m:e>
                      </m:d>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r>
                        <a:rPr lang="en-US" altLang="zh-CN" i="1" dirty="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𝜓</m:t>
                          </m:r>
                        </m:e>
                        <m:sub>
                          <m:r>
                            <a:rPr lang="en-US" altLang="zh-CN" i="1" dirty="0">
                              <a:latin typeface="Cambria Math" panose="02040503050406030204" pitchFamily="18" charset="0"/>
                              <a:ea typeface="微软雅黑" panose="020B0503020204020204" pitchFamily="34" charset="-122"/>
                            </a:rPr>
                            <m:t>𝑖</m:t>
                          </m:r>
                        </m:sub>
                      </m:sSub>
                      <m:r>
                        <a:rPr lang="en-US" altLang="zh-CN" i="1" dirty="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而</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𝑗</m:t>
                            </m:r>
                          </m:sub>
                        </m:sSub>
                      </m:e>
                    </m:d>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d>
                      <m:dPr>
                        <m:begChr m:val="|"/>
                        <m:endChr m:val="⟩"/>
                        <m:ctrlPr>
                          <a:rPr lang="en-US" altLang="zh-CN" i="1" dirty="0">
                            <a:latin typeface="Cambria Math" panose="02040503050406030204" pitchFamily="18" charset="0"/>
                            <a:ea typeface="微软雅黑" panose="020B0503020204020204" pitchFamily="34" charset="-122"/>
                          </a:rPr>
                        </m:ctrlPr>
                      </m:d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𝜓</m:t>
                            </m:r>
                          </m:e>
                          <m:sub>
                            <m:r>
                              <a:rPr lang="en-US" altLang="zh-CN" i="1" dirty="0">
                                <a:latin typeface="Cambria Math" panose="02040503050406030204" pitchFamily="18" charset="0"/>
                                <a:ea typeface="微软雅黑" panose="020B0503020204020204" pitchFamily="34" charset="-122"/>
                              </a:rPr>
                              <m:t>𝑖</m:t>
                            </m:r>
                          </m:sub>
                        </m:sSub>
                      </m:e>
                    </m:d>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𝑗</m:t>
                            </m:r>
                          </m:sub>
                        </m:sSub>
                      </m:e>
                    </m:d>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dirty="0">
                            <a:latin typeface="Cambria Math" panose="02040503050406030204" pitchFamily="18" charset="0"/>
                            <a:ea typeface="微软雅黑" panose="020B0503020204020204" pitchFamily="34" charset="-122"/>
                          </a:rPr>
                        </m:ctrlPr>
                      </m:d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𝜓</m:t>
                            </m:r>
                          </m:e>
                          <m:sub>
                            <m:r>
                              <a:rPr lang="en-US" altLang="zh-CN" i="1" dirty="0">
                                <a:latin typeface="Cambria Math" panose="02040503050406030204" pitchFamily="18" charset="0"/>
                                <a:ea typeface="微软雅黑" panose="020B0503020204020204" pitchFamily="34" charset="-122"/>
                              </a:rPr>
                              <m:t>𝑖</m:t>
                            </m:r>
                          </m:sub>
                        </m:sSub>
                      </m:e>
                    </m:d>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𝑖</m:t>
                        </m:r>
                      </m:sub>
                    </m:sSub>
                    <m:d>
                      <m:dPr>
                        <m:begChr m:val="⟨"/>
                        <m:endChr m:val="⟩"/>
                        <m:ctrlPr>
                          <a:rPr lang="en-US" altLang="zh-CN" b="0" i="1" dirty="0" smtClean="0">
                            <a:latin typeface="Cambria Math" panose="02040503050406030204" pitchFamily="18" charset="0"/>
                            <a:ea typeface="微软雅黑" panose="020B0503020204020204" pitchFamily="34" charset="-122"/>
                          </a:rPr>
                        </m:ctrlPr>
                      </m:dPr>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𝑗</m:t>
                            </m:r>
                          </m:sub>
                        </m:sSub>
                      </m:e>
                      <m:e>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𝑖</m:t>
                            </m:r>
                          </m:sub>
                        </m:sSub>
                      </m:e>
                    </m:d>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𝑎</m:t>
                        </m:r>
                      </m:e>
                      <m:sub>
                        <m:r>
                          <a:rPr lang="en-US" altLang="zh-CN" b="0" i="1" dirty="0" smtClean="0">
                            <a:latin typeface="Cambria Math" panose="02040503050406030204" pitchFamily="18" charset="0"/>
                            <a:ea typeface="微软雅黑" panose="020B0503020204020204" pitchFamily="34" charset="-122"/>
                          </a:rPr>
                          <m:t>𝑖</m:t>
                        </m:r>
                      </m:sub>
                    </m:sSub>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𝛿</m:t>
                        </m:r>
                      </m:e>
                      <m:sub>
                        <m:r>
                          <a:rPr lang="en-US" altLang="zh-CN" b="0" i="1" dirty="0" smtClean="0">
                            <a:latin typeface="Cambria Math" panose="02040503050406030204" pitchFamily="18" charset="0"/>
                            <a:ea typeface="微软雅黑" panose="020B0503020204020204" pitchFamily="34" charset="-122"/>
                          </a:rPr>
                          <m:t>𝑖𝑗</m:t>
                        </m:r>
                      </m:sub>
                    </m:sSub>
                  </m:oMath>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那么</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r>
                      <a:rPr lang="en-US" altLang="zh-CN" b="0" i="1" smtClean="0">
                        <a:latin typeface="Cambria Math" panose="02040503050406030204" pitchFamily="18" charset="0"/>
                        <a:ea typeface="微软雅黑" panose="020B0503020204020204" pitchFamily="34" charset="-122"/>
                      </a:rPr>
                      <m:t>= </m:t>
                    </m:r>
                    <m:nary>
                      <m:naryPr>
                        <m:chr m:val="∑"/>
                        <m:supHide m:val="on"/>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𝑖</m:t>
                        </m:r>
                      </m:sub>
                      <m:sup/>
                      <m:e>
                        <m:nary>
                          <m:naryPr>
                            <m:chr m:val="∑"/>
                            <m:supHide m:val="on"/>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𝑗</m:t>
                            </m:r>
                          </m:sub>
                          <m:sup/>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𝑗</m:t>
                                </m:r>
                              </m:sub>
                              <m:sup>
                                <m:r>
                                  <a:rPr lang="en-US" altLang="zh-CN" i="1">
                                    <a:latin typeface="Cambria Math" panose="02040503050406030204" pitchFamily="18" charset="0"/>
                                    <a:ea typeface="微软雅黑" panose="020B0503020204020204" pitchFamily="34" charset="-122"/>
                                  </a:rPr>
                                  <m:t>∗</m:t>
                                </m:r>
                              </m:sup>
                            </m:sSub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𝑖</m:t>
                                </m:r>
                              </m:sub>
                            </m:sSub>
                          </m:e>
                        </m:nary>
                      </m:e>
                    </m:nary>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𝛿</m:t>
                        </m:r>
                      </m:e>
                      <m:sub>
                        <m:r>
                          <a:rPr lang="en-US" altLang="zh-CN" b="0" i="1" smtClean="0">
                            <a:latin typeface="Cambria Math" panose="02040503050406030204" pitchFamily="18" charset="0"/>
                            <a:ea typeface="微软雅黑" panose="020B0503020204020204" pitchFamily="34" charset="-122"/>
                          </a:rPr>
                          <m:t>𝑖𝑗</m:t>
                        </m:r>
                      </m:sub>
                    </m:sSub>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𝑖</m:t>
                            </m:r>
                          </m:sub>
                          <m:sup>
                            <m:r>
                              <a:rPr lang="en-US" altLang="zh-CN" b="0" i="1" smtClean="0">
                                <a:latin typeface="Cambria Math" panose="02040503050406030204" pitchFamily="18" charset="0"/>
                                <a:ea typeface="微软雅黑" panose="020B0503020204020204" pitchFamily="34" charset="-122"/>
                              </a:rPr>
                              <m:t>∗</m:t>
                            </m:r>
                          </m:sup>
                        </m:sSub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𝑖</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Sub>
                      </m:e>
                    </m:nary>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𝑖</m:t>
                        </m:r>
                      </m:sub>
                      <m:sup/>
                      <m:e>
                        <m:sSup>
                          <m:sSupPr>
                            <m:ctrlPr>
                              <a:rPr lang="en-US" altLang="zh-CN" i="1">
                                <a:latin typeface="Cambria Math" panose="02040503050406030204" pitchFamily="18" charset="0"/>
                                <a:ea typeface="微软雅黑" panose="020B0503020204020204" pitchFamily="34" charset="-122"/>
                              </a:rPr>
                            </m:ctrlPr>
                          </m:sSupPr>
                          <m:e>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𝑖</m:t>
                                    </m:r>
                                  </m:sub>
                                </m:sSub>
                              </m:e>
                            </m:d>
                          </m:e>
                          <m:sup>
                            <m:r>
                              <a:rPr lang="en-US" altLang="zh-CN" i="1">
                                <a:latin typeface="Cambria Math" panose="02040503050406030204" pitchFamily="18" charset="0"/>
                                <a:ea typeface="微软雅黑" panose="020B0503020204020204" pitchFamily="34" charset="-122"/>
                              </a:rPr>
                              <m:t>2</m:t>
                            </m:r>
                          </m:sup>
                        </m:s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Sub>
                      </m:e>
                    </m:nary>
                  </m:oMath>
                </a14:m>
                <a:endParaRPr lang="en-US" altLang="zh-CN" dirty="0" smtClean="0">
                  <a:latin typeface="微软雅黑" panose="020B0503020204020204" pitchFamily="34" charset="-122"/>
                  <a:ea typeface="微软雅黑" panose="020B0503020204020204" pitchFamily="34" charset="-122"/>
                </a:endParaRPr>
              </a:p>
              <a:p>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这个式子与概率论中离散情况下的加权平均值是一致的</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ea typeface="微软雅黑" panose="020B0503020204020204" pitchFamily="34" charset="-122"/>
                  </a:rPr>
                  <a:t>此处</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𝑖</m:t>
                                </m:r>
                              </m:sub>
                            </m:sSub>
                          </m:e>
                        </m:d>
                      </m:e>
                      <m:sup>
                        <m:r>
                          <a:rPr lang="en-US" altLang="zh-CN" i="1">
                            <a:latin typeface="Cambria Math" panose="02040503050406030204" pitchFamily="18" charset="0"/>
                            <a:ea typeface="微软雅黑" panose="020B0503020204020204" pitchFamily="34" charset="-122"/>
                          </a:rPr>
                          <m:t>2</m:t>
                        </m:r>
                      </m:sup>
                    </m:sSup>
                  </m:oMath>
                </a14:m>
                <a:r>
                  <a:rPr lang="zh-CN" altLang="en-US" dirty="0" smtClean="0">
                    <a:latin typeface="微软雅黑" panose="020B0503020204020204" pitchFamily="34" charset="-122"/>
                    <a:ea typeface="微软雅黑" panose="020B0503020204020204" pitchFamily="34" charset="-122"/>
                  </a:rPr>
                  <a:t>的概率诠释更加显著，表示测量</a:t>
                </a:r>
                <a14:m>
                  <m:oMath xmlns:m="http://schemas.openxmlformats.org/officeDocument/2006/math">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的物理量</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时，结果是</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𝑎</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smtClean="0">
                    <a:latin typeface="微软雅黑" panose="020B0503020204020204" pitchFamily="34" charset="-122"/>
                    <a:ea typeface="微软雅黑" panose="020B0503020204020204" pitchFamily="34" charset="-122"/>
                  </a:rPr>
                  <a:t>的概率</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这个概率与</a:t>
                </a:r>
                <a14:m>
                  <m:oMath xmlns:m="http://schemas.openxmlformats.org/officeDocument/2006/math">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“坍缩”到</a:t>
                </a:r>
                <a:r>
                  <a:rPr lang="zh-CN" altLang="en-US" dirty="0">
                    <a:latin typeface="微软雅黑" panose="020B0503020204020204" pitchFamily="34" charset="-122"/>
                    <a:ea typeface="微软雅黑" panose="020B0503020204020204" pitchFamily="34" charset="-122"/>
                  </a:rPr>
                  <a:t>本征态</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𝜓</m:t>
                            </m:r>
                          </m:e>
                          <m:sub>
                            <m:r>
                              <a:rPr lang="en-US" altLang="zh-CN" i="1" dirty="0">
                                <a:latin typeface="Cambria Math" panose="02040503050406030204" pitchFamily="18" charset="0"/>
                                <a:ea typeface="微软雅黑" panose="020B0503020204020204" pitchFamily="34" charset="-122"/>
                              </a:rPr>
                              <m:t>𝑖</m:t>
                            </m:r>
                          </m:sub>
                        </m:sSub>
                      </m:e>
                    </m:d>
                  </m:oMath>
                </a14:m>
                <a:r>
                  <a:rPr lang="zh-CN" altLang="en-US" dirty="0" smtClean="0">
                    <a:latin typeface="微软雅黑" panose="020B0503020204020204" pitchFamily="34" charset="-122"/>
                    <a:ea typeface="微软雅黑" panose="020B0503020204020204" pitchFamily="34" charset="-122"/>
                  </a:rPr>
                  <a:t>的概率是一致的</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18147" y="1426156"/>
                <a:ext cx="11773853" cy="5171031"/>
              </a:xfrm>
              <a:prstGeom prst="rect">
                <a:avLst/>
              </a:prstGeom>
              <a:blipFill rotWithShape="0">
                <a:blip r:embed="rId3"/>
                <a:stretch>
                  <a:fillRect l="-466" t="-3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34621282"/>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7" y="873094"/>
            <a:ext cx="2914138"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单个测量与多个测量</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540385" y="1273204"/>
                <a:ext cx="10441500" cy="5254452"/>
              </a:xfrm>
              <a:prstGeom prst="rect">
                <a:avLst/>
              </a:prstGeom>
              <a:noFill/>
            </p:spPr>
            <p:txBody>
              <a:bodyPr wrap="square" rtlCol="0">
                <a:spAutoFit/>
              </a:bodyPr>
              <a:lstStyle/>
              <a:p>
                <a:pPr>
                  <a:lnSpc>
                    <a:spcPts val="2700"/>
                  </a:lnSpc>
                </a:pPr>
                <a:r>
                  <a:rPr lang="zh-CN" altLang="en-US" dirty="0" smtClean="0">
                    <a:latin typeface="微软雅黑" panose="020B0503020204020204" pitchFamily="34" charset="-122"/>
                    <a:ea typeface="微软雅黑" panose="020B0503020204020204" pitchFamily="34" charset="-122"/>
                  </a:rPr>
                  <a:t>之前的讨论中我们赋予了展开系数概率诠释，即我们要从量子态中获得某一个物理量，必须要经过</a:t>
                </a:r>
                <a:r>
                  <a:rPr lang="zh-CN" altLang="en-US" dirty="0" smtClean="0">
                    <a:solidFill>
                      <a:srgbClr val="FF0000"/>
                    </a:solidFill>
                    <a:latin typeface="微软雅黑" panose="020B0503020204020204" pitchFamily="34" charset="-122"/>
                    <a:ea typeface="微软雅黑" panose="020B0503020204020204" pitchFamily="34" charset="-122"/>
                  </a:rPr>
                  <a:t>“测量”</a:t>
                </a:r>
                <a:r>
                  <a:rPr lang="zh-CN" altLang="en-US" dirty="0" smtClean="0">
                    <a:latin typeface="微软雅黑" panose="020B0503020204020204" pitchFamily="34" charset="-122"/>
                    <a:ea typeface="微软雅黑" panose="020B0503020204020204" pitchFamily="34" charset="-122"/>
                  </a:rPr>
                  <a:t>这一过程，这里的“测量”是抽象的，人眼被视为一个探测器做“测量”</a:t>
                </a:r>
                <a:endParaRPr lang="en-US" altLang="zh-CN" dirty="0" smtClean="0">
                  <a:latin typeface="微软雅黑" panose="020B0503020204020204" pitchFamily="34" charset="-122"/>
                  <a:ea typeface="微软雅黑" panose="020B0503020204020204" pitchFamily="34" charset="-122"/>
                </a:endParaRPr>
              </a:p>
              <a:p>
                <a:pPr>
                  <a:lnSpc>
                    <a:spcPts val="2700"/>
                  </a:lnSpc>
                </a:pPr>
                <a:endParaRPr lang="en-US" altLang="zh-CN" dirty="0" smtClean="0">
                  <a:latin typeface="微软雅黑" panose="020B0503020204020204" pitchFamily="34" charset="-122"/>
                  <a:ea typeface="微软雅黑" panose="020B0503020204020204" pitchFamily="34" charset="-122"/>
                </a:endParaRPr>
              </a:p>
              <a:p>
                <a:pPr>
                  <a:lnSpc>
                    <a:spcPts val="2700"/>
                  </a:lnSpc>
                </a:pPr>
                <a:r>
                  <a:rPr lang="zh-CN" altLang="en-US" dirty="0" smtClean="0">
                    <a:latin typeface="微软雅黑" panose="020B0503020204020204" pitchFamily="34" charset="-122"/>
                    <a:ea typeface="微软雅黑" panose="020B0503020204020204" pitchFamily="34" charset="-122"/>
                  </a:rPr>
                  <a:t>如果测量的量子态恰好就是</a:t>
                </a:r>
                <a:r>
                  <a:rPr lang="zh-CN" altLang="en-US" dirty="0">
                    <a:latin typeface="微软雅黑" panose="020B0503020204020204" pitchFamily="34" charset="-122"/>
                    <a:ea typeface="微软雅黑" panose="020B0503020204020204" pitchFamily="34" charset="-122"/>
                  </a:rPr>
                  <a:t>本征态</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𝜓</m:t>
                            </m:r>
                          </m:e>
                          <m:sub>
                            <m:r>
                              <a:rPr lang="en-US" altLang="zh-CN" i="1" dirty="0">
                                <a:latin typeface="Cambria Math" panose="02040503050406030204" pitchFamily="18" charset="0"/>
                                <a:ea typeface="微软雅黑" panose="020B0503020204020204" pitchFamily="34" charset="-122"/>
                              </a:rPr>
                              <m:t>𝑖</m:t>
                            </m:r>
                          </m:sub>
                        </m:sSub>
                      </m:e>
                    </m:d>
                  </m:oMath>
                </a14:m>
                <a:r>
                  <a:rPr lang="zh-CN" altLang="en-US" dirty="0" smtClean="0">
                    <a:latin typeface="微软雅黑" panose="020B0503020204020204" pitchFamily="34" charset="-122"/>
                    <a:ea typeface="微软雅黑" panose="020B0503020204020204" pitchFamily="34" charset="-122"/>
                  </a:rPr>
                  <a:t>，那么</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Sub>
                  </m:oMath>
                </a14:m>
                <a:endParaRPr lang="en-US" altLang="zh-CN" dirty="0" smtClean="0">
                  <a:latin typeface="微软雅黑" panose="020B0503020204020204" pitchFamily="34" charset="-122"/>
                  <a:ea typeface="微软雅黑" panose="020B0503020204020204" pitchFamily="34" charset="-122"/>
                </a:endParaRPr>
              </a:p>
              <a:p>
                <a:pPr>
                  <a:lnSpc>
                    <a:spcPts val="2700"/>
                  </a:lnSpc>
                </a:pPr>
                <a:r>
                  <a:rPr lang="zh-CN" altLang="en-US" dirty="0" smtClean="0">
                    <a:latin typeface="微软雅黑" panose="020B0503020204020204" pitchFamily="34" charset="-122"/>
                    <a:ea typeface="微软雅黑" panose="020B0503020204020204" pitchFamily="34" charset="-122"/>
                  </a:rPr>
                  <a:t>也就是说此时对量子态无论测量多少次，结果都会得到</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𝑖</m:t>
                        </m:r>
                      </m:sub>
                    </m:sSub>
                  </m:oMath>
                </a14:m>
                <a:r>
                  <a:rPr lang="zh-CN" altLang="en-US" dirty="0" smtClean="0">
                    <a:latin typeface="微软雅黑" panose="020B0503020204020204" pitchFamily="34" charset="-122"/>
                    <a:ea typeface="微软雅黑" panose="020B0503020204020204" pitchFamily="34" charset="-122"/>
                  </a:rPr>
                  <a:t>，量子态本身也不会发生改变，是</a:t>
                </a:r>
                <a:r>
                  <a:rPr lang="zh-CN" altLang="en-US" dirty="0" smtClean="0">
                    <a:solidFill>
                      <a:srgbClr val="FF0000"/>
                    </a:solidFill>
                    <a:latin typeface="微软雅黑" panose="020B0503020204020204" pitchFamily="34" charset="-122"/>
                    <a:ea typeface="微软雅黑" panose="020B0503020204020204" pitchFamily="34" charset="-122"/>
                  </a:rPr>
                  <a:t>准确值</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ts val="2700"/>
                  </a:lnSpc>
                </a:pPr>
                <a:endParaRPr lang="en-US" altLang="zh-CN" dirty="0">
                  <a:latin typeface="微软雅黑" panose="020B0503020204020204" pitchFamily="34" charset="-122"/>
                  <a:ea typeface="微软雅黑" panose="020B0503020204020204" pitchFamily="34" charset="-122"/>
                </a:endParaRPr>
              </a:p>
              <a:p>
                <a:pPr>
                  <a:lnSpc>
                    <a:spcPts val="2700"/>
                  </a:lnSpc>
                </a:pPr>
                <a:r>
                  <a:rPr lang="zh-CN" altLang="en-US" dirty="0" smtClean="0">
                    <a:latin typeface="微软雅黑" panose="020B0503020204020204" pitchFamily="34" charset="-122"/>
                    <a:ea typeface="微软雅黑" panose="020B0503020204020204" pitchFamily="34" charset="-122"/>
                  </a:rPr>
                  <a:t>如果</a:t>
                </a:r>
                <a:r>
                  <a:rPr lang="zh-CN" altLang="en-US" dirty="0">
                    <a:latin typeface="微软雅黑" panose="020B0503020204020204" pitchFamily="34" charset="-122"/>
                    <a:ea typeface="微软雅黑" panose="020B0503020204020204" pitchFamily="34" charset="-122"/>
                  </a:rPr>
                  <a:t>量子态</a:t>
                </a:r>
                <a14:m>
                  <m:oMath xmlns:m="http://schemas.openxmlformats.org/officeDocument/2006/math">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处于不同本征态的叠加态，那么在测量前，无法确定</a:t>
                </a:r>
                <a14:m>
                  <m:oMath xmlns:m="http://schemas.openxmlformats.org/officeDocument/2006/math">
                    <m:r>
                      <a:rPr lang="zh-CN" altLang="en-US" i="1" dirty="0">
                        <a:latin typeface="Cambria Math" panose="02040503050406030204" pitchFamily="18" charset="0"/>
                        <a:ea typeface="微软雅黑" panose="020B0503020204020204" pitchFamily="34" charset="-122"/>
                      </a:rPr>
                      <m:t>最后</m:t>
                    </m:r>
                  </m:oMath>
                </a14:m>
                <a:r>
                  <a:rPr lang="zh-CN" altLang="en-US" dirty="0" smtClean="0">
                    <a:latin typeface="微软雅黑" panose="020B0503020204020204" pitchFamily="34" charset="-122"/>
                    <a:ea typeface="微软雅黑" panose="020B0503020204020204" pitchFamily="34" charset="-122"/>
                  </a:rPr>
                  <a:t>测量的结果，这是量子力学里“随机”或者说“不确定性”的来源</a:t>
                </a:r>
                <a:endParaRPr lang="en-US" altLang="zh-CN" dirty="0" smtClean="0">
                  <a:latin typeface="微软雅黑" panose="020B0503020204020204" pitchFamily="34" charset="-122"/>
                  <a:ea typeface="微软雅黑" panose="020B0503020204020204" pitchFamily="34" charset="-122"/>
                </a:endParaRPr>
              </a:p>
              <a:p>
                <a:pPr>
                  <a:lnSpc>
                    <a:spcPts val="2700"/>
                  </a:lnSpc>
                </a:pPr>
                <a:endParaRPr lang="en-US" altLang="zh-CN" dirty="0" smtClean="0">
                  <a:latin typeface="微软雅黑" panose="020B0503020204020204" pitchFamily="34" charset="-122"/>
                  <a:ea typeface="微软雅黑" panose="020B0503020204020204" pitchFamily="34" charset="-122"/>
                </a:endParaRPr>
              </a:p>
              <a:p>
                <a:pPr>
                  <a:lnSpc>
                    <a:spcPts val="2700"/>
                  </a:lnSpc>
                </a:pPr>
                <a:r>
                  <a:rPr lang="zh-CN" altLang="en-US" dirty="0" smtClean="0">
                    <a:latin typeface="微软雅黑" panose="020B0503020204020204" pitchFamily="34" charset="-122"/>
                    <a:ea typeface="微软雅黑" panose="020B0503020204020204" pitchFamily="34" charset="-122"/>
                  </a:rPr>
                  <a:t>按主流观点之一，在测量过程中，</a:t>
                </a:r>
                <a:r>
                  <a:rPr lang="en-US" altLang="zh-CN" dirty="0">
                    <a:ea typeface="微软雅黑" panose="020B0503020204020204" pitchFamily="34" charset="-122"/>
                  </a:rPr>
                  <a:t> </a:t>
                </a:r>
                <a14:m>
                  <m:oMath xmlns:m="http://schemas.openxmlformats.org/officeDocument/2006/math">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r>
                      <a:rPr lang="zh-CN" altLang="en-US" i="1">
                        <a:latin typeface="Cambria Math" panose="02040503050406030204" pitchFamily="18" charset="0"/>
                        <a:ea typeface="微软雅黑" panose="020B0503020204020204" pitchFamily="34" charset="-122"/>
                      </a:rPr>
                      <m:t>会</m:t>
                    </m:r>
                  </m:oMath>
                </a14:m>
                <a:r>
                  <a:rPr lang="zh-CN" altLang="en-US" dirty="0" smtClean="0">
                    <a:latin typeface="微软雅黑" panose="020B0503020204020204" pitchFamily="34" charset="-122"/>
                    <a:ea typeface="微软雅黑" panose="020B0503020204020204" pitchFamily="34" charset="-122"/>
                  </a:rPr>
                  <a:t>经历一个</a:t>
                </a:r>
                <a:r>
                  <a:rPr lang="zh-CN" altLang="en-US" dirty="0" smtClean="0">
                    <a:solidFill>
                      <a:srgbClr val="FF0000"/>
                    </a:solidFill>
                    <a:latin typeface="微软雅黑" panose="020B0503020204020204" pitchFamily="34" charset="-122"/>
                    <a:ea typeface="微软雅黑" panose="020B0503020204020204" pitchFamily="34" charset="-122"/>
                  </a:rPr>
                  <a:t>“坍缩”</a:t>
                </a:r>
                <a:r>
                  <a:rPr lang="zh-CN" altLang="en-US" dirty="0" smtClean="0">
                    <a:latin typeface="微软雅黑" panose="020B0503020204020204" pitchFamily="34" charset="-122"/>
                    <a:ea typeface="微软雅黑" panose="020B0503020204020204" pitchFamily="34" charset="-122"/>
                  </a:rPr>
                  <a:t>的过程，从叠加态瞬间变为</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的某个本征态</a:t>
                </a:r>
                <a14:m>
                  <m:oMath xmlns:m="http://schemas.openxmlformats.org/officeDocument/2006/math">
                    <m:r>
                      <a:rPr lang="en-US" altLang="zh-CN" i="1">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r>
                      <a:rPr lang="en-US" altLang="zh-CN" i="1">
                        <a:latin typeface="Cambria Math" panose="02040503050406030204" pitchFamily="18" charset="0"/>
                        <a:ea typeface="微软雅黑" panose="020B0503020204020204" pitchFamily="34" charset="-122"/>
                      </a:rPr>
                      <m:t>⟩ </m:t>
                    </m:r>
                  </m:oMath>
                </a14:m>
                <a:r>
                  <a:rPr lang="zh-CN" altLang="en-US" dirty="0" smtClean="0">
                    <a:latin typeface="微软雅黑" panose="020B0503020204020204" pitchFamily="34" charset="-122"/>
                    <a:ea typeface="微软雅黑" panose="020B0503020204020204" pitchFamily="34" charset="-122"/>
                  </a:rPr>
                  <a:t>，发生的概率</a:t>
                </a:r>
                <a:r>
                  <a:rPr lang="zh-CN" altLang="en-US" dirty="0">
                    <a:latin typeface="微软雅黑" panose="020B0503020204020204" pitchFamily="34" charset="-122"/>
                    <a:ea typeface="微软雅黑" panose="020B0503020204020204" pitchFamily="34" charset="-122"/>
                  </a:rPr>
                  <a:t>为</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𝑖</m:t>
                                </m:r>
                              </m:sub>
                            </m:sSub>
                          </m:e>
                        </m:d>
                      </m:e>
                      <m:sup>
                        <m:r>
                          <a:rPr lang="en-US" altLang="zh-CN" i="1">
                            <a:latin typeface="Cambria Math" panose="02040503050406030204" pitchFamily="18" charset="0"/>
                            <a:ea typeface="微软雅黑" panose="020B0503020204020204" pitchFamily="34" charset="-122"/>
                          </a:rPr>
                          <m:t>2</m:t>
                        </m:r>
                      </m:sup>
                    </m:sSup>
                  </m:oMath>
                </a14:m>
                <a:r>
                  <a:rPr lang="zh-CN" altLang="en-US" dirty="0" smtClean="0">
                    <a:latin typeface="微软雅黑" panose="020B0503020204020204" pitchFamily="34" charset="-122"/>
                    <a:ea typeface="微软雅黑" panose="020B0503020204020204" pitchFamily="34" charset="-122"/>
                  </a:rPr>
                  <a:t>，测量得到的结果是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𝑖</m:t>
                        </m:r>
                      </m:sub>
                    </m:sSub>
                  </m:oMath>
                </a14:m>
                <a:r>
                  <a:rPr lang="zh-CN" altLang="en-US" dirty="0" smtClean="0">
                    <a:latin typeface="微软雅黑" panose="020B0503020204020204" pitchFamily="34" charset="-122"/>
                    <a:ea typeface="微软雅黑" panose="020B0503020204020204" pitchFamily="34" charset="-122"/>
                  </a:rPr>
                  <a:t>，此后无论再测量多少次，态</a:t>
                </a:r>
                <a14:m>
                  <m:oMath xmlns:m="http://schemas.openxmlformats.org/officeDocument/2006/math">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𝑖</m:t>
                        </m:r>
                      </m:sub>
                    </m:sSub>
                    <m:r>
                      <a:rPr lang="en-US" altLang="zh-CN" i="1">
                        <a:latin typeface="Cambria Math" panose="02040503050406030204" pitchFamily="18" charset="0"/>
                        <a:ea typeface="微软雅黑" panose="020B0503020204020204" pitchFamily="34" charset="-122"/>
                      </a:rPr>
                      <m:t>⟩ </m:t>
                    </m:r>
                  </m:oMath>
                </a14:m>
                <a:r>
                  <a:rPr lang="zh-CN" altLang="en-US" dirty="0" smtClean="0">
                    <a:latin typeface="微软雅黑" panose="020B0503020204020204" pitchFamily="34" charset="-122"/>
                    <a:ea typeface="微软雅黑" panose="020B0503020204020204" pitchFamily="34" charset="-122"/>
                  </a:rPr>
                  <a:t>不会再发生改变</a:t>
                </a:r>
                <a:endParaRPr lang="en-US" altLang="zh-CN" dirty="0" smtClean="0">
                  <a:latin typeface="微软雅黑" panose="020B0503020204020204" pitchFamily="34" charset="-122"/>
                  <a:ea typeface="微软雅黑" panose="020B0503020204020204" pitchFamily="34" charset="-122"/>
                </a:endParaRPr>
              </a:p>
              <a:p>
                <a:pPr>
                  <a:lnSpc>
                    <a:spcPts val="2700"/>
                  </a:lnSpc>
                </a:pPr>
                <a:r>
                  <a:rPr lang="zh-CN" altLang="en-US" dirty="0" smtClean="0">
                    <a:latin typeface="微软雅黑" panose="020B0503020204020204" pitchFamily="34" charset="-122"/>
                    <a:ea typeface="微软雅黑" panose="020B0503020204020204" pitchFamily="34" charset="-122"/>
                  </a:rPr>
                  <a:t>也就是说，对叠加态做</a:t>
                </a:r>
                <a:r>
                  <a:rPr lang="zh-CN" altLang="en-US" dirty="0" smtClean="0">
                    <a:solidFill>
                      <a:srgbClr val="FF0000"/>
                    </a:solidFill>
                    <a:latin typeface="微软雅黑" panose="020B0503020204020204" pitchFamily="34" charset="-122"/>
                    <a:ea typeface="微软雅黑" panose="020B0503020204020204" pitchFamily="34" charset="-122"/>
                  </a:rPr>
                  <a:t>单次测量</a:t>
                </a:r>
                <a:r>
                  <a:rPr lang="zh-CN" altLang="en-US" dirty="0" smtClean="0">
                    <a:latin typeface="微软雅黑" panose="020B0503020204020204" pitchFamily="34" charset="-122"/>
                    <a:ea typeface="微软雅黑" panose="020B0503020204020204" pitchFamily="34" charset="-122"/>
                  </a:rPr>
                  <a:t>得到的结果仍然是</a:t>
                </a:r>
                <a:r>
                  <a:rPr lang="zh-CN" altLang="en-US" dirty="0" smtClean="0">
                    <a:solidFill>
                      <a:srgbClr val="FF0000"/>
                    </a:solidFill>
                    <a:latin typeface="微软雅黑" panose="020B0503020204020204" pitchFamily="34" charset="-122"/>
                    <a:ea typeface="微软雅黑" panose="020B0503020204020204" pitchFamily="34" charset="-122"/>
                  </a:rPr>
                  <a:t>准确值</a:t>
                </a:r>
                <a:r>
                  <a:rPr lang="zh-CN" altLang="en-US" dirty="0" smtClean="0">
                    <a:latin typeface="微软雅黑" panose="020B0503020204020204" pitchFamily="34" charset="-122"/>
                    <a:ea typeface="微软雅黑" panose="020B0503020204020204" pitchFamily="34" charset="-122"/>
                  </a:rPr>
                  <a:t>，现在将态</a:t>
                </a:r>
                <a14:m>
                  <m:oMath xmlns:m="http://schemas.openxmlformats.org/officeDocument/2006/math">
                    <m:r>
                      <a:rPr lang="en-US" altLang="zh-CN" i="1">
                        <a:latin typeface="Cambria Math" panose="02040503050406030204" pitchFamily="18" charset="0"/>
                        <a:ea typeface="微软雅黑" panose="020B0503020204020204" pitchFamily="34" charset="-122"/>
                      </a:rPr>
                      <m:t>|</m:t>
                    </m:r>
                    <m:r>
                      <m:rPr>
                        <m:sty m:val="p"/>
                      </m:rPr>
                      <a:rPr lang="en-US" altLang="zh-CN">
                        <a:latin typeface="Cambria Math" panose="02040503050406030204" pitchFamily="18" charset="0"/>
                        <a:ea typeface="微软雅黑" panose="020B0503020204020204" pitchFamily="34" charset="-122"/>
                      </a:rPr>
                      <m:t>Ψ</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复制足够多份，分别对每个态做测量，最终得到的是</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的平均结果</a:t>
                </a:r>
                <a14:m>
                  <m:oMath xmlns:m="http://schemas.openxmlformats.org/officeDocument/2006/math">
                    <m:nary>
                      <m:naryPr>
                        <m:chr m:val="∑"/>
                        <m:supHide m:val="on"/>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𝑖</m:t>
                        </m:r>
                      </m:sub>
                      <m:sup/>
                      <m:e>
                        <m:sSup>
                          <m:sSupPr>
                            <m:ctrlPr>
                              <a:rPr lang="en-US" altLang="zh-CN" i="1">
                                <a:latin typeface="Cambria Math" panose="02040503050406030204" pitchFamily="18" charset="0"/>
                                <a:ea typeface="微软雅黑" panose="020B0503020204020204" pitchFamily="34" charset="-122"/>
                              </a:rPr>
                            </m:ctrlPr>
                          </m:sSupPr>
                          <m:e>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𝑐</m:t>
                                    </m:r>
                                  </m:e>
                                  <m:sub>
                                    <m:r>
                                      <a:rPr lang="en-US" altLang="zh-CN" i="1">
                                        <a:latin typeface="Cambria Math" panose="02040503050406030204" pitchFamily="18" charset="0"/>
                                        <a:ea typeface="微软雅黑" panose="020B0503020204020204" pitchFamily="34" charset="-122"/>
                                      </a:rPr>
                                      <m:t>𝑖</m:t>
                                    </m:r>
                                  </m:sub>
                                </m:sSub>
                              </m:e>
                            </m:d>
                          </m:e>
                          <m:sup>
                            <m:r>
                              <a:rPr lang="en-US" altLang="zh-CN" i="1">
                                <a:latin typeface="Cambria Math" panose="02040503050406030204" pitchFamily="18" charset="0"/>
                                <a:ea typeface="微软雅黑" panose="020B0503020204020204" pitchFamily="34" charset="-122"/>
                              </a:rPr>
                              <m:t>2</m:t>
                            </m:r>
                          </m:sup>
                        </m:s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𝑖</m:t>
                            </m:r>
                          </m:sub>
                        </m:sSub>
                      </m:e>
                    </m:nary>
                  </m:oMath>
                </a14:m>
                <a:endParaRPr lang="en-US" altLang="zh-CN" dirty="0" smtClean="0">
                  <a:latin typeface="微软雅黑" panose="020B0503020204020204" pitchFamily="34" charset="-122"/>
                  <a:ea typeface="微软雅黑" panose="020B0503020204020204" pitchFamily="34" charset="-122"/>
                </a:endParaRPr>
              </a:p>
              <a:p>
                <a:pPr>
                  <a:lnSpc>
                    <a:spcPts val="2700"/>
                  </a:lnSpc>
                </a:pPr>
                <a:endParaRPr lang="en-US" altLang="zh-CN" dirty="0" smtClean="0">
                  <a:latin typeface="微软雅黑" panose="020B0503020204020204" pitchFamily="34" charset="-122"/>
                  <a:ea typeface="微软雅黑" panose="020B0503020204020204" pitchFamily="34" charset="-122"/>
                </a:endParaRPr>
              </a:p>
              <a:p>
                <a:pPr>
                  <a:lnSpc>
                    <a:spcPts val="2700"/>
                  </a:lnSpc>
                </a:pPr>
                <a:r>
                  <a:rPr lang="zh-CN" altLang="en-US" dirty="0" smtClean="0">
                    <a:latin typeface="微软雅黑" panose="020B0503020204020204" pitchFamily="34" charset="-122"/>
                    <a:ea typeface="微软雅黑" panose="020B0503020204020204" pitchFamily="34" charset="-122"/>
                  </a:rPr>
                  <a:t>关于测量还有很多丰富的内容，不再展开叙述，关于经典概率与量子概率的区别将放在补充里</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540385" y="1273204"/>
                <a:ext cx="10441500" cy="5254452"/>
              </a:xfrm>
              <a:prstGeom prst="rect">
                <a:avLst/>
              </a:prstGeom>
              <a:blipFill rotWithShape="0">
                <a:blip r:embed="rId3"/>
                <a:stretch>
                  <a:fillRect l="-526" b="-9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23562009"/>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4" name="文本框 3"/>
          <p:cNvSpPr txBox="1"/>
          <p:nvPr/>
        </p:nvSpPr>
        <p:spPr>
          <a:xfrm>
            <a:off x="418146" y="873094"/>
            <a:ext cx="4443999"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运动方程</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薛定谔方程</a:t>
            </a:r>
            <a:endParaRPr lang="zh-CN" altLang="en-US" sz="20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7185" y="1331817"/>
            <a:ext cx="8568740"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同经典力学中牛顿运动方程一样，量子力学中量子态的演化由薛定谔方程给出</a:t>
            </a:r>
            <a:endParaRPr lang="zh-CN" altLang="en-US" dirty="0">
              <a:latin typeface="微软雅黑" panose="020B0503020204020204" pitchFamily="34" charset="-122"/>
              <a:ea typeface="微软雅黑" panose="020B0503020204020204" pitchFamily="34" charset="-122"/>
            </a:endParaRPr>
          </a:p>
        </p:txBody>
      </p:sp>
      <p:sp>
        <p:nvSpPr>
          <p:cNvPr id="6" name="圆角矩形 5"/>
          <p:cNvSpPr/>
          <p:nvPr/>
        </p:nvSpPr>
        <p:spPr>
          <a:xfrm>
            <a:off x="337185" y="1857979"/>
            <a:ext cx="4261192" cy="1140198"/>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 name="文本框 4"/>
              <p:cNvSpPr txBox="1"/>
              <p:nvPr/>
            </p:nvSpPr>
            <p:spPr>
              <a:xfrm>
                <a:off x="337185" y="1857979"/>
                <a:ext cx="11854815" cy="4467698"/>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定态薛定谔方程：</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𝐻</m:t>
                        </m:r>
                      </m:e>
                    </m:acc>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𝜓</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𝐸</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𝜓</m:t>
                    </m:r>
                    <m:r>
                      <a:rPr lang="en-US" altLang="zh-CN" b="0" i="1" dirty="0" smtClean="0">
                        <a:latin typeface="Cambria Math" panose="02040503050406030204" pitchFamily="18" charset="0"/>
                      </a:rPr>
                      <m:t>⟩</m:t>
                    </m:r>
                  </m:oMath>
                </a14:m>
                <a:endParaRPr lang="en-US" altLang="zh-CN" dirty="0" smtClean="0"/>
              </a:p>
              <a:p>
                <a:pPr>
                  <a:lnSpc>
                    <a:spcPct val="150000"/>
                  </a:lnSpc>
                </a:pPr>
                <a:r>
                  <a:rPr lang="zh-CN" altLang="en-US" dirty="0" smtClean="0">
                    <a:latin typeface="微软雅黑" panose="020B0503020204020204" pitchFamily="34" charset="-122"/>
                    <a:ea typeface="微软雅黑" panose="020B0503020204020204" pitchFamily="34" charset="-122"/>
                  </a:rPr>
                  <a:t>含时薛定谔方程：</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𝐻</m:t>
                        </m:r>
                      </m:e>
                    </m:acc>
                    <m:d>
                      <m:dPr>
                        <m:begChr m:val="|"/>
                        <m:endChr m:val="⟩"/>
                        <m:ctrlPr>
                          <a:rPr lang="en-US" altLang="zh-CN" i="1" dirty="0">
                            <a:latin typeface="Cambria Math" panose="02040503050406030204" pitchFamily="18" charset="0"/>
                          </a:rPr>
                        </m:ctrlPr>
                      </m:dPr>
                      <m:e>
                        <m:r>
                          <m:rPr>
                            <m:sty m:val="p"/>
                          </m:rPr>
                          <a:rPr lang="en-US" altLang="zh-CN" b="0" i="0" dirty="0" smtClean="0">
                            <a:latin typeface="Cambria Math" panose="02040503050406030204" pitchFamily="18" charset="0"/>
                          </a:rPr>
                          <m:t>Ψ</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ℏ</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m:t>
                        </m:r>
                      </m:num>
                      <m:den>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den>
                    </m:f>
                    <m:r>
                      <a:rPr lang="en-US" altLang="zh-CN" b="0" i="1" dirty="0" smtClean="0">
                        <a:latin typeface="Cambria Math" panose="02040503050406030204" pitchFamily="18" charset="0"/>
                      </a:rPr>
                      <m:t>|</m:t>
                    </m:r>
                    <m:r>
                      <m:rPr>
                        <m:sty m:val="p"/>
                      </m:rPr>
                      <a:rPr lang="en-US" altLang="zh-CN" b="0" i="0" dirty="0" smtClean="0">
                        <a:latin typeface="Cambria Math" panose="02040503050406030204" pitchFamily="18" charset="0"/>
                      </a:rPr>
                      <m:t>Ψ</m:t>
                    </m:r>
                    <m:r>
                      <a:rPr lang="en-US" altLang="zh-CN" b="0" i="1" dirty="0" smtClean="0">
                        <a:latin typeface="Cambria Math" panose="02040503050406030204" pitchFamily="18" charset="0"/>
                      </a:rPr>
                      <m:t>⟩</m:t>
                    </m:r>
                  </m:oMath>
                </a14:m>
                <a:endParaRPr lang="en-US" altLang="zh-CN" dirty="0" smtClean="0"/>
              </a:p>
              <a:p>
                <a:pPr>
                  <a:lnSpc>
                    <a:spcPct val="150000"/>
                  </a:lnSpc>
                </a:pPr>
                <a:r>
                  <a:rPr lang="zh-CN" altLang="en-US" dirty="0">
                    <a:latin typeface="微软雅黑" panose="020B0503020204020204" pitchFamily="34" charset="-122"/>
                    <a:ea typeface="微软雅黑" panose="020B0503020204020204" pitchFamily="34" charset="-122"/>
                  </a:rPr>
                  <a:t>其中</a:t>
                </a:r>
                <a14:m>
                  <m:oMath xmlns:m="http://schemas.openxmlformats.org/officeDocument/2006/math">
                    <m:acc>
                      <m:accPr>
                        <m:chr m:val="̂"/>
                        <m:ctrlPr>
                          <a:rPr lang="en-US" altLang="zh-CN" b="0" i="1" smtClean="0">
                            <a:latin typeface="Cambria Math" panose="02040503050406030204" pitchFamily="18" charset="0"/>
                          </a:rPr>
                        </m:ctrlPr>
                      </m:accPr>
                      <m:e>
                        <m:r>
                          <a:rPr lang="en-US" altLang="zh-CN" i="1">
                            <a:latin typeface="Cambria Math" panose="02040503050406030204" pitchFamily="18" charset="0"/>
                          </a:rPr>
                          <m:t>𝐻</m:t>
                        </m:r>
                      </m:e>
                    </m:acc>
                  </m:oMath>
                </a14:m>
                <a:r>
                  <a:rPr lang="zh-CN" altLang="en-US" dirty="0" smtClean="0">
                    <a:latin typeface="微软雅黑" panose="020B0503020204020204" pitchFamily="34" charset="-122"/>
                    <a:ea typeface="微软雅黑" panose="020B0503020204020204" pitchFamily="34" charset="-122"/>
                  </a:rPr>
                  <a:t>表示哈密顿量，与分析力学里的哈密顿量定义一致，我们只需简单将其理解为粒子的总能量，即动能与势能之和：</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i="1">
                              <a:latin typeface="Cambria Math" panose="02040503050406030204" pitchFamily="18" charset="0"/>
                            </a:rPr>
                            <m:t>𝐻</m:t>
                          </m:r>
                        </m:e>
                      </m:acc>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𝑇</m:t>
                          </m:r>
                        </m:e>
                      </m:acc>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𝑉</m:t>
                          </m:r>
                        </m:e>
                      </m:acc>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sSup>
                            <m:sSupPr>
                              <m:ctrlPr>
                                <a:rPr lang="en-US" altLang="zh-CN" b="0" i="1" dirty="0" smtClean="0">
                                  <a:latin typeface="Cambria Math" panose="02040503050406030204" pitchFamily="18" charset="0"/>
                                </a:rPr>
                              </m:ctrlPr>
                            </m:s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p>
                              <m:r>
                                <a:rPr lang="en-US" altLang="zh-CN" b="0" i="1" dirty="0" smtClean="0">
                                  <a:latin typeface="Cambria Math" panose="02040503050406030204" pitchFamily="18" charset="0"/>
                                </a:rPr>
                                <m:t>2</m:t>
                              </m:r>
                            </m:sup>
                          </m:sSup>
                        </m:num>
                        <m:den>
                          <m:r>
                            <a:rPr lang="en-US" altLang="zh-CN" b="0" i="1" dirty="0" smtClean="0">
                              <a:latin typeface="Cambria Math" panose="02040503050406030204" pitchFamily="18" charset="0"/>
                            </a:rPr>
                            <m:t>2</m:t>
                          </m:r>
                          <m:r>
                            <a:rPr lang="en-US" altLang="zh-CN" b="0" i="1" dirty="0" smtClean="0">
                              <a:latin typeface="Cambria Math" panose="02040503050406030204" pitchFamily="18" charset="0"/>
                            </a:rPr>
                            <m:t>𝑚</m:t>
                          </m:r>
                        </m:den>
                      </m:f>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𝑉</m:t>
                          </m:r>
                        </m:e>
                      </m:acc>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在电子结构中我们通常只关注定态解，故后面的讨论集中于定态薛定谔方程</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不难看出定态薛定谔方程本身就是在求解本征值问题，得到的本征态</a:t>
                </a:r>
                <a14:m>
                  <m:oMath xmlns:m="http://schemas.openxmlformats.org/officeDocument/2006/math">
                    <m:d>
                      <m:dPr>
                        <m:begChr m:val="|"/>
                        <m:endChr m:val="⟩"/>
                        <m:ctrlPr>
                          <a:rPr lang="en-US" altLang="zh-CN" i="1" dirty="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𝜓</m:t>
                            </m:r>
                          </m:e>
                          <m:sub>
                            <m:r>
                              <a:rPr lang="en-US" altLang="zh-CN" b="0" i="1" dirty="0" smtClean="0">
                                <a:latin typeface="Cambria Math" panose="02040503050406030204" pitchFamily="18" charset="0"/>
                              </a:rPr>
                              <m:t>1</m:t>
                            </m:r>
                          </m:sub>
                        </m:sSub>
                      </m:e>
                    </m:d>
                    <m:r>
                      <a:rPr lang="en-US" altLang="zh-CN" b="0" i="1" dirty="0" smtClean="0">
                        <a:latin typeface="Cambria Math" panose="02040503050406030204" pitchFamily="18" charset="0"/>
                      </a:rPr>
                      <m:t>, </m:t>
                    </m:r>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𝜓</m:t>
                            </m:r>
                          </m:e>
                          <m:sub>
                            <m:r>
                              <a:rPr lang="en-US" altLang="zh-CN" b="0" i="1" dirty="0" smtClean="0">
                                <a:latin typeface="Cambria Math" panose="02040503050406030204" pitchFamily="18" charset="0"/>
                              </a:rPr>
                              <m:t>2</m:t>
                            </m:r>
                          </m:sub>
                        </m:sSub>
                      </m:e>
                    </m:d>
                    <m:r>
                      <a:rPr lang="en-US" altLang="zh-CN" b="0" i="1" dirty="0" smtClean="0">
                        <a:latin typeface="Cambria Math" panose="02040503050406030204" pitchFamily="18" charset="0"/>
                      </a:rPr>
                      <m:t>, …,</m:t>
                    </m:r>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𝜓</m:t>
                            </m:r>
                          </m:e>
                          <m:sub>
                            <m:r>
                              <a:rPr lang="en-US" altLang="zh-CN" b="0" i="1" dirty="0" smtClean="0">
                                <a:latin typeface="Cambria Math" panose="02040503050406030204" pitchFamily="18" charset="0"/>
                              </a:rPr>
                              <m:t>𝑛</m:t>
                            </m:r>
                          </m:sub>
                        </m:sSub>
                      </m:e>
                    </m:d>
                    <m:r>
                      <a:rPr lang="en-US" altLang="zh-CN" b="0" i="1" dirty="0" smtClean="0">
                        <a:latin typeface="Cambria Math" panose="02040503050406030204" pitchFamily="18" charset="0"/>
                      </a:rPr>
                      <m:t>,…</m:t>
                    </m:r>
                  </m:oMath>
                </a14:m>
                <a:r>
                  <a:rPr lang="zh-CN" altLang="en-US" dirty="0" smtClean="0">
                    <a:latin typeface="微软雅黑" panose="020B0503020204020204" pitchFamily="34" charset="-122"/>
                    <a:ea typeface="微软雅黑" panose="020B0503020204020204" pitchFamily="34" charset="-122"/>
                  </a:rPr>
                  <a:t>按本征值从小到大排列依次称为粒子的基态、第一激发态、第二激发态</a:t>
                </a:r>
                <a:r>
                  <a:rPr lang="en-US" altLang="zh-CN" dirty="0" smtClean="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37185" y="1857979"/>
                <a:ext cx="11854815" cy="4467698"/>
              </a:xfrm>
              <a:prstGeom prst="rect">
                <a:avLst/>
              </a:prstGeom>
              <a:blipFill rotWithShape="0">
                <a:blip r:embed="rId3"/>
                <a:stretch>
                  <a:fillRect l="-411" b="-1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4135482"/>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99110" y="875750"/>
            <a:ext cx="2749471"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对易关系的进一步讨论</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p:cNvSpPr txBox="1"/>
              <p:nvPr/>
            </p:nvSpPr>
            <p:spPr>
              <a:xfrm>
                <a:off x="958361" y="1441938"/>
                <a:ext cx="10506807" cy="4497770"/>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在求解定态薛定谔方程的过程中，简并的现象会频繁出现，即同一个本征能量对应多个本征态</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例如，假设本征值为</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𝐸</m:t>
                        </m:r>
                      </m:e>
                      <m:sub>
                        <m:r>
                          <a:rPr lang="en-US" altLang="zh-CN" b="0" i="1" smtClean="0">
                            <a:latin typeface="Cambria Math" panose="02040503050406030204" pitchFamily="18" charset="0"/>
                            <a:ea typeface="微软雅黑" panose="020B0503020204020204" pitchFamily="34" charset="-122"/>
                          </a:rPr>
                          <m:t>0</m:t>
                        </m:r>
                      </m:sub>
                    </m:sSub>
                  </m:oMath>
                </a14:m>
                <a:r>
                  <a:rPr lang="zh-CN" altLang="en-US" dirty="0" smtClean="0">
                    <a:latin typeface="微软雅黑" panose="020B0503020204020204" pitchFamily="34" charset="-122"/>
                    <a:ea typeface="微软雅黑" panose="020B0503020204020204" pitchFamily="34" charset="-122"/>
                  </a:rPr>
                  <a:t>的正交归一本征态有两个：</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1</m:t>
                        </m:r>
                      </m:sup>
                    </m:sSubSup>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i="1">
                        <a:latin typeface="Cambria Math" panose="02040503050406030204" pitchFamily="18" charset="0"/>
                        <a:ea typeface="微软雅黑" panose="020B0503020204020204" pitchFamily="34" charset="-122"/>
                      </a:rPr>
                      <m:t>|</m:t>
                    </m:r>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2</m:t>
                        </m:r>
                      </m:sup>
                    </m:sSubSup>
                    <m:r>
                      <a:rPr lang="en-US" altLang="zh-CN" i="1">
                        <a:latin typeface="Cambria Math" panose="02040503050406030204" pitchFamily="18" charset="0"/>
                        <a:ea typeface="微软雅黑" panose="020B0503020204020204" pitchFamily="34" charset="-122"/>
                      </a:rPr>
                      <m:t>⟩</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那么</a:t>
                </a:r>
                <a14:m>
                  <m:oMath xmlns:m="http://schemas.openxmlformats.org/officeDocument/2006/math">
                    <m:d>
                      <m:dPr>
                        <m:begChr m:val="|"/>
                        <m:endChr m:val="⟩"/>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𝜓</m:t>
                        </m:r>
                      </m:e>
                    </m:d>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𝑐</m:t>
                        </m:r>
                      </m:e>
                      <m:sub>
                        <m:r>
                          <a:rPr lang="en-US" altLang="zh-CN" b="0" i="1" dirty="0" smtClean="0">
                            <a:latin typeface="Cambria Math" panose="02040503050406030204" pitchFamily="18" charset="0"/>
                            <a:ea typeface="微软雅黑" panose="020B0503020204020204" pitchFamily="34" charset="-122"/>
                          </a:rPr>
                          <m:t>1</m:t>
                        </m:r>
                      </m:sub>
                    </m:sSub>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0</m:t>
                            </m:r>
                          </m:sub>
                          <m:sup>
                            <m:r>
                              <a:rPr lang="en-US" altLang="zh-CN" i="1">
                                <a:latin typeface="Cambria Math" panose="02040503050406030204" pitchFamily="18" charset="0"/>
                                <a:ea typeface="微软雅黑" panose="020B0503020204020204" pitchFamily="34" charset="-122"/>
                              </a:rPr>
                              <m:t>1</m:t>
                            </m:r>
                          </m:sup>
                        </m:sSubSup>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2</m:t>
                        </m:r>
                      </m:sup>
                    </m:sSubSup>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也是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𝐸</m:t>
                        </m:r>
                      </m:e>
                      <m:sub>
                        <m:r>
                          <a:rPr lang="en-US" altLang="zh-CN" i="1">
                            <a:latin typeface="Cambria Math" panose="02040503050406030204" pitchFamily="18" charset="0"/>
                            <a:ea typeface="微软雅黑" panose="020B0503020204020204" pitchFamily="34" charset="-122"/>
                          </a:rPr>
                          <m:t>0</m:t>
                        </m:r>
                      </m:sub>
                    </m:sSub>
                  </m:oMath>
                </a14:m>
                <a:r>
                  <a:rPr lang="zh-CN" altLang="en-US" dirty="0" smtClean="0">
                    <a:latin typeface="微软雅黑" panose="020B0503020204020204" pitchFamily="34" charset="-122"/>
                    <a:ea typeface="微软雅黑" panose="020B0503020204020204" pitchFamily="34" charset="-122"/>
                  </a:rPr>
                  <a:t>的本征态</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那么</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𝜓</m:t>
                        </m:r>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e>
                        </m:d>
                        <m:r>
                          <a:rPr lang="en-US" altLang="zh-CN" b="0" i="1" smtClean="0">
                            <a:latin typeface="Cambria Math" panose="02040503050406030204" pitchFamily="18" charset="0"/>
                            <a:ea typeface="微软雅黑" panose="020B0503020204020204" pitchFamily="34" charset="-122"/>
                          </a:rPr>
                          <m:t>𝜓</m:t>
                        </m:r>
                      </m:e>
                    </m:d>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d>
                          <m:dPr>
                            <m:begChr m:val="⟨"/>
                            <m:end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1</m:t>
                                </m:r>
                              </m:sup>
                            </m:sSubSup>
                            <m:d>
                              <m:dPr>
                                <m:begChr m:val="|"/>
                                <m:end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m:t>
                                    </m:r>
                                  </m:sup>
                                </m:sSubSup>
                                <m:r>
                                  <a:rPr lang="en-US" altLang="zh-CN" b="0" i="1" smtClean="0">
                                    <a:latin typeface="Cambria Math" panose="02040503050406030204" pitchFamily="18" charset="0"/>
                                    <a:ea typeface="微软雅黑" panose="020B0503020204020204" pitchFamily="34" charset="-122"/>
                                  </a:rPr>
                                  <m:t>+</m:t>
                                </m:r>
                                <m:d>
                                  <m:dPr>
                                    <m:beg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2</m:t>
                                        </m:r>
                                      </m:sup>
                                    </m:sSubSup>
                                  </m:e>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2</m:t>
                                        </m:r>
                                      </m:sub>
                                      <m:sup>
                                        <m:r>
                                          <a:rPr lang="en-US" altLang="zh-CN" b="0" i="1" smtClean="0">
                                            <a:latin typeface="Cambria Math" panose="02040503050406030204" pitchFamily="18" charset="0"/>
                                            <a:ea typeface="微软雅黑" panose="020B0503020204020204" pitchFamily="34" charset="-122"/>
                                          </a:rPr>
                                          <m:t>∗</m:t>
                                        </m:r>
                                      </m:sup>
                                    </m:sSubSup>
                                  </m:e>
                                </m:d>
                              </m:e>
                            </m:d>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d>
                              <m:dPr>
                                <m:begChr m:val="|"/>
                                <m:endChr m:val="|"/>
                                <m:ctrlPr>
                                  <a:rPr lang="en-US" altLang="zh-CN" b="0" i="1" smtClean="0">
                                    <a:latin typeface="Cambria Math" panose="02040503050406030204" pitchFamily="18" charset="0"/>
                                    <a:ea typeface="微软雅黑" panose="020B0503020204020204" pitchFamily="34" charset="-122"/>
                                  </a:rPr>
                                </m:ctrlPr>
                              </m:dPr>
                              <m:e>
                                <m:d>
                                  <m:dPr>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1</m:t>
                                        </m:r>
                                      </m:sub>
                                    </m:sSub>
                                  </m:e>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1</m:t>
                                        </m:r>
                                      </m:sup>
                                    </m:sSubSup>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2</m:t>
                                    </m:r>
                                  </m:sub>
                                </m:sSub>
                              </m:e>
                            </m:d>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2</m:t>
                                </m:r>
                              </m:sup>
                            </m:sSubSup>
                          </m:e>
                        </m:d>
                      </m:e>
                    </m:d>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1</m:t>
                                    </m:r>
                                  </m:sub>
                                </m:sSub>
                              </m:e>
                            </m:d>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2</m:t>
                                    </m:r>
                                  </m:sub>
                                </m:sSub>
                              </m:e>
                            </m:d>
                          </m:e>
                          <m:sup>
                            <m:r>
                              <a:rPr lang="en-US" altLang="zh-CN" b="0" i="1" smtClean="0">
                                <a:latin typeface="Cambria Math" panose="02040503050406030204" pitchFamily="18" charset="0"/>
                                <a:ea typeface="微软雅黑" panose="020B0503020204020204" pitchFamily="34" charset="-122"/>
                              </a:rPr>
                              <m:t>2</m:t>
                            </m:r>
                          </m:sup>
                        </m:sSup>
                      </m:e>
                    </m:d>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𝐸</m:t>
                        </m:r>
                      </m:e>
                      <m:sub>
                        <m:r>
                          <a:rPr lang="en-US" altLang="zh-CN" b="0" i="1" smtClean="0">
                            <a:latin typeface="Cambria Math" panose="02040503050406030204" pitchFamily="18" charset="0"/>
                            <a:ea typeface="微软雅黑" panose="020B0503020204020204" pitchFamily="34" charset="-122"/>
                          </a:rPr>
                          <m:t>0</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𝐸</m:t>
                        </m:r>
                      </m:e>
                      <m:sub>
                        <m:r>
                          <a:rPr lang="en-US" altLang="zh-CN" b="0" i="1" smtClean="0">
                            <a:latin typeface="Cambria Math" panose="02040503050406030204" pitchFamily="18" charset="0"/>
                            <a:ea typeface="微软雅黑" panose="020B0503020204020204" pitchFamily="34" charset="-122"/>
                          </a:rPr>
                          <m:t>0</m:t>
                        </m:r>
                      </m:sub>
                    </m:sSub>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即此时满足本征值为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𝐸</m:t>
                        </m:r>
                      </m:e>
                      <m:sub>
                        <m:r>
                          <a:rPr lang="en-US" altLang="zh-CN" i="1">
                            <a:latin typeface="Cambria Math" panose="02040503050406030204" pitchFamily="18" charset="0"/>
                            <a:ea typeface="微软雅黑" panose="020B0503020204020204" pitchFamily="34" charset="-122"/>
                          </a:rPr>
                          <m:t>0</m:t>
                        </m:r>
                      </m:sub>
                    </m:sSub>
                  </m:oMath>
                </a14:m>
                <a:r>
                  <a:rPr lang="zh-CN" altLang="en-US" dirty="0" smtClean="0">
                    <a:latin typeface="微软雅黑" panose="020B0503020204020204" pitchFamily="34" charset="-122"/>
                    <a:ea typeface="微软雅黑" panose="020B0503020204020204" pitchFamily="34" charset="-122"/>
                  </a:rPr>
                  <a:t>的态仍有</a:t>
                </a:r>
                <a:r>
                  <a:rPr lang="zh-CN" altLang="en-US" dirty="0" smtClean="0">
                    <a:solidFill>
                      <a:srgbClr val="FF0000"/>
                    </a:solidFill>
                    <a:latin typeface="微软雅黑" panose="020B0503020204020204" pitchFamily="34" charset="-122"/>
                    <a:ea typeface="微软雅黑" panose="020B0503020204020204" pitchFamily="34" charset="-122"/>
                  </a:rPr>
                  <a:t>无限个</a:t>
                </a:r>
                <a:r>
                  <a:rPr lang="zh-CN" altLang="en-US" dirty="0" smtClean="0">
                    <a:latin typeface="微软雅黑" panose="020B0503020204020204" pitchFamily="34" charset="-122"/>
                    <a:ea typeface="微软雅黑" panose="020B0503020204020204" pitchFamily="34" charset="-122"/>
                  </a:rPr>
                  <a:t>，仍旧无法通过测量将</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0</m:t>
                            </m:r>
                          </m:sub>
                          <m:sup>
                            <m:r>
                              <a:rPr lang="en-US" altLang="zh-CN" i="1">
                                <a:latin typeface="Cambria Math" panose="02040503050406030204" pitchFamily="18" charset="0"/>
                                <a:ea typeface="微软雅黑" panose="020B0503020204020204" pitchFamily="34" charset="-122"/>
                              </a:rPr>
                              <m:t>1</m:t>
                            </m:r>
                          </m:sup>
                        </m:sSubSup>
                      </m:e>
                    </m:d>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i="1">
                        <a:latin typeface="Cambria Math" panose="02040503050406030204" pitchFamily="18" charset="0"/>
                        <a:ea typeface="微软雅黑" panose="020B0503020204020204" pitchFamily="34" charset="-122"/>
                      </a:rPr>
                      <m:t>|</m:t>
                    </m:r>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0</m:t>
                        </m:r>
                      </m:sub>
                      <m:sup>
                        <m:r>
                          <a:rPr lang="en-US" altLang="zh-CN" i="1">
                            <a:latin typeface="Cambria Math" panose="02040503050406030204" pitchFamily="18" charset="0"/>
                            <a:ea typeface="微软雅黑" panose="020B0503020204020204" pitchFamily="34" charset="-122"/>
                          </a:rPr>
                          <m:t>2</m:t>
                        </m:r>
                      </m:sup>
                    </m:sSubSup>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这两个本征态区分开</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此时寻找与</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oMath>
                </a14:m>
                <a:r>
                  <a:rPr lang="zh-CN" altLang="en-US" dirty="0" smtClean="0">
                    <a:solidFill>
                      <a:srgbClr val="FF0000"/>
                    </a:solidFill>
                    <a:latin typeface="微软雅黑" panose="020B0503020204020204" pitchFamily="34" charset="-122"/>
                    <a:ea typeface="微软雅黑" panose="020B0503020204020204" pitchFamily="34" charset="-122"/>
                  </a:rPr>
                  <a:t>对易</a:t>
                </a:r>
                <a:r>
                  <a:rPr lang="zh-CN" altLang="en-US" dirty="0" smtClean="0">
                    <a:latin typeface="微软雅黑" panose="020B0503020204020204" pitchFamily="34" charset="-122"/>
                    <a:ea typeface="微软雅黑" panose="020B0503020204020204" pitchFamily="34" charset="-122"/>
                  </a:rPr>
                  <a:t>的算符</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至关重要，在前文提到，相互对易的两个算符具有</a:t>
                </a:r>
                <a:r>
                  <a:rPr lang="zh-CN" altLang="en-US" dirty="0" smtClean="0">
                    <a:solidFill>
                      <a:srgbClr val="FF0000"/>
                    </a:solidFill>
                    <a:latin typeface="微软雅黑" panose="020B0503020204020204" pitchFamily="34" charset="-122"/>
                    <a:ea typeface="微软雅黑" panose="020B0503020204020204" pitchFamily="34" charset="-122"/>
                  </a:rPr>
                  <a:t>共同的本征态</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如果</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0</m:t>
                            </m:r>
                          </m:sub>
                          <m:sup>
                            <m:r>
                              <a:rPr lang="en-US" altLang="zh-CN" i="1">
                                <a:latin typeface="Cambria Math" panose="02040503050406030204" pitchFamily="18" charset="0"/>
                                <a:ea typeface="微软雅黑" panose="020B0503020204020204" pitchFamily="34" charset="-122"/>
                              </a:rPr>
                              <m:t>1</m:t>
                            </m:r>
                          </m:sup>
                        </m:sSubSup>
                      </m:e>
                    </m:d>
                  </m:oMath>
                </a14:m>
                <a:r>
                  <a:rPr lang="zh-CN" altLang="en-US" dirty="0" smtClean="0">
                    <a:latin typeface="微软雅黑" panose="020B0503020204020204" pitchFamily="34" charset="-122"/>
                    <a:ea typeface="微软雅黑" panose="020B0503020204020204" pitchFamily="34" charset="-122"/>
                  </a:rPr>
                  <a:t>对应</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的本征值是</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0</m:t>
                            </m:r>
                          </m:sub>
                          <m:sup>
                            <m:r>
                              <a:rPr lang="en-US" altLang="zh-CN" b="0" i="1" smtClean="0">
                                <a:latin typeface="Cambria Math" panose="02040503050406030204" pitchFamily="18" charset="0"/>
                                <a:ea typeface="微软雅黑" panose="020B0503020204020204" pitchFamily="34" charset="-122"/>
                              </a:rPr>
                              <m:t>2</m:t>
                            </m:r>
                          </m:sup>
                        </m:sSubSup>
                      </m:e>
                    </m:d>
                  </m:oMath>
                </a14:m>
                <a:r>
                  <a:rPr lang="zh-CN" altLang="en-US" dirty="0">
                    <a:latin typeface="微软雅黑" panose="020B0503020204020204" pitchFamily="34" charset="-122"/>
                    <a:ea typeface="微软雅黑" panose="020B0503020204020204" pitchFamily="34" charset="-122"/>
                  </a:rPr>
                  <a:t>对应</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a:latin typeface="微软雅黑" panose="020B0503020204020204" pitchFamily="34" charset="-122"/>
                    <a:ea typeface="微软雅黑" panose="020B0503020204020204" pitchFamily="34" charset="-122"/>
                  </a:rPr>
                  <a:t>的本征值是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，将这两个本征态分别写成</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𝐸</m:t>
                            </m:r>
                          </m:e>
                          <m:sub>
                            <m:r>
                              <a:rPr lang="en-US" altLang="zh-CN" b="0" i="1" smtClean="0">
                                <a:latin typeface="Cambria Math" panose="02040503050406030204" pitchFamily="18" charset="0"/>
                                <a:ea typeface="微软雅黑" panose="020B0503020204020204" pitchFamily="34" charset="-122"/>
                              </a:rPr>
                              <m:t>0</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e>
                    </m:d>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𝐸</m:t>
                            </m:r>
                          </m:e>
                          <m:sub>
                            <m:r>
                              <a:rPr lang="en-US" altLang="zh-CN" i="1">
                                <a:latin typeface="Cambria Math" panose="02040503050406030204" pitchFamily="18" charset="0"/>
                                <a:ea typeface="微软雅黑" panose="020B0503020204020204" pitchFamily="34" charset="-122"/>
                              </a:rPr>
                              <m:t>0</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sub>
                        </m:sSub>
                      </m:e>
                    </m:d>
                  </m:oMath>
                </a14:m>
                <a:r>
                  <a:rPr lang="zh-CN" altLang="en-US" dirty="0" smtClean="0">
                    <a:latin typeface="微软雅黑" panose="020B0503020204020204" pitchFamily="34" charset="-122"/>
                    <a:ea typeface="微软雅黑" panose="020B0503020204020204" pitchFamily="34" charset="-122"/>
                  </a:rPr>
                  <a:t>，那么在对</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𝐸</m:t>
                        </m:r>
                      </m:e>
                      <m:sub>
                        <m:r>
                          <a:rPr lang="en-US" altLang="zh-CN" i="1">
                            <a:latin typeface="Cambria Math" panose="02040503050406030204" pitchFamily="18" charset="0"/>
                            <a:ea typeface="微软雅黑" panose="020B0503020204020204" pitchFamily="34" charset="-122"/>
                          </a:rPr>
                          <m:t>0</m:t>
                        </m:r>
                      </m:sub>
                    </m:sSub>
                  </m:oMath>
                </a14:m>
                <a:r>
                  <a:rPr lang="zh-CN" altLang="en-US" dirty="0" smtClean="0">
                    <a:latin typeface="微软雅黑" panose="020B0503020204020204" pitchFamily="34" charset="-122"/>
                    <a:ea typeface="微软雅黑" panose="020B0503020204020204" pitchFamily="34" charset="-122"/>
                  </a:rPr>
                  <a:t>测量后，再对</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测量后，根据结果是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还是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就可以将这两个态分开</a:t>
                </a:r>
                <a:endParaRPr lang="zh-CN" altLang="en-US" dirty="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58361" y="1441938"/>
                <a:ext cx="10506807" cy="4497770"/>
              </a:xfrm>
              <a:prstGeom prst="rect">
                <a:avLst/>
              </a:prstGeom>
              <a:blipFill rotWithShape="0">
                <a:blip r:embed="rId3"/>
                <a:stretch>
                  <a:fillRect l="-464" b="-1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04184272"/>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99110" y="875750"/>
            <a:ext cx="2749471"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对易关系的进一步讨论</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p:cNvSpPr txBox="1"/>
              <p:nvPr/>
            </p:nvSpPr>
            <p:spPr>
              <a:xfrm>
                <a:off x="958362" y="1441938"/>
                <a:ext cx="11122270" cy="4795287"/>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现在从数学上来讨论这件事情</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设</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r>
                          <a:rPr lang="en-US" altLang="zh-CN" i="1" dirty="0">
                            <a:latin typeface="Cambria Math" panose="02040503050406030204" pitchFamily="18" charset="0"/>
                            <a:ea typeface="微软雅黑" panose="020B0503020204020204" pitchFamily="34" charset="-122"/>
                          </a:rPr>
                          <m:t>𝜓</m:t>
                        </m:r>
                      </m:e>
                    </m:d>
                  </m:oMath>
                </a14:m>
                <a:r>
                  <a:rPr lang="zh-CN" altLang="en-US" dirty="0" smtClean="0">
                    <a:latin typeface="微软雅黑" panose="020B0503020204020204" pitchFamily="34" charset="-122"/>
                    <a:ea typeface="微软雅黑" panose="020B0503020204020204" pitchFamily="34" charset="-122"/>
                  </a:rPr>
                  <a:t>是</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的一个本征态，本征值为</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𝜓</m:t>
                          </m:r>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𝑎</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𝜓</m:t>
                      </m:r>
                      <m:r>
                        <a:rPr lang="en-US" altLang="zh-CN" b="0" i="1"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下面来考察</a:t>
                </a:r>
                <a14:m>
                  <m:oMath xmlns:m="http://schemas.openxmlformats.org/officeDocument/2006/math">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𝐻</m:t>
                        </m:r>
                      </m:e>
                    </m:acc>
                    <m:d>
                      <m:dPr>
                        <m:begChr m:val="|"/>
                        <m:endChr m:val="⟩"/>
                        <m:ctrlPr>
                          <a:rPr lang="en-US" altLang="zh-CN" i="1" dirty="0">
                            <a:latin typeface="Cambria Math" panose="02040503050406030204" pitchFamily="18" charset="0"/>
                            <a:ea typeface="微软雅黑" panose="020B0503020204020204" pitchFamily="34" charset="-122"/>
                          </a:rPr>
                        </m:ctrlPr>
                      </m:dPr>
                      <m:e>
                        <m:r>
                          <a:rPr lang="en-US" altLang="zh-CN" i="1" dirty="0">
                            <a:latin typeface="Cambria Math" panose="02040503050406030204" pitchFamily="18" charset="0"/>
                            <a:ea typeface="微软雅黑" panose="020B0503020204020204" pitchFamily="34" charset="-122"/>
                          </a:rPr>
                          <m:t>𝜓</m:t>
                        </m:r>
                      </m:e>
                    </m:d>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d>
                        <m:dPr>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𝜓</m:t>
                              </m:r>
                            </m:e>
                          </m:d>
                        </m:e>
                      </m:d>
                      <m:r>
                        <a:rPr lang="en-US" altLang="zh-CN" b="0" i="1" smtClean="0">
                          <a:latin typeface="Cambria Math" panose="02040503050406030204" pitchFamily="18" charset="0"/>
                          <a:ea typeface="微软雅黑" panose="020B0503020204020204" pitchFamily="34" charset="-122"/>
                        </a:rPr>
                        <m:t>=</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𝐻</m:t>
                          </m:r>
                        </m:e>
                      </m:acc>
                      <m:d>
                        <m:dPr>
                          <m:begChr m:val="|"/>
                          <m:endChr m:val="⟩"/>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𝜓</m:t>
                          </m:r>
                        </m:e>
                      </m:d>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𝐻</m:t>
                          </m:r>
                        </m:e>
                      </m:acc>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d>
                        <m:dPr>
                          <m:begChr m:val="|"/>
                          <m:endChr m:val="⟩"/>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𝜓</m:t>
                          </m:r>
                        </m:e>
                      </m:d>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𝑎</m:t>
                      </m:r>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𝐻</m:t>
                          </m:r>
                        </m:e>
                      </m:acc>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𝜓</m:t>
                      </m:r>
                      <m:r>
                        <a:rPr lang="en-US" altLang="zh-CN" b="0" i="1" dirty="0"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即</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𝜓</m:t>
                        </m:r>
                      </m:e>
                    </m:d>
                  </m:oMath>
                </a14:m>
                <a:r>
                  <a:rPr lang="zh-CN" altLang="en-US" dirty="0" smtClean="0">
                    <a:latin typeface="微软雅黑" panose="020B0503020204020204" pitchFamily="34" charset="-122"/>
                    <a:ea typeface="微软雅黑" panose="020B0503020204020204" pitchFamily="34" charset="-122"/>
                  </a:rPr>
                  <a:t>也是</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a:t>
                </a:r>
                <a:r>
                  <a:rPr lang="zh-CN" altLang="en-US" dirty="0">
                    <a:latin typeface="微软雅黑" panose="020B0503020204020204" pitchFamily="34" charset="-122"/>
                    <a:ea typeface="微软雅黑" panose="020B0503020204020204" pitchFamily="34" charset="-122"/>
                  </a:rPr>
                  <a:t>本征值为</a:t>
                </a:r>
                <a14:m>
                  <m:oMath xmlns:m="http://schemas.openxmlformats.org/officeDocument/2006/math">
                    <m:r>
                      <a:rPr lang="en-US" altLang="zh-CN" i="1">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的本征态</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对于</a:t>
                </a:r>
                <a14:m>
                  <m:oMath xmlns:m="http://schemas.openxmlformats.org/officeDocument/2006/math">
                    <m:r>
                      <a:rPr lang="en-US" altLang="zh-CN" i="1">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也分两种情况讨论：</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latin typeface="微软雅黑" panose="020B0503020204020204" pitchFamily="34" charset="-122"/>
                    <a:ea typeface="微软雅黑" panose="020B0503020204020204" pitchFamily="34" charset="-122"/>
                  </a:rPr>
                  <a:t>1. </a:t>
                </a:r>
                <a14:m>
                  <m:oMath xmlns:m="http://schemas.openxmlformats.org/officeDocument/2006/math">
                    <m:r>
                      <a:rPr lang="en-US" altLang="zh-CN" i="1">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没有简并的本征态，那么</a:t>
                </a:r>
                <a14:m>
                  <m:oMath xmlns:m="http://schemas.openxmlformats.org/officeDocument/2006/math">
                    <m:r>
                      <a:rPr lang="en-US" altLang="zh-CN" i="1">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的本征子空间里只有一个基</a:t>
                </a:r>
                <a14:m>
                  <m:oMath xmlns:m="http://schemas.openxmlformats.org/officeDocument/2006/math">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𝜓</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（本征子空间间数学部分）</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此时</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𝜓</m:t>
                        </m:r>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𝑘</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𝜓</m:t>
                    </m:r>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，即</a:t>
                </a:r>
                <a14:m>
                  <m:oMath xmlns:m="http://schemas.openxmlformats.org/officeDocument/2006/math">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𝜓</m:t>
                    </m:r>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本身就是</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oMath>
                </a14:m>
                <a:r>
                  <a:rPr lang="zh-CN" altLang="en-US" dirty="0" smtClean="0">
                    <a:latin typeface="微软雅黑" panose="020B0503020204020204" pitchFamily="34" charset="-122"/>
                    <a:ea typeface="微软雅黑" panose="020B0503020204020204" pitchFamily="34" charset="-122"/>
                  </a:rPr>
                  <a:t>的某个本征态。这是最理想的，直接通过</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a:latin typeface="微软雅黑" panose="020B0503020204020204" pitchFamily="34" charset="-122"/>
                    <a:ea typeface="微软雅黑" panose="020B0503020204020204" pitchFamily="34" charset="-122"/>
                  </a:rPr>
                  <a:t>的</a:t>
                </a:r>
                <a:r>
                  <a:rPr lang="zh-CN" altLang="en-US" dirty="0" smtClean="0">
                    <a:latin typeface="微软雅黑" panose="020B0503020204020204" pitchFamily="34" charset="-122"/>
                    <a:ea typeface="微软雅黑" panose="020B0503020204020204" pitchFamily="34" charset="-122"/>
                  </a:rPr>
                  <a:t>本征值就确定了</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r>
                      <a:rPr lang="zh-CN" altLang="en-US" i="1">
                        <a:latin typeface="Cambria Math" panose="02040503050406030204" pitchFamily="18" charset="0"/>
                        <a:ea typeface="微软雅黑" panose="020B0503020204020204" pitchFamily="34" charset="-122"/>
                      </a:rPr>
                      <m:t>的</m:t>
                    </m:r>
                  </m:oMath>
                </a14:m>
                <a:r>
                  <a:rPr lang="zh-CN" altLang="en-US" dirty="0" smtClean="0">
                    <a:latin typeface="微软雅黑" panose="020B0503020204020204" pitchFamily="34" charset="-122"/>
                    <a:ea typeface="微软雅黑" panose="020B0503020204020204" pitchFamily="34" charset="-122"/>
                  </a:rPr>
                  <a:t>本征态</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latin typeface="微软雅黑" panose="020B0503020204020204" pitchFamily="34" charset="-122"/>
                    <a:ea typeface="微软雅黑" panose="020B0503020204020204" pitchFamily="34" charset="-122"/>
                  </a:rPr>
                  <a:t>2. </a:t>
                </a:r>
                <a14:m>
                  <m:oMath xmlns:m="http://schemas.openxmlformats.org/officeDocument/2006/math">
                    <m:r>
                      <a:rPr lang="en-US" altLang="zh-CN" i="1">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存在简并，例如有</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个正交归一简并态</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1</m:t>
                            </m:r>
                          </m:sub>
                        </m:sSub>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𝑠</m:t>
                        </m:r>
                      </m:sub>
                    </m:sSub>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那么</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𝜓</m:t>
                        </m:r>
                      </m:e>
                    </m:d>
                  </m:oMath>
                </a14:m>
                <a:r>
                  <a:rPr lang="zh-CN" altLang="en-US" dirty="0" smtClean="0">
                    <a:latin typeface="微软雅黑" panose="020B0503020204020204" pitchFamily="34" charset="-122"/>
                    <a:ea typeface="微软雅黑" panose="020B0503020204020204" pitchFamily="34" charset="-122"/>
                  </a:rPr>
                  <a:t>将落在</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张成的本征子空间里，即</a:t>
                </a:r>
                <a14:m>
                  <m:oMath xmlns:m="http://schemas.openxmlformats.org/officeDocument/2006/math">
                    <m:acc>
                      <m:accPr>
                        <m:chr m:val="̂"/>
                        <m:ctrlPr>
                          <a:rPr lang="en-US" altLang="zh-CN" i="1" smtClean="0">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𝜓</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1</m:t>
                        </m:r>
                      </m:sub>
                    </m:sSub>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1</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2</m:t>
                        </m:r>
                      </m:sub>
                    </m:sSub>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𝑠</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𝑠</m:t>
                        </m:r>
                      </m:sub>
                    </m:sSub>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，此时想再找到</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oMath>
                </a14:m>
                <a:r>
                  <a:rPr lang="zh-CN" altLang="en-US" dirty="0" smtClean="0">
                    <a:latin typeface="微软雅黑" panose="020B0503020204020204" pitchFamily="34" charset="-122"/>
                    <a:ea typeface="微软雅黑" panose="020B0503020204020204" pitchFamily="34" charset="-122"/>
                  </a:rPr>
                  <a:t>的</a:t>
                </a:r>
                <a14:m>
                  <m:oMath xmlns:m="http://schemas.openxmlformats.org/officeDocument/2006/math">
                    <m:r>
                      <a:rPr lang="en-US" altLang="zh-CN" i="1">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个本征态就要</a:t>
                </a:r>
                <a:r>
                  <a:rPr lang="zh-CN" altLang="en-US" dirty="0" smtClean="0">
                    <a:solidFill>
                      <a:srgbClr val="FF0000"/>
                    </a:solidFill>
                    <a:latin typeface="微软雅黑" panose="020B0503020204020204" pitchFamily="34" charset="-122"/>
                    <a:ea typeface="微软雅黑" panose="020B0503020204020204" pitchFamily="34" charset="-122"/>
                  </a:rPr>
                  <a:t>再做对角化</a:t>
                </a:r>
                <a:endParaRPr lang="en-US" altLang="zh-CN"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58362" y="1441938"/>
                <a:ext cx="11122270" cy="4795287"/>
              </a:xfrm>
              <a:prstGeom prst="rect">
                <a:avLst/>
              </a:prstGeom>
              <a:blipFill rotWithShape="0">
                <a:blip r:embed="rId3"/>
                <a:stretch>
                  <a:fillRect l="-438" b="-3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797574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99110" y="875750"/>
            <a:ext cx="2749471"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对易关系的进一步讨论</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p:cNvSpPr txBox="1"/>
              <p:nvPr/>
            </p:nvSpPr>
            <p:spPr>
              <a:xfrm>
                <a:off x="499110" y="1672038"/>
                <a:ext cx="11122270" cy="4506618"/>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从基变换的角度上看，在</a:t>
                </a:r>
                <a14:m>
                  <m:oMath xmlns:m="http://schemas.openxmlformats.org/officeDocument/2006/math">
                    <m:r>
                      <a:rPr lang="en-US" altLang="zh-CN" i="1">
                        <a:latin typeface="Cambria Math" panose="02040503050406030204" pitchFamily="18" charset="0"/>
                        <a:ea typeface="微软雅黑" panose="020B0503020204020204" pitchFamily="34" charset="-122"/>
                      </a:rPr>
                      <m:t>𝑎</m:t>
                    </m:r>
                  </m:oMath>
                </a14:m>
                <a:r>
                  <a:rPr lang="zh-CN" altLang="en-US" dirty="0" smtClean="0">
                    <a:latin typeface="微软雅黑" panose="020B0503020204020204" pitchFamily="34" charset="-122"/>
                    <a:ea typeface="微软雅黑" panose="020B0503020204020204" pitchFamily="34" charset="-122"/>
                  </a:rPr>
                  <a:t>的本征子空间满足</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𝐼</m:t>
                          </m:r>
                        </m:e>
                      </m:acc>
                      <m:r>
                        <a:rPr lang="en-US" altLang="zh-CN" b="0" i="1" dirty="0" smtClean="0">
                          <a:latin typeface="Cambria Math" panose="02040503050406030204" pitchFamily="18" charset="0"/>
                          <a:ea typeface="微软雅黑" panose="020B0503020204020204" pitchFamily="34" charset="-122"/>
                        </a:rPr>
                        <m:t>=</m:t>
                      </m:r>
                      <m:nary>
                        <m:naryPr>
                          <m:chr m:val="∑"/>
                          <m:ctrlPr>
                            <a:rPr lang="en-US" altLang="zh-CN" b="0" i="1" dirty="0" smtClean="0">
                              <a:latin typeface="Cambria Math" panose="02040503050406030204" pitchFamily="18" charset="0"/>
                              <a:ea typeface="微软雅黑" panose="020B0503020204020204" pitchFamily="34" charset="-122"/>
                            </a:rPr>
                          </m:ctrlPr>
                        </m:naryPr>
                        <m:sub>
                          <m:r>
                            <a:rPr lang="en-US" altLang="zh-CN" b="0" i="1" dirty="0" smtClean="0">
                              <a:latin typeface="Cambria Math" panose="02040503050406030204" pitchFamily="18" charset="0"/>
                              <a:ea typeface="微软雅黑" panose="020B0503020204020204" pitchFamily="34" charset="-122"/>
                            </a:rPr>
                            <m:t>𝑖</m:t>
                          </m:r>
                          <m:r>
                            <a:rPr lang="en-US" altLang="zh-CN" b="0" i="1" dirty="0" smtClean="0">
                              <a:latin typeface="Cambria Math" panose="02040503050406030204" pitchFamily="18" charset="0"/>
                              <a:ea typeface="微软雅黑" panose="020B0503020204020204" pitchFamily="34" charset="-122"/>
                            </a:rPr>
                            <m:t>=1</m:t>
                          </m:r>
                        </m:sub>
                        <m:sup>
                          <m:r>
                            <a:rPr lang="en-US" altLang="zh-CN" b="0" i="1" dirty="0" smtClean="0">
                              <a:latin typeface="Cambria Math" panose="02040503050406030204" pitchFamily="18" charset="0"/>
                              <a:ea typeface="微软雅黑" panose="020B0503020204020204" pitchFamily="34" charset="-122"/>
                            </a:rPr>
                            <m:t>𝑠</m:t>
                          </m:r>
                        </m:sup>
                        <m:e>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𝑖</m:t>
                              </m:r>
                            </m:sub>
                          </m:sSub>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𝜓</m:t>
                              </m:r>
                            </m:e>
                            <m:sub>
                              <m:r>
                                <a:rPr lang="en-US" altLang="zh-CN" b="0" i="1" dirty="0" smtClean="0">
                                  <a:latin typeface="Cambria Math" panose="02040503050406030204" pitchFamily="18" charset="0"/>
                                  <a:ea typeface="微软雅黑" panose="020B0503020204020204" pitchFamily="34" charset="-122"/>
                                </a:rPr>
                                <m:t>𝑖</m:t>
                              </m:r>
                            </m:sub>
                          </m:sSub>
                          <m:r>
                            <a:rPr lang="en-US" altLang="zh-CN" b="0" i="1" dirty="0" smtClean="0">
                              <a:latin typeface="Cambria Math" panose="02040503050406030204" pitchFamily="18" charset="0"/>
                              <a:ea typeface="微软雅黑" panose="020B0503020204020204" pitchFamily="34" charset="-122"/>
                            </a:rPr>
                            <m:t>|</m:t>
                          </m:r>
                        </m:e>
                      </m:nary>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将其插入到</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oMath>
                </a14:m>
                <a:r>
                  <a:rPr lang="zh-CN" altLang="en-US" dirty="0" smtClean="0">
                    <a:latin typeface="微软雅黑" panose="020B0503020204020204" pitchFamily="34" charset="-122"/>
                    <a:ea typeface="微软雅黑" panose="020B0503020204020204" pitchFamily="34" charset="-122"/>
                  </a:rPr>
                  <a:t>左侧有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e>
                      </m:d>
                      <m:r>
                        <a:rPr lang="en-US" altLang="zh-CN" b="0" i="1" smtClean="0">
                          <a:latin typeface="Cambria Math" panose="02040503050406030204" pitchFamily="18" charset="0"/>
                          <a:ea typeface="微软雅黑" panose="020B0503020204020204" pitchFamily="34" charset="-122"/>
                        </a:rPr>
                        <m:t>=</m:t>
                      </m:r>
                      <m:nary>
                        <m:naryPr>
                          <m:chr m:val="∑"/>
                          <m:ctrlPr>
                            <a:rPr lang="en-US" altLang="zh-CN" b="0" i="1" smtClean="0">
                              <a:latin typeface="Cambria Math" panose="02040503050406030204" pitchFamily="18" charset="0"/>
                              <a:ea typeface="微软雅黑" panose="020B0503020204020204" pitchFamily="34" charset="-122"/>
                            </a:rPr>
                          </m:ctrlPr>
                        </m:naryPr>
                        <m:sub>
                          <m:r>
                            <m:rPr>
                              <m:brk m:alnAt="23"/>
                            </m:rP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𝑠</m:t>
                          </m:r>
                        </m:sup>
                        <m:e>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e>
                          </m:d>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r>
                            <a:rPr lang="en-US" altLang="zh-CN" b="0" i="1" smtClean="0">
                              <a:latin typeface="Cambria Math" panose="02040503050406030204" pitchFamily="18" charset="0"/>
                              <a:ea typeface="微软雅黑" panose="020B0503020204020204" pitchFamily="34" charset="-122"/>
                            </a:rPr>
                            <m:t>⟩</m:t>
                          </m:r>
                        </m:e>
                      </m:nary>
                      <m:r>
                        <a:rPr lang="en-US" altLang="zh-CN" b="0" i="1" smtClean="0">
                          <a:latin typeface="Cambria Math" panose="02040503050406030204" pitchFamily="18" charset="0"/>
                          <a:ea typeface="微软雅黑" panose="020B0503020204020204" pitchFamily="34" charset="-122"/>
                        </a:rPr>
                        <m:t>=</m:t>
                      </m:r>
                      <m:nary>
                        <m:naryPr>
                          <m:chr m:val="∑"/>
                          <m:ctrlPr>
                            <a:rPr lang="en-US" altLang="zh-CN" b="0" i="1" smtClean="0">
                              <a:latin typeface="Cambria Math" panose="02040503050406030204" pitchFamily="18" charset="0"/>
                              <a:ea typeface="微软雅黑" panose="020B0503020204020204" pitchFamily="34" charset="-122"/>
                            </a:rPr>
                          </m:ctrlPr>
                        </m:naryPr>
                        <m:sub>
                          <m:r>
                            <m:rPr>
                              <m:brk m:alnAt="23"/>
                            </m:rP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𝑠</m:t>
                          </m:r>
                        </m:sup>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𝑗𝑖</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r>
                            <a:rPr lang="en-US" altLang="zh-CN" b="0" i="1" smtClean="0">
                              <a:latin typeface="Cambria Math" panose="02040503050406030204" pitchFamily="18" charset="0"/>
                              <a:ea typeface="微软雅黑" panose="020B0503020204020204" pitchFamily="34" charset="-122"/>
                            </a:rPr>
                            <m:t>⟩</m:t>
                          </m:r>
                        </m:e>
                      </m:nary>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将</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排成行向量有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r>
                        <a:rPr lang="en-US" altLang="zh-CN" b="0" i="0"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1</m:t>
                              </m:r>
                            </m:sub>
                          </m:sSub>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r>
                        <a:rPr lang="en-US" altLang="zh-CN" i="1" smtClean="0">
                          <a:latin typeface="Cambria Math" panose="02040503050406030204" pitchFamily="18" charset="0"/>
                          <a:ea typeface="微软雅黑" panose="020B0503020204020204" pitchFamily="34" charset="-122"/>
                        </a:rPr>
                        <m:t> </m:t>
                      </m:r>
                      <m:sSub>
                        <m:sSubPr>
                          <m:ctrlPr>
                            <a:rPr lang="en-US" altLang="zh-CN" i="1" smtClean="0">
                              <a:latin typeface="Cambria Math" panose="02040503050406030204" pitchFamily="18" charset="0"/>
                              <a:ea typeface="微软雅黑" panose="020B0503020204020204" pitchFamily="34" charset="-122"/>
                            </a:rPr>
                          </m:ctrlPr>
                        </m:sSubPr>
                        <m:e>
                          <m:d>
                            <m:dPr>
                              <m:ctrlPr>
                                <a:rPr lang="en-US" altLang="zh-CN" i="1">
                                  <a:latin typeface="Cambria Math" panose="02040503050406030204" pitchFamily="18" charset="0"/>
                                  <a:ea typeface="微软雅黑" panose="020B0503020204020204" pitchFamily="34" charset="-122"/>
                                </a:rPr>
                              </m:ctrlPr>
                            </m:dPr>
                            <m:e>
                              <m:m>
                                <m:mPr>
                                  <m:mcs>
                                    <m:mc>
                                      <m:mcPr>
                                        <m:count m:val="4"/>
                                        <m:mcJc m:val="center"/>
                                      </m:mcPr>
                                    </m:mc>
                                  </m:mcs>
                                  <m:ctrlPr>
                                    <a:rPr lang="en-US" altLang="zh-CN" i="1">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𝐻</m:t>
                                        </m:r>
                                      </m:e>
                                      <m:sub>
                                        <m:r>
                                          <m:rPr>
                                            <m:brk m:alnAt="7"/>
                                          </m:rPr>
                                          <a:rPr lang="en-US" altLang="zh-CN" i="1">
                                            <a:latin typeface="Cambria Math" panose="02040503050406030204" pitchFamily="18" charset="0"/>
                                            <a:ea typeface="微软雅黑" panose="020B0503020204020204" pitchFamily="34" charset="-122"/>
                                          </a:rPr>
                                          <m:t>1</m:t>
                                        </m:r>
                                        <m:r>
                                          <a:rPr lang="en-US" altLang="zh-CN" i="1">
                                            <a:latin typeface="Cambria Math" panose="02040503050406030204" pitchFamily="18" charset="0"/>
                                            <a:ea typeface="微软雅黑" panose="020B0503020204020204" pitchFamily="34" charset="-122"/>
                                          </a:rPr>
                                          <m:t>1</m:t>
                                        </m:r>
                                      </m:sub>
                                    </m:sSub>
                                  </m:e>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12</m:t>
                                        </m:r>
                                      </m:sub>
                                    </m:sSub>
                                  </m:e>
                                  <m:e>
                                    <m:r>
                                      <a:rPr lang="en-US" altLang="zh-CN" i="1">
                                        <a:latin typeface="Cambria Math" panose="02040503050406030204" pitchFamily="18" charset="0"/>
                                        <a:ea typeface="微软雅黑" panose="020B0503020204020204" pitchFamily="34" charset="-122"/>
                                      </a:rPr>
                                      <m:t>⋯</m:t>
                                    </m:r>
                                  </m:e>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r>
                                          <a:rPr lang="en-US" altLang="zh-CN" i="1">
                                            <a:latin typeface="Cambria Math" panose="02040503050406030204" pitchFamily="18" charset="0"/>
                                            <a:ea typeface="微软雅黑" panose="020B0503020204020204" pitchFamily="34" charset="-122"/>
                                          </a:rPr>
                                          <m:t>𝑠</m:t>
                                        </m:r>
                                      </m:sub>
                                    </m:sSub>
                                  </m:e>
                                </m:mr>
                                <m:m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21</m:t>
                                        </m:r>
                                      </m:sub>
                                    </m:sSub>
                                  </m:e>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22</m:t>
                                        </m:r>
                                      </m:sub>
                                    </m:sSub>
                                  </m:e>
                                  <m:e>
                                    <m:r>
                                      <a:rPr lang="en-US" altLang="zh-CN" i="1">
                                        <a:latin typeface="Cambria Math" panose="02040503050406030204" pitchFamily="18" charset="0"/>
                                        <a:ea typeface="微软雅黑" panose="020B0503020204020204" pitchFamily="34" charset="-122"/>
                                      </a:rPr>
                                      <m:t>⋯</m:t>
                                    </m:r>
                                  </m:e>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𝑠</m:t>
                                        </m:r>
                                      </m:sub>
                                    </m:sSub>
                                  </m:e>
                                </m:mr>
                                <m:mr>
                                  <m:e>
                                    <m:r>
                                      <a:rPr lang="en-US" altLang="zh-CN" i="1">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m:t>
                                    </m:r>
                                  </m:e>
                                </m:mr>
                                <m:m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1</m:t>
                                        </m:r>
                                      </m:sub>
                                    </m:sSub>
                                  </m:e>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2</m:t>
                                        </m:r>
                                      </m:sub>
                                    </m:sSub>
                                  </m:e>
                                  <m:e>
                                    <m:r>
                                      <a:rPr lang="en-US" altLang="zh-CN" i="1">
                                        <a:latin typeface="Cambria Math" panose="02040503050406030204" pitchFamily="18" charset="0"/>
                                        <a:ea typeface="微软雅黑" panose="020B0503020204020204" pitchFamily="34" charset="-122"/>
                                      </a:rPr>
                                      <m:t>⋯</m:t>
                                    </m:r>
                                  </m:e>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𝑠𝑠</m:t>
                                        </m:r>
                                      </m:sub>
                                    </m:sSub>
                                  </m:e>
                                </m:mr>
                              </m:m>
                            </m:e>
                          </m:d>
                        </m:e>
                        <m:sub>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m:t>
                          </m:r>
                        </m:sub>
                      </m:sSub>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𝑖𝑗</m:t>
                        </m:r>
                      </m:sub>
                    </m:sSub>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𝑖</m:t>
                        </m:r>
                      </m:sub>
                    </m:sSub>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𝑗</m:t>
                        </m:r>
                      </m:sub>
                    </m:sSub>
                    <m:r>
                      <a:rPr lang="en-US" altLang="zh-CN" i="1">
                        <a:latin typeface="Cambria Math" panose="02040503050406030204" pitchFamily="18" charset="0"/>
                        <a:ea typeface="微软雅黑" panose="020B0503020204020204" pitchFamily="34" charset="-122"/>
                      </a:rPr>
                      <m:t>⟩</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对这个矩阵对角化后，可以得到</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oMath>
                </a14:m>
                <a:r>
                  <a:rPr lang="zh-CN" altLang="en-US" dirty="0" smtClean="0">
                    <a:latin typeface="微软雅黑" panose="020B0503020204020204" pitchFamily="34" charset="-122"/>
                    <a:ea typeface="微软雅黑" panose="020B0503020204020204" pitchFamily="34" charset="-122"/>
                  </a:rPr>
                  <a:t>的个</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本征</a:t>
                </a:r>
                <a:r>
                  <a:rPr lang="zh-CN" altLang="en-US" dirty="0">
                    <a:latin typeface="微软雅黑" panose="020B0503020204020204" pitchFamily="34" charset="-122"/>
                    <a:ea typeface="微软雅黑" panose="020B0503020204020204" pitchFamily="34" charset="-122"/>
                  </a:rPr>
                  <a:t>态</a:t>
                </a:r>
                <a:endParaRPr lang="en-US" altLang="zh-CN" dirty="0">
                  <a:latin typeface="微软雅黑" panose="020B0503020204020204" pitchFamily="34" charset="-122"/>
                  <a:ea typeface="微软雅黑"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99110" y="1672038"/>
                <a:ext cx="11122270" cy="4506618"/>
              </a:xfrm>
              <a:prstGeom prst="rect">
                <a:avLst/>
              </a:prstGeom>
              <a:blipFill rotWithShape="0">
                <a:blip r:embed="rId3"/>
                <a:stretch>
                  <a:fillRect l="-493" t="-6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490139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99110" y="875750"/>
            <a:ext cx="2749471"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对易关系的进一步讨论</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701040" y="1450731"/>
                <a:ext cx="11168576" cy="5307543"/>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现在讨论最一般的情况：与</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oMath>
                </a14:m>
                <a:r>
                  <a:rPr lang="zh-CN" altLang="en-US" dirty="0" smtClean="0">
                    <a:latin typeface="微软雅黑" panose="020B0503020204020204" pitchFamily="34" charset="-122"/>
                    <a:ea typeface="微软雅黑" panose="020B0503020204020204" pitchFamily="34" charset="-122"/>
                  </a:rPr>
                  <a:t>对易的算符</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有</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rPr>
                      <m:t>𝑟</m:t>
                    </m:r>
                  </m:oMath>
                </a14:m>
                <a:r>
                  <a:rPr lang="zh-CN" altLang="en-US" dirty="0" smtClean="0">
                    <a:latin typeface="微软雅黑" panose="020B0503020204020204" pitchFamily="34" charset="-122"/>
                    <a:ea typeface="微软雅黑" panose="020B0503020204020204" pitchFamily="34" charset="-122"/>
                  </a:rPr>
                  <a:t>个本征值</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𝑟</m:t>
                        </m:r>
                      </m:sub>
                    </m:sSub>
                  </m:oMath>
                </a14:m>
                <a:r>
                  <a:rPr lang="zh-CN" altLang="en-US" dirty="0" smtClean="0">
                    <a:latin typeface="微软雅黑" panose="020B0503020204020204" pitchFamily="34" charset="-122"/>
                    <a:ea typeface="微软雅黑" panose="020B0503020204020204" pitchFamily="34" charset="-122"/>
                  </a:rPr>
                  <a:t>，对于本征值</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Sub>
                  </m:oMath>
                </a14:m>
                <a:r>
                  <a:rPr lang="zh-CN" altLang="en-US" dirty="0" smtClean="0">
                    <a:latin typeface="微软雅黑" panose="020B0503020204020204" pitchFamily="34" charset="-122"/>
                    <a:ea typeface="微软雅黑" panose="020B0503020204020204" pitchFamily="34" charset="-122"/>
                  </a:rPr>
                  <a:t>，其简并度为</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𝑖</m:t>
                        </m:r>
                      </m:sub>
                    </m:sSub>
                  </m:oMath>
                </a14:m>
                <a:r>
                  <a:rPr lang="zh-CN" altLang="en-US" dirty="0" smtClean="0">
                    <a:latin typeface="微软雅黑" panose="020B0503020204020204" pitchFamily="34" charset="-122"/>
                    <a:ea typeface="微软雅黑" panose="020B0503020204020204" pitchFamily="34" charset="-122"/>
                  </a:rPr>
                  <a:t>，即有</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𝑖</m:t>
                        </m:r>
                      </m:sub>
                    </m:sSub>
                  </m:oMath>
                </a14:m>
                <a:r>
                  <a:rPr lang="zh-CN" altLang="en-US" dirty="0" smtClean="0">
                    <a:latin typeface="微软雅黑" panose="020B0503020204020204" pitchFamily="34" charset="-122"/>
                    <a:ea typeface="微软雅黑" panose="020B0503020204020204" pitchFamily="34" charset="-122"/>
                  </a:rPr>
                  <a:t>个</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正交本征矢</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up>
                            <m:r>
                              <a:rPr lang="en-US" altLang="zh-CN" b="0" i="1" smtClean="0">
                                <a:latin typeface="Cambria Math" panose="02040503050406030204" pitchFamily="18" charset="0"/>
                                <a:ea typeface="微软雅黑" panose="020B0503020204020204" pitchFamily="34" charset="-122"/>
                              </a:rPr>
                              <m:t>1</m:t>
                            </m:r>
                          </m:sup>
                        </m:sSubSup>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up>
                            <m:r>
                              <a:rPr lang="en-US" altLang="zh-CN" b="0" i="1" smtClean="0">
                                <a:latin typeface="Cambria Math" panose="02040503050406030204" pitchFamily="18" charset="0"/>
                                <a:ea typeface="微软雅黑" panose="020B0503020204020204" pitchFamily="34" charset="-122"/>
                              </a:rPr>
                              <m:t>2</m:t>
                            </m:r>
                          </m:sup>
                        </m:sSubSup>
                      </m:e>
                    </m:d>
                    <m:r>
                      <a:rPr lang="en-US" altLang="zh-CN" b="0" i="1" smtClean="0">
                        <a:latin typeface="Cambria Math" panose="02040503050406030204" pitchFamily="18" charset="0"/>
                        <a:ea typeface="微软雅黑" panose="020B0503020204020204" pitchFamily="34" charset="-122"/>
                      </a:rPr>
                      <m:t>,…,|</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𝑖</m:t>
                        </m:r>
                      </m:sub>
                      <m: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𝑖</m:t>
                            </m:r>
                          </m:sub>
                        </m:sSub>
                      </m:sup>
                    </m:sSubSup>
                    <m:r>
                      <a:rPr lang="en-US" altLang="zh-CN" b="0" i="1" smtClean="0">
                        <a:latin typeface="Cambria Math" panose="02040503050406030204" pitchFamily="18" charset="0"/>
                        <a:ea typeface="微软雅黑" panose="020B0503020204020204" pitchFamily="34" charset="-122"/>
                      </a:rPr>
                      <m:t>⟩</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这些本征矢拼成整个</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的正交本征矢：</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1</m:t>
                            </m:r>
                          </m:sup>
                        </m:sSubSup>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sub>
                          <m: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1</m:t>
                                </m:r>
                              </m:sub>
                            </m:sSub>
                          </m:sup>
                        </m:sSubSup>
                      </m:e>
                    </m:d>
                    <m:r>
                      <a:rPr lang="en-US" altLang="zh-CN" b="0" i="1" smtClean="0">
                        <a:latin typeface="Cambria Math" panose="02040503050406030204" pitchFamily="18" charset="0"/>
                        <a:ea typeface="微软雅黑" panose="020B0503020204020204" pitchFamily="34" charset="-122"/>
                      </a:rPr>
                      <m:t>, …, </m:t>
                    </m:r>
                    <m:d>
                      <m:dPr>
                        <m:begChr m:val="|"/>
                        <m:end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𝑟</m:t>
                            </m:r>
                          </m:sub>
                          <m:sup>
                            <m:r>
                              <a:rPr lang="en-US" altLang="zh-CN" b="0" i="1" smtClean="0">
                                <a:latin typeface="Cambria Math" panose="02040503050406030204" pitchFamily="18" charset="0"/>
                                <a:ea typeface="微软雅黑" panose="020B0503020204020204" pitchFamily="34" charset="-122"/>
                              </a:rPr>
                              <m:t>1</m:t>
                            </m:r>
                          </m:sup>
                        </m:sSubSup>
                      </m:e>
                    </m:d>
                    <m:r>
                      <a:rPr lang="en-US" altLang="zh-CN" b="0" i="1" smtClean="0">
                        <a:latin typeface="Cambria Math" panose="02040503050406030204" pitchFamily="18" charset="0"/>
                        <a:ea typeface="微软雅黑" panose="020B0503020204020204" pitchFamily="34" charset="-122"/>
                      </a:rPr>
                      <m:t>,…,|</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𝑟</m:t>
                        </m:r>
                      </m:sub>
                      <m: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𝑟</m:t>
                            </m:r>
                          </m:sub>
                        </m:sSub>
                      </m:sup>
                    </m:sSubSup>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，共</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𝑟</m:t>
                        </m:r>
                      </m:sub>
                    </m:sSub>
                  </m:oMath>
                </a14:m>
                <a:r>
                  <a:rPr lang="zh-CN" altLang="en-US" dirty="0" smtClean="0">
                    <a:latin typeface="微软雅黑" panose="020B0503020204020204" pitchFamily="34" charset="-122"/>
                    <a:ea typeface="微软雅黑" panose="020B0503020204020204" pitchFamily="34" charset="-122"/>
                  </a:rPr>
                  <a:t>个</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将它们排成行向量，有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1</m:t>
                              </m:r>
                            </m:sup>
                          </m:sSubSup>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1</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1</m:t>
                                  </m:r>
                                </m:sub>
                              </m:sSub>
                            </m:sup>
                          </m:sSubSup>
                        </m:e>
                      </m:d>
                      <m:r>
                        <a:rPr lang="en-US" altLang="zh-CN" i="1">
                          <a:latin typeface="Cambria Math" panose="02040503050406030204" pitchFamily="18" charset="0"/>
                          <a:ea typeface="微软雅黑" panose="020B0503020204020204" pitchFamily="34" charset="-122"/>
                        </a:rPr>
                        <m:t>, …, </m:t>
                      </m:r>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𝑟</m:t>
                              </m:r>
                            </m:sub>
                            <m:sup>
                              <m:r>
                                <a:rPr lang="en-US" altLang="zh-CN" i="1">
                                  <a:latin typeface="Cambria Math" panose="02040503050406030204" pitchFamily="18" charset="0"/>
                                  <a:ea typeface="微软雅黑" panose="020B0503020204020204" pitchFamily="34" charset="-122"/>
                                </a:rPr>
                                <m:t>1</m:t>
                              </m:r>
                            </m:sup>
                          </m:sSubSup>
                        </m:e>
                      </m:d>
                      <m:r>
                        <a:rPr lang="en-US" altLang="zh-CN" i="1">
                          <a:latin typeface="Cambria Math" panose="02040503050406030204" pitchFamily="18" charset="0"/>
                          <a:ea typeface="微软雅黑" panose="020B0503020204020204" pitchFamily="34" charset="-122"/>
                        </a:rPr>
                        <m:t>,…,|</m:t>
                      </m:r>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𝑟</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𝑟</m:t>
                              </m:r>
                            </m:sub>
                          </m:sSub>
                        </m:sup>
                      </m:sSubSup>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1</m:t>
                              </m:r>
                            </m:sup>
                          </m:sSubSup>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1</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1</m:t>
                                  </m:r>
                                </m:sub>
                              </m:sSub>
                            </m:sup>
                          </m:sSubSup>
                        </m:e>
                      </m:d>
                      <m:r>
                        <a:rPr lang="en-US" altLang="zh-CN" i="1">
                          <a:latin typeface="Cambria Math" panose="02040503050406030204" pitchFamily="18" charset="0"/>
                          <a:ea typeface="微软雅黑" panose="020B0503020204020204" pitchFamily="34" charset="-122"/>
                        </a:rPr>
                        <m:t>, …, </m:t>
                      </m:r>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𝑟</m:t>
                              </m:r>
                            </m:sub>
                            <m:sup>
                              <m:r>
                                <a:rPr lang="en-US" altLang="zh-CN" i="1">
                                  <a:latin typeface="Cambria Math" panose="02040503050406030204" pitchFamily="18" charset="0"/>
                                  <a:ea typeface="微软雅黑" panose="020B0503020204020204" pitchFamily="34" charset="-122"/>
                                </a:rPr>
                                <m:t>1</m:t>
                              </m:r>
                            </m:sup>
                          </m:sSubSup>
                        </m:e>
                      </m:d>
                      <m:r>
                        <a:rPr lang="en-US" altLang="zh-CN" i="1">
                          <a:latin typeface="Cambria Math" panose="02040503050406030204" pitchFamily="18" charset="0"/>
                          <a:ea typeface="微软雅黑" panose="020B0503020204020204" pitchFamily="34" charset="-122"/>
                        </a:rPr>
                        <m:t>,…,|</m:t>
                      </m:r>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𝑟</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𝑟</m:t>
                              </m:r>
                            </m:sub>
                          </m:sSub>
                        </m:sup>
                      </m:sSubSup>
                      <m:r>
                        <a:rPr lang="en-US" altLang="zh-CN" i="1">
                          <a:latin typeface="Cambria Math" panose="02040503050406030204" pitchFamily="18" charset="0"/>
                          <a:ea typeface="微软雅黑" panose="020B0503020204020204" pitchFamily="34" charset="-122"/>
                        </a:rPr>
                        <m:t>⟩)</m:t>
                      </m:r>
                      <m:d>
                        <m:dPr>
                          <m:ctrlPr>
                            <a:rPr lang="en-US" altLang="zh-CN" i="1" smtClean="0">
                              <a:latin typeface="Cambria Math" panose="02040503050406030204" pitchFamily="18" charset="0"/>
                              <a:ea typeface="微软雅黑" panose="020B0503020204020204" pitchFamily="34" charset="-122"/>
                            </a:rPr>
                          </m:ctrlPr>
                        </m:dPr>
                        <m:e>
                          <m:m>
                            <m:mPr>
                              <m:mcs>
                                <m:mc>
                                  <m:mcPr>
                                    <m:count m:val="4"/>
                                    <m:mcJc m:val="center"/>
                                  </m:mcPr>
                                </m:mc>
                              </m:mcs>
                              <m:ctrlPr>
                                <a:rPr lang="en-US" altLang="zh-CN" i="1" smtClean="0">
                                  <a:latin typeface="Cambria Math" panose="02040503050406030204" pitchFamily="18" charset="0"/>
                                  <a:ea typeface="微软雅黑" panose="020B0503020204020204" pitchFamily="34" charset="-122"/>
                                </a:rPr>
                              </m:ctrlPr>
                            </m:mPr>
                            <m:mr>
                              <m:e>
                                <m:sSub>
                                  <m:sSubPr>
                                    <m:ctrlPr>
                                      <a:rPr lang="en-US" altLang="zh-CN" b="1" i="1" smtClean="0">
                                        <a:latin typeface="Cambria Math" panose="02040503050406030204" pitchFamily="18" charset="0"/>
                                        <a:ea typeface="微软雅黑" panose="020B0503020204020204" pitchFamily="34" charset="-122"/>
                                      </a:rPr>
                                    </m:ctrlPr>
                                  </m:sSubPr>
                                  <m:e>
                                    <m:r>
                                      <m:rPr>
                                        <m:brk m:alnAt="7"/>
                                      </m:rPr>
                                      <a:rPr lang="en-US" altLang="zh-CN" b="1" i="0" smtClean="0">
                                        <a:latin typeface="Cambria Math" panose="02040503050406030204" pitchFamily="18" charset="0"/>
                                        <a:ea typeface="微软雅黑" panose="020B0503020204020204" pitchFamily="34" charset="-122"/>
                                      </a:rPr>
                                      <m:t>𝐇</m:t>
                                    </m:r>
                                  </m:e>
                                  <m:sub>
                                    <m:r>
                                      <m:rPr>
                                        <m:brk m:alnAt="7"/>
                                      </m:rPr>
                                      <a:rPr lang="en-US" altLang="zh-CN" b="1" i="1" smtClean="0">
                                        <a:latin typeface="Cambria Math" panose="02040503050406030204" pitchFamily="18" charset="0"/>
                                        <a:ea typeface="微软雅黑" panose="020B0503020204020204" pitchFamily="34" charset="-122"/>
                                      </a:rPr>
                                      <m:t>𝟏</m:t>
                                    </m:r>
                                  </m:sub>
                                </m:sSub>
                              </m:e>
                              <m:e>
                                <m:r>
                                  <a:rPr lang="en-US" altLang="zh-CN" b="1" i="1" smtClean="0">
                                    <a:latin typeface="Cambria Math" panose="02040503050406030204" pitchFamily="18" charset="0"/>
                                    <a:ea typeface="微软雅黑" panose="020B0503020204020204" pitchFamily="34" charset="-122"/>
                                  </a:rPr>
                                  <m:t>𝟎</m:t>
                                </m:r>
                              </m:e>
                              <m:e>
                                <m:r>
                                  <a:rPr lang="en-US" altLang="zh-CN" i="1" smtClean="0">
                                    <a:latin typeface="Cambria Math" panose="02040503050406030204" pitchFamily="18" charset="0"/>
                                    <a:ea typeface="微软雅黑" panose="020B0503020204020204" pitchFamily="34" charset="-122"/>
                                  </a:rPr>
                                  <m:t>⋯</m:t>
                                </m:r>
                              </m:e>
                              <m:e>
                                <m:r>
                                  <a:rPr lang="en-US" altLang="zh-CN" b="1" i="1" smtClean="0">
                                    <a:latin typeface="Cambria Math" panose="02040503050406030204" pitchFamily="18" charset="0"/>
                                    <a:ea typeface="微软雅黑" panose="020B0503020204020204" pitchFamily="34" charset="-122"/>
                                  </a:rPr>
                                  <m:t>𝟎</m:t>
                                </m:r>
                              </m:e>
                            </m:mr>
                            <m:mr>
                              <m:e>
                                <m:r>
                                  <a:rPr lang="en-US" altLang="zh-CN" b="1" i="1" smtClean="0">
                                    <a:latin typeface="Cambria Math" panose="02040503050406030204" pitchFamily="18" charset="0"/>
                                    <a:ea typeface="微软雅黑" panose="020B0503020204020204" pitchFamily="34" charset="-122"/>
                                  </a:rPr>
                                  <m:t>𝟎</m:t>
                                </m:r>
                              </m:e>
                              <m:e>
                                <m:sSub>
                                  <m:sSubPr>
                                    <m:ctrlPr>
                                      <a:rPr lang="en-US" altLang="zh-CN" b="1" i="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𝐇</m:t>
                                    </m:r>
                                  </m:e>
                                  <m:sub>
                                    <m:r>
                                      <a:rPr lang="en-US" altLang="zh-CN" b="1" i="0" smtClean="0">
                                        <a:latin typeface="Cambria Math" panose="02040503050406030204" pitchFamily="18" charset="0"/>
                                        <a:ea typeface="微软雅黑" panose="020B0503020204020204" pitchFamily="34" charset="-122"/>
                                      </a:rPr>
                                      <m:t>𝟐</m:t>
                                    </m:r>
                                  </m:sub>
                                </m:sSub>
                              </m:e>
                              <m:e>
                                <m:r>
                                  <a:rPr lang="en-US" altLang="zh-CN" i="1">
                                    <a:latin typeface="Cambria Math" panose="02040503050406030204" pitchFamily="18" charset="0"/>
                                    <a:ea typeface="微软雅黑" panose="020B0503020204020204" pitchFamily="34" charset="-122"/>
                                  </a:rPr>
                                  <m:t>⋯</m:t>
                                </m:r>
                              </m:e>
                              <m:e>
                                <m:r>
                                  <a:rPr lang="en-US" altLang="zh-CN" b="1" i="1" smtClean="0">
                                    <a:latin typeface="Cambria Math" panose="02040503050406030204" pitchFamily="18" charset="0"/>
                                    <a:ea typeface="微软雅黑" panose="020B0503020204020204" pitchFamily="34" charset="-122"/>
                                  </a:rPr>
                                  <m:t>𝟎</m:t>
                                </m:r>
                              </m:e>
                            </m:mr>
                            <m:mr>
                              <m:e>
                                <m:r>
                                  <a:rPr lang="en-US" altLang="zh-CN" i="1" smtClean="0">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m:t>
                                </m:r>
                              </m:e>
                              <m:e>
                                <m:r>
                                  <a:rPr lang="en-US" altLang="zh-CN" i="1" smtClean="0">
                                    <a:latin typeface="Cambria Math" panose="02040503050406030204" pitchFamily="18" charset="0"/>
                                    <a:ea typeface="微软雅黑" panose="020B0503020204020204" pitchFamily="34" charset="-122"/>
                                  </a:rPr>
                                  <m:t>⋱</m:t>
                                </m:r>
                              </m:e>
                              <m:e>
                                <m:r>
                                  <a:rPr lang="en-US" altLang="zh-CN" i="1" smtClean="0">
                                    <a:latin typeface="Cambria Math" panose="02040503050406030204" pitchFamily="18" charset="0"/>
                                    <a:ea typeface="微软雅黑" panose="020B0503020204020204" pitchFamily="34" charset="-122"/>
                                  </a:rPr>
                                  <m:t>⋮</m:t>
                                </m:r>
                              </m:e>
                            </m:mr>
                            <m:mr>
                              <m:e>
                                <m:r>
                                  <a:rPr lang="en-US" altLang="zh-CN" b="1" i="1" smtClean="0">
                                    <a:latin typeface="Cambria Math" panose="02040503050406030204" pitchFamily="18" charset="0"/>
                                    <a:ea typeface="微软雅黑" panose="020B0503020204020204" pitchFamily="34" charset="-122"/>
                                  </a:rPr>
                                  <m:t>𝟎</m:t>
                                </m:r>
                              </m:e>
                              <m:e>
                                <m:r>
                                  <a:rPr lang="en-US" altLang="zh-CN" b="1" i="1" smtClean="0">
                                    <a:latin typeface="Cambria Math" panose="02040503050406030204" pitchFamily="18" charset="0"/>
                                    <a:ea typeface="微软雅黑" panose="020B0503020204020204" pitchFamily="34" charset="-122"/>
                                  </a:rPr>
                                  <m:t>𝟎</m:t>
                                </m:r>
                              </m:e>
                              <m:e>
                                <m:r>
                                  <a:rPr lang="en-US" altLang="zh-CN" i="1" smtClean="0">
                                    <a:latin typeface="Cambria Math" panose="02040503050406030204" pitchFamily="18" charset="0"/>
                                    <a:ea typeface="微软雅黑" panose="020B0503020204020204" pitchFamily="34" charset="-122"/>
                                  </a:rPr>
                                  <m:t>⋯</m:t>
                                </m:r>
                              </m:e>
                              <m:e>
                                <m:sSub>
                                  <m:sSubPr>
                                    <m:ctrlPr>
                                      <a:rPr lang="en-US" altLang="zh-CN" b="1" i="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𝐇</m:t>
                                    </m:r>
                                  </m:e>
                                  <m:sub>
                                    <m:r>
                                      <a:rPr lang="en-US" altLang="zh-CN" b="1" i="0" smtClean="0">
                                        <a:latin typeface="Cambria Math" panose="02040503050406030204" pitchFamily="18" charset="0"/>
                                        <a:ea typeface="微软雅黑" panose="020B0503020204020204" pitchFamily="34" charset="-122"/>
                                      </a:rPr>
                                      <m:t>𝐫</m:t>
                                    </m:r>
                                  </m:sub>
                                </m:sSub>
                              </m:e>
                            </m:mr>
                          </m:m>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变换矩阵是一个分块对角矩阵，各个块表达式为</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ea typeface="微软雅黑" panose="020B0503020204020204" pitchFamily="34" charset="-122"/>
                            </a:rPr>
                          </m:ctrlPr>
                        </m:sSubPr>
                        <m:e>
                          <m:r>
                            <m:rPr>
                              <m:brk m:alnAt="7"/>
                            </m:rPr>
                            <a:rPr lang="en-US" altLang="zh-CN" b="1">
                              <a:latin typeface="Cambria Math" panose="02040503050406030204" pitchFamily="18" charset="0"/>
                              <a:ea typeface="微软雅黑" panose="020B0503020204020204" pitchFamily="34" charset="-122"/>
                            </a:rPr>
                            <m:t>𝐇</m:t>
                          </m:r>
                        </m:e>
                        <m:sub>
                          <m:r>
                            <a:rPr lang="en-US" altLang="zh-CN" b="1" i="1" smtClean="0">
                              <a:latin typeface="Cambria Math" panose="02040503050406030204" pitchFamily="18" charset="0"/>
                              <a:ea typeface="微软雅黑" panose="020B0503020204020204" pitchFamily="34" charset="-122"/>
                            </a:rPr>
                            <m:t>𝒌</m:t>
                          </m:r>
                        </m:sub>
                      </m:sSub>
                      <m:r>
                        <a:rPr lang="en-US" altLang="zh-CN" b="1" i="1" smtClean="0">
                          <a:latin typeface="Cambria Math" panose="02040503050406030204" pitchFamily="18" charset="0"/>
                          <a:ea typeface="微软雅黑" panose="020B0503020204020204" pitchFamily="34" charset="-122"/>
                        </a:rPr>
                        <m:t>=</m:t>
                      </m:r>
                      <m:sSub>
                        <m:sSubPr>
                          <m:ctrlPr>
                            <a:rPr lang="en-US" altLang="zh-CN" b="1" i="1" smtClean="0">
                              <a:latin typeface="Cambria Math" panose="02040503050406030204" pitchFamily="18" charset="0"/>
                              <a:ea typeface="微软雅黑" panose="020B0503020204020204" pitchFamily="34" charset="-122"/>
                            </a:rPr>
                          </m:ctrlPr>
                        </m:sSubPr>
                        <m:e>
                          <m:d>
                            <m:dPr>
                              <m:ctrlPr>
                                <a:rPr lang="en-US" altLang="zh-CN" i="1">
                                  <a:latin typeface="Cambria Math" panose="02040503050406030204" pitchFamily="18" charset="0"/>
                                  <a:ea typeface="微软雅黑" panose="020B0503020204020204" pitchFamily="34" charset="-122"/>
                                </a:rPr>
                              </m:ctrlPr>
                            </m:dPr>
                            <m:e>
                              <m:m>
                                <m:mPr>
                                  <m:mcs>
                                    <m:mc>
                                      <m:mcPr>
                                        <m:count m:val="4"/>
                                        <m:mcJc m:val="center"/>
                                      </m:mcPr>
                                    </m:mc>
                                  </m:mcs>
                                  <m:ctrlPr>
                                    <a:rPr lang="en-US" altLang="zh-CN" i="1">
                                      <a:latin typeface="Cambria Math" panose="02040503050406030204" pitchFamily="18" charset="0"/>
                                      <a:ea typeface="微软雅黑" panose="020B0503020204020204" pitchFamily="34" charset="-122"/>
                                    </a:rPr>
                                  </m:ctrlPr>
                                </m:mPr>
                                <m:mr>
                                  <m:e>
                                    <m:d>
                                      <m:dPr>
                                        <m:begChr m:val="⟨"/>
                                        <m:endChr m:val="⟩"/>
                                        <m:ctrlPr>
                                          <a:rPr lang="en-US" altLang="zh-CN" b="0" i="1" smtClean="0">
                                            <a:latin typeface="Cambria Math" panose="02040503050406030204" pitchFamily="18" charset="0"/>
                                            <a:ea typeface="微软雅黑" panose="020B0503020204020204" pitchFamily="34" charset="-122"/>
                                          </a:rPr>
                                        </m:ctrlPr>
                                      </m:dPr>
                                      <m:e>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𝑘</m:t>
                                            </m:r>
                                          </m:sub>
                                          <m:sup>
                                            <m:r>
                                              <a:rPr lang="en-US" altLang="zh-CN" b="0" i="1" smtClean="0">
                                                <a:latin typeface="Cambria Math" panose="02040503050406030204" pitchFamily="18" charset="0"/>
                                                <a:ea typeface="微软雅黑" panose="020B0503020204020204" pitchFamily="34" charset="-122"/>
                                              </a:rPr>
                                              <m:t>1</m:t>
                                            </m:r>
                                          </m:sup>
                                        </m:sSubSup>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e>
                                        </m:d>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𝑘</m:t>
                                            </m:r>
                                          </m:sub>
                                          <m:sup>
                                            <m:r>
                                              <a:rPr lang="en-US" altLang="zh-CN" b="0" i="1" smtClean="0">
                                                <a:latin typeface="Cambria Math" panose="02040503050406030204" pitchFamily="18" charset="0"/>
                                                <a:ea typeface="微软雅黑" panose="020B0503020204020204" pitchFamily="34" charset="-122"/>
                                              </a:rPr>
                                              <m:t>1</m:t>
                                            </m:r>
                                          </m:sup>
                                        </m:sSubSup>
                                      </m:e>
                                    </m:d>
                                  </m:e>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i="1">
                                                <a:latin typeface="Cambria Math" panose="02040503050406030204" pitchFamily="18" charset="0"/>
                                                <a:ea typeface="微软雅黑" panose="020B0503020204020204" pitchFamily="34" charset="-122"/>
                                              </a:rPr>
                                              <m:t>1</m:t>
                                            </m:r>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b="0" i="1" smtClean="0">
                                                <a:latin typeface="Cambria Math" panose="02040503050406030204" pitchFamily="18" charset="0"/>
                                                <a:ea typeface="微软雅黑" panose="020B0503020204020204" pitchFamily="34" charset="-122"/>
                                              </a:rPr>
                                              <m:t>2</m:t>
                                            </m:r>
                                          </m:sup>
                                        </m:sSubSup>
                                      </m:e>
                                    </m:d>
                                  </m:e>
                                  <m:e>
                                    <m:r>
                                      <a:rPr lang="en-US" altLang="zh-CN" b="0" i="1">
                                        <a:latin typeface="Cambria Math" panose="02040503050406030204" pitchFamily="18" charset="0"/>
                                        <a:ea typeface="微软雅黑" panose="020B0503020204020204" pitchFamily="34" charset="-122"/>
                                      </a:rPr>
                                      <m:t>⋯</m:t>
                                    </m:r>
                                  </m:e>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i="1">
                                                <a:latin typeface="Cambria Math" panose="02040503050406030204" pitchFamily="18" charset="0"/>
                                                <a:ea typeface="微软雅黑" panose="020B0503020204020204" pitchFamily="34" charset="-122"/>
                                              </a:rPr>
                                              <m:t>1</m:t>
                                            </m:r>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𝑘</m:t>
                                                </m:r>
                                              </m:sub>
                                            </m:sSub>
                                          </m:sup>
                                        </m:sSubSup>
                                      </m:e>
                                    </m:d>
                                  </m:e>
                                </m:mr>
                                <m:mr>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b="0" i="1" smtClean="0">
                                                <a:latin typeface="Cambria Math" panose="02040503050406030204" pitchFamily="18" charset="0"/>
                                                <a:ea typeface="微软雅黑" panose="020B0503020204020204" pitchFamily="34" charset="-122"/>
                                              </a:rPr>
                                              <m:t>2</m:t>
                                            </m:r>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i="1">
                                                <a:latin typeface="Cambria Math" panose="02040503050406030204" pitchFamily="18" charset="0"/>
                                                <a:ea typeface="微软雅黑" panose="020B0503020204020204" pitchFamily="34" charset="-122"/>
                                              </a:rPr>
                                              <m:t>1</m:t>
                                            </m:r>
                                          </m:sup>
                                        </m:sSubSup>
                                      </m:e>
                                    </m:d>
                                  </m:e>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i="1">
                                                <a:latin typeface="Cambria Math" panose="02040503050406030204" pitchFamily="18" charset="0"/>
                                                <a:ea typeface="微软雅黑" panose="020B0503020204020204" pitchFamily="34" charset="-122"/>
                                              </a:rPr>
                                              <m:t>2</m:t>
                                            </m:r>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b="0" i="1" smtClean="0">
                                                <a:latin typeface="Cambria Math" panose="02040503050406030204" pitchFamily="18" charset="0"/>
                                                <a:ea typeface="微软雅黑" panose="020B0503020204020204" pitchFamily="34" charset="-122"/>
                                              </a:rPr>
                                              <m:t>2</m:t>
                                            </m:r>
                                          </m:sup>
                                        </m:sSubSup>
                                      </m:e>
                                    </m:d>
                                  </m:e>
                                  <m:e>
                                    <m:r>
                                      <a:rPr lang="en-US" altLang="zh-CN" b="0" i="1">
                                        <a:latin typeface="Cambria Math" panose="02040503050406030204" pitchFamily="18" charset="0"/>
                                        <a:ea typeface="微软雅黑" panose="020B0503020204020204" pitchFamily="34" charset="-122"/>
                                      </a:rPr>
                                      <m:t>⋯</m:t>
                                    </m:r>
                                  </m:e>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b="0" i="1" smtClean="0">
                                                <a:latin typeface="Cambria Math" panose="02040503050406030204" pitchFamily="18" charset="0"/>
                                                <a:ea typeface="微软雅黑" panose="020B0503020204020204" pitchFamily="34" charset="-122"/>
                                              </a:rPr>
                                              <m:t>2</m:t>
                                            </m:r>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𝑘</m:t>
                                                </m:r>
                                              </m:sub>
                                            </m:sSub>
                                          </m:sup>
                                        </m:sSubSup>
                                      </m:e>
                                    </m:d>
                                  </m:e>
                                </m:mr>
                                <m:mr>
                                  <m:e>
                                    <m:r>
                                      <a:rPr lang="en-US" altLang="zh-CN" b="0" i="1">
                                        <a:latin typeface="Cambria Math" panose="02040503050406030204" pitchFamily="18" charset="0"/>
                                        <a:ea typeface="微软雅黑" panose="020B0503020204020204" pitchFamily="34" charset="-122"/>
                                      </a:rPr>
                                      <m:t>⋮</m:t>
                                    </m:r>
                                  </m:e>
                                  <m:e>
                                    <m:r>
                                      <a:rPr lang="en-US" altLang="zh-CN" b="0" i="1">
                                        <a:latin typeface="Cambria Math" panose="02040503050406030204" pitchFamily="18" charset="0"/>
                                        <a:ea typeface="微软雅黑" panose="020B0503020204020204" pitchFamily="34" charset="-122"/>
                                      </a:rPr>
                                      <m:t>⋮</m:t>
                                    </m:r>
                                  </m:e>
                                  <m:e>
                                    <m:r>
                                      <a:rPr lang="en-US" altLang="zh-CN" b="0" i="1">
                                        <a:latin typeface="Cambria Math" panose="02040503050406030204" pitchFamily="18" charset="0"/>
                                        <a:ea typeface="微软雅黑" panose="020B0503020204020204" pitchFamily="34" charset="-122"/>
                                      </a:rPr>
                                      <m:t>⋱</m:t>
                                    </m:r>
                                  </m:e>
                                  <m:e>
                                    <m:r>
                                      <a:rPr lang="en-US" altLang="zh-CN" b="0" i="1">
                                        <a:latin typeface="Cambria Math" panose="02040503050406030204" pitchFamily="18" charset="0"/>
                                        <a:ea typeface="微软雅黑" panose="020B0503020204020204" pitchFamily="34" charset="-122"/>
                                      </a:rPr>
                                      <m:t>⋮</m:t>
                                    </m:r>
                                  </m:e>
                                </m:mr>
                                <m:mr>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𝑘</m:t>
                                                </m:r>
                                              </m:sub>
                                            </m:sSub>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i="1">
                                                <a:latin typeface="Cambria Math" panose="02040503050406030204" pitchFamily="18" charset="0"/>
                                                <a:ea typeface="微软雅黑" panose="020B0503020204020204" pitchFamily="34" charset="-122"/>
                                              </a:rPr>
                                              <m:t>1</m:t>
                                            </m:r>
                                          </m:sup>
                                        </m:sSubSup>
                                      </m:e>
                                    </m:d>
                                  </m:e>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𝑘</m:t>
                                                </m:r>
                                              </m:sub>
                                            </m:sSub>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r>
                                              <a:rPr lang="en-US" altLang="zh-CN" b="0" i="1" smtClean="0">
                                                <a:latin typeface="Cambria Math" panose="02040503050406030204" pitchFamily="18" charset="0"/>
                                                <a:ea typeface="微软雅黑" panose="020B0503020204020204" pitchFamily="34" charset="-122"/>
                                              </a:rPr>
                                              <m:t>2</m:t>
                                            </m:r>
                                          </m:sup>
                                        </m:sSubSup>
                                      </m:e>
                                    </m:d>
                                  </m:e>
                                  <m:e>
                                    <m:r>
                                      <a:rPr lang="en-US" altLang="zh-CN" b="0" i="1">
                                        <a:latin typeface="Cambria Math" panose="02040503050406030204" pitchFamily="18" charset="0"/>
                                        <a:ea typeface="微软雅黑" panose="020B0503020204020204" pitchFamily="34" charset="-122"/>
                                      </a:rPr>
                                      <m:t>⋯</m:t>
                                    </m:r>
                                  </m:e>
                                  <m:e>
                                    <m:d>
                                      <m:dPr>
                                        <m:begChr m:val="⟨"/>
                                        <m:endChr m:val="⟩"/>
                                        <m:ctrlPr>
                                          <a:rPr lang="en-US" altLang="zh-CN" i="1">
                                            <a:latin typeface="Cambria Math" panose="02040503050406030204" pitchFamily="18" charset="0"/>
                                            <a:ea typeface="微软雅黑" panose="020B0503020204020204" pitchFamily="34" charset="-122"/>
                                          </a:rPr>
                                        </m:ctrlPr>
                                      </m:dPr>
                                      <m:e>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𝑘</m:t>
                                                </m:r>
                                              </m:sub>
                                            </m:sSub>
                                          </m:sup>
                                        </m:sSubSup>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e>
                                        </m:d>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𝑘</m:t>
                                                </m:r>
                                              </m:sub>
                                            </m:sSub>
                                          </m:sup>
                                        </m:sSubSup>
                                      </m:e>
                                    </m:d>
                                  </m:e>
                                </m:mr>
                              </m:m>
                            </m:e>
                          </m:d>
                        </m:e>
                        <m:sub>
                          <m:r>
                            <a:rPr lang="en-US" altLang="zh-CN" b="1" i="1" smtClean="0">
                              <a:latin typeface="Cambria Math" panose="02040503050406030204" pitchFamily="18" charset="0"/>
                              <a:ea typeface="微软雅黑" panose="020B0503020204020204" pitchFamily="34" charset="-122"/>
                            </a:rPr>
                            <m:t>(</m:t>
                          </m:r>
                          <m:sSub>
                            <m:sSubPr>
                              <m:ctrlPr>
                                <a:rPr lang="en-US" altLang="zh-CN" b="1" i="1" smtClean="0">
                                  <a:latin typeface="Cambria Math" panose="02040503050406030204" pitchFamily="18" charset="0"/>
                                  <a:ea typeface="微软雅黑" panose="020B0503020204020204" pitchFamily="34" charset="-122"/>
                                </a:rPr>
                              </m:ctrlPr>
                            </m:sSubPr>
                            <m:e>
                              <m:r>
                                <a:rPr lang="en-US" altLang="zh-CN" b="1" i="1" smtClean="0">
                                  <a:latin typeface="Cambria Math" panose="02040503050406030204" pitchFamily="18" charset="0"/>
                                  <a:ea typeface="微软雅黑" panose="020B0503020204020204" pitchFamily="34" charset="-122"/>
                                </a:rPr>
                                <m:t>𝒔</m:t>
                              </m:r>
                            </m:e>
                            <m:sub>
                              <m:r>
                                <a:rPr lang="en-US" altLang="zh-CN" b="1" i="1" smtClean="0">
                                  <a:latin typeface="Cambria Math" panose="02040503050406030204" pitchFamily="18" charset="0"/>
                                  <a:ea typeface="微软雅黑" panose="020B0503020204020204" pitchFamily="34" charset="-122"/>
                                </a:rPr>
                                <m:t>𝒌</m:t>
                              </m:r>
                            </m:sub>
                          </m:sSub>
                          <m:r>
                            <a:rPr lang="en-US" altLang="zh-CN" b="1" i="1" smtClean="0">
                              <a:latin typeface="Cambria Math" panose="02040503050406030204" pitchFamily="18" charset="0"/>
                              <a:ea typeface="微软雅黑" panose="020B0503020204020204" pitchFamily="34" charset="-122"/>
                            </a:rPr>
                            <m:t>×</m:t>
                          </m:r>
                          <m:sSub>
                            <m:sSubPr>
                              <m:ctrlPr>
                                <a:rPr lang="en-US" altLang="zh-CN" b="1" i="1" smtClean="0">
                                  <a:latin typeface="Cambria Math" panose="02040503050406030204" pitchFamily="18" charset="0"/>
                                  <a:ea typeface="微软雅黑" panose="020B0503020204020204" pitchFamily="34" charset="-122"/>
                                </a:rPr>
                              </m:ctrlPr>
                            </m:sSubPr>
                            <m:e>
                              <m:r>
                                <a:rPr lang="en-US" altLang="zh-CN" b="1" i="1" smtClean="0">
                                  <a:latin typeface="Cambria Math" panose="02040503050406030204" pitchFamily="18" charset="0"/>
                                  <a:ea typeface="微软雅黑" panose="020B0503020204020204" pitchFamily="34" charset="-122"/>
                                </a:rPr>
                                <m:t>𝒔</m:t>
                              </m:r>
                            </m:e>
                            <m:sub>
                              <m:r>
                                <a:rPr lang="en-US" altLang="zh-CN" b="1" i="1" smtClean="0">
                                  <a:latin typeface="Cambria Math" panose="02040503050406030204" pitchFamily="18" charset="0"/>
                                  <a:ea typeface="微软雅黑" panose="020B0503020204020204" pitchFamily="34" charset="-122"/>
                                </a:rPr>
                                <m:t>𝒌</m:t>
                              </m:r>
                            </m:sub>
                          </m:sSub>
                          <m:r>
                            <a:rPr lang="en-US" altLang="zh-CN" b="1" i="1" smtClean="0">
                              <a:latin typeface="Cambria Math" panose="02040503050406030204" pitchFamily="18" charset="0"/>
                              <a:ea typeface="微软雅黑" panose="020B0503020204020204" pitchFamily="34" charset="-122"/>
                            </a:rPr>
                            <m:t>)</m:t>
                          </m:r>
                        </m:sub>
                      </m:sSub>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每个对角块各自做对角化后可以得到</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oMath>
                </a14:m>
                <a:r>
                  <a:rPr lang="zh-CN" altLang="en-US" dirty="0">
                    <a:latin typeface="微软雅黑" panose="020B0503020204020204" pitchFamily="34" charset="-122"/>
                    <a:ea typeface="微软雅黑" panose="020B0503020204020204" pitchFamily="34" charset="-122"/>
                  </a:rPr>
                  <a:t>的</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𝑟</m:t>
                        </m:r>
                      </m:sub>
                    </m:sSub>
                  </m:oMath>
                </a14:m>
                <a:r>
                  <a:rPr lang="zh-CN" altLang="en-US" dirty="0" smtClean="0">
                    <a:latin typeface="微软雅黑" panose="020B0503020204020204" pitchFamily="34" charset="-122"/>
                    <a:ea typeface="微软雅黑" panose="020B0503020204020204" pitchFamily="34" charset="-122"/>
                  </a:rPr>
                  <a:t>个本征矢</a:t>
                </a:r>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01040" y="1450731"/>
                <a:ext cx="11168576" cy="5307543"/>
              </a:xfrm>
              <a:prstGeom prst="rect">
                <a:avLst/>
              </a:prstGeom>
              <a:blipFill rotWithShape="0">
                <a:blip r:embed="rId3"/>
                <a:stretch>
                  <a:fillRect l="-4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6861972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99110" y="875750"/>
            <a:ext cx="2749471"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对易关系的进一步讨论</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701039" y="1468315"/>
                <a:ext cx="11282875" cy="2587055"/>
              </a:xfrm>
              <a:prstGeom prst="rect">
                <a:avLst/>
              </a:prstGeom>
              <a:noFill/>
            </p:spPr>
            <p:txBody>
              <a:bodyPr wrap="square" rtlCol="0">
                <a:spAutoFit/>
              </a:bodyPr>
              <a:lstStyle/>
              <a:p>
                <a:pPr>
                  <a:lnSpc>
                    <a:spcPct val="150000"/>
                  </a:lnSpc>
                </a:pPr>
                <a:r>
                  <a:rPr lang="zh-CN" altLang="en-US" dirty="0" smtClean="0">
                    <a:ea typeface="微软雅黑" panose="020B0503020204020204" pitchFamily="34" charset="-122"/>
                  </a:rPr>
                  <a:t>对于</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的本征值简并的另一种解决办法是，再寻找第三个算符</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𝐵</m:t>
                        </m:r>
                      </m:e>
                    </m:acc>
                  </m:oMath>
                </a14:m>
                <a:r>
                  <a:rPr lang="zh-CN" altLang="en-US" dirty="0" smtClean="0">
                    <a:latin typeface="微软雅黑" panose="020B0503020204020204" pitchFamily="34" charset="-122"/>
                    <a:ea typeface="微软雅黑" panose="020B0503020204020204" pitchFamily="34" charset="-122"/>
                  </a:rPr>
                  <a:t>，使得</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r>
                      <a:rPr lang="en-US" altLang="zh-CN" b="0" i="1" dirty="0" smtClean="0">
                        <a:latin typeface="Cambria Math" panose="02040503050406030204" pitchFamily="18" charset="0"/>
                        <a:ea typeface="微软雅黑" panose="020B0503020204020204" pitchFamily="34" charset="-122"/>
                      </a:rPr>
                      <m:t> , </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oMath>
                </a14:m>
                <a:r>
                  <a:rPr lang="zh-CN" altLang="en-US" dirty="0" smtClean="0">
                    <a:latin typeface="微软雅黑" panose="020B0503020204020204" pitchFamily="34" charset="-122"/>
                    <a:ea typeface="微软雅黑" panose="020B0503020204020204" pitchFamily="34" charset="-122"/>
                  </a:rPr>
                  <a:t>之间相互对易，寻找三者之间共同的本征态</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𝐸</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𝑎</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𝑏</m:t>
                    </m:r>
                    <m:r>
                      <a:rPr lang="en-US" altLang="zh-CN" b="0" i="1" smtClean="0">
                        <a:latin typeface="Cambria Math" panose="02040503050406030204" pitchFamily="18" charset="0"/>
                        <a:ea typeface="微软雅黑" panose="020B0503020204020204" pitchFamily="34" charset="-122"/>
                      </a:rPr>
                      <m:t>⟩</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如果</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𝐵</m:t>
                        </m:r>
                      </m:e>
                    </m:acc>
                    <m:r>
                      <a:rPr lang="zh-CN" altLang="en-US" i="1" dirty="0" smtClean="0">
                        <a:latin typeface="Cambria Math" panose="02040503050406030204" pitchFamily="18" charset="0"/>
                        <a:ea typeface="微软雅黑" panose="020B0503020204020204" pitchFamily="34" charset="-122"/>
                      </a:rPr>
                      <m:t>的</m:t>
                    </m:r>
                  </m:oMath>
                </a14:m>
                <a:r>
                  <a:rPr lang="zh-CN" altLang="en-US" dirty="0" smtClean="0">
                    <a:latin typeface="微软雅黑" panose="020B0503020204020204" pitchFamily="34" charset="-122"/>
                    <a:ea typeface="微软雅黑" panose="020B0503020204020204" pitchFamily="34" charset="-122"/>
                  </a:rPr>
                  <a:t>本征值</a:t>
                </a:r>
                <a14:m>
                  <m:oMath xmlns:m="http://schemas.openxmlformats.org/officeDocument/2006/math">
                    <m:r>
                      <a:rPr lang="en-US" altLang="zh-CN" i="1">
                        <a:latin typeface="Cambria Math" panose="02040503050406030204" pitchFamily="18" charset="0"/>
                        <a:ea typeface="微软雅黑" panose="020B0503020204020204" pitchFamily="34" charset="-122"/>
                      </a:rPr>
                      <m:t>𝑏</m:t>
                    </m:r>
                  </m:oMath>
                </a14:m>
                <a:r>
                  <a:rPr lang="zh-CN" altLang="en-US" dirty="0" smtClean="0">
                    <a:latin typeface="微软雅黑" panose="020B0503020204020204" pitchFamily="34" charset="-122"/>
                    <a:ea typeface="微软雅黑" panose="020B0503020204020204" pitchFamily="34" charset="-122"/>
                  </a:rPr>
                  <a:t>没有简并态，那么回到第一种情况，</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𝐵</m:t>
                        </m:r>
                      </m:e>
                    </m:acc>
                  </m:oMath>
                </a14:m>
                <a:r>
                  <a:rPr lang="zh-CN" altLang="en-US" dirty="0" smtClean="0">
                    <a:latin typeface="微软雅黑" panose="020B0503020204020204" pitchFamily="34" charset="-122"/>
                    <a:ea typeface="微软雅黑" panose="020B0503020204020204" pitchFamily="34" charset="-122"/>
                  </a:rPr>
                  <a:t>的本征态就是</a:t>
                </a:r>
                <a14:m>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𝐻</m:t>
                        </m:r>
                      </m:e>
                    </m:acc>
                  </m:oMath>
                </a14:m>
                <a:r>
                  <a:rPr lang="zh-CN" altLang="en-US" dirty="0" smtClean="0">
                    <a:latin typeface="微软雅黑" panose="020B0503020204020204" pitchFamily="34" charset="-122"/>
                    <a:ea typeface="微软雅黑" panose="020B0503020204020204" pitchFamily="34" charset="-122"/>
                  </a:rPr>
                  <a:t>的本征态；如果</a:t>
                </a:r>
                <a14:m>
                  <m:oMath xmlns:m="http://schemas.openxmlformats.org/officeDocument/2006/math">
                    <m:r>
                      <a:rPr lang="en-US" altLang="zh-CN" i="1">
                        <a:latin typeface="Cambria Math" panose="02040503050406030204" pitchFamily="18" charset="0"/>
                        <a:ea typeface="微软雅黑" panose="020B0503020204020204" pitchFamily="34" charset="-122"/>
                      </a:rPr>
                      <m:t>𝑏</m:t>
                    </m:r>
                  </m:oMath>
                </a14:m>
                <a:r>
                  <a:rPr lang="zh-CN" altLang="en-US" dirty="0" smtClean="0">
                    <a:latin typeface="微软雅黑" panose="020B0503020204020204" pitchFamily="34" charset="-122"/>
                    <a:ea typeface="微软雅黑" panose="020B0503020204020204" pitchFamily="34" charset="-122"/>
                  </a:rPr>
                  <a:t>还有简并态，那么就继续寻找第四个算符</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𝐶</m:t>
                        </m:r>
                      </m:e>
                    </m:acc>
                  </m:oMath>
                </a14:m>
                <a:r>
                  <a:rPr lang="zh-CN" altLang="en-US" dirty="0" smtClean="0">
                    <a:latin typeface="微软雅黑" panose="020B0503020204020204" pitchFamily="34" charset="-122"/>
                    <a:ea typeface="微软雅黑" panose="020B0503020204020204" pitchFamily="34" charset="-122"/>
                  </a:rPr>
                  <a:t>，直到再也找不到能够相互对易的算符</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假设找到的最后一个算符是</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𝑀</m:t>
                        </m:r>
                      </m:e>
                    </m:acc>
                  </m:oMath>
                </a14:m>
                <a:r>
                  <a:rPr lang="zh-CN" altLang="en-US" dirty="0" smtClean="0">
                    <a:latin typeface="微软雅黑" panose="020B0503020204020204" pitchFamily="34" charset="-122"/>
                    <a:ea typeface="微软雅黑" panose="020B0503020204020204" pitchFamily="34" charset="-122"/>
                  </a:rPr>
                  <a:t>，多数情况下</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𝑀</m:t>
                        </m:r>
                      </m:e>
                    </m:acc>
                  </m:oMath>
                </a14:m>
                <a:r>
                  <a:rPr lang="zh-CN" altLang="en-US" dirty="0" smtClean="0">
                    <a:latin typeface="微软雅黑" panose="020B0503020204020204" pitchFamily="34" charset="-122"/>
                    <a:ea typeface="微软雅黑" panose="020B0503020204020204" pitchFamily="34" charset="-122"/>
                  </a:rPr>
                  <a:t>的本征值已经没有简并，即使有，简并度也非常低，此时对特征子空间的矩阵做对角化就非常方便</a:t>
                </a:r>
                <a:endParaRPr lang="en-US" altLang="zh-CN"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01039" y="1468315"/>
                <a:ext cx="11282875" cy="2587055"/>
              </a:xfrm>
              <a:prstGeom prst="rect">
                <a:avLst/>
              </a:prstGeom>
              <a:blipFill rotWithShape="0">
                <a:blip r:embed="rId3"/>
                <a:stretch>
                  <a:fillRect l="-432" r="-270" b="-2830"/>
                </a:stretch>
              </a:blipFill>
            </p:spPr>
            <p:txBody>
              <a:bodyPr/>
              <a:lstStyle/>
              <a:p>
                <a:r>
                  <a:rPr lang="zh-CN" altLang="en-US">
                    <a:noFill/>
                  </a:rPr>
                  <a:t> </a:t>
                </a:r>
              </a:p>
            </p:txBody>
          </p:sp>
        </mc:Fallback>
      </mc:AlternateContent>
      <p:sp>
        <p:nvSpPr>
          <p:cNvPr id="5" name="圆角矩形 4"/>
          <p:cNvSpPr/>
          <p:nvPr/>
        </p:nvSpPr>
        <p:spPr>
          <a:xfrm>
            <a:off x="701039" y="4415824"/>
            <a:ext cx="10948769" cy="1598114"/>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 name="文本框 3"/>
              <p:cNvSpPr txBox="1"/>
              <p:nvPr/>
            </p:nvSpPr>
            <p:spPr>
              <a:xfrm>
                <a:off x="993530" y="4809392"/>
                <a:ext cx="967155" cy="6537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𝐻</m:t>
                          </m:r>
                        </m:e>
                      </m:acc>
                    </m:oMath>
                  </m:oMathPara>
                </a14:m>
                <a:endParaRPr lang="en-US" altLang="zh-CN" b="0" dirty="0" smtClean="0"/>
              </a:p>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𝐇</m:t>
                          </m:r>
                        </m:e>
                        <m:sub>
                          <m:r>
                            <a:rPr lang="en-US" altLang="zh-CN" b="1" i="0" smtClean="0">
                              <a:latin typeface="Cambria Math" panose="02040503050406030204" pitchFamily="18" charset="0"/>
                              <a:ea typeface="微软雅黑" panose="020B0503020204020204" pitchFamily="34" charset="-122"/>
                            </a:rPr>
                            <m:t>𝐧</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𝒏</m:t>
                          </m:r>
                        </m:sub>
                      </m:sSub>
                    </m:oMath>
                  </m:oMathPara>
                </a14:m>
                <a:endParaRPr lang="zh-CN" altLang="en-US" b="1" dirty="0"/>
              </a:p>
            </p:txBody>
          </p:sp>
        </mc:Choice>
        <mc:Fallback xmlns="">
          <p:sp>
            <p:nvSpPr>
              <p:cNvPr id="4" name="文本框 3"/>
              <p:cNvSpPr txBox="1">
                <a:spLocks noRot="1" noChangeAspect="1" noMove="1" noResize="1" noEditPoints="1" noAdjustHandles="1" noChangeArrowheads="1" noChangeShapeType="1" noTextEdit="1"/>
              </p:cNvSpPr>
              <p:nvPr/>
            </p:nvSpPr>
            <p:spPr>
              <a:xfrm>
                <a:off x="993530" y="4809392"/>
                <a:ext cx="967155" cy="653769"/>
              </a:xfrm>
              <a:prstGeom prst="rect">
                <a:avLst/>
              </a:prstGeom>
              <a:blipFill rotWithShape="0">
                <a:blip r:embed="rId4"/>
                <a:stretch>
                  <a:fillRect t="-935" r="-4403"/>
                </a:stretch>
              </a:blipFill>
            </p:spPr>
            <p:txBody>
              <a:bodyPr/>
              <a:lstStyle/>
              <a:p>
                <a:r>
                  <a:rPr lang="zh-CN" altLang="en-US">
                    <a:noFill/>
                  </a:rPr>
                  <a:t> </a:t>
                </a:r>
              </a:p>
            </p:txBody>
          </p:sp>
        </mc:Fallback>
      </mc:AlternateContent>
      <p:sp>
        <p:nvSpPr>
          <p:cNvPr id="6" name="右箭头 5"/>
          <p:cNvSpPr/>
          <p:nvPr/>
        </p:nvSpPr>
        <p:spPr>
          <a:xfrm>
            <a:off x="2021058" y="4974865"/>
            <a:ext cx="773723" cy="404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文本框 9"/>
              <p:cNvSpPr txBox="1"/>
              <p:nvPr/>
            </p:nvSpPr>
            <p:spPr>
              <a:xfrm>
                <a:off x="2855154" y="4649861"/>
                <a:ext cx="1608992" cy="9650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𝐻</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oMath>
                  </m:oMathPara>
                </a14:m>
                <a:endParaRPr lang="en-US" altLang="zh-CN" b="0" dirty="0" smtClean="0"/>
              </a:p>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ea typeface="微软雅黑" panose="020B0503020204020204" pitchFamily="34" charset="-122"/>
                            </a:rPr>
                          </m:ctrlPr>
                        </m:sSubPr>
                        <m:e>
                          <m:d>
                            <m:dPr>
                              <m:ctrlPr>
                                <a:rPr lang="en-US" altLang="zh-CN" b="1" i="1" smtClea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b="1" i="1" smtClean="0">
                                      <a:latin typeface="Cambria Math" panose="02040503050406030204" pitchFamily="18" charset="0"/>
                                      <a:ea typeface="微软雅黑" panose="020B0503020204020204" pitchFamily="34" charset="-122"/>
                                    </a:rPr>
                                  </m:ctrlPr>
                                </m:mPr>
                                <m:mr>
                                  <m:e>
                                    <m:sSub>
                                      <m:sSubPr>
                                        <m:ctrlPr>
                                          <a:rPr lang="en-US" altLang="zh-CN" b="1" i="1" smtClean="0">
                                            <a:latin typeface="Cambria Math" panose="02040503050406030204" pitchFamily="18" charset="0"/>
                                            <a:ea typeface="微软雅黑" panose="020B0503020204020204" pitchFamily="34" charset="-122"/>
                                          </a:rPr>
                                        </m:ctrlPr>
                                      </m:sSubPr>
                                      <m:e>
                                        <m:r>
                                          <m:rPr>
                                            <m:brk m:alnAt="7"/>
                                          </m:rPr>
                                          <a:rPr lang="en-US" altLang="zh-CN" b="1" i="0" smtClean="0">
                                            <a:latin typeface="Cambria Math" panose="02040503050406030204" pitchFamily="18" charset="0"/>
                                            <a:ea typeface="微软雅黑" panose="020B0503020204020204" pitchFamily="34" charset="-122"/>
                                          </a:rPr>
                                          <m:t>𝐇</m:t>
                                        </m:r>
                                      </m:e>
                                      <m:sub>
                                        <m:r>
                                          <m:rPr>
                                            <m:brk m:alnAt="7"/>
                                          </m:rPr>
                                          <a:rPr lang="en-US" altLang="zh-CN" b="1" i="0" smtClean="0">
                                            <a:latin typeface="Cambria Math" panose="02040503050406030204" pitchFamily="18" charset="0"/>
                                            <a:ea typeface="微软雅黑" panose="020B0503020204020204" pitchFamily="34" charset="-122"/>
                                          </a:rPr>
                                          <m:t>𝟏</m:t>
                                        </m:r>
                                      </m:sub>
                                    </m:sSub>
                                  </m:e>
                                  <m:e>
                                    <m:r>
                                      <a:rPr lang="en-US" altLang="zh-CN" b="1" i="1" smtClean="0">
                                        <a:latin typeface="Cambria Math" panose="02040503050406030204" pitchFamily="18" charset="0"/>
                                        <a:ea typeface="微软雅黑" panose="020B0503020204020204" pitchFamily="34" charset="-122"/>
                                      </a:rPr>
                                      <m:t>𝟎</m:t>
                                    </m:r>
                                  </m:e>
                                </m:mr>
                                <m:mr>
                                  <m:e>
                                    <m:r>
                                      <a:rPr lang="en-US" altLang="zh-CN" b="1" i="1" smtClean="0">
                                        <a:latin typeface="Cambria Math" panose="02040503050406030204" pitchFamily="18" charset="0"/>
                                        <a:ea typeface="微软雅黑" panose="020B0503020204020204" pitchFamily="34" charset="-122"/>
                                      </a:rPr>
                                      <m:t>𝟎</m:t>
                                    </m:r>
                                  </m:e>
                                  <m:e>
                                    <m:sSub>
                                      <m:sSubPr>
                                        <m:ctrlPr>
                                          <a:rPr lang="en-US" altLang="zh-CN" b="1" i="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𝐇</m:t>
                                        </m:r>
                                      </m:e>
                                      <m:sub>
                                        <m:r>
                                          <a:rPr lang="en-US" altLang="zh-CN" b="1" i="0" smtClean="0">
                                            <a:latin typeface="Cambria Math" panose="02040503050406030204" pitchFamily="18" charset="0"/>
                                            <a:ea typeface="微软雅黑" panose="020B0503020204020204" pitchFamily="34" charset="-122"/>
                                          </a:rPr>
                                          <m:t>𝟐</m:t>
                                        </m:r>
                                      </m:sub>
                                    </m:sSub>
                                  </m:e>
                                </m:mr>
                              </m:m>
                            </m:e>
                          </m:d>
                        </m:e>
                        <m:sub>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𝒏</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𝒏</m:t>
                          </m:r>
                          <m:r>
                            <a:rPr lang="en-US" altLang="zh-CN" b="1" i="1" smtClean="0">
                              <a:latin typeface="Cambria Math" panose="02040503050406030204" pitchFamily="18" charset="0"/>
                              <a:ea typeface="微软雅黑" panose="020B0503020204020204" pitchFamily="34" charset="-122"/>
                            </a:rPr>
                            <m:t>)</m:t>
                          </m:r>
                        </m:sub>
                      </m:sSub>
                    </m:oMath>
                  </m:oMathPara>
                </a14:m>
                <a:endParaRPr lang="zh-CN" altLang="en-US"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2855154" y="4649861"/>
                <a:ext cx="1608992" cy="965072"/>
              </a:xfrm>
              <a:prstGeom prst="rect">
                <a:avLst/>
              </a:prstGeom>
              <a:blipFill rotWithShape="0">
                <a:blip r:embed="rId5"/>
                <a:stretch>
                  <a:fillRect t="-3165"/>
                </a:stretch>
              </a:blipFill>
            </p:spPr>
            <p:txBody>
              <a:bodyPr/>
              <a:lstStyle/>
              <a:p>
                <a:r>
                  <a:rPr lang="zh-CN" altLang="en-US">
                    <a:noFill/>
                  </a:rPr>
                  <a:t> </a:t>
                </a:r>
              </a:p>
            </p:txBody>
          </p:sp>
        </mc:Fallback>
      </mc:AlternateContent>
      <p:sp>
        <p:nvSpPr>
          <p:cNvPr id="11" name="右箭头 10"/>
          <p:cNvSpPr/>
          <p:nvPr/>
        </p:nvSpPr>
        <p:spPr>
          <a:xfrm>
            <a:off x="4481731" y="4974865"/>
            <a:ext cx="773723" cy="404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5358615" y="4460514"/>
                <a:ext cx="2259623" cy="1343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𝐻</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oMath>
                  </m:oMathPara>
                </a14:m>
                <a:endParaRPr lang="en-US" altLang="zh-CN" b="0" dirty="0" smtClean="0"/>
              </a:p>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ea typeface="微软雅黑" panose="020B0503020204020204" pitchFamily="34" charset="-122"/>
                            </a:rPr>
                          </m:ctrlPr>
                        </m:sSubPr>
                        <m:e>
                          <m:d>
                            <m:dPr>
                              <m:ctrlPr>
                                <a:rPr lang="en-US" altLang="zh-CN" b="1" i="1" smtClea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b="1" i="1" smtClean="0">
                                      <a:latin typeface="Cambria Math" panose="02040503050406030204" pitchFamily="18" charset="0"/>
                                      <a:ea typeface="微软雅黑" panose="020B0503020204020204" pitchFamily="34" charset="-122"/>
                                    </a:rPr>
                                  </m:ctrlPr>
                                </m:mPr>
                                <m:mr>
                                  <m:e>
                                    <m:sSub>
                                      <m:sSubPr>
                                        <m:ctrlPr>
                                          <a:rPr lang="en-US" altLang="zh-CN" b="1" i="1" smtClean="0">
                                            <a:latin typeface="Cambria Math" panose="02040503050406030204" pitchFamily="18" charset="0"/>
                                            <a:ea typeface="微软雅黑" panose="020B0503020204020204" pitchFamily="34" charset="-122"/>
                                          </a:rPr>
                                        </m:ctrlPr>
                                      </m:sSubPr>
                                      <m:e>
                                        <m:r>
                                          <m:rPr>
                                            <m:brk m:alnAt="7"/>
                                          </m:rPr>
                                          <a:rPr lang="en-US" altLang="zh-CN" b="1" i="0" smtClean="0">
                                            <a:latin typeface="Cambria Math" panose="02040503050406030204" pitchFamily="18" charset="0"/>
                                            <a:ea typeface="微软雅黑" panose="020B0503020204020204" pitchFamily="34" charset="-122"/>
                                          </a:rPr>
                                          <m:t>𝐇</m:t>
                                        </m:r>
                                      </m:e>
                                      <m:sub>
                                        <m:r>
                                          <m:rPr>
                                            <m:brk m:alnAt="7"/>
                                          </m:rPr>
                                          <a:rPr lang="en-US" altLang="zh-CN" b="1" i="0" smtClean="0">
                                            <a:latin typeface="Cambria Math" panose="02040503050406030204" pitchFamily="18" charset="0"/>
                                            <a:ea typeface="微软雅黑" panose="020B0503020204020204" pitchFamily="34" charset="-122"/>
                                          </a:rPr>
                                          <m:t>𝟏</m:t>
                                        </m:r>
                                      </m:sub>
                                    </m:sSub>
                                  </m:e>
                                  <m:e>
                                    <m:r>
                                      <a:rPr lang="en-US" altLang="zh-CN" b="1" i="1" smtClean="0">
                                        <a:latin typeface="Cambria Math" panose="02040503050406030204" pitchFamily="18" charset="0"/>
                                        <a:ea typeface="微软雅黑" panose="020B0503020204020204" pitchFamily="34" charset="-122"/>
                                      </a:rPr>
                                      <m:t>𝟎</m:t>
                                    </m:r>
                                  </m:e>
                                  <m:e>
                                    <m:r>
                                      <a:rPr lang="en-US" altLang="zh-CN" b="1" i="1" smtClean="0">
                                        <a:latin typeface="Cambria Math" panose="02040503050406030204" pitchFamily="18" charset="0"/>
                                        <a:ea typeface="微软雅黑" panose="020B0503020204020204" pitchFamily="34" charset="-122"/>
                                      </a:rPr>
                                      <m:t>𝟎</m:t>
                                    </m:r>
                                  </m:e>
                                </m:mr>
                                <m:mr>
                                  <m:e>
                                    <m:r>
                                      <a:rPr lang="en-US" altLang="zh-CN" b="1" i="1" smtClean="0">
                                        <a:latin typeface="Cambria Math" panose="02040503050406030204" pitchFamily="18" charset="0"/>
                                        <a:ea typeface="微软雅黑" panose="020B0503020204020204" pitchFamily="34" charset="-122"/>
                                      </a:rPr>
                                      <m:t>𝟎</m:t>
                                    </m:r>
                                  </m:e>
                                  <m:e>
                                    <m:sSub>
                                      <m:sSubPr>
                                        <m:ctrlPr>
                                          <a:rPr lang="en-US" altLang="zh-CN" b="1" i="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𝐇</m:t>
                                        </m:r>
                                      </m:e>
                                      <m:sub>
                                        <m:r>
                                          <a:rPr lang="en-US" altLang="zh-CN" b="1" i="1" smtClean="0">
                                            <a:latin typeface="Cambria Math" panose="02040503050406030204" pitchFamily="18" charset="0"/>
                                            <a:ea typeface="微软雅黑" panose="020B0503020204020204" pitchFamily="34" charset="-122"/>
                                          </a:rPr>
                                          <m:t>𝟐</m:t>
                                        </m:r>
                                      </m:sub>
                                    </m:sSub>
                                  </m:e>
                                  <m:e>
                                    <m:r>
                                      <a:rPr lang="en-US" altLang="zh-CN" b="1" i="1" smtClean="0">
                                        <a:latin typeface="Cambria Math" panose="02040503050406030204" pitchFamily="18" charset="0"/>
                                        <a:ea typeface="微软雅黑" panose="020B0503020204020204" pitchFamily="34" charset="-122"/>
                                      </a:rPr>
                                      <m:t>𝟎</m:t>
                                    </m:r>
                                  </m:e>
                                </m:mr>
                                <m:mr>
                                  <m:e>
                                    <m:r>
                                      <a:rPr lang="en-US" altLang="zh-CN" b="1" i="1" smtClean="0">
                                        <a:latin typeface="Cambria Math" panose="02040503050406030204" pitchFamily="18" charset="0"/>
                                        <a:ea typeface="微软雅黑" panose="020B0503020204020204" pitchFamily="34" charset="-122"/>
                                      </a:rPr>
                                      <m:t>𝟎</m:t>
                                    </m:r>
                                  </m:e>
                                  <m:e>
                                    <m:r>
                                      <a:rPr lang="en-US" altLang="zh-CN" b="1" i="1" smtClean="0">
                                        <a:latin typeface="Cambria Math" panose="02040503050406030204" pitchFamily="18" charset="0"/>
                                        <a:ea typeface="微软雅黑" panose="020B0503020204020204" pitchFamily="34" charset="-122"/>
                                      </a:rPr>
                                      <m:t>𝟎</m:t>
                                    </m:r>
                                  </m:e>
                                  <m:e>
                                    <m:sSub>
                                      <m:sSubPr>
                                        <m:ctrlPr>
                                          <a:rPr lang="en-US" altLang="zh-CN" b="1" i="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𝐇</m:t>
                                        </m:r>
                                      </m:e>
                                      <m:sub>
                                        <m:r>
                                          <a:rPr lang="en-US" altLang="zh-CN" b="1" i="1" smtClean="0">
                                            <a:latin typeface="Cambria Math" panose="02040503050406030204" pitchFamily="18" charset="0"/>
                                            <a:ea typeface="微软雅黑" panose="020B0503020204020204" pitchFamily="34" charset="-122"/>
                                          </a:rPr>
                                          <m:t>𝟑</m:t>
                                        </m:r>
                                      </m:sub>
                                    </m:sSub>
                                  </m:e>
                                </m:mr>
                              </m:m>
                            </m:e>
                          </m:d>
                        </m:e>
                        <m:sub>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𝒏</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𝒏</m:t>
                          </m:r>
                          <m:r>
                            <a:rPr lang="en-US" altLang="zh-CN" b="1" i="1" smtClean="0">
                              <a:latin typeface="Cambria Math" panose="02040503050406030204" pitchFamily="18" charset="0"/>
                              <a:ea typeface="微软雅黑" panose="020B0503020204020204" pitchFamily="34" charset="-122"/>
                            </a:rPr>
                            <m:t>)</m:t>
                          </m:r>
                        </m:sub>
                      </m:sSub>
                    </m:oMath>
                  </m:oMathPara>
                </a14:m>
                <a:endParaRPr lang="zh-CN" altLang="en-US"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5358615" y="4460514"/>
                <a:ext cx="2259623" cy="1343766"/>
              </a:xfrm>
              <a:prstGeom prst="rect">
                <a:avLst/>
              </a:prstGeom>
              <a:blipFill rotWithShape="0">
                <a:blip r:embed="rId6"/>
                <a:stretch>
                  <a:fillRect t="-2273"/>
                </a:stretch>
              </a:blipFill>
            </p:spPr>
            <p:txBody>
              <a:bodyPr/>
              <a:lstStyle/>
              <a:p>
                <a:r>
                  <a:rPr lang="zh-CN" altLang="en-US">
                    <a:noFill/>
                  </a:rPr>
                  <a:t> </a:t>
                </a:r>
              </a:p>
            </p:txBody>
          </p:sp>
        </mc:Fallback>
      </mc:AlternateContent>
      <p:sp>
        <p:nvSpPr>
          <p:cNvPr id="13" name="右箭头 12"/>
          <p:cNvSpPr/>
          <p:nvPr/>
        </p:nvSpPr>
        <p:spPr>
          <a:xfrm>
            <a:off x="7553469" y="4974865"/>
            <a:ext cx="773723" cy="404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p:cNvSpPr txBox="1"/>
              <p:nvPr/>
            </p:nvSpPr>
            <p:spPr>
              <a:xfrm>
                <a:off x="8580925" y="4445743"/>
                <a:ext cx="2815149" cy="15078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𝐻</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𝑀</m:t>
                          </m:r>
                        </m:e>
                      </m:acc>
                    </m:oMath>
                  </m:oMathPara>
                </a14:m>
                <a:endParaRPr lang="en-US" altLang="zh-CN" b="0" dirty="0" smtClean="0"/>
              </a:p>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ea typeface="微软雅黑" panose="020B0503020204020204" pitchFamily="34" charset="-122"/>
                            </a:rPr>
                          </m:ctrlPr>
                        </m:sSubPr>
                        <m:e>
                          <m:d>
                            <m:dPr>
                              <m:ctrlPr>
                                <a:rPr lang="en-US" altLang="zh-CN" i="1">
                                  <a:latin typeface="Cambria Math" panose="02040503050406030204" pitchFamily="18" charset="0"/>
                                  <a:ea typeface="微软雅黑" panose="020B0503020204020204" pitchFamily="34" charset="-122"/>
                                </a:rPr>
                              </m:ctrlPr>
                            </m:dPr>
                            <m:e>
                              <m:m>
                                <m:mPr>
                                  <m:mcs>
                                    <m:mc>
                                      <m:mcPr>
                                        <m:count m:val="4"/>
                                        <m:mcJc m:val="center"/>
                                      </m:mcPr>
                                    </m:mc>
                                  </m:mcs>
                                  <m:ctrlPr>
                                    <a:rPr lang="en-US" altLang="zh-CN" i="1">
                                      <a:latin typeface="Cambria Math" panose="02040503050406030204" pitchFamily="18" charset="0"/>
                                      <a:ea typeface="微软雅黑" panose="020B0503020204020204" pitchFamily="34" charset="-122"/>
                                    </a:rPr>
                                  </m:ctrlPr>
                                </m:mPr>
                                <m:mr>
                                  <m:e>
                                    <m:sSub>
                                      <m:sSubPr>
                                        <m:ctrlPr>
                                          <a:rPr lang="en-US" altLang="zh-CN" i="1" smtClean="0">
                                            <a:latin typeface="Cambria Math" panose="02040503050406030204" pitchFamily="18" charset="0"/>
                                            <a:ea typeface="微软雅黑" panose="020B0503020204020204" pitchFamily="34" charset="-122"/>
                                          </a:rPr>
                                        </m:ctrlPr>
                                      </m:sSubPr>
                                      <m:e>
                                        <m:r>
                                          <m:rPr>
                                            <m:brk m:alnAt="7"/>
                                          </m:rPr>
                                          <a:rPr lang="en-US" altLang="zh-CN" b="0" i="1" smtClean="0">
                                            <a:latin typeface="Cambria Math" panose="02040503050406030204" pitchFamily="18" charset="0"/>
                                            <a:ea typeface="微软雅黑" panose="020B0503020204020204" pitchFamily="34" charset="-122"/>
                                          </a:rPr>
                                          <m:t>𝐸</m:t>
                                        </m:r>
                                      </m:e>
                                      <m:sub>
                                        <m:r>
                                          <m:rPr>
                                            <m:brk m:alnAt="7"/>
                                          </m:rPr>
                                          <a:rPr lang="en-US" altLang="zh-CN" b="0" i="1" smtClean="0">
                                            <a:latin typeface="Cambria Math" panose="02040503050406030204" pitchFamily="18" charset="0"/>
                                            <a:ea typeface="微软雅黑" panose="020B0503020204020204" pitchFamily="34" charset="-122"/>
                                          </a:rPr>
                                          <m:t>1</m:t>
                                        </m:r>
                                      </m:sub>
                                    </m:sSub>
                                  </m:e>
                                  <m:e>
                                    <m:r>
                                      <a:rPr lang="en-US" altLang="zh-CN" b="1" i="1">
                                        <a:latin typeface="Cambria Math" panose="02040503050406030204" pitchFamily="18" charset="0"/>
                                        <a:ea typeface="微软雅黑" panose="020B0503020204020204" pitchFamily="34" charset="-122"/>
                                      </a:rPr>
                                      <m:t>𝟎</m:t>
                                    </m:r>
                                  </m:e>
                                  <m:e>
                                    <m:r>
                                      <a:rPr lang="en-US" altLang="zh-CN" i="1">
                                        <a:latin typeface="Cambria Math" panose="02040503050406030204" pitchFamily="18" charset="0"/>
                                        <a:ea typeface="微软雅黑" panose="020B0503020204020204" pitchFamily="34" charset="-122"/>
                                      </a:rPr>
                                      <m:t>⋯</m:t>
                                    </m:r>
                                  </m:e>
                                  <m:e>
                                    <m:r>
                                      <a:rPr lang="en-US" altLang="zh-CN" b="1" i="1">
                                        <a:latin typeface="Cambria Math" panose="02040503050406030204" pitchFamily="18" charset="0"/>
                                        <a:ea typeface="微软雅黑" panose="020B0503020204020204" pitchFamily="34" charset="-122"/>
                                      </a:rPr>
                                      <m:t>𝟎</m:t>
                                    </m:r>
                                  </m:e>
                                </m:mr>
                                <m:mr>
                                  <m:e>
                                    <m:r>
                                      <a:rPr lang="en-US" altLang="zh-CN" b="1" i="1">
                                        <a:latin typeface="Cambria Math" panose="02040503050406030204" pitchFamily="18" charset="0"/>
                                        <a:ea typeface="微软雅黑" panose="020B0503020204020204" pitchFamily="34" charset="-122"/>
                                      </a:rPr>
                                      <m:t>𝟎</m:t>
                                    </m:r>
                                  </m:e>
                                  <m:e>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𝐸</m:t>
                                        </m:r>
                                      </m:e>
                                      <m:sub>
                                        <m:r>
                                          <a:rPr lang="en-US" altLang="zh-CN" b="0" i="1" smtClean="0">
                                            <a:latin typeface="Cambria Math" panose="02040503050406030204" pitchFamily="18" charset="0"/>
                                            <a:ea typeface="微软雅黑" panose="020B0503020204020204" pitchFamily="34" charset="-122"/>
                                          </a:rPr>
                                          <m:t>2</m:t>
                                        </m:r>
                                      </m:sub>
                                    </m:sSub>
                                  </m:e>
                                  <m:e>
                                    <m:r>
                                      <a:rPr lang="en-US" altLang="zh-CN" i="1">
                                        <a:latin typeface="Cambria Math" panose="02040503050406030204" pitchFamily="18" charset="0"/>
                                        <a:ea typeface="微软雅黑" panose="020B0503020204020204" pitchFamily="34" charset="-122"/>
                                      </a:rPr>
                                      <m:t>⋯</m:t>
                                    </m:r>
                                  </m:e>
                                  <m:e>
                                    <m:r>
                                      <a:rPr lang="en-US" altLang="zh-CN" b="1" i="1">
                                        <a:latin typeface="Cambria Math" panose="02040503050406030204" pitchFamily="18" charset="0"/>
                                        <a:ea typeface="微软雅黑" panose="020B0503020204020204" pitchFamily="34" charset="-122"/>
                                      </a:rPr>
                                      <m:t>𝟎</m:t>
                                    </m:r>
                                  </m:e>
                                </m:mr>
                                <m:mr>
                                  <m:e>
                                    <m:r>
                                      <a:rPr lang="en-US" altLang="zh-CN" i="1">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m:t>
                                    </m:r>
                                  </m:e>
                                </m:mr>
                                <m:mr>
                                  <m:e>
                                    <m:r>
                                      <a:rPr lang="en-US" altLang="zh-CN" b="1" i="1">
                                        <a:latin typeface="Cambria Math" panose="02040503050406030204" pitchFamily="18" charset="0"/>
                                        <a:ea typeface="微软雅黑" panose="020B0503020204020204" pitchFamily="34" charset="-122"/>
                                      </a:rPr>
                                      <m:t>𝟎</m:t>
                                    </m:r>
                                  </m:e>
                                  <m:e>
                                    <m:r>
                                      <a:rPr lang="en-US" altLang="zh-CN" b="1" i="1">
                                        <a:latin typeface="Cambria Math" panose="02040503050406030204" pitchFamily="18" charset="0"/>
                                        <a:ea typeface="微软雅黑" panose="020B0503020204020204" pitchFamily="34" charset="-122"/>
                                      </a:rPr>
                                      <m:t>𝟎</m:t>
                                    </m:r>
                                  </m:e>
                                  <m:e>
                                    <m:r>
                                      <a:rPr lang="en-US" altLang="zh-CN" i="1">
                                        <a:latin typeface="Cambria Math" panose="02040503050406030204" pitchFamily="18" charset="0"/>
                                        <a:ea typeface="微软雅黑" panose="020B0503020204020204" pitchFamily="34" charset="-122"/>
                                      </a:rPr>
                                      <m:t>⋯</m:t>
                                    </m:r>
                                  </m:e>
                                  <m:e>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𝐸</m:t>
                                        </m:r>
                                      </m:e>
                                      <m:sub>
                                        <m:r>
                                          <a:rPr lang="en-US" altLang="zh-CN" b="0" i="1" smtClean="0">
                                            <a:latin typeface="Cambria Math" panose="02040503050406030204" pitchFamily="18" charset="0"/>
                                            <a:ea typeface="微软雅黑" panose="020B0503020204020204" pitchFamily="34" charset="-122"/>
                                          </a:rPr>
                                          <m:t>𝑛</m:t>
                                        </m:r>
                                      </m:sub>
                                    </m:sSub>
                                  </m:e>
                                </m:mr>
                              </m:m>
                            </m:e>
                          </m:d>
                        </m:e>
                        <m:sub>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𝒏</m:t>
                          </m:r>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𝒏</m:t>
                          </m:r>
                          <m:r>
                            <a:rPr lang="en-US" altLang="zh-CN" b="1" i="1" smtClean="0">
                              <a:latin typeface="Cambria Math" panose="02040503050406030204" pitchFamily="18" charset="0"/>
                              <a:ea typeface="微软雅黑" panose="020B0503020204020204" pitchFamily="34" charset="-122"/>
                            </a:rPr>
                            <m:t>)</m:t>
                          </m:r>
                        </m:sub>
                      </m:sSub>
                    </m:oMath>
                  </m:oMathPara>
                </a14:m>
                <a:endParaRPr lang="zh-CN" altLang="en-US" b="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8580925" y="4445743"/>
                <a:ext cx="2815149" cy="1507849"/>
              </a:xfrm>
              <a:prstGeom prst="rect">
                <a:avLst/>
              </a:prstGeom>
              <a:blipFill rotWithShape="0">
                <a:blip r:embed="rId7"/>
                <a:stretch>
                  <a:fillRect t="-20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07061529"/>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337185" y="789323"/>
            <a:ext cx="1723549"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不确定性原理</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742315" y="1079730"/>
                <a:ext cx="10673862" cy="5789534"/>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对于任意的量子态</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𝜓</m:t>
                    </m:r>
                    <m:r>
                      <a:rPr lang="en-US" altLang="zh-CN" b="0" i="1" smtClean="0">
                        <a:latin typeface="Cambria Math" panose="02040503050406030204" pitchFamily="18" charset="0"/>
                      </a:rPr>
                      <m:t>⟩</m:t>
                    </m:r>
                  </m:oMath>
                </a14:m>
                <a:r>
                  <a:rPr lang="zh-CN" altLang="en-US" dirty="0" smtClean="0">
                    <a:latin typeface="微软雅黑" panose="020B0503020204020204" pitchFamily="34" charset="-122"/>
                    <a:ea typeface="微软雅黑" panose="020B0503020204020204" pitchFamily="34" charset="-122"/>
                  </a:rPr>
                  <a:t>，用算符</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𝑎</m:t>
                        </m:r>
                      </m:e>
                    </m:acc>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𝑏</m:t>
                        </m:r>
                      </m:e>
                    </m:acc>
                  </m:oMath>
                </a14:m>
                <a:r>
                  <a:rPr lang="zh-CN" altLang="en-US" dirty="0" smtClean="0">
                    <a:latin typeface="微软雅黑" panose="020B0503020204020204" pitchFamily="34" charset="-122"/>
                    <a:ea typeface="微软雅黑" panose="020B0503020204020204" pitchFamily="34" charset="-122"/>
                  </a:rPr>
                  <a:t>构造一个新的量子态</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𝜙</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𝑎</m:t>
                            </m:r>
                          </m:e>
                        </m:acc>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𝜆</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𝑏</m:t>
                            </m:r>
                          </m:e>
                        </m:acc>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𝜓</m:t>
                    </m:r>
                    <m:r>
                      <a:rPr lang="en-US" altLang="zh-CN" b="0" i="1" dirty="0" smtClean="0">
                        <a:latin typeface="Cambria Math" panose="02040503050406030204" pitchFamily="18" charset="0"/>
                      </a:rPr>
                      <m:t>⟩</m:t>
                    </m:r>
                  </m:oMath>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取态左矢做内积：</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𝜙</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𝜙</m:t>
                              </m:r>
                            </m:e>
                          </m:d>
                          <m:r>
                            <a:rPr lang="en-US" altLang="zh-CN" i="1">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b="0" i="1" smtClean="0">
                                      <a:latin typeface="Cambria Math" panose="02040503050406030204" pitchFamily="18" charset="0"/>
                                    </a:rPr>
                                    <m:t>𝑎</m:t>
                                  </m:r>
                                </m:e>
                              </m:acc>
                              <m:r>
                                <a:rPr lang="en-US" altLang="zh-CN" b="0" i="1" dirty="0" smtClean="0">
                                  <a:solidFill>
                                    <a:srgbClr val="FF0000"/>
                                  </a:solidFill>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𝜆</m:t>
                              </m:r>
                              <m:acc>
                                <m:accPr>
                                  <m:chr m:val="̂"/>
                                  <m:ctrlPr>
                                    <a:rPr lang="en-US" altLang="zh-CN" i="1" dirty="0">
                                      <a:latin typeface="Cambria Math" panose="02040503050406030204" pitchFamily="18" charset="0"/>
                                    </a:rPr>
                                  </m:ctrlPr>
                                </m:accPr>
                                <m:e>
                                  <m:r>
                                    <a:rPr lang="en-US" altLang="zh-CN" b="0" i="1" dirty="0" smtClean="0">
                                      <a:latin typeface="Cambria Math" panose="02040503050406030204" pitchFamily="18" charset="0"/>
                                    </a:rPr>
                                    <m:t>𝑏</m:t>
                                  </m:r>
                                </m:e>
                              </m:acc>
                            </m:e>
                          </m:d>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b="0" i="1" smtClean="0">
                                      <a:latin typeface="Cambria Math" panose="02040503050406030204" pitchFamily="18" charset="0"/>
                                    </a:rPr>
                                    <m:t>𝑎</m:t>
                                  </m:r>
                                </m:e>
                              </m:acc>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𝜆</m:t>
                              </m:r>
                              <m:acc>
                                <m:accPr>
                                  <m:chr m:val="̂"/>
                                  <m:ctrlPr>
                                    <a:rPr lang="en-US" altLang="zh-CN" i="1" dirty="0">
                                      <a:latin typeface="Cambria Math" panose="02040503050406030204" pitchFamily="18" charset="0"/>
                                    </a:rPr>
                                  </m:ctrlPr>
                                </m:accPr>
                                <m:e>
                                  <m:r>
                                    <a:rPr lang="en-US" altLang="zh-CN" b="0" i="1" dirty="0" smtClean="0">
                                      <a:latin typeface="Cambria Math" panose="02040503050406030204" pitchFamily="18" charset="0"/>
                                    </a:rPr>
                                    <m:t>𝑏</m:t>
                                  </m:r>
                                </m:e>
                              </m:acc>
                            </m:e>
                          </m:d>
                        </m:e>
                        <m:e>
                          <m:r>
                            <a:rPr lang="en-US" altLang="zh-CN" i="1" dirty="0">
                              <a:latin typeface="Cambria Math" panose="02040503050406030204" pitchFamily="18" charset="0"/>
                            </a:rPr>
                            <m:t>𝜓</m:t>
                          </m:r>
                        </m:e>
                      </m:d>
                      <m:r>
                        <a:rPr lang="en-US" altLang="zh-CN" b="0" i="1" dirty="0" smtClean="0">
                          <a:latin typeface="Cambria Math" panose="02040503050406030204" pitchFamily="18" charset="0"/>
                        </a:rPr>
                        <m:t>≥0</m:t>
                      </m:r>
                    </m:oMath>
                  </m:oMathPara>
                </a14:m>
                <a:endParaRPr lang="en-US" altLang="zh-CN" dirty="0" smtClean="0">
                  <a:latin typeface="微软雅黑" panose="020B0503020204020204" pitchFamily="34" charset="-122"/>
                  <a:ea typeface="微软雅黑" panose="020B0503020204020204" pitchFamily="34" charset="-122"/>
                </a:endParaRPr>
              </a:p>
              <a:p>
                <a:pPr>
                  <a:lnSpc>
                    <a:spcPts val="3000"/>
                  </a:lnSpc>
                </a:pPr>
                <a:r>
                  <a:rPr lang="zh-CN" altLang="en-US" dirty="0" smtClean="0">
                    <a:latin typeface="微软雅黑" panose="020B0503020204020204" pitchFamily="34" charset="-122"/>
                    <a:ea typeface="微软雅黑" panose="020B0503020204020204" pitchFamily="34" charset="-122"/>
                  </a:rPr>
                  <a:t>令</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𝑎</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𝜓</m:t>
                        </m:r>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e>
                        </m:d>
                        <m:r>
                          <a:rPr lang="en-US" altLang="zh-CN" b="0" i="1" smtClean="0">
                            <a:latin typeface="Cambria Math" panose="02040503050406030204" pitchFamily="18" charset="0"/>
                            <a:ea typeface="微软雅黑" panose="020B0503020204020204" pitchFamily="34" charset="-122"/>
                          </a:rPr>
                          <m:t>𝜓</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𝑏</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𝜓</m:t>
                        </m:r>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𝐵</m:t>
                                </m:r>
                              </m:e>
                            </m:acc>
                          </m:e>
                        </m:d>
                        <m:r>
                          <a:rPr lang="en-US" altLang="zh-CN" i="1">
                            <a:latin typeface="Cambria Math" panose="02040503050406030204" pitchFamily="18" charset="0"/>
                            <a:ea typeface="微软雅黑" panose="020B0503020204020204" pitchFamily="34" charset="-122"/>
                          </a:rPr>
                          <m:t>𝜓</m:t>
                        </m:r>
                      </m:e>
                    </m:d>
                  </m:oMath>
                </a14:m>
                <a:endParaRPr lang="en-US" altLang="zh-CN" dirty="0" smtClean="0">
                  <a:latin typeface="微软雅黑" panose="020B0503020204020204" pitchFamily="34" charset="-122"/>
                  <a:ea typeface="微软雅黑" panose="020B0503020204020204" pitchFamily="34" charset="-122"/>
                </a:endParaRPr>
              </a:p>
              <a:p>
                <a:pPr>
                  <a:lnSpc>
                    <a:spcPts val="3000"/>
                  </a:lnSpc>
                </a:pPr>
                <a:r>
                  <a:rPr lang="zh-CN" altLang="en-US" dirty="0">
                    <a:latin typeface="微软雅黑" panose="020B0503020204020204" pitchFamily="34" charset="-122"/>
                    <a:ea typeface="微软雅黑" panose="020B0503020204020204" pitchFamily="34" charset="-122"/>
                  </a:rPr>
                  <a:t>则</a:t>
                </a:r>
                <a:r>
                  <a:rPr lang="zh-CN" altLang="en-US" dirty="0" smtClean="0">
                    <a:latin typeface="微软雅黑" panose="020B0503020204020204" pitchFamily="34" charset="-122"/>
                    <a:ea typeface="微软雅黑" panose="020B0503020204020204" pitchFamily="34" charset="-122"/>
                  </a:rPr>
                  <a:t>有</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𝜆</m:t>
                        </m:r>
                      </m:e>
                      <m:sup>
                        <m:r>
                          <a:rPr lang="en-US" altLang="zh-CN" b="0" i="1" smtClean="0">
                            <a:latin typeface="Cambria Math" panose="02040503050406030204" pitchFamily="18" charset="0"/>
                            <a:ea typeface="微软雅黑" panose="020B0503020204020204" pitchFamily="34" charset="-122"/>
                          </a:rPr>
                          <m:t>2</m:t>
                        </m:r>
                      </m:sup>
                    </m:sSup>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𝑏</m:t>
                                </m:r>
                              </m:e>
                            </m:acc>
                          </m:e>
                          <m:sup>
                            <m:r>
                              <a:rPr lang="en-US" altLang="zh-CN" b="0" i="1" smtClean="0">
                                <a:latin typeface="Cambria Math" panose="02040503050406030204" pitchFamily="18" charset="0"/>
                                <a:ea typeface="微软雅黑" panose="020B0503020204020204" pitchFamily="34" charset="-122"/>
                              </a:rPr>
                              <m:t>2</m:t>
                            </m:r>
                          </m:sup>
                        </m:sSup>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𝑖</m:t>
                    </m:r>
                    <m:r>
                      <a:rPr lang="en-US" altLang="zh-CN" b="0" i="1" smtClean="0">
                        <a:latin typeface="Cambria Math" panose="02040503050406030204" pitchFamily="18" charset="0"/>
                        <a:ea typeface="微软雅黑" panose="020B0503020204020204" pitchFamily="34" charset="-122"/>
                      </a:rPr>
                      <m:t>𝜆</m:t>
                    </m:r>
                    <m:d>
                      <m:dPr>
                        <m:begChr m:val="⟨"/>
                        <m:endChr m:val="⟩"/>
                        <m:ctrlPr>
                          <a:rPr lang="en-US" altLang="zh-CN" b="0" i="1" smtClean="0">
                            <a:latin typeface="Cambria Math" panose="02040503050406030204" pitchFamily="18" charset="0"/>
                            <a:ea typeface="微软雅黑" panose="020B0503020204020204" pitchFamily="34" charset="-122"/>
                          </a:rPr>
                        </m:ctrlPr>
                      </m:dPr>
                      <m:e>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𝑎</m:t>
                                </m:r>
                              </m:e>
                            </m:acc>
                            <m:r>
                              <a:rPr lang="en-US" altLang="zh-CN" b="0" i="1" smtClean="0">
                                <a:latin typeface="Cambria Math" panose="02040503050406030204" pitchFamily="18" charset="0"/>
                                <a:ea typeface="微软雅黑" panose="020B0503020204020204" pitchFamily="34" charset="-122"/>
                              </a:rPr>
                              <m:t>, </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𝑏</m:t>
                                </m:r>
                              </m:e>
                            </m:acc>
                          </m:e>
                        </m:d>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𝑎</m:t>
                                </m:r>
                              </m:e>
                            </m:acc>
                          </m:e>
                          <m:sup>
                            <m:r>
                              <a:rPr lang="en-US" altLang="zh-CN" b="0" i="1" smtClean="0">
                                <a:latin typeface="Cambria Math" panose="02040503050406030204" pitchFamily="18" charset="0"/>
                                <a:ea typeface="微软雅黑" panose="020B0503020204020204" pitchFamily="34" charset="-122"/>
                              </a:rPr>
                              <m:t>2</m:t>
                            </m:r>
                          </m:sup>
                        </m:sSup>
                      </m:e>
                    </m:d>
                    <m:r>
                      <a:rPr lang="en-US" altLang="zh-CN" b="0" i="0" smtClean="0">
                        <a:latin typeface="Cambria Math" panose="02040503050406030204" pitchFamily="18" charset="0"/>
                        <a:ea typeface="微软雅黑" panose="020B0503020204020204" pitchFamily="34" charset="-122"/>
                      </a:rPr>
                      <m:t>≥0</m:t>
                    </m:r>
                  </m:oMath>
                </a14:m>
                <a:endParaRPr lang="en-US" altLang="zh-CN" b="0" dirty="0" smtClean="0">
                  <a:latin typeface="微软雅黑" panose="020B0503020204020204" pitchFamily="34" charset="-122"/>
                  <a:ea typeface="微软雅黑" panose="020B0503020204020204" pitchFamily="34" charset="-122"/>
                </a:endParaRPr>
              </a:p>
              <a:p>
                <a:pPr>
                  <a:lnSpc>
                    <a:spcPts val="3000"/>
                  </a:lnSpc>
                </a:pPr>
                <a:r>
                  <a:rPr lang="zh-CN" altLang="en-US" b="0" dirty="0" smtClean="0">
                    <a:latin typeface="微软雅黑" panose="020B0503020204020204" pitchFamily="34" charset="-122"/>
                    <a:ea typeface="微软雅黑" panose="020B0503020204020204" pitchFamily="34" charset="-122"/>
                  </a:rPr>
                  <a:t>对于这样一个关于</a:t>
                </a:r>
                <a14:m>
                  <m:oMath xmlns:m="http://schemas.openxmlformats.org/officeDocument/2006/math">
                    <m:r>
                      <a:rPr lang="en-US" altLang="zh-CN" i="1">
                        <a:latin typeface="Cambria Math" panose="02040503050406030204" pitchFamily="18" charset="0"/>
                        <a:ea typeface="微软雅黑" panose="020B0503020204020204" pitchFamily="34" charset="-122"/>
                      </a:rPr>
                      <m:t>𝜆</m:t>
                    </m:r>
                  </m:oMath>
                </a14:m>
                <a:r>
                  <a:rPr lang="zh-CN" altLang="en-US" b="0" dirty="0" smtClean="0">
                    <a:latin typeface="微软雅黑" panose="020B0503020204020204" pitchFamily="34" charset="-122"/>
                    <a:ea typeface="微软雅黑" panose="020B0503020204020204" pitchFamily="34" charset="-122"/>
                  </a:rPr>
                  <a:t>的二次不等式，对任意</a:t>
                </a:r>
                <a14:m>
                  <m:oMath xmlns:m="http://schemas.openxmlformats.org/officeDocument/2006/math">
                    <m:r>
                      <a:rPr lang="en-US" altLang="zh-CN" i="1" dirty="0">
                        <a:latin typeface="Cambria Math" panose="02040503050406030204" pitchFamily="18" charset="0"/>
                      </a:rPr>
                      <m:t>𝜆</m:t>
                    </m:r>
                  </m:oMath>
                </a14:m>
                <a:r>
                  <a:rPr lang="zh-CN" altLang="en-US" b="0" dirty="0" smtClean="0">
                    <a:latin typeface="微软雅黑" panose="020B0503020204020204" pitchFamily="34" charset="-122"/>
                    <a:ea typeface="微软雅黑" panose="020B0503020204020204" pitchFamily="34" charset="-122"/>
                  </a:rPr>
                  <a:t>都恒成立</a:t>
                </a:r>
                <a:endParaRPr lang="en-US" altLang="zh-CN" b="0" dirty="0" smtClean="0">
                  <a:latin typeface="微软雅黑" panose="020B0503020204020204" pitchFamily="34" charset="-122"/>
                  <a:ea typeface="微软雅黑" panose="020B0503020204020204" pitchFamily="34" charset="-122"/>
                </a:endParaRPr>
              </a:p>
              <a:p>
                <a:pPr>
                  <a:lnSpc>
                    <a:spcPts val="3000"/>
                  </a:lnSpc>
                </a:pPr>
                <a:r>
                  <a:rPr lang="zh-CN" altLang="en-US" dirty="0" smtClean="0">
                    <a:latin typeface="微软雅黑" panose="020B0503020204020204" pitchFamily="34" charset="-122"/>
                    <a:ea typeface="微软雅黑" panose="020B0503020204020204" pitchFamily="34" charset="-122"/>
                  </a:rPr>
                  <a:t>要求判别式</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d>
                          <m:dPr>
                            <m:ctrlPr>
                              <a:rPr lang="en-US" altLang="zh-CN" b="0" i="1" smtClean="0">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𝑖</m:t>
                            </m:r>
                            <m:d>
                              <m:dPr>
                                <m:begChr m:val="⟨"/>
                                <m:endChr m:val="⟩"/>
                                <m:ctrlPr>
                                  <a:rPr lang="en-US" altLang="zh-CN" i="1">
                                    <a:latin typeface="Cambria Math" panose="02040503050406030204" pitchFamily="18" charset="0"/>
                                    <a:ea typeface="微软雅黑" panose="020B0503020204020204" pitchFamily="34" charset="-122"/>
                                  </a:rPr>
                                </m:ctrlPr>
                              </m:dPr>
                              <m:e>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𝑎</m:t>
                                        </m:r>
                                      </m:e>
                                    </m:acc>
                                    <m:r>
                                      <a:rPr lang="en-US" altLang="zh-CN" i="1">
                                        <a:latin typeface="Cambria Math" panose="02040503050406030204" pitchFamily="18" charset="0"/>
                                        <a:ea typeface="微软雅黑" panose="020B0503020204020204" pitchFamily="34" charset="-122"/>
                                      </a:rPr>
                                      <m:t>, </m:t>
                                    </m:r>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𝑏</m:t>
                                        </m:r>
                                      </m:e>
                                    </m:acc>
                                  </m:e>
                                </m:d>
                              </m:e>
                            </m:d>
                          </m:e>
                        </m:d>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 −4</m:t>
                    </m:r>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𝑎</m:t>
                                </m:r>
                              </m:e>
                            </m:acc>
                          </m:e>
                          <m:sup>
                            <m:r>
                              <a:rPr lang="en-US" altLang="zh-CN" i="1">
                                <a:latin typeface="Cambria Math" panose="02040503050406030204" pitchFamily="18" charset="0"/>
                                <a:ea typeface="微软雅黑" panose="020B0503020204020204" pitchFamily="34" charset="-122"/>
                              </a:rPr>
                              <m:t>2</m:t>
                            </m:r>
                          </m:sup>
                        </m:sSup>
                      </m:e>
                    </m:d>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𝑏</m:t>
                                </m:r>
                              </m:e>
                            </m:acc>
                          </m:e>
                          <m:sup>
                            <m:r>
                              <a:rPr lang="en-US" altLang="zh-CN" i="1">
                                <a:latin typeface="Cambria Math" panose="02040503050406030204" pitchFamily="18" charset="0"/>
                                <a:ea typeface="微软雅黑" panose="020B0503020204020204" pitchFamily="34" charset="-122"/>
                              </a:rPr>
                              <m:t>2</m:t>
                            </m:r>
                          </m:sup>
                        </m:sSup>
                      </m:e>
                    </m:d>
                    <m:r>
                      <a:rPr lang="en-US" altLang="zh-CN" b="0" i="1" smtClean="0">
                        <a:latin typeface="Cambria Math" panose="02040503050406030204" pitchFamily="18" charset="0"/>
                        <a:ea typeface="微软雅黑" panose="020B0503020204020204" pitchFamily="34" charset="-122"/>
                      </a:rPr>
                      <m:t>≥0</m:t>
                    </m:r>
                  </m:oMath>
                </a14:m>
                <a:r>
                  <a:rPr lang="zh-CN" altLang="en-US" b="0" dirty="0" smtClean="0">
                    <a:latin typeface="微软雅黑" panose="020B0503020204020204" pitchFamily="34" charset="-122"/>
                    <a:ea typeface="微软雅黑" panose="020B0503020204020204" pitchFamily="34" charset="-122"/>
                  </a:rPr>
                  <a:t>，即</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𝑎</m:t>
                                </m:r>
                              </m:e>
                            </m:acc>
                          </m:e>
                          <m:sup>
                            <m:r>
                              <a:rPr lang="en-US" altLang="zh-CN" i="1">
                                <a:latin typeface="Cambria Math" panose="02040503050406030204" pitchFamily="18" charset="0"/>
                                <a:ea typeface="微软雅黑" panose="020B0503020204020204" pitchFamily="34" charset="-122"/>
                              </a:rPr>
                              <m:t>2</m:t>
                            </m:r>
                          </m:sup>
                        </m:sSup>
                      </m:e>
                    </m:d>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𝑏</m:t>
                                </m:r>
                              </m:e>
                            </m:acc>
                          </m:e>
                          <m:sup>
                            <m:r>
                              <a:rPr lang="en-US" altLang="zh-CN" i="1">
                                <a:latin typeface="Cambria Math" panose="02040503050406030204" pitchFamily="18" charset="0"/>
                                <a:ea typeface="微软雅黑" panose="020B0503020204020204" pitchFamily="34" charset="-122"/>
                              </a:rPr>
                              <m:t>2</m:t>
                            </m:r>
                          </m:sup>
                        </m:sSup>
                      </m:e>
                    </m:d>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4</m:t>
                        </m:r>
                      </m:den>
                    </m:f>
                    <m:sSup>
                      <m:sSupPr>
                        <m:ctrlPr>
                          <a:rPr lang="en-US" altLang="zh-CN" b="0" i="1" smtClean="0">
                            <a:latin typeface="Cambria Math" panose="02040503050406030204" pitchFamily="18" charset="0"/>
                            <a:ea typeface="微软雅黑" panose="020B0503020204020204" pitchFamily="34" charset="-122"/>
                          </a:rPr>
                        </m:ctrlPr>
                      </m:sSupPr>
                      <m:e>
                        <m:d>
                          <m:dPr>
                            <m:begChr m:val="⟨"/>
                            <m:endChr m:val="⟩"/>
                            <m:ctrlPr>
                              <a:rPr lang="en-US" altLang="zh-CN" i="1">
                                <a:latin typeface="Cambria Math" panose="02040503050406030204" pitchFamily="18" charset="0"/>
                                <a:ea typeface="微软雅黑" panose="020B0503020204020204" pitchFamily="34" charset="-122"/>
                              </a:rPr>
                            </m:ctrlPr>
                          </m:dPr>
                          <m:e>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𝑎</m:t>
                                    </m:r>
                                  </m:e>
                                </m:acc>
                                <m:r>
                                  <a:rPr lang="en-US" altLang="zh-CN" i="1">
                                    <a:latin typeface="Cambria Math" panose="02040503050406030204" pitchFamily="18" charset="0"/>
                                    <a:ea typeface="微软雅黑" panose="020B0503020204020204" pitchFamily="34" charset="-122"/>
                                  </a:rPr>
                                  <m:t>, </m:t>
                                </m:r>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𝑏</m:t>
                                    </m:r>
                                  </m:e>
                                </m:acc>
                              </m:e>
                            </m:d>
                          </m:e>
                        </m:d>
                      </m:e>
                      <m:sup>
                        <m:r>
                          <a:rPr lang="en-US" altLang="zh-CN" b="0" i="1" smtClean="0">
                            <a:latin typeface="Cambria Math" panose="02040503050406030204" pitchFamily="18" charset="0"/>
                            <a:ea typeface="微软雅黑" panose="020B0503020204020204" pitchFamily="34" charset="-122"/>
                          </a:rPr>
                          <m:t>2</m:t>
                        </m:r>
                      </m:sup>
                    </m:sSup>
                  </m:oMath>
                </a14:m>
                <a:endParaRPr lang="en-US" altLang="zh-CN" b="0" dirty="0" smtClean="0">
                  <a:latin typeface="微软雅黑" panose="020B0503020204020204" pitchFamily="34" charset="-122"/>
                  <a:ea typeface="微软雅黑" panose="020B0503020204020204" pitchFamily="34" charset="-122"/>
                </a:endParaRPr>
              </a:p>
              <a:p>
                <a:pPr>
                  <a:lnSpc>
                    <a:spcPts val="3000"/>
                  </a:lnSpc>
                </a:pPr>
                <a:r>
                  <a:rPr lang="zh-CN" altLang="en-US" dirty="0" smtClean="0">
                    <a:latin typeface="微软雅黑" panose="020B0503020204020204" pitchFamily="34" charset="-122"/>
                    <a:ea typeface="微软雅黑" panose="020B0503020204020204" pitchFamily="34" charset="-122"/>
                  </a:rPr>
                  <a:t>现在记</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𝑎</m:t>
                        </m:r>
                      </m:e>
                    </m:acc>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r>
                      <a:rPr lang="en-US" altLang="zh-CN" b="0" i="1" dirty="0" smtClean="0">
                        <a:latin typeface="Cambria Math" panose="02040503050406030204" pitchFamily="18" charset="0"/>
                        <a:ea typeface="微软雅黑" panose="020B0503020204020204" pitchFamily="34" charset="-122"/>
                      </a:rPr>
                      <m:t> −</m:t>
                    </m:r>
                    <m:d>
                      <m:dPr>
                        <m:begChr m:val="⟨"/>
                        <m:endChr m:val="⟩"/>
                        <m:ctrlPr>
                          <a:rPr lang="en-US" altLang="zh-CN" b="0" i="1" dirty="0" smtClean="0">
                            <a:latin typeface="Cambria Math" panose="02040503050406030204" pitchFamily="18" charset="0"/>
                            <a:ea typeface="微软雅黑" panose="020B0503020204020204" pitchFamily="34" charset="-122"/>
                          </a:rPr>
                        </m:ctrlPr>
                      </m:d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e>
                    </m:d>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𝑏</m:t>
                        </m:r>
                      </m:e>
                    </m:acc>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r>
                      <a:rPr lang="en-US" altLang="zh-CN" b="0" i="1" dirty="0" smtClean="0">
                        <a:latin typeface="Cambria Math" panose="02040503050406030204" pitchFamily="18" charset="0"/>
                        <a:ea typeface="微软雅黑" panose="020B0503020204020204" pitchFamily="34" charset="-122"/>
                      </a:rPr>
                      <m:t> −</m:t>
                    </m:r>
                    <m:d>
                      <m:dPr>
                        <m:begChr m:val="⟨"/>
                        <m:endChr m:val="⟩"/>
                        <m:ctrlPr>
                          <a:rPr lang="en-US" altLang="zh-CN" b="0" i="1" dirty="0" smtClean="0">
                            <a:latin typeface="Cambria Math" panose="02040503050406030204" pitchFamily="18" charset="0"/>
                            <a:ea typeface="微软雅黑" panose="020B0503020204020204" pitchFamily="34" charset="-122"/>
                          </a:rPr>
                        </m:ctrlPr>
                      </m:d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e>
                    </m:d>
                  </m:oMath>
                </a14:m>
                <a:r>
                  <a:rPr lang="zh-CN" altLang="en-US" b="0" dirty="0" smtClean="0">
                    <a:latin typeface="微软雅黑" panose="020B0503020204020204" pitchFamily="34" charset="-122"/>
                    <a:ea typeface="微软雅黑" panose="020B0503020204020204" pitchFamily="34" charset="-122"/>
                  </a:rPr>
                  <a:t>表示离期望值的</a:t>
                </a:r>
                <a:r>
                  <a:rPr lang="zh-CN" altLang="en-US" b="0" dirty="0" smtClean="0">
                    <a:solidFill>
                      <a:srgbClr val="FF0000"/>
                    </a:solidFill>
                    <a:latin typeface="微软雅黑" panose="020B0503020204020204" pitchFamily="34" charset="-122"/>
                    <a:ea typeface="微软雅黑" panose="020B0503020204020204" pitchFamily="34" charset="-122"/>
                  </a:rPr>
                  <a:t>偏差</a:t>
                </a:r>
                <a:endParaRPr lang="en-US" altLang="zh-CN" b="0" dirty="0" smtClean="0">
                  <a:solidFill>
                    <a:srgbClr val="FF0000"/>
                  </a:solidFill>
                  <a:latin typeface="微软雅黑" panose="020B0503020204020204" pitchFamily="34" charset="-122"/>
                  <a:ea typeface="微软雅黑" panose="020B0503020204020204" pitchFamily="34" charset="-122"/>
                </a:endParaRPr>
              </a:p>
              <a:p>
                <a:pPr>
                  <a:lnSpc>
                    <a:spcPts val="3000"/>
                  </a:lnSpc>
                </a:pPr>
                <a:r>
                  <a:rPr lang="zh-CN" altLang="en-US" dirty="0">
                    <a:latin typeface="微软雅黑" panose="020B0503020204020204" pitchFamily="34" charset="-122"/>
                    <a:ea typeface="微软雅黑" panose="020B0503020204020204" pitchFamily="34" charset="-122"/>
                  </a:rPr>
                  <a:t>那么</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𝑎</m:t>
                            </m:r>
                          </m:e>
                        </m:acc>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p>
                      <m:sSupPr>
                        <m:ctrlPr>
                          <a:rPr lang="en-US" altLang="zh-CN" b="0" i="1" dirty="0" smtClean="0">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e>
                      <m:sup>
                        <m:r>
                          <a:rPr lang="en-US" altLang="zh-CN" b="0" i="1" dirty="0" smtClean="0">
                            <a:latin typeface="Cambria Math" panose="02040503050406030204" pitchFamily="18" charset="0"/>
                            <a:ea typeface="微软雅黑" panose="020B0503020204020204" pitchFamily="34" charset="-122"/>
                          </a:rPr>
                          <m:t>2</m:t>
                        </m:r>
                      </m:sup>
                    </m:sSup>
                    <m:r>
                      <a:rPr lang="en-US" altLang="zh-CN" b="0" i="1" dirty="0" smtClean="0">
                        <a:latin typeface="Cambria Math" panose="02040503050406030204" pitchFamily="18" charset="0"/>
                        <a:ea typeface="微软雅黑" panose="020B0503020204020204" pitchFamily="34" charset="-122"/>
                      </a:rPr>
                      <m:t> −2</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d>
                      <m:dPr>
                        <m:begChr m:val="⟨"/>
                        <m:endChr m:val="⟩"/>
                        <m:ctrlPr>
                          <a:rPr lang="en-US" altLang="zh-CN" b="0" i="1" dirty="0" smtClean="0">
                            <a:latin typeface="Cambria Math" panose="02040503050406030204" pitchFamily="18" charset="0"/>
                            <a:ea typeface="微软雅黑" panose="020B0503020204020204" pitchFamily="34" charset="-122"/>
                          </a:rPr>
                        </m:ctrlPr>
                      </m:d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e>
                    </m:d>
                    <m:r>
                      <a:rPr lang="en-US" altLang="zh-CN" b="0" i="1" dirty="0" smtClean="0">
                        <a:latin typeface="Cambria Math" panose="02040503050406030204" pitchFamily="18" charset="0"/>
                        <a:ea typeface="微软雅黑" panose="020B0503020204020204" pitchFamily="34" charset="-122"/>
                      </a:rPr>
                      <m:t>+</m:t>
                    </m:r>
                    <m:sSup>
                      <m:sSupPr>
                        <m:ctrlPr>
                          <a:rPr lang="en-US" altLang="zh-CN" b="0" i="1" dirty="0" smtClean="0">
                            <a:latin typeface="Cambria Math" panose="02040503050406030204" pitchFamily="18" charset="0"/>
                            <a:ea typeface="微软雅黑" panose="020B0503020204020204" pitchFamily="34" charset="-122"/>
                          </a:rPr>
                        </m:ctrlPr>
                      </m:sSupPr>
                      <m:e>
                        <m:d>
                          <m:dPr>
                            <m:begChr m:val="⟨"/>
                            <m:endChr m:val="⟩"/>
                            <m:ctrlPr>
                              <a:rPr lang="en-US" altLang="zh-CN" b="0" i="1" dirty="0" smtClean="0">
                                <a:latin typeface="Cambria Math" panose="02040503050406030204" pitchFamily="18" charset="0"/>
                                <a:ea typeface="微软雅黑" panose="020B0503020204020204" pitchFamily="34" charset="-122"/>
                              </a:rPr>
                            </m:ctrlPr>
                          </m:d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e>
                        </m:d>
                      </m:e>
                      <m:sup>
                        <m:r>
                          <a:rPr lang="en-US" altLang="zh-CN" b="0" i="1" dirty="0" smtClean="0">
                            <a:latin typeface="Cambria Math" panose="02040503050406030204" pitchFamily="18" charset="0"/>
                            <a:ea typeface="微软雅黑" panose="020B0503020204020204" pitchFamily="34" charset="-122"/>
                          </a:rPr>
                          <m:t>2</m:t>
                        </m:r>
                      </m:sup>
                    </m:sSup>
                    <m:r>
                      <a:rPr lang="en-US" altLang="zh-CN" b="0" i="1" dirty="0" smtClean="0">
                        <a:latin typeface="Cambria Math" panose="02040503050406030204" pitchFamily="18" charset="0"/>
                        <a:ea typeface="微软雅黑" panose="020B0503020204020204" pitchFamily="34" charset="-122"/>
                      </a:rPr>
                      <m:t>,</m:t>
                    </m:r>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𝑏</m:t>
                            </m:r>
                          </m:e>
                        </m:acc>
                      </m:e>
                      <m:sup>
                        <m:r>
                          <a:rPr lang="en-US" altLang="zh-CN" i="1">
                            <a:latin typeface="Cambria Math" panose="02040503050406030204" pitchFamily="18" charset="0"/>
                            <a:ea typeface="微软雅黑" panose="020B0503020204020204" pitchFamily="34" charset="-122"/>
                          </a:rPr>
                          <m:t>2</m:t>
                        </m:r>
                      </m:sup>
                    </m:sSup>
                    <m:r>
                      <a:rPr lang="en-US" altLang="zh-CN" i="1">
                        <a:latin typeface="Cambria Math" panose="02040503050406030204" pitchFamily="18" charset="0"/>
                        <a:ea typeface="微软雅黑" panose="020B0503020204020204" pitchFamily="34" charset="-122"/>
                      </a:rPr>
                      <m:t>=</m:t>
                    </m:r>
                    <m:sSup>
                      <m:sSupPr>
                        <m:ctrlPr>
                          <a:rPr lang="en-US" altLang="zh-CN" i="1" dirty="0">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𝐵</m:t>
                            </m:r>
                          </m:e>
                        </m:acc>
                      </m:e>
                      <m:sup>
                        <m:r>
                          <a:rPr lang="en-US" altLang="zh-CN" i="1" dirty="0">
                            <a:latin typeface="Cambria Math" panose="02040503050406030204" pitchFamily="18" charset="0"/>
                            <a:ea typeface="微软雅黑" panose="020B0503020204020204" pitchFamily="34" charset="-122"/>
                          </a:rPr>
                          <m:t>2</m:t>
                        </m:r>
                      </m:sup>
                    </m:sSup>
                    <m:r>
                      <a:rPr lang="en-US" altLang="zh-CN" i="1" dirty="0">
                        <a:latin typeface="Cambria Math" panose="02040503050406030204" pitchFamily="18" charset="0"/>
                        <a:ea typeface="微软雅黑" panose="020B0503020204020204" pitchFamily="34" charset="-122"/>
                      </a:rPr>
                      <m:t> −2</m:t>
                    </m:r>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e>
                    </m:d>
                    <m:r>
                      <a:rPr lang="en-US" altLang="zh-CN" b="0" i="1" dirty="0" smtClean="0">
                        <a:latin typeface="Cambria Math" panose="02040503050406030204" pitchFamily="18" charset="0"/>
                        <a:ea typeface="微软雅黑" panose="020B0503020204020204" pitchFamily="34" charset="-122"/>
                      </a:rPr>
                      <m:t>+</m:t>
                    </m:r>
                    <m:sSup>
                      <m:sSupPr>
                        <m:ctrlPr>
                          <a:rPr lang="en-US" altLang="zh-CN" i="1" dirty="0">
                            <a:latin typeface="Cambria Math" panose="02040503050406030204" pitchFamily="18" charset="0"/>
                            <a:ea typeface="微软雅黑" panose="020B0503020204020204" pitchFamily="34" charset="-122"/>
                          </a:rPr>
                        </m:ctrlPr>
                      </m:sSupPr>
                      <m:e>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e>
                        </m:d>
                      </m:e>
                      <m:sup>
                        <m:r>
                          <a:rPr lang="en-US" altLang="zh-CN" i="1" dirty="0">
                            <a:latin typeface="Cambria Math" panose="02040503050406030204" pitchFamily="18" charset="0"/>
                            <a:ea typeface="微软雅黑" panose="020B0503020204020204" pitchFamily="34" charset="-122"/>
                          </a:rPr>
                          <m:t>2</m:t>
                        </m:r>
                      </m:sup>
                    </m:sSup>
                    <m:r>
                      <a:rPr lang="en-US" altLang="zh-CN" b="0" i="0" dirty="0" smtClean="0">
                        <a:latin typeface="Cambria Math" panose="02040503050406030204" pitchFamily="18" charset="0"/>
                        <a:ea typeface="微软雅黑" panose="020B0503020204020204" pitchFamily="34" charset="-122"/>
                      </a:rPr>
                      <m:t>, </m:t>
                    </m:r>
                    <m:d>
                      <m:dPr>
                        <m:begChr m:val="["/>
                        <m:endChr m:val="]"/>
                        <m:ctrlPr>
                          <a:rPr lang="en-US" altLang="zh-CN" b="0" i="1" dirty="0" smtClean="0">
                            <a:latin typeface="Cambria Math" panose="02040503050406030204" pitchFamily="18" charset="0"/>
                            <a:ea typeface="微软雅黑" panose="020B0503020204020204" pitchFamily="34" charset="-122"/>
                          </a:rPr>
                        </m:ctrlPr>
                      </m:d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𝑎</m:t>
                            </m:r>
                          </m:e>
                        </m:acc>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𝑏</m:t>
                            </m:r>
                          </m:e>
                        </m:acc>
                      </m:e>
                    </m:d>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𝑎</m:t>
                        </m:r>
                      </m:e>
                    </m:acc>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𝑏</m:t>
                        </m:r>
                      </m:e>
                    </m:acc>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𝑏</m:t>
                        </m:r>
                      </m:e>
                    </m:acc>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𝑎</m:t>
                        </m:r>
                      </m:e>
                    </m:acc>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b="0" i="1" dirty="0" smtClean="0">
                            <a:latin typeface="Cambria Math" panose="02040503050406030204" pitchFamily="18" charset="0"/>
                            <a:ea typeface="微软雅黑" panose="020B0503020204020204" pitchFamily="34" charset="-122"/>
                          </a:rPr>
                        </m:ctrlPr>
                      </m:dPr>
                      <m:e>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𝐴</m:t>
                            </m:r>
                          </m:e>
                        </m:acc>
                        <m:r>
                          <a:rPr lang="en-US" altLang="zh-CN" b="0" i="1" dirty="0" smtClean="0">
                            <a:latin typeface="Cambria Math" panose="02040503050406030204" pitchFamily="18" charset="0"/>
                            <a:ea typeface="微软雅黑" panose="020B0503020204020204" pitchFamily="34" charset="-122"/>
                          </a:rPr>
                          <m:t>, </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e>
                    </m:d>
                  </m:oMath>
                </a14:m>
                <a:endParaRPr lang="en-US" altLang="zh-CN" b="0" dirty="0" smtClean="0">
                  <a:latin typeface="微软雅黑" panose="020B0503020204020204" pitchFamily="34" charset="-122"/>
                  <a:ea typeface="微软雅黑" panose="020B0503020204020204" pitchFamily="34" charset="-122"/>
                </a:endParaRPr>
              </a:p>
              <a:p>
                <a:pPr>
                  <a:lnSpc>
                    <a:spcPts val="3000"/>
                  </a:lnSpc>
                </a:pPr>
                <a:r>
                  <a:rPr lang="zh-CN" altLang="en-US" dirty="0" smtClean="0">
                    <a:latin typeface="微软雅黑" panose="020B0503020204020204" pitchFamily="34" charset="-122"/>
                    <a:ea typeface="微软雅黑" panose="020B0503020204020204" pitchFamily="34" charset="-122"/>
                  </a:rPr>
                  <a:t>取平均后</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𝑎</m:t>
                                </m:r>
                              </m:e>
                            </m:acc>
                          </m:e>
                          <m:sup>
                            <m:r>
                              <a:rPr lang="en-US" altLang="zh-CN" i="1">
                                <a:latin typeface="Cambria Math" panose="02040503050406030204" pitchFamily="18" charset="0"/>
                                <a:ea typeface="微软雅黑" panose="020B0503020204020204" pitchFamily="34" charset="-122"/>
                              </a:rPr>
                              <m:t>2</m:t>
                            </m:r>
                          </m:sup>
                        </m:sSup>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dirty="0" smtClean="0">
                            <a:latin typeface="Cambria Math" panose="02040503050406030204" pitchFamily="18" charset="0"/>
                            <a:ea typeface="微软雅黑" panose="020B0503020204020204" pitchFamily="34" charset="-122"/>
                          </a:rPr>
                        </m:ctrlPr>
                      </m:dPr>
                      <m:e>
                        <m:sSup>
                          <m:sSupPr>
                            <m:ctrlPr>
                              <a:rPr lang="en-US" altLang="zh-CN" i="1" dirty="0">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sup>
                            <m:r>
                              <a:rPr lang="en-US" altLang="zh-CN" i="1" dirty="0">
                                <a:latin typeface="Cambria Math" panose="02040503050406030204" pitchFamily="18" charset="0"/>
                                <a:ea typeface="微软雅黑" panose="020B0503020204020204" pitchFamily="34" charset="-122"/>
                              </a:rPr>
                              <m:t>2</m:t>
                            </m:r>
                          </m:sup>
                        </m:sSup>
                      </m:e>
                    </m:d>
                    <m:r>
                      <a:rPr lang="en-US" altLang="zh-CN" b="0" i="1" dirty="0" smtClean="0">
                        <a:latin typeface="Cambria Math" panose="02040503050406030204" pitchFamily="18" charset="0"/>
                        <a:ea typeface="微软雅黑" panose="020B0503020204020204" pitchFamily="34" charset="-122"/>
                      </a:rPr>
                      <m:t> −</m:t>
                    </m:r>
                    <m:sSup>
                      <m:sSupPr>
                        <m:ctrlPr>
                          <a:rPr lang="en-US" altLang="zh-CN" i="1" dirty="0">
                            <a:latin typeface="Cambria Math" panose="02040503050406030204" pitchFamily="18" charset="0"/>
                            <a:ea typeface="微软雅黑" panose="020B0503020204020204" pitchFamily="34" charset="-122"/>
                          </a:rPr>
                        </m:ctrlPr>
                      </m:sSupPr>
                      <m:e>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𝐴</m:t>
                                </m:r>
                              </m:e>
                            </m:acc>
                          </m:e>
                        </m:d>
                      </m:e>
                      <m:sup>
                        <m:r>
                          <a:rPr lang="en-US" altLang="zh-CN" i="1" dirty="0">
                            <a:latin typeface="Cambria Math" panose="02040503050406030204" pitchFamily="18" charset="0"/>
                            <a:ea typeface="微软雅黑" panose="020B0503020204020204" pitchFamily="34" charset="-122"/>
                          </a:rPr>
                          <m:t>2</m:t>
                        </m:r>
                      </m:sup>
                    </m:sSup>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𝑏</m:t>
                                </m:r>
                              </m:e>
                            </m:acc>
                          </m:e>
                          <m:sup>
                            <m:r>
                              <a:rPr lang="en-US" altLang="zh-CN" i="1">
                                <a:latin typeface="Cambria Math" panose="02040503050406030204" pitchFamily="18" charset="0"/>
                                <a:ea typeface="微软雅黑" panose="020B0503020204020204" pitchFamily="34" charset="-122"/>
                              </a:rPr>
                              <m:t>2</m:t>
                            </m:r>
                          </m:sup>
                        </m:sSup>
                      </m:e>
                    </m:d>
                    <m:r>
                      <a:rPr lang="en-US" altLang="zh-CN" i="1">
                        <a:latin typeface="Cambria Math" panose="02040503050406030204" pitchFamily="18" charset="0"/>
                        <a:ea typeface="微软雅黑" panose="020B0503020204020204" pitchFamily="34" charset="-122"/>
                      </a:rPr>
                      <m:t>=</m:t>
                    </m:r>
                    <m:d>
                      <m:dPr>
                        <m:begChr m:val="⟨"/>
                        <m:endChr m:val="⟩"/>
                        <m:ctrlPr>
                          <a:rPr lang="en-US" altLang="zh-CN" i="1" dirty="0">
                            <a:latin typeface="Cambria Math" panose="02040503050406030204" pitchFamily="18" charset="0"/>
                            <a:ea typeface="微软雅黑" panose="020B0503020204020204" pitchFamily="34" charset="-122"/>
                          </a:rPr>
                        </m:ctrlPr>
                      </m:dPr>
                      <m:e>
                        <m:sSup>
                          <m:sSupPr>
                            <m:ctrlPr>
                              <a:rPr lang="en-US" altLang="zh-CN" i="1" dirty="0">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𝐵</m:t>
                                </m:r>
                              </m:e>
                            </m:acc>
                          </m:e>
                          <m:sup>
                            <m:r>
                              <a:rPr lang="en-US" altLang="zh-CN" i="1" dirty="0">
                                <a:latin typeface="Cambria Math" panose="02040503050406030204" pitchFamily="18" charset="0"/>
                                <a:ea typeface="微软雅黑" panose="020B0503020204020204" pitchFamily="34" charset="-122"/>
                              </a:rPr>
                              <m:t>2</m:t>
                            </m:r>
                          </m:sup>
                        </m:sSup>
                      </m:e>
                    </m:d>
                    <m:r>
                      <a:rPr lang="en-US" altLang="zh-CN" i="1" dirty="0">
                        <a:latin typeface="Cambria Math" panose="02040503050406030204" pitchFamily="18" charset="0"/>
                        <a:ea typeface="微软雅黑" panose="020B0503020204020204" pitchFamily="34" charset="-122"/>
                      </a:rPr>
                      <m:t> −</m:t>
                    </m:r>
                    <m:sSup>
                      <m:sSupPr>
                        <m:ctrlPr>
                          <a:rPr lang="en-US" altLang="zh-CN" i="1" dirty="0">
                            <a:latin typeface="Cambria Math" panose="02040503050406030204" pitchFamily="18" charset="0"/>
                            <a:ea typeface="微软雅黑" panose="020B0503020204020204" pitchFamily="34" charset="-122"/>
                          </a:rPr>
                        </m:ctrlPr>
                      </m:sSupPr>
                      <m:e>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e>
                        </m:d>
                      </m:e>
                      <m:sup>
                        <m:r>
                          <a:rPr lang="en-US" altLang="zh-CN" i="1" dirty="0">
                            <a:latin typeface="Cambria Math" panose="02040503050406030204" pitchFamily="18" charset="0"/>
                            <a:ea typeface="微软雅黑" panose="020B0503020204020204" pitchFamily="34" charset="-122"/>
                          </a:rPr>
                          <m:t>2</m:t>
                        </m:r>
                      </m:sup>
                    </m:sSup>
                  </m:oMath>
                </a14:m>
                <a:r>
                  <a:rPr lang="zh-CN" altLang="en-US" b="0" dirty="0" smtClean="0">
                    <a:latin typeface="微软雅黑" panose="020B0503020204020204" pitchFamily="34" charset="-122"/>
                    <a:ea typeface="微软雅黑" panose="020B0503020204020204" pitchFamily="34" charset="-122"/>
                  </a:rPr>
                  <a:t>，恰好就是</a:t>
                </a:r>
                <a:r>
                  <a:rPr lang="zh-CN" altLang="en-US" b="0" dirty="0" smtClean="0">
                    <a:solidFill>
                      <a:srgbClr val="FF0000"/>
                    </a:solidFill>
                    <a:latin typeface="微软雅黑" panose="020B0503020204020204" pitchFamily="34" charset="-122"/>
                    <a:ea typeface="微软雅黑" panose="020B0503020204020204" pitchFamily="34" charset="-122"/>
                  </a:rPr>
                  <a:t>方差</a:t>
                </a:r>
                <a:r>
                  <a:rPr lang="zh-CN" altLang="en-US" b="0" dirty="0" smtClean="0">
                    <a:latin typeface="微软雅黑" panose="020B0503020204020204" pitchFamily="34" charset="-122"/>
                    <a:ea typeface="微软雅黑" panose="020B0503020204020204" pitchFamily="34" charset="-122"/>
                  </a:rPr>
                  <a:t>的定义</a:t>
                </a:r>
                <a:endParaRPr lang="en-US" altLang="zh-CN" b="0" dirty="0" smtClean="0">
                  <a:latin typeface="微软雅黑" panose="020B0503020204020204" pitchFamily="34" charset="-122"/>
                  <a:ea typeface="微软雅黑" panose="020B0503020204020204" pitchFamily="34" charset="-122"/>
                </a:endParaRPr>
              </a:p>
              <a:p>
                <a:pPr>
                  <a:lnSpc>
                    <a:spcPts val="3000"/>
                  </a:lnSpc>
                </a:pPr>
                <a:r>
                  <a:rPr lang="zh-CN" altLang="en-US" b="0" dirty="0" smtClean="0">
                    <a:ea typeface="微软雅黑" panose="020B0503020204020204" pitchFamily="34" charset="-122"/>
                  </a:rPr>
                  <a:t>而</a:t>
                </a:r>
                <a14:m>
                  <m:oMath xmlns:m="http://schemas.openxmlformats.org/officeDocument/2006/math">
                    <m:d>
                      <m:dPr>
                        <m:begChr m:val="⟨"/>
                        <m:endChr m:val="⟩"/>
                        <m:ctrlPr>
                          <a:rPr lang="en-US" altLang="zh-CN" b="0" i="1" dirty="0" smtClean="0">
                            <a:latin typeface="Cambria Math" panose="02040503050406030204" pitchFamily="18" charset="0"/>
                            <a:ea typeface="微软雅黑" panose="020B0503020204020204" pitchFamily="34" charset="-122"/>
                          </a:rPr>
                        </m:ctrlPr>
                      </m:dPr>
                      <m:e>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𝑎</m:t>
                                </m:r>
                              </m:e>
                            </m:acc>
                            <m:r>
                              <a:rPr lang="en-US" altLang="zh-CN" i="1" dirty="0">
                                <a:latin typeface="Cambria Math" panose="02040503050406030204" pitchFamily="18" charset="0"/>
                                <a:ea typeface="微软雅黑" panose="020B0503020204020204" pitchFamily="34" charset="-122"/>
                              </a:rPr>
                              <m:t>, </m:t>
                            </m:r>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𝑏</m:t>
                                </m:r>
                              </m:e>
                            </m:acc>
                          </m:e>
                        </m:d>
                      </m:e>
                    </m:d>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b="0" i="1" dirty="0" smtClean="0">
                            <a:latin typeface="Cambria Math" panose="02040503050406030204" pitchFamily="18" charset="0"/>
                            <a:ea typeface="微软雅黑" panose="020B0503020204020204" pitchFamily="34" charset="-122"/>
                          </a:rPr>
                        </m:ctrlPr>
                      </m:dPr>
                      <m:e>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𝐴</m:t>
                                </m:r>
                              </m:e>
                            </m:acc>
                            <m:r>
                              <a:rPr lang="en-US" altLang="zh-CN" i="1" dirty="0">
                                <a:latin typeface="Cambria Math" panose="02040503050406030204" pitchFamily="18" charset="0"/>
                                <a:ea typeface="微软雅黑" panose="020B0503020204020204" pitchFamily="34" charset="-122"/>
                              </a:rPr>
                              <m:t>, </m:t>
                            </m:r>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𝐵</m:t>
                                </m:r>
                              </m:e>
                            </m:acc>
                          </m:e>
                        </m:d>
                      </m:e>
                    </m:d>
                  </m:oMath>
                </a14:m>
                <a:endParaRPr lang="en-US" altLang="zh-CN" b="0" dirty="0" smtClean="0">
                  <a:latin typeface="微软雅黑" panose="020B0503020204020204" pitchFamily="34" charset="-122"/>
                  <a:ea typeface="微软雅黑" panose="020B0503020204020204" pitchFamily="34" charset="-122"/>
                </a:endParaRPr>
              </a:p>
              <a:p>
                <a:endParaRPr lang="en-US" altLang="zh-CN" b="0"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记</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sSup>
                          <m:sSupPr>
                            <m:ctrlPr>
                              <a:rPr lang="en-US" altLang="zh-CN" i="1" dirty="0">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sup>
                            <m:r>
                              <a:rPr lang="en-US" altLang="zh-CN" i="1" dirty="0">
                                <a:latin typeface="Cambria Math" panose="02040503050406030204" pitchFamily="18" charset="0"/>
                                <a:ea typeface="微软雅黑" panose="020B0503020204020204" pitchFamily="34" charset="-122"/>
                              </a:rPr>
                              <m:t>2</m:t>
                            </m:r>
                          </m:sup>
                        </m:sSup>
                      </m:e>
                    </m:d>
                    <m:r>
                      <a:rPr lang="en-US" altLang="zh-CN" i="1" dirty="0">
                        <a:latin typeface="Cambria Math" panose="02040503050406030204" pitchFamily="18" charset="0"/>
                        <a:ea typeface="微软雅黑" panose="020B0503020204020204" pitchFamily="34" charset="-122"/>
                      </a:rPr>
                      <m:t> −</m:t>
                    </m:r>
                    <m:sSup>
                      <m:sSupPr>
                        <m:ctrlPr>
                          <a:rPr lang="en-US" altLang="zh-CN" i="1" dirty="0">
                            <a:latin typeface="Cambria Math" panose="02040503050406030204" pitchFamily="18" charset="0"/>
                            <a:ea typeface="微软雅黑" panose="020B0503020204020204" pitchFamily="34" charset="-122"/>
                          </a:rPr>
                        </m:ctrlPr>
                      </m:sSupPr>
                      <m:e>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𝐴</m:t>
                                </m:r>
                              </m:e>
                            </m:acc>
                          </m:e>
                        </m:d>
                      </m:e>
                      <m:sup>
                        <m:r>
                          <a:rPr lang="en-US" altLang="zh-CN" i="1" dirty="0">
                            <a:latin typeface="Cambria Math" panose="02040503050406030204" pitchFamily="18" charset="0"/>
                            <a:ea typeface="微软雅黑" panose="020B0503020204020204" pitchFamily="34" charset="-122"/>
                          </a:rPr>
                          <m:t>2</m:t>
                        </m:r>
                      </m:sup>
                    </m:sSup>
                    <m:r>
                      <a:rPr lang="en-US" altLang="zh-CN" b="0" i="1" dirty="0" smtClean="0">
                        <a:latin typeface="Cambria Math" panose="02040503050406030204" pitchFamily="18" charset="0"/>
                        <a:ea typeface="微软雅黑" panose="020B0503020204020204" pitchFamily="34" charset="-122"/>
                      </a:rPr>
                      <m:t>=</m:t>
                    </m:r>
                    <m:sSup>
                      <m:sSupPr>
                        <m:ctrlPr>
                          <a:rPr lang="en-US" altLang="zh-CN" b="0" i="1" dirty="0" smtClean="0">
                            <a:latin typeface="Cambria Math" panose="02040503050406030204" pitchFamily="18" charset="0"/>
                            <a:ea typeface="微软雅黑" panose="020B0503020204020204" pitchFamily="34" charset="-122"/>
                          </a:rPr>
                        </m:ctrlPr>
                      </m:sSupPr>
                      <m:e>
                        <m:d>
                          <m:dPr>
                            <m:ctrlPr>
                              <a:rPr lang="en-US" altLang="zh-CN" b="0" i="1" dirty="0" smtClean="0">
                                <a:latin typeface="Cambria Math" panose="02040503050406030204" pitchFamily="18" charset="0"/>
                                <a:ea typeface="微软雅黑" panose="020B0503020204020204" pitchFamily="34" charset="-122"/>
                              </a:rPr>
                            </m:ctrlPr>
                          </m:dPr>
                          <m:e>
                            <m:r>
                              <m:rPr>
                                <m:sty m:val="p"/>
                              </m:rPr>
                              <a:rPr lang="en-US" altLang="zh-CN" b="0" i="0" dirty="0" smtClean="0">
                                <a:latin typeface="Cambria Math" panose="02040503050406030204" pitchFamily="18" charset="0"/>
                                <a:ea typeface="微软雅黑" panose="020B0503020204020204" pitchFamily="34" charset="-122"/>
                              </a:rPr>
                              <m:t>Δ</m:t>
                            </m:r>
                            <m:r>
                              <a:rPr lang="en-US" altLang="zh-CN" b="0" i="1" dirty="0" smtClean="0">
                                <a:latin typeface="Cambria Math" panose="02040503050406030204" pitchFamily="18" charset="0"/>
                                <a:ea typeface="微软雅黑" panose="020B0503020204020204" pitchFamily="34" charset="-122"/>
                              </a:rPr>
                              <m:t>𝐴</m:t>
                            </m:r>
                          </m:e>
                        </m:d>
                      </m:e>
                      <m:sup>
                        <m:r>
                          <a:rPr lang="en-US" altLang="zh-CN" b="0" i="1" dirty="0" smtClean="0">
                            <a:latin typeface="Cambria Math" panose="02040503050406030204" pitchFamily="18" charset="0"/>
                            <a:ea typeface="微软雅黑" panose="020B0503020204020204" pitchFamily="34" charset="-122"/>
                          </a:rPr>
                          <m:t>2</m:t>
                        </m:r>
                      </m:sup>
                    </m:sSup>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i="1" dirty="0">
                            <a:latin typeface="Cambria Math" panose="02040503050406030204" pitchFamily="18" charset="0"/>
                            <a:ea typeface="微软雅黑" panose="020B0503020204020204" pitchFamily="34" charset="-122"/>
                          </a:rPr>
                        </m:ctrlPr>
                      </m:dPr>
                      <m:e>
                        <m:sSup>
                          <m:sSupPr>
                            <m:ctrlPr>
                              <a:rPr lang="en-US" altLang="zh-CN" i="1" dirty="0">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𝐵</m:t>
                                </m:r>
                              </m:e>
                            </m:acc>
                          </m:e>
                          <m:sup>
                            <m:r>
                              <a:rPr lang="en-US" altLang="zh-CN" i="1" dirty="0">
                                <a:latin typeface="Cambria Math" panose="02040503050406030204" pitchFamily="18" charset="0"/>
                                <a:ea typeface="微软雅黑" panose="020B0503020204020204" pitchFamily="34" charset="-122"/>
                              </a:rPr>
                              <m:t>2</m:t>
                            </m:r>
                          </m:sup>
                        </m:sSup>
                      </m:e>
                    </m:d>
                    <m:r>
                      <a:rPr lang="en-US" altLang="zh-CN" i="1" dirty="0">
                        <a:latin typeface="Cambria Math" panose="02040503050406030204" pitchFamily="18" charset="0"/>
                        <a:ea typeface="微软雅黑" panose="020B0503020204020204" pitchFamily="34" charset="-122"/>
                      </a:rPr>
                      <m:t> −</m:t>
                    </m:r>
                    <m:sSup>
                      <m:sSupPr>
                        <m:ctrlPr>
                          <a:rPr lang="en-US" altLang="zh-CN" i="1" dirty="0">
                            <a:latin typeface="Cambria Math" panose="02040503050406030204" pitchFamily="18" charset="0"/>
                            <a:ea typeface="微软雅黑" panose="020B0503020204020204" pitchFamily="34" charset="-122"/>
                          </a:rPr>
                        </m:ctrlPr>
                      </m:sSupPr>
                      <m:e>
                        <m:d>
                          <m:dPr>
                            <m:begChr m:val="⟨"/>
                            <m:endChr m:val="⟩"/>
                            <m:ctrlPr>
                              <a:rPr lang="en-US" altLang="zh-CN" i="1" dirty="0">
                                <a:latin typeface="Cambria Math" panose="02040503050406030204" pitchFamily="18" charset="0"/>
                                <a:ea typeface="微软雅黑" panose="020B0503020204020204" pitchFamily="34" charset="-122"/>
                              </a:rPr>
                            </m:ctrlPr>
                          </m:dPr>
                          <m:e>
                            <m:acc>
                              <m:accPr>
                                <m:chr m:val="̂"/>
                                <m:ctrlPr>
                                  <a:rPr lang="en-US" altLang="zh-CN" i="1" dirty="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𝐵</m:t>
                                </m:r>
                              </m:e>
                            </m:acc>
                          </m:e>
                        </m:d>
                      </m:e>
                      <m:sup>
                        <m:r>
                          <a:rPr lang="en-US" altLang="zh-CN" i="1" dirty="0">
                            <a:latin typeface="Cambria Math" panose="02040503050406030204" pitchFamily="18" charset="0"/>
                            <a:ea typeface="微软雅黑" panose="020B0503020204020204" pitchFamily="34" charset="-122"/>
                          </a:rPr>
                          <m:t>2</m:t>
                        </m:r>
                      </m:sup>
                    </m:sSup>
                    <m:r>
                      <a:rPr lang="en-US" altLang="zh-CN" i="1" dirty="0">
                        <a:latin typeface="Cambria Math" panose="02040503050406030204" pitchFamily="18" charset="0"/>
                        <a:ea typeface="微软雅黑" panose="020B0503020204020204" pitchFamily="34" charset="-122"/>
                      </a:rPr>
                      <m:t>=</m:t>
                    </m:r>
                    <m:sSup>
                      <m:sSupPr>
                        <m:ctrlPr>
                          <a:rPr lang="en-US" altLang="zh-CN" i="1" dirty="0">
                            <a:latin typeface="Cambria Math" panose="02040503050406030204" pitchFamily="18" charset="0"/>
                            <a:ea typeface="微软雅黑" panose="020B0503020204020204" pitchFamily="34" charset="-122"/>
                          </a:rPr>
                        </m:ctrlPr>
                      </m:sSupPr>
                      <m:e>
                        <m:d>
                          <m:dPr>
                            <m:ctrlPr>
                              <a:rPr lang="en-US" altLang="zh-CN" i="1" dirty="0">
                                <a:latin typeface="Cambria Math" panose="02040503050406030204" pitchFamily="18" charset="0"/>
                                <a:ea typeface="微软雅黑" panose="020B0503020204020204" pitchFamily="34" charset="-122"/>
                              </a:rPr>
                            </m:ctrlPr>
                          </m:dPr>
                          <m:e>
                            <m:r>
                              <m:rPr>
                                <m:sty m:val="p"/>
                              </m:rPr>
                              <a:rPr lang="en-US" altLang="zh-CN" dirty="0">
                                <a:latin typeface="Cambria Math" panose="02040503050406030204" pitchFamily="18" charset="0"/>
                                <a:ea typeface="微软雅黑" panose="020B0503020204020204" pitchFamily="34" charset="-122"/>
                              </a:rPr>
                              <m:t>Δ</m:t>
                            </m:r>
                            <m:r>
                              <a:rPr lang="en-US" altLang="zh-CN" b="0" i="1" dirty="0" smtClean="0">
                                <a:latin typeface="Cambria Math" panose="02040503050406030204" pitchFamily="18" charset="0"/>
                                <a:ea typeface="微软雅黑" panose="020B0503020204020204" pitchFamily="34" charset="-122"/>
                              </a:rPr>
                              <m:t>𝐵</m:t>
                            </m:r>
                          </m:e>
                        </m:d>
                      </m:e>
                      <m:sup>
                        <m:r>
                          <a:rPr lang="en-US" altLang="zh-CN" i="1" dirty="0">
                            <a:latin typeface="Cambria Math" panose="02040503050406030204" pitchFamily="18" charset="0"/>
                            <a:ea typeface="微软雅黑" panose="020B0503020204020204" pitchFamily="34" charset="-122"/>
                          </a:rPr>
                          <m:t>2</m:t>
                        </m:r>
                      </m:sup>
                    </m:sSup>
                  </m:oMath>
                </a14:m>
                <a:endParaRPr lang="en-US" altLang="zh-CN" b="0"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sSup>
                        <m:sSupPr>
                          <m:ctrlPr>
                            <a:rPr lang="en-US" altLang="zh-CN" i="1" dirty="0" smtClean="0">
                              <a:solidFill>
                                <a:srgbClr val="FF0000"/>
                              </a:solidFill>
                              <a:latin typeface="Cambria Math" panose="02040503050406030204" pitchFamily="18" charset="0"/>
                              <a:ea typeface="微软雅黑" panose="020B0503020204020204" pitchFamily="34" charset="-122"/>
                            </a:rPr>
                          </m:ctrlPr>
                        </m:sSupPr>
                        <m:e>
                          <m:d>
                            <m:dPr>
                              <m:ctrlPr>
                                <a:rPr lang="en-US" altLang="zh-CN" i="1" dirty="0">
                                  <a:solidFill>
                                    <a:srgbClr val="FF0000"/>
                                  </a:solidFill>
                                  <a:latin typeface="Cambria Math" panose="02040503050406030204" pitchFamily="18" charset="0"/>
                                  <a:ea typeface="微软雅黑" panose="020B0503020204020204" pitchFamily="34" charset="-122"/>
                                </a:rPr>
                              </m:ctrlPr>
                            </m:dPr>
                            <m:e>
                              <m:r>
                                <m:rPr>
                                  <m:sty m:val="p"/>
                                </m:rPr>
                                <a:rPr lang="en-US" altLang="zh-CN" dirty="0">
                                  <a:solidFill>
                                    <a:srgbClr val="FF0000"/>
                                  </a:solidFill>
                                  <a:latin typeface="Cambria Math" panose="02040503050406030204" pitchFamily="18" charset="0"/>
                                  <a:ea typeface="微软雅黑" panose="020B0503020204020204" pitchFamily="34" charset="-122"/>
                                </a:rPr>
                                <m:t>Δ</m:t>
                              </m:r>
                              <m:r>
                                <a:rPr lang="en-US" altLang="zh-CN" i="1" dirty="0">
                                  <a:solidFill>
                                    <a:srgbClr val="FF0000"/>
                                  </a:solidFill>
                                  <a:latin typeface="Cambria Math" panose="02040503050406030204" pitchFamily="18" charset="0"/>
                                  <a:ea typeface="微软雅黑" panose="020B0503020204020204" pitchFamily="34" charset="-122"/>
                                </a:rPr>
                                <m:t>𝐴</m:t>
                              </m:r>
                              <m:r>
                                <m:rPr>
                                  <m:sty m:val="p"/>
                                </m:rPr>
                                <a:rPr lang="en-US" altLang="zh-CN" b="0" i="0" dirty="0" smtClean="0">
                                  <a:solidFill>
                                    <a:srgbClr val="FF0000"/>
                                  </a:solidFill>
                                  <a:latin typeface="Cambria Math" panose="02040503050406030204" pitchFamily="18" charset="0"/>
                                  <a:ea typeface="微软雅黑" panose="020B0503020204020204" pitchFamily="34" charset="-122"/>
                                </a:rPr>
                                <m:t>Δ</m:t>
                              </m:r>
                              <m:r>
                                <a:rPr lang="en-US" altLang="zh-CN" b="0" i="1" dirty="0" smtClean="0">
                                  <a:solidFill>
                                    <a:srgbClr val="FF0000"/>
                                  </a:solidFill>
                                  <a:latin typeface="Cambria Math" panose="02040503050406030204" pitchFamily="18" charset="0"/>
                                  <a:ea typeface="微软雅黑" panose="020B0503020204020204" pitchFamily="34" charset="-122"/>
                                </a:rPr>
                                <m:t>𝐵</m:t>
                              </m:r>
                            </m:e>
                          </m:d>
                        </m:e>
                        <m:sup>
                          <m:r>
                            <a:rPr lang="en-US" altLang="zh-CN" i="1" dirty="0">
                              <a:solidFill>
                                <a:srgbClr val="FF0000"/>
                              </a:solidFill>
                              <a:latin typeface="Cambria Math" panose="02040503050406030204" pitchFamily="18" charset="0"/>
                              <a:ea typeface="微软雅黑" panose="020B0503020204020204" pitchFamily="34" charset="-122"/>
                            </a:rPr>
                            <m:t>2</m:t>
                          </m:r>
                        </m:sup>
                      </m:sSup>
                      <m:r>
                        <a:rPr lang="en-US" altLang="zh-CN" b="0" i="1" dirty="0" smtClean="0">
                          <a:solidFill>
                            <a:srgbClr val="FF0000"/>
                          </a:solidFill>
                          <a:latin typeface="Cambria Math" panose="02040503050406030204" pitchFamily="18" charset="0"/>
                          <a:ea typeface="微软雅黑" panose="020B0503020204020204" pitchFamily="34" charset="-122"/>
                        </a:rPr>
                        <m:t>≥−</m:t>
                      </m:r>
                      <m:f>
                        <m:fPr>
                          <m:ctrlPr>
                            <a:rPr lang="en-US" altLang="zh-CN" b="0" i="1" dirty="0" smtClean="0">
                              <a:solidFill>
                                <a:srgbClr val="FF0000"/>
                              </a:solidFill>
                              <a:latin typeface="Cambria Math" panose="02040503050406030204" pitchFamily="18" charset="0"/>
                              <a:ea typeface="微软雅黑" panose="020B0503020204020204" pitchFamily="34" charset="-122"/>
                            </a:rPr>
                          </m:ctrlPr>
                        </m:fPr>
                        <m:num>
                          <m:r>
                            <a:rPr lang="en-US" altLang="zh-CN" b="0" i="1" dirty="0" smtClean="0">
                              <a:solidFill>
                                <a:srgbClr val="FF0000"/>
                              </a:solidFill>
                              <a:latin typeface="Cambria Math" panose="02040503050406030204" pitchFamily="18" charset="0"/>
                              <a:ea typeface="微软雅黑" panose="020B0503020204020204" pitchFamily="34" charset="-122"/>
                            </a:rPr>
                            <m:t>1</m:t>
                          </m:r>
                        </m:num>
                        <m:den>
                          <m:r>
                            <a:rPr lang="en-US" altLang="zh-CN" b="0" i="1" dirty="0" smtClean="0">
                              <a:solidFill>
                                <a:srgbClr val="FF0000"/>
                              </a:solidFill>
                              <a:latin typeface="Cambria Math" panose="02040503050406030204" pitchFamily="18" charset="0"/>
                              <a:ea typeface="微软雅黑" panose="020B0503020204020204" pitchFamily="34" charset="-122"/>
                            </a:rPr>
                            <m:t>4</m:t>
                          </m:r>
                        </m:den>
                      </m:f>
                      <m:sSup>
                        <m:sSupPr>
                          <m:ctrlPr>
                            <a:rPr lang="en-US" altLang="zh-CN" b="0" i="1" dirty="0" smtClean="0">
                              <a:solidFill>
                                <a:srgbClr val="FF0000"/>
                              </a:solidFill>
                              <a:latin typeface="Cambria Math" panose="02040503050406030204" pitchFamily="18" charset="0"/>
                              <a:ea typeface="微软雅黑" panose="020B0503020204020204" pitchFamily="34" charset="-122"/>
                            </a:rPr>
                          </m:ctrlPr>
                        </m:sSupPr>
                        <m:e>
                          <m:d>
                            <m:dPr>
                              <m:begChr m:val="⟨"/>
                              <m:endChr m:val="⟩"/>
                              <m:ctrlPr>
                                <a:rPr lang="en-US" altLang="zh-CN" i="1" dirty="0">
                                  <a:solidFill>
                                    <a:srgbClr val="FF0000"/>
                                  </a:solidFill>
                                  <a:latin typeface="Cambria Math" panose="02040503050406030204" pitchFamily="18" charset="0"/>
                                  <a:ea typeface="微软雅黑" panose="020B0503020204020204" pitchFamily="34" charset="-122"/>
                                </a:rPr>
                              </m:ctrlPr>
                            </m:dPr>
                            <m:e>
                              <m:d>
                                <m:dPr>
                                  <m:begChr m:val="["/>
                                  <m:endChr m:val="]"/>
                                  <m:ctrlPr>
                                    <a:rPr lang="en-US" altLang="zh-CN" i="1" dirty="0">
                                      <a:solidFill>
                                        <a:srgbClr val="FF0000"/>
                                      </a:solidFill>
                                      <a:latin typeface="Cambria Math" panose="02040503050406030204" pitchFamily="18" charset="0"/>
                                      <a:ea typeface="微软雅黑" panose="020B0503020204020204" pitchFamily="34" charset="-122"/>
                                    </a:rPr>
                                  </m:ctrlPr>
                                </m:dPr>
                                <m:e>
                                  <m:acc>
                                    <m:accPr>
                                      <m:chr m:val="̂"/>
                                      <m:ctrlPr>
                                        <a:rPr lang="en-US" altLang="zh-CN" i="1" dirty="0">
                                          <a:solidFill>
                                            <a:srgbClr val="FF0000"/>
                                          </a:solidFill>
                                          <a:latin typeface="Cambria Math" panose="02040503050406030204" pitchFamily="18" charset="0"/>
                                          <a:ea typeface="微软雅黑" panose="020B0503020204020204" pitchFamily="34" charset="-122"/>
                                        </a:rPr>
                                      </m:ctrlPr>
                                    </m:accPr>
                                    <m:e>
                                      <m:r>
                                        <a:rPr lang="en-US" altLang="zh-CN" i="1" dirty="0">
                                          <a:solidFill>
                                            <a:srgbClr val="FF0000"/>
                                          </a:solidFill>
                                          <a:latin typeface="Cambria Math" panose="02040503050406030204" pitchFamily="18" charset="0"/>
                                          <a:ea typeface="微软雅黑" panose="020B0503020204020204" pitchFamily="34" charset="-122"/>
                                        </a:rPr>
                                        <m:t>𝐴</m:t>
                                      </m:r>
                                    </m:e>
                                  </m:acc>
                                  <m:r>
                                    <a:rPr lang="en-US" altLang="zh-CN" i="1" dirty="0">
                                      <a:solidFill>
                                        <a:srgbClr val="FF0000"/>
                                      </a:solidFill>
                                      <a:latin typeface="Cambria Math" panose="02040503050406030204" pitchFamily="18" charset="0"/>
                                      <a:ea typeface="微软雅黑" panose="020B0503020204020204" pitchFamily="34" charset="-122"/>
                                    </a:rPr>
                                    <m:t>, </m:t>
                                  </m:r>
                                  <m:acc>
                                    <m:accPr>
                                      <m:chr m:val="̂"/>
                                      <m:ctrlPr>
                                        <a:rPr lang="en-US" altLang="zh-CN" i="1" dirty="0">
                                          <a:solidFill>
                                            <a:srgbClr val="FF0000"/>
                                          </a:solidFill>
                                          <a:latin typeface="Cambria Math" panose="02040503050406030204" pitchFamily="18" charset="0"/>
                                          <a:ea typeface="微软雅黑" panose="020B0503020204020204" pitchFamily="34" charset="-122"/>
                                        </a:rPr>
                                      </m:ctrlPr>
                                    </m:accPr>
                                    <m:e>
                                      <m:r>
                                        <a:rPr lang="en-US" altLang="zh-CN" i="1" dirty="0">
                                          <a:solidFill>
                                            <a:srgbClr val="FF0000"/>
                                          </a:solidFill>
                                          <a:latin typeface="Cambria Math" panose="02040503050406030204" pitchFamily="18" charset="0"/>
                                          <a:ea typeface="微软雅黑" panose="020B0503020204020204" pitchFamily="34" charset="-122"/>
                                        </a:rPr>
                                        <m:t>𝐵</m:t>
                                      </m:r>
                                    </m:e>
                                  </m:acc>
                                </m:e>
                              </m:d>
                            </m:e>
                          </m:d>
                        </m:e>
                        <m:sup>
                          <m:r>
                            <a:rPr lang="en-US" altLang="zh-CN" b="0" i="1" dirty="0" smtClean="0">
                              <a:solidFill>
                                <a:srgbClr val="FF0000"/>
                              </a:solidFill>
                              <a:latin typeface="Cambria Math" panose="02040503050406030204" pitchFamily="18" charset="0"/>
                              <a:ea typeface="微软雅黑" panose="020B0503020204020204" pitchFamily="34" charset="-122"/>
                            </a:rPr>
                            <m:t>2</m:t>
                          </m:r>
                        </m:sup>
                      </m:sSup>
                    </m:oMath>
                  </m:oMathPara>
                </a14:m>
                <a:endParaRPr lang="en-US" altLang="zh-CN" b="0"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这就是广义的</a:t>
                </a:r>
                <a:r>
                  <a:rPr lang="zh-CN" altLang="en-US" dirty="0" smtClean="0">
                    <a:solidFill>
                      <a:srgbClr val="FF0000"/>
                    </a:solidFill>
                    <a:latin typeface="微软雅黑" panose="020B0503020204020204" pitchFamily="34" charset="-122"/>
                    <a:ea typeface="微软雅黑" panose="020B0503020204020204" pitchFamily="34" charset="-122"/>
                  </a:rPr>
                  <a:t>不确定性原理</a:t>
                </a:r>
                <a:endParaRPr lang="en-US" altLang="zh-CN" b="0" dirty="0" smtClean="0">
                  <a:solidFill>
                    <a:srgbClr val="FF0000"/>
                  </a:solidFill>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42315" y="1079730"/>
                <a:ext cx="10673862" cy="5789534"/>
              </a:xfrm>
              <a:prstGeom prst="rect">
                <a:avLst/>
              </a:prstGeom>
              <a:blipFill rotWithShape="0">
                <a:blip r:embed="rId3"/>
                <a:stretch>
                  <a:fillRect l="-514" t="-211" b="-7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63619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18147" y="873094"/>
            <a:ext cx="1723549"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不确定性原理</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p:cNvSpPr txBox="1"/>
              <p:nvPr/>
            </p:nvSpPr>
            <p:spPr>
              <a:xfrm>
                <a:off x="993530" y="1457869"/>
                <a:ext cx="9404790" cy="4756495"/>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现在将正则对易关系</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𝑥</m:t>
                            </m:r>
                          </m:e>
                        </m:acc>
                        <m:r>
                          <a:rPr lang="en-US" altLang="zh-CN" i="1">
                            <a:latin typeface="Cambria Math" panose="02040503050406030204" pitchFamily="18" charset="0"/>
                            <a:ea typeface="微软雅黑" panose="020B0503020204020204" pitchFamily="34" charset="-122"/>
                          </a:rPr>
                          <m:t>, </m:t>
                        </m:r>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𝑝</m:t>
                            </m:r>
                          </m:e>
                        </m:acc>
                      </m:e>
                    </m:d>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𝑖</m:t>
                    </m:r>
                    <m:r>
                      <a:rPr lang="en-US" altLang="zh-CN" i="1">
                        <a:latin typeface="Cambria Math" panose="02040503050406030204" pitchFamily="18" charset="0"/>
                        <a:ea typeface="微软雅黑" panose="020B0503020204020204" pitchFamily="34" charset="-122"/>
                      </a:rPr>
                      <m:t>ℏ</m:t>
                    </m:r>
                  </m:oMath>
                </a14:m>
                <a:r>
                  <a:rPr lang="zh-CN" altLang="en-US" dirty="0" smtClean="0">
                    <a:latin typeface="微软雅黑" panose="020B0503020204020204" pitchFamily="34" charset="-122"/>
                    <a:ea typeface="微软雅黑" panose="020B0503020204020204" pitchFamily="34" charset="-122"/>
                  </a:rPr>
                  <a:t>代入不确定性关系有</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d>
                            <m:dPr>
                              <m:ctrlPr>
                                <a:rPr lang="en-US" altLang="zh-CN" b="0" i="1" smtClean="0">
                                  <a:latin typeface="Cambria Math" panose="02040503050406030204" pitchFamily="18" charset="0"/>
                                  <a:ea typeface="微软雅黑" panose="020B0503020204020204" pitchFamily="34" charset="-122"/>
                                </a:rPr>
                              </m:ctrlPr>
                            </m:dPr>
                            <m:e>
                              <m:r>
                                <m:rPr>
                                  <m:sty m:val="p"/>
                                </m:rPr>
                                <a:rPr lang="en-US" altLang="zh-CN" b="0" i="0" smtClean="0">
                                  <a:latin typeface="Cambria Math" panose="02040503050406030204" pitchFamily="18" charset="0"/>
                                  <a:ea typeface="微软雅黑" panose="020B0503020204020204" pitchFamily="34" charset="-122"/>
                                </a:rPr>
                                <m:t>Δ</m:t>
                              </m:r>
                              <m:r>
                                <a:rPr lang="en-US" altLang="zh-CN" b="0" i="1" smtClean="0">
                                  <a:latin typeface="Cambria Math" panose="02040503050406030204" pitchFamily="18" charset="0"/>
                                  <a:ea typeface="微软雅黑" panose="020B0503020204020204" pitchFamily="34" charset="-122"/>
                                </a:rPr>
                                <m:t>𝑥</m:t>
                              </m:r>
                              <m:r>
                                <m:rPr>
                                  <m:sty m:val="p"/>
                                </m:rPr>
                                <a:rPr lang="en-US" altLang="zh-CN" b="0" i="0" smtClean="0">
                                  <a:latin typeface="Cambria Math" panose="02040503050406030204" pitchFamily="18" charset="0"/>
                                  <a:ea typeface="微软雅黑" panose="020B0503020204020204" pitchFamily="34" charset="-122"/>
                                </a:rPr>
                                <m:t>Δ</m:t>
                              </m:r>
                              <m:r>
                                <a:rPr lang="en-US" altLang="zh-CN" b="0" i="1" smtClean="0">
                                  <a:latin typeface="Cambria Math" panose="02040503050406030204" pitchFamily="18" charset="0"/>
                                  <a:ea typeface="微软雅黑" panose="020B0503020204020204" pitchFamily="34" charset="-122"/>
                                </a:rPr>
                                <m:t>𝑝</m:t>
                              </m:r>
                            </m:e>
                          </m:d>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4</m:t>
                          </m:r>
                        </m:den>
                      </m:f>
                      <m:sSup>
                        <m:sSupPr>
                          <m:ctrlPr>
                            <a:rPr lang="en-US" altLang="zh-CN" b="0" i="1" smtClean="0">
                              <a:latin typeface="Cambria Math" panose="02040503050406030204" pitchFamily="18" charset="0"/>
                              <a:ea typeface="微软雅黑" panose="020B0503020204020204" pitchFamily="34" charset="-122"/>
                            </a:rPr>
                          </m:ctrlPr>
                        </m:sSupPr>
                        <m:e>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𝑖</m:t>
                              </m:r>
                              <m:r>
                                <a:rPr lang="en-US" altLang="zh-CN" b="0" i="1" smtClean="0">
                                  <a:latin typeface="Cambria Math" panose="02040503050406030204" pitchFamily="18" charset="0"/>
                                  <a:ea typeface="微软雅黑" panose="020B0503020204020204" pitchFamily="34" charset="-122"/>
                                </a:rPr>
                                <m:t>ℏ</m:t>
                              </m:r>
                            </m:e>
                          </m:d>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ℏ</m:t>
                              </m:r>
                            </m:e>
                            <m:sup>
                              <m:r>
                                <a:rPr lang="en-US" altLang="zh-CN" b="0" i="1" smtClean="0">
                                  <a:latin typeface="Cambria Math" panose="02040503050406030204" pitchFamily="18" charset="0"/>
                                  <a:ea typeface="微软雅黑" panose="020B0503020204020204" pitchFamily="34" charset="-122"/>
                                </a:rPr>
                                <m:t>2</m:t>
                              </m:r>
                            </m:sup>
                          </m:sSup>
                        </m:num>
                        <m:den>
                          <m:r>
                            <a:rPr lang="en-US" altLang="zh-CN" b="0" i="1" smtClean="0">
                              <a:latin typeface="Cambria Math" panose="02040503050406030204" pitchFamily="18" charset="0"/>
                              <a:ea typeface="微软雅黑" panose="020B0503020204020204" pitchFamily="34" charset="-122"/>
                            </a:rPr>
                            <m:t>4</m:t>
                          </m:r>
                        </m:den>
                      </m:f>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即</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mtClean="0">
                          <a:solidFill>
                            <a:srgbClr val="FF0000"/>
                          </a:solidFill>
                          <a:latin typeface="Cambria Math" panose="02040503050406030204" pitchFamily="18" charset="0"/>
                          <a:ea typeface="微软雅黑" panose="020B0503020204020204" pitchFamily="34" charset="-122"/>
                        </a:rPr>
                        <m:t>Δ</m:t>
                      </m:r>
                      <m:r>
                        <a:rPr lang="en-US" altLang="zh-CN" i="1">
                          <a:solidFill>
                            <a:srgbClr val="FF0000"/>
                          </a:solidFill>
                          <a:latin typeface="Cambria Math" panose="02040503050406030204" pitchFamily="18" charset="0"/>
                          <a:ea typeface="微软雅黑" panose="020B0503020204020204" pitchFamily="34" charset="-122"/>
                        </a:rPr>
                        <m:t>𝑥</m:t>
                      </m:r>
                      <m:r>
                        <m:rPr>
                          <m:sty m:val="p"/>
                        </m:rPr>
                        <a:rPr lang="en-US" altLang="zh-CN">
                          <a:solidFill>
                            <a:srgbClr val="FF0000"/>
                          </a:solidFill>
                          <a:latin typeface="Cambria Math" panose="02040503050406030204" pitchFamily="18" charset="0"/>
                          <a:ea typeface="微软雅黑" panose="020B0503020204020204" pitchFamily="34" charset="-122"/>
                        </a:rPr>
                        <m:t>Δ</m:t>
                      </m:r>
                      <m:r>
                        <a:rPr lang="en-US" altLang="zh-CN" i="1">
                          <a:solidFill>
                            <a:srgbClr val="FF0000"/>
                          </a:solidFill>
                          <a:latin typeface="Cambria Math" panose="02040503050406030204" pitchFamily="18" charset="0"/>
                          <a:ea typeface="微软雅黑" panose="020B0503020204020204" pitchFamily="34" charset="-122"/>
                        </a:rPr>
                        <m:t>𝑝</m:t>
                      </m:r>
                      <m:r>
                        <a:rPr lang="en-US" altLang="zh-CN" b="0" i="1" smtClean="0">
                          <a:solidFill>
                            <a:srgbClr val="FF0000"/>
                          </a:solidFill>
                          <a:latin typeface="Cambria Math" panose="02040503050406030204" pitchFamily="18" charset="0"/>
                          <a:ea typeface="微软雅黑" panose="020B0503020204020204" pitchFamily="34" charset="-122"/>
                        </a:rPr>
                        <m:t>≥</m:t>
                      </m:r>
                      <m:f>
                        <m:fPr>
                          <m:ctrlPr>
                            <a:rPr lang="en-US" altLang="zh-CN" b="0" i="1" smtClean="0">
                              <a:solidFill>
                                <a:srgbClr val="FF0000"/>
                              </a:solidFill>
                              <a:latin typeface="Cambria Math" panose="02040503050406030204" pitchFamily="18" charset="0"/>
                              <a:ea typeface="微软雅黑" panose="020B0503020204020204" pitchFamily="34" charset="-122"/>
                            </a:rPr>
                          </m:ctrlPr>
                        </m:fPr>
                        <m:num>
                          <m:r>
                            <a:rPr lang="en-US" altLang="zh-CN" b="0" i="1" smtClean="0">
                              <a:solidFill>
                                <a:srgbClr val="FF0000"/>
                              </a:solidFill>
                              <a:latin typeface="Cambria Math" panose="02040503050406030204" pitchFamily="18" charset="0"/>
                              <a:ea typeface="微软雅黑" panose="020B0503020204020204" pitchFamily="34" charset="-122"/>
                            </a:rPr>
                            <m:t>ℏ</m:t>
                          </m:r>
                        </m:num>
                        <m:den>
                          <m:r>
                            <a:rPr lang="en-US" altLang="zh-CN" b="0" i="1" smtClean="0">
                              <a:solidFill>
                                <a:srgbClr val="FF0000"/>
                              </a:solidFill>
                              <a:latin typeface="Cambria Math" panose="02040503050406030204" pitchFamily="18" charset="0"/>
                              <a:ea typeface="微软雅黑" panose="020B0503020204020204" pitchFamily="34" charset="-122"/>
                            </a:rPr>
                            <m:t>2</m:t>
                          </m:r>
                        </m:den>
                      </m:f>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这就是位置与动量间的不确定性原理，即同一时刻粒子的位置和动量并不能精确测量，准确测量位置，则粒子动量就不准确，反之亦然</a:t>
                </a:r>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从上述讨论中可以看到，可观测量间的对易关系在量子力学中至关重要，无论是可观测量间是否对易具有重要意义</a:t>
                </a:r>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因此在后续讨论各种物理量时，一般都会从可观测量的对易关系入手</a:t>
                </a:r>
                <a:endParaRPr lang="zh-CN" altLang="en-US"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993530" y="1457869"/>
                <a:ext cx="9404790" cy="4756495"/>
              </a:xfrm>
              <a:prstGeom prst="rect">
                <a:avLst/>
              </a:prstGeom>
              <a:blipFill rotWithShape="0">
                <a:blip r:embed="rId3"/>
                <a:stretch>
                  <a:fillRect l="-583" b="-11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837974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18147" y="827792"/>
            <a:ext cx="3262432"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连续系统的本征矢和完备性</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888024" y="1471092"/>
                <a:ext cx="10691446" cy="528606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最后考察一下连续系统的量子态。以位置空间的量子态为例，设</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m:t>
                    </m:r>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是位置算符</a:t>
                </a:r>
                <a14:m>
                  <m:oMath xmlns:m="http://schemas.openxmlformats.org/officeDocument/2006/math">
                    <m:acc>
                      <m:accPr>
                        <m:chr m:val="̂"/>
                        <m:ctrlPr>
                          <a:rPr lang="en-US" altLang="zh-CN" b="1" i="1" smtClean="0">
                            <a:latin typeface="Cambria Math" panose="02040503050406030204" pitchFamily="18" charset="0"/>
                            <a:ea typeface="微软雅黑" panose="020B0503020204020204" pitchFamily="34" charset="-122"/>
                          </a:rPr>
                        </m:ctrlPr>
                      </m:accPr>
                      <m:e>
                        <m:r>
                          <a:rPr lang="en-US" altLang="zh-CN" b="1" i="0" smtClean="0">
                            <a:latin typeface="Cambria Math" panose="02040503050406030204" pitchFamily="18" charset="0"/>
                            <a:ea typeface="微软雅黑" panose="020B0503020204020204" pitchFamily="34" charset="-122"/>
                          </a:rPr>
                          <m:t>𝐱</m:t>
                        </m:r>
                      </m:e>
                    </m:acc>
                  </m:oMath>
                </a14:m>
                <a:r>
                  <a:rPr lang="zh-CN" altLang="en-US" dirty="0" smtClean="0">
                    <a:latin typeface="微软雅黑" panose="020B0503020204020204" pitchFamily="34" charset="-122"/>
                    <a:ea typeface="微软雅黑" panose="020B0503020204020204" pitchFamily="34" charset="-122"/>
                  </a:rPr>
                  <a:t>的本征态，本征值为</a:t>
                </a:r>
                <a14:m>
                  <m:oMath xmlns:m="http://schemas.openxmlformats.org/officeDocument/2006/math">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oMath>
                </a14:m>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b="1" i="1">
                              <a:latin typeface="Cambria Math" panose="02040503050406030204" pitchFamily="18" charset="0"/>
                              <a:ea typeface="微软雅黑" panose="020B0503020204020204" pitchFamily="34" charset="-122"/>
                            </a:rPr>
                          </m:ctrlPr>
                        </m:accPr>
                        <m:e>
                          <m:r>
                            <a:rPr lang="en-US" altLang="zh-CN" b="1">
                              <a:latin typeface="Cambria Math" panose="02040503050406030204" pitchFamily="18" charset="0"/>
                              <a:ea typeface="微软雅黑" panose="020B0503020204020204" pitchFamily="34" charset="-122"/>
                            </a:rPr>
                            <m:t>𝐱</m:t>
                          </m:r>
                        </m:e>
                      </m:acc>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b="1" i="1" smtClean="0">
                          <a:latin typeface="Cambria Math" panose="02040503050406030204" pitchFamily="18" charset="0"/>
                          <a:ea typeface="微软雅黑" panose="020B0503020204020204" pitchFamily="34" charset="-122"/>
                        </a:rPr>
                        <m:t>=</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我们在数学部分中提到过，连续系统的内积满足</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1" i="1" smtClean="0">
                              <a:latin typeface="Cambria Math" panose="02040503050406030204" pitchFamily="18" charset="0"/>
                              <a:ea typeface="微软雅黑" panose="020B0503020204020204" pitchFamily="34" charset="-122"/>
                            </a:rPr>
                          </m:ctrlPr>
                        </m:dPr>
                        <m:e>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e>
                        <m:e>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e>
                      </m:d>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𝜹</m:t>
                      </m:r>
                      <m:r>
                        <a:rPr lang="en-US" altLang="zh-CN" b="1" i="1" smtClean="0">
                          <a:latin typeface="Cambria Math" panose="02040503050406030204" pitchFamily="18" charset="0"/>
                          <a:ea typeface="微软雅黑" panose="020B0503020204020204" pitchFamily="34" charset="-122"/>
                        </a:rPr>
                        <m:t>(</m:t>
                      </m:r>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r>
                        <a:rPr lang="en-US" altLang="zh-CN" b="1" i="1" smtClean="0">
                          <a:latin typeface="Cambria Math" panose="02040503050406030204" pitchFamily="18" charset="0"/>
                          <a:ea typeface="微软雅黑" panose="020B0503020204020204" pitchFamily="34" charset="-122"/>
                        </a:rPr>
                        <m:t>−</m:t>
                      </m:r>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r>
                        <a:rPr lang="en-US" altLang="zh-CN" b="1" i="1"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而利用</a:t>
                </a:r>
                <a:r>
                  <a:rPr lang="en-US" altLang="zh-CN" dirty="0" smtClean="0">
                    <a:latin typeface="微软雅黑" panose="020B0503020204020204" pitchFamily="34" charset="-122"/>
                    <a:ea typeface="微软雅黑" panose="020B0503020204020204" pitchFamily="34" charset="-122"/>
                  </a:rPr>
                  <a:t>Delta</a:t>
                </a:r>
                <a:r>
                  <a:rPr lang="zh-CN" altLang="en-US" dirty="0" smtClean="0">
                    <a:latin typeface="微软雅黑" panose="020B0503020204020204" pitchFamily="34" charset="-122"/>
                    <a:ea typeface="微软雅黑" panose="020B0503020204020204" pitchFamily="34" charset="-122"/>
                  </a:rPr>
                  <a:t>函数的筛选性质，可以得到</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b="1" i="1" smtClean="0">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𝜹</m:t>
                      </m:r>
                      <m:d>
                        <m:dPr>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r>
                            <a:rPr lang="en-US" altLang="zh-CN" b="1" i="1">
                              <a:latin typeface="Cambria Math" panose="02040503050406030204" pitchFamily="18" charset="0"/>
                              <a:ea typeface="微软雅黑" panose="020B0503020204020204" pitchFamily="34" charset="-122"/>
                            </a:rPr>
                            <m:t>−</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r>
                            <a:rPr lang="en-US" altLang="zh-CN" b="1" i="1" smtClean="0">
                              <a:latin typeface="Cambria Math" panose="02040503050406030204" pitchFamily="18" charset="0"/>
                              <a:ea typeface="微软雅黑" panose="020B0503020204020204" pitchFamily="34" charset="-122"/>
                            </a:rPr>
                            <m:t>′</m:t>
                          </m:r>
                        </m:e>
                      </m:d>
                      <m:r>
                        <a:rPr lang="en-US" altLang="zh-CN" b="1" i="0" smtClean="0">
                          <a:latin typeface="Cambria Math" panose="02040503050406030204" pitchFamily="18" charset="0"/>
                          <a:ea typeface="微软雅黑" panose="020B0503020204020204" pitchFamily="34" charset="-122"/>
                        </a:rPr>
                        <m:t>𝐝</m:t>
                      </m:r>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r>
                        <a:rPr lang="en-US" altLang="zh-CN" b="1" i="0" smtClean="0">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r>
                            <a:rPr lang="en-US" altLang="zh-CN" b="1" i="1">
                              <a:latin typeface="Cambria Math" panose="02040503050406030204" pitchFamily="18" charset="0"/>
                              <a:ea typeface="微软雅黑" panose="020B0503020204020204" pitchFamily="34" charset="-122"/>
                            </a:rPr>
                            <m:t>′</m:t>
                          </m:r>
                        </m:e>
                      </m:d>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我们</a:t>
                </a:r>
                <a:r>
                  <a:rPr lang="zh-CN" altLang="en-US" dirty="0" smtClean="0">
                    <a:latin typeface="微软雅黑" panose="020B0503020204020204" pitchFamily="34" charset="-122"/>
                    <a:ea typeface="微软雅黑" panose="020B0503020204020204" pitchFamily="34" charset="-122"/>
                  </a:rPr>
                  <a:t>将右端除了</a:t>
                </a:r>
                <a14:m>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oMath>
                </a14:m>
                <a:r>
                  <a:rPr lang="zh-CN" altLang="en-US" dirty="0" smtClean="0">
                    <a:latin typeface="微软雅黑" panose="020B0503020204020204" pitchFamily="34" charset="-122"/>
                    <a:ea typeface="微软雅黑" panose="020B0503020204020204" pitchFamily="34" charset="-122"/>
                  </a:rPr>
                  <a:t>的部分写在一起有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b="1" i="1" smtClean="0">
                          <a:latin typeface="Cambria Math" panose="02040503050406030204" pitchFamily="18" charset="0"/>
                          <a:ea typeface="微软雅黑" panose="020B0503020204020204" pitchFamily="34" charset="-122"/>
                        </a:rPr>
                        <m:t>=</m:t>
                      </m:r>
                      <m:d>
                        <m:dPr>
                          <m:ctrlPr>
                            <a:rPr lang="en-US" altLang="zh-CN" b="1" i="1" smtClean="0">
                              <a:latin typeface="Cambria Math" panose="02040503050406030204" pitchFamily="18" charset="0"/>
                              <a:ea typeface="微软雅黑" panose="020B0503020204020204" pitchFamily="34" charset="-122"/>
                            </a:rPr>
                          </m:ctrlPr>
                        </m:dPr>
                        <m:e>
                          <m:r>
                            <a:rPr lang="en-US" altLang="zh-CN" b="1" i="1">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r>
                                <a:rPr lang="en-US" altLang="zh-CN" b="1" i="1">
                                  <a:latin typeface="Cambria Math" panose="02040503050406030204" pitchFamily="18" charset="0"/>
                                  <a:ea typeface="微软雅黑" panose="020B0503020204020204" pitchFamily="34" charset="-122"/>
                                </a:rPr>
                                <m:t>′</m:t>
                              </m:r>
                            </m:e>
                          </m:d>
                          <m:d>
                            <m:dPr>
                              <m:begChr m:val="⟨"/>
                              <m:endChr m:val="|"/>
                              <m:ctrlPr>
                                <a:rPr lang="en-US" altLang="zh-CN" b="1" i="1" smtClean="0">
                                  <a:latin typeface="Cambria Math" panose="02040503050406030204" pitchFamily="18" charset="0"/>
                                  <a:ea typeface="微软雅黑" panose="020B0503020204020204" pitchFamily="34" charset="-122"/>
                                </a:rPr>
                              </m:ctrlPr>
                            </m:dPr>
                            <m:e>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e>
                          </m:d>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这样连续情况下的恒等算符有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𝐼</m:t>
                          </m:r>
                        </m:e>
                      </m:acc>
                      <m:r>
                        <a:rPr lang="en-US" altLang="zh-CN" b="0" i="1" dirty="0" smtClean="0">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r>
                            <a:rPr lang="en-US" altLang="zh-CN" b="1" i="1">
                              <a:latin typeface="Cambria Math" panose="02040503050406030204" pitchFamily="18" charset="0"/>
                              <a:ea typeface="微软雅黑" panose="020B0503020204020204" pitchFamily="34" charset="-122"/>
                            </a:rPr>
                            <m:t>′</m:t>
                          </m:r>
                        </m:e>
                      </m:d>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同理在动量空间里有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e>
                        <m:e>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e>
                      </m:d>
                      <m:r>
                        <a:rPr lang="en-US" altLang="zh-CN" b="1" i="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𝜹</m:t>
                      </m:r>
                      <m:r>
                        <a:rPr lang="en-US" altLang="zh-CN" b="1" i="1">
                          <a:latin typeface="Cambria Math" panose="02040503050406030204" pitchFamily="18" charset="0"/>
                          <a:ea typeface="微软雅黑" panose="020B0503020204020204" pitchFamily="34" charset="-122"/>
                        </a:rPr>
                        <m:t>(</m:t>
                      </m:r>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r>
                        <a:rPr lang="en-US" altLang="zh-CN" b="1" i="1">
                          <a:latin typeface="Cambria Math" panose="02040503050406030204" pitchFamily="18" charset="0"/>
                          <a:ea typeface="微软雅黑" panose="020B0503020204020204" pitchFamily="34" charset="-122"/>
                        </a:rPr>
                        <m:t>−</m:t>
                      </m:r>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r>
                        <a:rPr lang="en-US" altLang="zh-CN" b="1" i="1">
                          <a:latin typeface="Cambria Math" panose="02040503050406030204" pitchFamily="18" charset="0"/>
                          <a:ea typeface="微软雅黑" panose="020B0503020204020204" pitchFamily="34" charset="-122"/>
                        </a:rPr>
                        <m:t>)</m:t>
                      </m:r>
                    </m:oMath>
                  </m:oMathPara>
                </a14:m>
                <a:endParaRPr lang="en-US" altLang="zh-CN"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𝐼</m:t>
                          </m:r>
                        </m:e>
                      </m:acc>
                      <m:r>
                        <a:rPr lang="en-US" altLang="zh-CN" i="1" dirty="0">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r>
                            <a:rPr lang="en-US" altLang="zh-CN" b="1" i="1">
                              <a:latin typeface="Cambria Math" panose="02040503050406030204" pitchFamily="18" charset="0"/>
                              <a:ea typeface="微软雅黑" panose="020B0503020204020204" pitchFamily="34" charset="-122"/>
                            </a:rPr>
                            <m:t>′</m:t>
                          </m:r>
                        </m:e>
                      </m:d>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e>
                      </m:d>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对比离散空间里的情况</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𝑖</m:t>
                          </m:r>
                        </m:e>
                        <m:e>
                          <m:r>
                            <a:rPr lang="en-US" altLang="zh-CN" b="0" i="1" smtClean="0">
                              <a:latin typeface="Cambria Math" panose="02040503050406030204" pitchFamily="18" charset="0"/>
                              <a:ea typeface="微软雅黑" panose="020B0503020204020204" pitchFamily="34" charset="-122"/>
                            </a:rPr>
                            <m:t>𝑗</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𝛿</m:t>
                          </m:r>
                        </m:e>
                        <m:sub>
                          <m:r>
                            <a:rPr lang="en-US" altLang="zh-CN" b="0" i="1" smtClean="0">
                              <a:latin typeface="Cambria Math" panose="02040503050406030204" pitchFamily="18" charset="0"/>
                              <a:ea typeface="微软雅黑" panose="020B0503020204020204" pitchFamily="34" charset="-122"/>
                            </a:rPr>
                            <m:t>𝑖𝑗</m:t>
                          </m:r>
                        </m:sub>
                      </m:sSub>
                    </m:oMath>
                  </m:oMathPara>
                </a14:m>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𝐼</m:t>
                          </m:r>
                        </m:e>
                      </m:acc>
                      <m:r>
                        <a:rPr lang="en-US" altLang="zh-CN" b="0" i="1" dirty="0" smtClean="0">
                          <a:latin typeface="Cambria Math" panose="02040503050406030204" pitchFamily="18" charset="0"/>
                          <a:ea typeface="微软雅黑" panose="020B0503020204020204" pitchFamily="34" charset="-122"/>
                        </a:rPr>
                        <m:t>=</m:t>
                      </m:r>
                      <m:nary>
                        <m:naryPr>
                          <m:chr m:val="∑"/>
                          <m:supHide m:val="on"/>
                          <m:ctrlPr>
                            <a:rPr lang="en-US" altLang="zh-CN" b="0" i="1" dirty="0" smtClean="0">
                              <a:latin typeface="Cambria Math" panose="02040503050406030204" pitchFamily="18" charset="0"/>
                              <a:ea typeface="微软雅黑" panose="020B0503020204020204" pitchFamily="34" charset="-122"/>
                            </a:rPr>
                          </m:ctrlPr>
                        </m:naryPr>
                        <m:sub>
                          <m:r>
                            <a:rPr lang="en-US" altLang="zh-CN" b="0" i="1" dirty="0" smtClean="0">
                              <a:latin typeface="Cambria Math" panose="02040503050406030204" pitchFamily="18" charset="0"/>
                              <a:ea typeface="微软雅黑" panose="020B0503020204020204" pitchFamily="34" charset="-122"/>
                            </a:rPr>
                            <m:t>𝑖</m:t>
                          </m:r>
                        </m:sub>
                        <m:sup/>
                        <m:e>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𝑖</m:t>
                          </m:r>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𝑖</m:t>
                          </m:r>
                          <m:r>
                            <a:rPr lang="en-US" altLang="zh-CN" b="0" i="1" dirty="0" smtClean="0">
                              <a:latin typeface="Cambria Math" panose="02040503050406030204" pitchFamily="18" charset="0"/>
                              <a:ea typeface="微软雅黑" panose="020B0503020204020204" pitchFamily="34" charset="-122"/>
                            </a:rPr>
                            <m:t>|</m:t>
                          </m:r>
                        </m:e>
                      </m:nary>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只需把克罗内克记号换成</a:t>
                </a:r>
                <a:r>
                  <a:rPr lang="en-US" altLang="zh-CN" dirty="0" smtClean="0">
                    <a:latin typeface="微软雅黑" panose="020B0503020204020204" pitchFamily="34" charset="-122"/>
                    <a:ea typeface="微软雅黑" panose="020B0503020204020204" pitchFamily="34" charset="-122"/>
                  </a:rPr>
                  <a:t>Delta</a:t>
                </a:r>
                <a:r>
                  <a:rPr lang="zh-CN" altLang="en-US" dirty="0" smtClean="0">
                    <a:latin typeface="微软雅黑" panose="020B0503020204020204" pitchFamily="34" charset="-122"/>
                    <a:ea typeface="微软雅黑" panose="020B0503020204020204" pitchFamily="34" charset="-122"/>
                  </a:rPr>
                  <a:t>函数，求和换成积分就可以了</a:t>
                </a:r>
                <a:endParaRPr lang="en-US" altLang="zh-CN"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888024" y="1471092"/>
                <a:ext cx="10691446" cy="5286062"/>
              </a:xfrm>
              <a:prstGeom prst="rect">
                <a:avLst/>
              </a:prstGeom>
              <a:blipFill rotWithShape="0">
                <a:blip r:embed="rId3"/>
                <a:stretch>
                  <a:fillRect l="-513" t="-577" b="-9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0206756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9518308" cy="584775"/>
          </a:xfrm>
          <a:prstGeom prst="rect">
            <a:avLst/>
          </a:prstGeom>
          <a:noFill/>
          <a:effectLst/>
        </p:spPr>
        <p:txBody>
          <a:bodyPr vert="horz" wrap="square">
            <a:spAutoFit/>
          </a:bodyPr>
          <a:lstStyle/>
          <a:p>
            <a:r>
              <a:rPr lang="en-US" altLang="zh-CN" sz="3200" b="1" dirty="0">
                <a:solidFill>
                  <a:srgbClr val="002060"/>
                </a:solidFill>
                <a:latin typeface="微软雅黑" panose="020B0503020204020204" pitchFamily="34" charset="-122"/>
                <a:ea typeface="微软雅黑" panose="020B0503020204020204" pitchFamily="34" charset="-122"/>
                <a:sym typeface="+mn-ea"/>
              </a:rPr>
              <a:t>M</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odern quantum mechanics: Fundamentals </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矩形 2"/>
          <p:cNvSpPr/>
          <p:nvPr/>
        </p:nvSpPr>
        <p:spPr>
          <a:xfrm>
            <a:off x="418147" y="827792"/>
            <a:ext cx="2492990" cy="400110"/>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表象投影和表象变换</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p:cNvSpPr txBox="1"/>
              <p:nvPr/>
            </p:nvSpPr>
            <p:spPr>
              <a:xfrm>
                <a:off x="967154" y="1277184"/>
                <a:ext cx="9873761" cy="4871718"/>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对于一个任意态</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𝛼</m:t>
                    </m:r>
                    <m:r>
                      <a:rPr lang="en-US" altLang="zh-CN" b="0" i="1" smtClean="0">
                        <a:latin typeface="Cambria Math" panose="02040503050406030204" pitchFamily="18" charset="0"/>
                      </a:rPr>
                      <m:t>⟩</m:t>
                    </m:r>
                  </m:oMath>
                </a14:m>
                <a:r>
                  <a:rPr lang="zh-CN" altLang="en-US" dirty="0" smtClean="0">
                    <a:latin typeface="微软雅黑" panose="020B0503020204020204" pitchFamily="34" charset="-122"/>
                    <a:ea typeface="微软雅黑" panose="020B0503020204020204" pitchFamily="34" charset="-122"/>
                  </a:rPr>
                  <a:t>，我们之前一直都在离散空间中做完备插入：</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𝛼</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e>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nary>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𝛼</m:t>
                      </m:r>
                      <m:r>
                        <a:rPr lang="en-US" altLang="zh-CN" i="1">
                          <a:latin typeface="Cambria Math" panose="02040503050406030204" pitchFamily="18" charset="0"/>
                        </a:rPr>
                        <m:t>⟩</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如果这一组完备的基是能量本征态，那么称</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𝛼</m:t>
                    </m:r>
                    <m:r>
                      <a:rPr lang="en-US" altLang="zh-CN" i="1">
                        <a:latin typeface="Cambria Math" panose="02040503050406030204" pitchFamily="18" charset="0"/>
                      </a:rPr>
                      <m:t>⟩</m:t>
                    </m:r>
                  </m:oMath>
                </a14:m>
                <a:r>
                  <a:rPr lang="zh-CN" altLang="en-US" dirty="0" smtClean="0">
                    <a:latin typeface="微软雅黑" panose="020B0503020204020204" pitchFamily="34" charset="-122"/>
                    <a:ea typeface="微软雅黑" panose="020B0503020204020204" pitchFamily="34" charset="-122"/>
                  </a:rPr>
                  <a:t>是投影到</a:t>
                </a:r>
                <a:r>
                  <a:rPr lang="zh-CN" altLang="en-US" dirty="0" smtClean="0">
                    <a:solidFill>
                      <a:srgbClr val="FF0000"/>
                    </a:solidFill>
                    <a:latin typeface="微软雅黑" panose="020B0503020204020204" pitchFamily="34" charset="-122"/>
                    <a:ea typeface="微软雅黑" panose="020B0503020204020204" pitchFamily="34" charset="-122"/>
                  </a:rPr>
                  <a:t>能量表象</a:t>
                </a:r>
                <a:r>
                  <a:rPr lang="zh-CN" altLang="en-US" dirty="0" smtClean="0">
                    <a:latin typeface="微软雅黑" panose="020B0503020204020204" pitchFamily="34" charset="-122"/>
                    <a:ea typeface="微软雅黑" panose="020B0503020204020204" pitchFamily="34" charset="-122"/>
                  </a:rPr>
                  <a:t>下的内积</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现在我们换一个连续的空间，比如位置空间，做完备插入后有</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𝛼</m:t>
                          </m:r>
                        </m:e>
                      </m:d>
                      <m:r>
                        <a:rPr lang="en-US" altLang="zh-CN" b="0" i="1" smtClean="0">
                          <a:latin typeface="Cambria Math" panose="02040503050406030204" pitchFamily="18" charset="0"/>
                        </a:rPr>
                        <m:t>=</m:t>
                      </m:r>
                      <m:r>
                        <a:rPr lang="en-US" altLang="zh-CN" b="1" i="1">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b="0" i="1" smtClean="0">
                          <a:latin typeface="Cambria Math" panose="02040503050406030204" pitchFamily="18" charset="0"/>
                          <a:ea typeface="微软雅黑" panose="020B0503020204020204" pitchFamily="34" charset="-122"/>
                        </a:rPr>
                        <m:t>𝛼</m:t>
                      </m:r>
                      <m:r>
                        <a:rPr lang="en-US" altLang="zh-CN" b="1" i="1" smtClean="0">
                          <a:latin typeface="Cambria Math" panose="02040503050406030204" pitchFamily="18" charset="0"/>
                          <a:ea typeface="微软雅黑" panose="020B0503020204020204" pitchFamily="34" charset="-122"/>
                        </a:rPr>
                        <m:t>⟩</m:t>
                      </m:r>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smtClean="0">
                              <a:latin typeface="Cambria Math" panose="02040503050406030204" pitchFamily="18" charset="0"/>
                              <a:ea typeface="微软雅黑" panose="020B0503020204020204" pitchFamily="34" charset="-122"/>
                            </a:rPr>
                            <m:t>′</m:t>
                          </m:r>
                        </m:sup>
                      </m:sSup>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此时考虑</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i="1">
                            <a:latin typeface="Cambria Math" panose="02040503050406030204" pitchFamily="18" charset="0"/>
                            <a:ea typeface="微软雅黑" panose="020B0503020204020204" pitchFamily="34" charset="-122"/>
                          </a:rPr>
                          <m:t>𝛼</m:t>
                        </m:r>
                      </m:e>
                    </m:d>
                    <m:sSup>
                      <m:sSupPr>
                        <m:ctrlPr>
                          <a:rPr lang="en-US" altLang="zh-CN" b="1" i="1" smtClean="0">
                            <a:latin typeface="Cambria Math" panose="02040503050406030204" pitchFamily="18" charset="0"/>
                            <a:ea typeface="微软雅黑" panose="020B0503020204020204" pitchFamily="34" charset="-122"/>
                          </a:rPr>
                        </m:ctrlPr>
                      </m:sSupPr>
                      <m:e>
                        <m:d>
                          <m:dPr>
                            <m:begChr m:val=""/>
                            <m:endChr m:val="|"/>
                            <m:ctrlPr>
                              <a:rPr lang="en-US" altLang="zh-CN" b="1" i="1" smtClean="0">
                                <a:latin typeface="Cambria Math" panose="02040503050406030204" pitchFamily="18" charset="0"/>
                                <a:ea typeface="微软雅黑" panose="020B0503020204020204" pitchFamily="34" charset="-122"/>
                              </a:rPr>
                            </m:ctrlPr>
                          </m:dPr>
                          <m:e>
                            <m:r>
                              <a:rPr lang="zh-CN" altLang="en-US">
                                <a:latin typeface="Cambria Math" panose="02040503050406030204" pitchFamily="18" charset="0"/>
                              </a:rPr>
                              <m:t>​</m:t>
                            </m:r>
                          </m:e>
                        </m:d>
                      </m:e>
                      <m:sup>
                        <m:r>
                          <a:rPr lang="en-US" altLang="zh-CN" b="0" i="1" smtClean="0">
                            <a:latin typeface="Cambria Math" panose="02040503050406030204" pitchFamily="18" charset="0"/>
                            <a:ea typeface="微软雅黑" panose="020B0503020204020204" pitchFamily="34" charset="-122"/>
                          </a:rPr>
                          <m:t>2</m:t>
                        </m:r>
                      </m:sup>
                    </m:sSup>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oMath>
                </a14:m>
                <a:r>
                  <a:rPr lang="zh-CN" altLang="en-US" dirty="0" smtClean="0">
                    <a:latin typeface="微软雅黑" panose="020B0503020204020204" pitchFamily="34" charset="-122"/>
                    <a:ea typeface="微软雅黑" panose="020B0503020204020204" pitchFamily="34" charset="-122"/>
                  </a:rPr>
                  <a:t>，表示在点</a:t>
                </a:r>
                <a14:m>
                  <m:oMath xmlns:m="http://schemas.openxmlformats.org/officeDocument/2006/math">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oMath>
                </a14:m>
                <a:r>
                  <a:rPr lang="zh-CN" altLang="en-US" dirty="0" smtClean="0">
                    <a:latin typeface="微软雅黑" panose="020B0503020204020204" pitchFamily="34" charset="-122"/>
                    <a:ea typeface="微软雅黑" panose="020B0503020204020204" pitchFamily="34" charset="-122"/>
                  </a:rPr>
                  <a:t>邻域</a:t>
                </a:r>
                <a14:m>
                  <m:oMath xmlns:m="http://schemas.openxmlformats.org/officeDocument/2006/math">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oMath>
                </a14:m>
                <a:r>
                  <a:rPr lang="zh-CN" altLang="en-US" dirty="0" smtClean="0">
                    <a:latin typeface="微软雅黑" panose="020B0503020204020204" pitchFamily="34" charset="-122"/>
                    <a:ea typeface="微软雅黑" panose="020B0503020204020204" pitchFamily="34" charset="-122"/>
                  </a:rPr>
                  <a:t>的小空间里测量找到态的概率</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a:latin typeface="Cambria Math" panose="02040503050406030204" pitchFamily="18" charset="0"/>
                                <a:ea typeface="微软雅黑" panose="020B0503020204020204" pitchFamily="34" charset="-122"/>
                              </a:rPr>
                              <m:t>𝐱</m:t>
                            </m:r>
                          </m:e>
                          <m:sup>
                            <m:r>
                              <a:rPr lang="en-US" altLang="zh-CN" b="1">
                                <a:latin typeface="Cambria Math" panose="02040503050406030204" pitchFamily="18" charset="0"/>
                                <a:ea typeface="微软雅黑" panose="020B0503020204020204" pitchFamily="34" charset="-122"/>
                              </a:rPr>
                              <m:t>′</m:t>
                            </m:r>
                          </m:sup>
                        </m:sSup>
                      </m:e>
                    </m:d>
                    <m:r>
                      <a:rPr lang="en-US" altLang="zh-CN" i="1">
                        <a:latin typeface="Cambria Math" panose="02040503050406030204" pitchFamily="18" charset="0"/>
                        <a:ea typeface="微软雅黑" panose="020B0503020204020204" pitchFamily="34" charset="-122"/>
                      </a:rPr>
                      <m:t>𝛼</m:t>
                    </m:r>
                    <m:r>
                      <a:rPr lang="en-US" altLang="zh-CN" b="1"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表示投影到</a:t>
                </a:r>
                <a:r>
                  <a:rPr lang="zh-CN" altLang="en-US" dirty="0" smtClean="0">
                    <a:solidFill>
                      <a:srgbClr val="FF0000"/>
                    </a:solidFill>
                    <a:latin typeface="微软雅黑" panose="020B0503020204020204" pitchFamily="34" charset="-122"/>
                    <a:ea typeface="微软雅黑" panose="020B0503020204020204" pitchFamily="34" charset="-122"/>
                  </a:rPr>
                  <a:t>位置表象</a:t>
                </a:r>
                <a:r>
                  <a:rPr lang="zh-CN" altLang="en-US" dirty="0" smtClean="0">
                    <a:latin typeface="微软雅黑" panose="020B0503020204020204" pitchFamily="34" charset="-122"/>
                    <a:ea typeface="微软雅黑" panose="020B0503020204020204" pitchFamily="34" charset="-122"/>
                  </a:rPr>
                  <a:t>下的内积，是一个关于位置的函数，记为</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𝜓</m:t>
                        </m:r>
                      </m:e>
                      <m:sub>
                        <m:r>
                          <a:rPr lang="en-US" altLang="zh-CN" b="0" i="1" smtClean="0">
                            <a:latin typeface="Cambria Math" panose="02040503050406030204" pitchFamily="18" charset="0"/>
                            <a:ea typeface="微软雅黑" panose="020B0503020204020204" pitchFamily="34" charset="-122"/>
                          </a:rPr>
                          <m:t>𝛼</m:t>
                        </m:r>
                      </m:sub>
                    </m:sSub>
                    <m:r>
                      <a:rPr lang="en-US" altLang="zh-CN" b="0" i="1" smtClean="0">
                        <a:latin typeface="Cambria Math" panose="02040503050406030204" pitchFamily="18" charset="0"/>
                        <a:ea typeface="微软雅黑" panose="020B0503020204020204" pitchFamily="34" charset="-122"/>
                      </a:rPr>
                      <m:t>(</m:t>
                    </m:r>
                    <m:sSup>
                      <m:sSupPr>
                        <m:ctrlPr>
                          <a:rPr lang="en-US" altLang="zh-CN" b="1" i="1" smtClean="0">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𝐱</m:t>
                        </m:r>
                      </m:e>
                      <m:sup>
                        <m:r>
                          <a:rPr lang="en-US" altLang="zh-CN" b="1" i="0" smtClean="0">
                            <a:latin typeface="Cambria Math" panose="02040503050406030204" pitchFamily="18" charset="0"/>
                            <a:ea typeface="微软雅黑" panose="020B0503020204020204" pitchFamily="34" charset="-122"/>
                          </a:rPr>
                          <m:t>′</m:t>
                        </m:r>
                      </m:sup>
                    </m:sSup>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，即所谓的</a:t>
                </a:r>
                <a:r>
                  <a:rPr lang="zh-CN" altLang="en-US" dirty="0" smtClean="0">
                    <a:solidFill>
                      <a:srgbClr val="FF0000"/>
                    </a:solidFill>
                    <a:latin typeface="微软雅黑" panose="020B0503020204020204" pitchFamily="34" charset="-122"/>
                    <a:ea typeface="微软雅黑" panose="020B0503020204020204" pitchFamily="34" charset="-122"/>
                  </a:rPr>
                  <a:t>波函数</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同理用动量空间的一组基做完备插入有</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𝛼</m:t>
                          </m:r>
                        </m:e>
                      </m:d>
                      <m:r>
                        <a:rPr lang="en-US" altLang="zh-CN" i="1">
                          <a:latin typeface="Cambria Math" panose="02040503050406030204" pitchFamily="18" charset="0"/>
                        </a:rPr>
                        <m:t>=</m:t>
                      </m:r>
                      <m:r>
                        <a:rPr lang="en-US" altLang="zh-CN" b="1" i="1">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e>
                      </m:d>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e>
                      </m:d>
                      <m:r>
                        <a:rPr lang="en-US" altLang="zh-CN" i="1">
                          <a:latin typeface="Cambria Math" panose="02040503050406030204" pitchFamily="18" charset="0"/>
                          <a:ea typeface="微软雅黑" panose="020B0503020204020204" pitchFamily="34" charset="-122"/>
                        </a:rPr>
                        <m:t>𝛼</m:t>
                      </m:r>
                      <m:r>
                        <a:rPr lang="en-US" altLang="zh-CN" b="1" i="1">
                          <a:latin typeface="Cambria Math" panose="02040503050406030204" pitchFamily="18" charset="0"/>
                          <a:ea typeface="微软雅黑" panose="020B0503020204020204" pitchFamily="34" charset="-122"/>
                        </a:rPr>
                        <m:t>⟩</m:t>
                      </m:r>
                      <m:r>
                        <a:rPr lang="en-US" altLang="zh-CN" b="1">
                          <a:latin typeface="Cambria Math" panose="02040503050406030204" pitchFamily="18" charset="0"/>
                          <a:ea typeface="微软雅黑" panose="020B0503020204020204" pitchFamily="34" charset="-122"/>
                        </a:rPr>
                        <m:t>𝐝</m:t>
                      </m:r>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e>
                    </m:d>
                    <m:r>
                      <a:rPr lang="en-US" altLang="zh-CN" i="1">
                        <a:latin typeface="Cambria Math" panose="02040503050406030204" pitchFamily="18" charset="0"/>
                        <a:ea typeface="微软雅黑" panose="020B0503020204020204" pitchFamily="34" charset="-122"/>
                      </a:rPr>
                      <m:t>𝛼</m:t>
                    </m:r>
                    <m:r>
                      <a:rPr lang="en-US" altLang="zh-CN" b="1"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表示投影到</a:t>
                </a:r>
                <a:r>
                  <a:rPr lang="zh-CN" altLang="en-US" dirty="0" smtClean="0">
                    <a:solidFill>
                      <a:srgbClr val="FF0000"/>
                    </a:solidFill>
                    <a:latin typeface="微软雅黑" panose="020B0503020204020204" pitchFamily="34" charset="-122"/>
                    <a:ea typeface="微软雅黑" panose="020B0503020204020204" pitchFamily="34" charset="-122"/>
                  </a:rPr>
                  <a:t>动量表象</a:t>
                </a:r>
                <a:r>
                  <a:rPr lang="zh-CN" altLang="en-US" dirty="0" smtClean="0">
                    <a:latin typeface="微软雅黑" panose="020B0503020204020204" pitchFamily="34" charset="-122"/>
                    <a:ea typeface="微软雅黑" panose="020B0503020204020204" pitchFamily="34" charset="-122"/>
                  </a:rPr>
                  <a:t>下的内积，记为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𝜙</m:t>
                        </m:r>
                      </m:e>
                      <m:sub>
                        <m:r>
                          <a:rPr lang="en-US" altLang="zh-CN" i="1">
                            <a:latin typeface="Cambria Math" panose="02040503050406030204" pitchFamily="18" charset="0"/>
                            <a:ea typeface="微软雅黑" panose="020B0503020204020204" pitchFamily="34" charset="-122"/>
                          </a:rPr>
                          <m:t>𝛼</m:t>
                        </m:r>
                      </m:sub>
                    </m:sSub>
                    <m:r>
                      <a:rPr lang="en-US" altLang="zh-CN" i="1">
                        <a:latin typeface="Cambria Math" panose="02040503050406030204" pitchFamily="18" charset="0"/>
                        <a:ea typeface="微软雅黑" panose="020B0503020204020204" pitchFamily="34" charset="-122"/>
                      </a:rPr>
                      <m:t>(</m:t>
                    </m:r>
                    <m:sSup>
                      <m:sSupPr>
                        <m:ctrlPr>
                          <a:rPr lang="en-US" altLang="zh-CN" b="1" i="1">
                            <a:latin typeface="Cambria Math" panose="02040503050406030204" pitchFamily="18" charset="0"/>
                            <a:ea typeface="微软雅黑" panose="020B0503020204020204" pitchFamily="34" charset="-122"/>
                          </a:rPr>
                        </m:ctrlPr>
                      </m:sSupPr>
                      <m:e>
                        <m:r>
                          <a:rPr lang="en-US" altLang="zh-CN" b="1" i="0" smtClean="0">
                            <a:latin typeface="Cambria Math" panose="02040503050406030204" pitchFamily="18" charset="0"/>
                            <a:ea typeface="微软雅黑" panose="020B0503020204020204" pitchFamily="34" charset="-122"/>
                          </a:rPr>
                          <m:t>𝐩</m:t>
                        </m:r>
                      </m:e>
                      <m:sup>
                        <m:r>
                          <a:rPr lang="en-US" altLang="zh-CN" b="1">
                            <a:latin typeface="Cambria Math" panose="02040503050406030204" pitchFamily="18" charset="0"/>
                            <a:ea typeface="微软雅黑" panose="020B0503020204020204" pitchFamily="34" charset="-122"/>
                          </a:rPr>
                          <m:t>′</m:t>
                        </m:r>
                      </m:sup>
                    </m:sSup>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，即动量空间下的波函数</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967154" y="1277184"/>
                <a:ext cx="9873761" cy="4871718"/>
              </a:xfrm>
              <a:prstGeom prst="rect">
                <a:avLst/>
              </a:prstGeom>
              <a:blipFill rotWithShape="0">
                <a:blip r:embed="rId3"/>
                <a:stretch>
                  <a:fillRect l="-556" b="-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6029847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Reference and exercise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6" name="文本框 5"/>
          <p:cNvSpPr txBox="1"/>
          <p:nvPr/>
        </p:nvSpPr>
        <p:spPr>
          <a:xfrm>
            <a:off x="199551" y="1017720"/>
            <a:ext cx="11376230" cy="967957"/>
          </a:xfrm>
          <a:prstGeom prst="rect">
            <a:avLst/>
          </a:prstGeom>
          <a:noFill/>
        </p:spPr>
        <p:txBody>
          <a:bodyPr wrap="square" rtlCol="0">
            <a:spAutoFit/>
          </a:bodyPr>
          <a:lstStyle/>
          <a:p>
            <a:pPr>
              <a:lnSpc>
                <a:spcPct val="150000"/>
              </a:lnSpc>
            </a:pPr>
            <a:r>
              <a:rPr lang="it-IT" altLang="zh-CN" sz="2000" dirty="0" smtClean="0"/>
              <a:t>J</a:t>
            </a:r>
            <a:r>
              <a:rPr lang="it-IT" altLang="zh-CN" sz="2000" dirty="0"/>
              <a:t>. J. Sakurai, J. Napolitano. </a:t>
            </a:r>
            <a:r>
              <a:rPr lang="it-IT" altLang="zh-CN" sz="2000" i="1" dirty="0"/>
              <a:t>Modern Quantum Mechanics</a:t>
            </a:r>
            <a:r>
              <a:rPr lang="it-IT" altLang="zh-CN" sz="2000" dirty="0"/>
              <a:t>, 2nd ed., </a:t>
            </a:r>
            <a:r>
              <a:rPr lang="it-IT" altLang="zh-CN" sz="2000" dirty="0" smtClean="0"/>
              <a:t>Cambridge </a:t>
            </a:r>
            <a:r>
              <a:rPr lang="en-US" altLang="zh-CN" sz="2000" dirty="0" smtClean="0"/>
              <a:t>University </a:t>
            </a:r>
            <a:r>
              <a:rPr lang="en-US" altLang="zh-CN" sz="2000" dirty="0"/>
              <a:t>Press, </a:t>
            </a:r>
            <a:r>
              <a:rPr lang="en-US" altLang="zh-CN" sz="2000" b="1" dirty="0"/>
              <a:t>2017</a:t>
            </a:r>
            <a:r>
              <a:rPr lang="en-US" altLang="zh-CN" sz="2000" dirty="0" smtClean="0"/>
              <a:t>.</a:t>
            </a:r>
          </a:p>
          <a:p>
            <a:pPr>
              <a:lnSpc>
                <a:spcPct val="150000"/>
              </a:lnSpc>
            </a:pPr>
            <a:r>
              <a:rPr lang="en-US" altLang="zh-CN" sz="2000" dirty="0"/>
              <a:t>D. J. Griffiths, D. F. </a:t>
            </a:r>
            <a:r>
              <a:rPr lang="en-US" altLang="zh-CN" sz="2000" dirty="0" err="1"/>
              <a:t>Schroeter</a:t>
            </a:r>
            <a:r>
              <a:rPr lang="en-US" altLang="zh-CN" sz="2000" dirty="0"/>
              <a:t>. </a:t>
            </a:r>
            <a:r>
              <a:rPr lang="en-US" altLang="zh-CN" sz="2000" i="1" dirty="0"/>
              <a:t>Introduction to Quantum Mechanics</a:t>
            </a:r>
            <a:r>
              <a:rPr lang="en-US" altLang="zh-CN" sz="2000" dirty="0"/>
              <a:t>, 3rd </a:t>
            </a:r>
            <a:r>
              <a:rPr lang="en-US" altLang="zh-CN" sz="2000" dirty="0" smtClean="0"/>
              <a:t>ed. Cambridge </a:t>
            </a:r>
            <a:r>
              <a:rPr lang="en-US" altLang="zh-CN" sz="2000" dirty="0"/>
              <a:t>University Press, </a:t>
            </a:r>
            <a:r>
              <a:rPr lang="en-US" altLang="zh-CN" sz="2000" b="1" dirty="0"/>
              <a:t>2018</a:t>
            </a:r>
            <a:r>
              <a:rPr lang="en-US" altLang="zh-CN" sz="2000" dirty="0"/>
              <a:t>.</a:t>
            </a:r>
            <a:endParaRPr lang="en-US" altLang="zh-CN" sz="2000" dirty="0" smtClean="0"/>
          </a:p>
        </p:txBody>
      </p:sp>
      <mc:AlternateContent xmlns:mc="http://schemas.openxmlformats.org/markup-compatibility/2006">
        <mc:Choice xmlns:a14="http://schemas.microsoft.com/office/drawing/2010/main" Requires="a14">
          <p:sp>
            <p:nvSpPr>
              <p:cNvPr id="7" name="文本框 6"/>
              <p:cNvSpPr txBox="1"/>
              <p:nvPr/>
            </p:nvSpPr>
            <p:spPr>
              <a:xfrm>
                <a:off x="199551" y="2033383"/>
                <a:ext cx="11885611" cy="4682564"/>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练习：</a:t>
                </a:r>
                <a:endParaRPr lang="en-US" altLang="zh-CN" sz="24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1. </a:t>
                </a:r>
                <a:r>
                  <a:rPr lang="zh-CN" altLang="en-US" sz="2000" dirty="0" smtClean="0">
                    <a:latin typeface="微软雅黑" panose="020B0503020204020204" pitchFamily="34" charset="-122"/>
                    <a:ea typeface="微软雅黑" panose="020B0503020204020204" pitchFamily="34" charset="-122"/>
                  </a:rPr>
                  <a:t>用狄拉克符号重新证明厄米算符的本征值是实数，且不同本征值对应的本征矢间相互正交</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2. </a:t>
                </a:r>
                <a:r>
                  <a:rPr lang="zh-CN" altLang="en-US" sz="2000" dirty="0" smtClean="0">
                    <a:latin typeface="微软雅黑" panose="020B0503020204020204" pitchFamily="34" charset="-122"/>
                    <a:ea typeface="微软雅黑" panose="020B0503020204020204" pitchFamily="34" charset="-122"/>
                  </a:rPr>
                  <a:t>自行证明与</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𝐻</m:t>
                        </m:r>
                      </m:e>
                    </m:acc>
                  </m:oMath>
                </a14:m>
                <a:r>
                  <a:rPr lang="zh-CN" altLang="en-US" sz="2000" dirty="0" smtClean="0">
                    <a:latin typeface="微软雅黑" panose="020B0503020204020204" pitchFamily="34" charset="-122"/>
                    <a:ea typeface="微软雅黑" panose="020B0503020204020204" pitchFamily="34" charset="-122"/>
                  </a:rPr>
                  <a:t>对易的算符</a:t>
                </a:r>
                <a14:m>
                  <m:oMath xmlns:m="http://schemas.openxmlformats.org/officeDocument/2006/math">
                    <m:acc>
                      <m:accPr>
                        <m:chr m:val="̂"/>
                        <m:ctrlPr>
                          <a:rPr lang="en-US" altLang="zh-CN" sz="2000" b="0" i="1" smtClean="0">
                            <a:latin typeface="Cambria Math" panose="02040503050406030204" pitchFamily="18" charset="0"/>
                            <a:ea typeface="微软雅黑" panose="020B0503020204020204" pitchFamily="34" charset="-122"/>
                          </a:rPr>
                        </m:ctrlPr>
                      </m:accPr>
                      <m:e>
                        <m:r>
                          <a:rPr lang="en-US" altLang="zh-CN" sz="2000" i="1">
                            <a:latin typeface="Cambria Math" panose="02040503050406030204" pitchFamily="18" charset="0"/>
                            <a:ea typeface="微软雅黑" panose="020B0503020204020204" pitchFamily="34" charset="-122"/>
                          </a:rPr>
                          <m:t>𝐴</m:t>
                        </m:r>
                      </m:e>
                    </m:acc>
                  </m:oMath>
                </a14:m>
                <a:r>
                  <a:rPr lang="zh-CN" altLang="en-US" sz="2000" dirty="0" smtClean="0">
                    <a:latin typeface="微软雅黑" panose="020B0503020204020204" pitchFamily="34" charset="-122"/>
                    <a:ea typeface="微软雅黑" panose="020B0503020204020204" pitchFamily="34" charset="-122"/>
                  </a:rPr>
                  <a:t>有共同的本征矢（</a:t>
                </a:r>
                <a14:m>
                  <m:oMath xmlns:m="http://schemas.openxmlformats.org/officeDocument/2006/math">
                    <m:acc>
                      <m:accPr>
                        <m:chr m:val="̂"/>
                        <m:ctrlPr>
                          <a:rPr lang="en-US" altLang="zh-CN" sz="2000" i="1">
                            <a:latin typeface="Cambria Math" panose="02040503050406030204" pitchFamily="18" charset="0"/>
                            <a:ea typeface="微软雅黑" panose="020B0503020204020204" pitchFamily="34" charset="-122"/>
                          </a:rPr>
                        </m:ctrlPr>
                      </m:accPr>
                      <m:e>
                        <m:r>
                          <a:rPr lang="en-US" altLang="zh-CN" sz="2000" i="1">
                            <a:latin typeface="Cambria Math" panose="02040503050406030204" pitchFamily="18" charset="0"/>
                            <a:ea typeface="微软雅黑" panose="020B0503020204020204" pitchFamily="34" charset="-122"/>
                          </a:rPr>
                          <m:t>𝐴</m:t>
                        </m:r>
                      </m:e>
                    </m:acc>
                  </m:oMath>
                </a14:m>
                <a:r>
                  <a:rPr lang="zh-CN" altLang="en-US" sz="2000" dirty="0" smtClean="0">
                    <a:latin typeface="微软雅黑" panose="020B0503020204020204" pitchFamily="34" charset="-122"/>
                    <a:ea typeface="微软雅黑" panose="020B0503020204020204" pitchFamily="34" charset="-122"/>
                  </a:rPr>
                  <a:t>的本征矢不简并），尝试自行讨论</a:t>
                </a:r>
                <a14:m>
                  <m:oMath xmlns:m="http://schemas.openxmlformats.org/officeDocument/2006/math">
                    <m:acc>
                      <m:accPr>
                        <m:chr m:val="̂"/>
                        <m:ctrlPr>
                          <a:rPr lang="en-US" altLang="zh-CN" sz="2000" i="1">
                            <a:latin typeface="Cambria Math" panose="02040503050406030204" pitchFamily="18" charset="0"/>
                            <a:ea typeface="微软雅黑" panose="020B0503020204020204" pitchFamily="34" charset="-122"/>
                          </a:rPr>
                        </m:ctrlPr>
                      </m:accPr>
                      <m:e>
                        <m:r>
                          <a:rPr lang="en-US" altLang="zh-CN" sz="2000" i="1">
                            <a:latin typeface="Cambria Math" panose="02040503050406030204" pitchFamily="18" charset="0"/>
                            <a:ea typeface="微软雅黑" panose="020B0503020204020204" pitchFamily="34" charset="-122"/>
                          </a:rPr>
                          <m:t>𝐴</m:t>
                        </m:r>
                      </m:e>
                    </m:acc>
                  </m:oMath>
                </a14:m>
                <a:r>
                  <a:rPr lang="zh-CN" altLang="en-US" sz="2000" dirty="0" smtClean="0">
                    <a:latin typeface="微软雅黑" panose="020B0503020204020204" pitchFamily="34" charset="-122"/>
                    <a:ea typeface="微软雅黑" panose="020B0503020204020204" pitchFamily="34" charset="-122"/>
                  </a:rPr>
                  <a:t>本征矢简并的情况</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3. </a:t>
                </a:r>
                <a:r>
                  <a:rPr lang="zh-CN" altLang="en-US" sz="2000" dirty="0" smtClean="0">
                    <a:latin typeface="微软雅黑" panose="020B0503020204020204" pitchFamily="34" charset="-122"/>
                    <a:ea typeface="微软雅黑" panose="020B0503020204020204" pitchFamily="34" charset="-122"/>
                  </a:rPr>
                  <a:t>现在定义一个</a:t>
                </a:r>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维</a:t>
                </a:r>
                <a:r>
                  <a:rPr lang="en-US" altLang="zh-CN" sz="2000" dirty="0" smtClean="0">
                    <a:latin typeface="微软雅黑" panose="020B0503020204020204" pitchFamily="34" charset="-122"/>
                    <a:ea typeface="微软雅黑" panose="020B0503020204020204" pitchFamily="34" charset="-122"/>
                  </a:rPr>
                  <a:t>Hilbert</a:t>
                </a:r>
                <a:r>
                  <a:rPr lang="zh-CN" altLang="en-US" sz="2000" dirty="0" smtClean="0">
                    <a:latin typeface="微软雅黑" panose="020B0503020204020204" pitchFamily="34" charset="-122"/>
                    <a:ea typeface="微软雅黑" panose="020B0503020204020204" pitchFamily="34" charset="-122"/>
                  </a:rPr>
                  <a:t>空间，空间里的两个态记为</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sz="2000" b="0" i="1" dirty="0" smtClean="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，将其用坐标表示为</a:t>
                </a:r>
                <a:endParaRPr lang="en-US" altLang="zh-CN" sz="2000"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m:t>
                          </m:r>
                        </m:e>
                      </m:d>
                      <m:r>
                        <a:rPr lang="en-US" altLang="zh-CN" sz="2000" b="0" i="1" smtClean="0">
                          <a:latin typeface="Cambria Math" panose="02040503050406030204" pitchFamily="18" charset="0"/>
                          <a:ea typeface="微软雅黑" panose="020B0503020204020204" pitchFamily="34" charset="-122"/>
                        </a:rPr>
                        <m:t>= </m:t>
                      </m:r>
                      <m:d>
                        <m:dPr>
                          <m:ctrlPr>
                            <a:rPr lang="en-US" altLang="zh-CN" sz="2000" b="0" i="1" smtClean="0">
                              <a:latin typeface="Cambria Math" panose="02040503050406030204" pitchFamily="18" charset="0"/>
                              <a:ea typeface="微软雅黑" panose="020B0503020204020204" pitchFamily="34" charset="-122"/>
                            </a:rPr>
                          </m:ctrlPr>
                        </m:dPr>
                        <m:e>
                          <m:f>
                            <m:fPr>
                              <m:type m:val="noBa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0</m:t>
                              </m:r>
                            </m:den>
                          </m:f>
                        </m:e>
                      </m:d>
                      <m:r>
                        <a:rPr lang="en-US" altLang="zh-CN" sz="2000" b="0" i="1" smtClean="0">
                          <a:latin typeface="Cambria Math" panose="02040503050406030204" pitchFamily="18" charset="0"/>
                          <a:ea typeface="微软雅黑" panose="020B0503020204020204" pitchFamily="34" charset="-122"/>
                        </a:rPr>
                        <m:t>,</m:t>
                      </m:r>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m:t>
                          </m:r>
                        </m:e>
                      </m:d>
                      <m:r>
                        <a:rPr lang="en-US" altLang="zh-CN" sz="2000" i="1">
                          <a:latin typeface="Cambria Math" panose="02040503050406030204" pitchFamily="18" charset="0"/>
                          <a:ea typeface="微软雅黑" panose="020B0503020204020204" pitchFamily="34" charset="-122"/>
                        </a:rPr>
                        <m:t>= </m:t>
                      </m:r>
                      <m:d>
                        <m:dPr>
                          <m:ctrlPr>
                            <a:rPr lang="en-US" altLang="zh-CN" sz="2000" i="1">
                              <a:latin typeface="Cambria Math" panose="02040503050406030204" pitchFamily="18" charset="0"/>
                              <a:ea typeface="微软雅黑" panose="020B0503020204020204" pitchFamily="34" charset="-122"/>
                            </a:rPr>
                          </m:ctrlPr>
                        </m:dPr>
                        <m:e>
                          <m:f>
                            <m:fPr>
                              <m:type m:val="noBar"/>
                              <m:ctrlPr>
                                <a:rPr lang="en-US" altLang="zh-CN" sz="2000" i="1">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0</m:t>
                              </m:r>
                            </m:num>
                            <m:den>
                              <m:r>
                                <a:rPr lang="en-US" altLang="zh-CN" sz="2000" b="0" i="1" smtClean="0">
                                  <a:latin typeface="Cambria Math" panose="02040503050406030204" pitchFamily="18" charset="0"/>
                                  <a:ea typeface="微软雅黑" panose="020B0503020204020204" pitchFamily="34" charset="-122"/>
                                </a:rPr>
                                <m:t>1</m:t>
                              </m:r>
                            </m:den>
                          </m:f>
                        </m:e>
                      </m:d>
                    </m:oMath>
                  </m:oMathPara>
                </a14:m>
                <a:endParaRPr lang="en-US" altLang="zh-CN" sz="2000" dirty="0" smtClean="0">
                  <a:latin typeface="微软雅黑" panose="020B0503020204020204" pitchFamily="34" charset="-122"/>
                  <a:ea typeface="微软雅黑" panose="020B0503020204020204" pitchFamily="34" charset="-122"/>
                </a:endParaRPr>
              </a:p>
              <a:p>
                <a:pPr>
                  <a:lnSpc>
                    <a:spcPts val="3500"/>
                  </a:lnSpc>
                </a:pPr>
                <a:r>
                  <a:rPr lang="en-US" altLang="zh-CN" sz="2000" dirty="0" smtClean="0">
                    <a:latin typeface="微软雅黑" panose="020B0503020204020204" pitchFamily="34" charset="-122"/>
                    <a:ea typeface="微软雅黑" panose="020B0503020204020204" pitchFamily="34" charset="-122"/>
                  </a:rPr>
                  <a:t>(1) </a:t>
                </a:r>
                <a:r>
                  <a:rPr lang="zh-CN" altLang="en-US" sz="2000" dirty="0" smtClean="0">
                    <a:latin typeface="微软雅黑" panose="020B0503020204020204" pitchFamily="34" charset="-122"/>
                    <a:ea typeface="微软雅黑" panose="020B0503020204020204" pitchFamily="34" charset="-122"/>
                  </a:rPr>
                  <a:t>求</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m:t>
                    </m:r>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m:t>
                        </m:r>
                      </m:e>
                    </m:d>
                    <m:r>
                      <a:rPr lang="en-US" altLang="zh-CN" sz="2000" b="0" i="1" smtClean="0">
                        <a:latin typeface="Cambria Math" panose="02040503050406030204" pitchFamily="18" charset="0"/>
                        <a:ea typeface="微软雅黑" panose="020B0503020204020204" pitchFamily="34" charset="-122"/>
                      </a:rPr>
                      <m:t>,</m:t>
                    </m:r>
                    <m:r>
                      <a:rPr lang="en-US" altLang="zh-CN" sz="2000" i="1" dirty="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m:t>
                    </m:r>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m:t>
                        </m:r>
                      </m:e>
                    </m:d>
                    <m:r>
                      <a:rPr lang="en-US" altLang="zh-CN" sz="2000" b="0" i="1" smtClean="0">
                        <a:latin typeface="Cambria Math" panose="02040503050406030204" pitchFamily="18" charset="0"/>
                        <a:ea typeface="微软雅黑" panose="020B0503020204020204" pitchFamily="34" charset="-122"/>
                      </a:rPr>
                      <m:t>,</m:t>
                    </m:r>
                    <m:r>
                      <a:rPr lang="en-US" altLang="zh-CN" sz="2000" i="1" dirty="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m:t>
                    </m:r>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m:t>
                        </m:r>
                      </m:e>
                    </m:d>
                  </m:oMath>
                </a14:m>
                <a:endParaRPr lang="en-US" altLang="zh-CN" sz="2000" dirty="0" smtClean="0">
                  <a:latin typeface="微软雅黑" panose="020B0503020204020204" pitchFamily="34" charset="-122"/>
                  <a:ea typeface="微软雅黑" panose="020B0503020204020204" pitchFamily="34" charset="-122"/>
                </a:endParaRPr>
              </a:p>
              <a:p>
                <a:pPr>
                  <a:lnSpc>
                    <a:spcPts val="3500"/>
                  </a:lnSpc>
                </a:pPr>
                <a:r>
                  <a:rPr lang="en-US" altLang="zh-CN" sz="2000" dirty="0" smtClean="0">
                    <a:latin typeface="微软雅黑" panose="020B0503020204020204" pitchFamily="34" charset="-122"/>
                    <a:ea typeface="微软雅黑" panose="020B0503020204020204" pitchFamily="34" charset="-122"/>
                  </a:rPr>
                  <a:t>(2) </a:t>
                </a:r>
                <a:r>
                  <a:rPr lang="zh-CN" altLang="en-US" sz="2000" dirty="0" smtClean="0">
                    <a:latin typeface="微软雅黑" panose="020B0503020204020204" pitchFamily="34" charset="-122"/>
                    <a:ea typeface="微软雅黑" panose="020B0503020204020204" pitchFamily="34" charset="-122"/>
                  </a:rPr>
                  <a:t>对</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 |−⟩⟨−|</m:t>
                    </m:r>
                  </m:oMath>
                </a14:m>
                <a:r>
                  <a:rPr lang="zh-CN" altLang="en-US" sz="2000" dirty="0" smtClean="0">
                    <a:latin typeface="微软雅黑" panose="020B0503020204020204" pitchFamily="34" charset="-122"/>
                    <a:ea typeface="微软雅黑" panose="020B0503020204020204" pitchFamily="34" charset="-122"/>
                  </a:rPr>
                  <a:t>，在不经过计算的情况下，猜测其结果是一个实数还是矩阵；计算</a:t>
                </a:r>
                <a14:m>
                  <m:oMath xmlns:m="http://schemas.openxmlformats.org/officeDocument/2006/math">
                    <m:r>
                      <a:rPr lang="en-US" altLang="zh-CN" sz="2000" i="1">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 |−⟩⟨+|</m:t>
                    </m:r>
                  </m:oMath>
                </a14:m>
                <a:endParaRPr lang="en-US" altLang="zh-CN" sz="2000" b="0" dirty="0" smtClean="0">
                  <a:latin typeface="微软雅黑" panose="020B0503020204020204" pitchFamily="34" charset="-122"/>
                  <a:ea typeface="微软雅黑" panose="020B0503020204020204" pitchFamily="34" charset="-122"/>
                </a:endParaRPr>
              </a:p>
              <a:p>
                <a:pPr>
                  <a:lnSpc>
                    <a:spcPts val="3500"/>
                  </a:lnSpc>
                </a:pPr>
                <a14:m>
                  <m:oMath xmlns:m="http://schemas.openxmlformats.org/officeDocument/2006/math">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m:t>
                        </m:r>
                      </m:e>
                    </m:d>
                    <m:d>
                      <m:dPr>
                        <m:begChr m:val="⟨"/>
                        <m:endChr m:val="|"/>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m:t>
                        </m:r>
                      </m:e>
                    </m:d>
                    <m:r>
                      <a:rPr lang="en-US" altLang="zh-CN" sz="2000" b="0" i="1" smtClean="0">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m:t>
                    </m:r>
                  </m:oMath>
                </a14:m>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态左矢的</a:t>
                </a:r>
                <a:r>
                  <a:rPr lang="zh-CN" altLang="en-US" sz="2000" dirty="0" smtClean="0">
                    <a:latin typeface="微软雅黑" panose="020B0503020204020204" pitchFamily="34" charset="-122"/>
                    <a:ea typeface="微软雅黑" panose="020B0503020204020204" pitchFamily="34" charset="-122"/>
                  </a:rPr>
                  <a:t>坐标</a:t>
                </a:r>
                <a:r>
                  <a:rPr lang="zh-CN" altLang="en-US" sz="2000" dirty="0">
                    <a:latin typeface="微软雅黑" panose="020B0503020204020204" pitchFamily="34" charset="-122"/>
                    <a:ea typeface="微软雅黑" panose="020B0503020204020204" pitchFamily="34" charset="-122"/>
                  </a:rPr>
                  <a:t>是</a:t>
                </a:r>
                <a:r>
                  <a:rPr lang="zh-CN" altLang="en-US" sz="2000" dirty="0" smtClean="0">
                    <a:latin typeface="微软雅黑" panose="020B0503020204020204" pitchFamily="34" charset="-122"/>
                    <a:ea typeface="微软雅黑" panose="020B0503020204020204" pitchFamily="34" charset="-122"/>
                  </a:rPr>
                  <a:t>行向量</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ts val="3500"/>
                  </a:lnSpc>
                </a:pPr>
                <a:r>
                  <a:rPr lang="en-US" altLang="zh-CN" sz="2000" dirty="0" smtClean="0">
                    <a:latin typeface="微软雅黑" panose="020B0503020204020204" pitchFamily="34" charset="-122"/>
                    <a:ea typeface="微软雅黑" panose="020B0503020204020204" pitchFamily="34" charset="-122"/>
                  </a:rPr>
                  <a:t>(3) </a:t>
                </a:r>
                <a:r>
                  <a:rPr lang="zh-CN" altLang="en-US" sz="2000" dirty="0" smtClean="0">
                    <a:latin typeface="微软雅黑" panose="020B0503020204020204" pitchFamily="34" charset="-122"/>
                    <a:ea typeface="微软雅黑" panose="020B0503020204020204" pitchFamily="34" charset="-122"/>
                  </a:rPr>
                  <a:t>现在定义一个算符</a:t>
                </a:r>
                <a14:m>
                  <m:oMath xmlns:m="http://schemas.openxmlformats.org/officeDocument/2006/math">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𝑆</m:t>
                        </m:r>
                      </m:e>
                    </m:acc>
                    <m:r>
                      <a:rPr lang="en-US" altLang="zh-CN" sz="2000" b="0" i="1" smtClean="0">
                        <a:latin typeface="Cambria Math" panose="02040503050406030204" pitchFamily="18" charset="0"/>
                      </a:rPr>
                      <m:t>= </m:t>
                    </m:r>
                    <m:d>
                      <m:dPr>
                        <m:ctrlPr>
                          <a:rPr lang="en-US" altLang="zh-CN" sz="2000" b="0" i="1" smtClean="0">
                            <a:latin typeface="Cambria Math" panose="02040503050406030204" pitchFamily="18" charset="0"/>
                          </a:rPr>
                        </m:ctrlPr>
                      </m:dPr>
                      <m:e>
                        <m:m>
                          <m:mPr>
                            <m:mcs>
                              <m:mc>
                                <m:mcPr>
                                  <m:count m:val="2"/>
                                  <m:mcJc m:val="center"/>
                                </m:mcPr>
                              </m:mc>
                            </m:mcs>
                            <m:ctrlPr>
                              <a:rPr lang="en-US" altLang="zh-CN" sz="2000" b="0" i="1" smtClean="0">
                                <a:latin typeface="Cambria Math" panose="02040503050406030204" pitchFamily="18" charset="0"/>
                              </a:rPr>
                            </m:ctrlPr>
                          </m:mPr>
                          <m:mr>
                            <m:e>
                              <m:r>
                                <m:rPr>
                                  <m:brk m:alnAt="7"/>
                                </m:rPr>
                                <a:rPr lang="en-US" altLang="zh-CN" sz="2000" b="0" i="1" smtClean="0">
                                  <a:latin typeface="Cambria Math" panose="02040503050406030204" pitchFamily="18" charset="0"/>
                                </a:rPr>
                                <m:t>0</m:t>
                              </m:r>
                            </m:e>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e>
                          </m:mr>
                          <m:mr>
                            <m:e>
                              <m:r>
                                <a:rPr lang="en-US" altLang="zh-CN" sz="2000" b="0" i="1" smtClean="0">
                                  <a:latin typeface="Cambria Math" panose="02040503050406030204" pitchFamily="18" charset="0"/>
                                </a:rPr>
                                <m:t>𝑖</m:t>
                              </m:r>
                            </m:e>
                            <m:e>
                              <m:r>
                                <a:rPr lang="en-US" altLang="zh-CN" sz="2000" b="0" i="1" smtClean="0">
                                  <a:latin typeface="Cambria Math" panose="02040503050406030204" pitchFamily="18" charset="0"/>
                                </a:rPr>
                                <m:t>0</m:t>
                              </m:r>
                            </m:e>
                          </m:mr>
                        </m:m>
                      </m:e>
                    </m:d>
                  </m:oMath>
                </a14:m>
                <a:r>
                  <a:rPr lang="zh-CN" altLang="en-US" sz="2000" dirty="0" smtClean="0">
                    <a:latin typeface="微软雅黑" panose="020B0503020204020204" pitchFamily="34" charset="-122"/>
                    <a:ea typeface="微软雅黑" panose="020B0503020204020204" pitchFamily="34" charset="-122"/>
                  </a:rPr>
                  <a:t>，对</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𝑆</m:t>
                        </m:r>
                      </m:e>
                    </m:acc>
                  </m:oMath>
                </a14:m>
                <a:r>
                  <a:rPr lang="zh-CN" altLang="en-US" sz="2000" dirty="0" smtClean="0">
                    <a:latin typeface="微软雅黑" panose="020B0503020204020204" pitchFamily="34" charset="-122"/>
                    <a:ea typeface="微软雅黑" panose="020B0503020204020204" pitchFamily="34" charset="-122"/>
                  </a:rPr>
                  <a:t>做对角化，求出</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𝑆</m:t>
                        </m:r>
                      </m:e>
                    </m:acc>
                  </m:oMath>
                </a14:m>
                <a:r>
                  <a:rPr lang="zh-CN" altLang="en-US" sz="2000" dirty="0" smtClean="0">
                    <a:latin typeface="微软雅黑" panose="020B0503020204020204" pitchFamily="34" charset="-122"/>
                    <a:ea typeface="微软雅黑" panose="020B0503020204020204" pitchFamily="34" charset="-122"/>
                  </a:rPr>
                  <a:t>的</a:t>
                </a:r>
                <a:r>
                  <a:rPr lang="zh-CN" altLang="en-US" sz="2000" dirty="0" smtClean="0">
                    <a:latin typeface="微软雅黑" panose="020B0503020204020204" pitchFamily="34" charset="-122"/>
                    <a:ea typeface="微软雅黑" panose="020B0503020204020204" pitchFamily="34" charset="-122"/>
                  </a:rPr>
                  <a:t>本征值、（归一化</a:t>
                </a:r>
                <a:r>
                  <a:rPr lang="zh-CN" altLang="en-US" sz="2000" dirty="0">
                    <a:latin typeface="微软雅黑" panose="020B0503020204020204" pitchFamily="34" charset="-122"/>
                    <a:ea typeface="微软雅黑" panose="020B0503020204020204" pitchFamily="34" charset="-122"/>
                  </a:rPr>
                  <a:t>的）本征矢和</a:t>
                </a:r>
                <a:r>
                  <a:rPr lang="zh-CN" altLang="en-US" sz="2000" dirty="0" smtClean="0">
                    <a:latin typeface="微软雅黑" panose="020B0503020204020204" pitchFamily="34" charset="-122"/>
                    <a:ea typeface="微软雅黑" panose="020B0503020204020204" pitchFamily="34" charset="-122"/>
                  </a:rPr>
                  <a:t>变换矩阵</a:t>
                </a: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199551" y="2033383"/>
                <a:ext cx="11885611" cy="4682564"/>
              </a:xfrm>
              <a:prstGeom prst="rect">
                <a:avLst/>
              </a:prstGeom>
              <a:blipFill rotWithShape="0">
                <a:blip r:embed="rId5"/>
                <a:stretch>
                  <a:fillRect l="-8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831603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2" name="文本框 1"/>
          <p:cNvSpPr txBox="1"/>
          <p:nvPr/>
        </p:nvSpPr>
        <p:spPr>
          <a:xfrm>
            <a:off x="215070" y="832373"/>
            <a:ext cx="10794366" cy="6093976"/>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在经典世界中，概率是一种处理事件发生可能性的手段</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以抛硬币为例，将硬币抛出后，判断硬币是正面朝上还是背面朝上，通常以抛掷多次后硬币朝上次数和总抛掷次数的比值，作为硬币正面朝上发生的可能性，即硬币正面朝上的概率</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但实际上，采用这种办法并不是因为理论上无法知道硬币运动的轨迹导致的，而是因手抛出硬币时的初速度和方向，以及空气阻力难以探测而做的一种等效的手段。假设上述条件都给出的话，硬币运动到落地的轨迹以及落地后哪面朝上完全可以计算出来，不需要借助概率的手段</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而在量子世界中，概率是描述量子态演化和测量所无法绕开的必要工具。对于一个量子叠加态，对其做测量之前根本无法说这个量子态究竟处在哪个态上；测量前，在理论上也无法给出要测量的某个物理量究竟是多少。</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在自旋</a:t>
            </a:r>
            <a:r>
              <a:rPr lang="en-US" altLang="zh-CN" sz="2000" dirty="0" smtClean="0">
                <a:latin typeface="微软雅黑" panose="020B0503020204020204" pitchFamily="34" charset="-122"/>
                <a:ea typeface="微软雅黑" panose="020B0503020204020204" pitchFamily="34" charset="-122"/>
              </a:rPr>
              <a:t>1/2</a:t>
            </a:r>
            <a:r>
              <a:rPr lang="zh-CN" altLang="en-US" sz="2000" dirty="0" smtClean="0">
                <a:latin typeface="微软雅黑" panose="020B0503020204020204" pitchFamily="34" charset="-122"/>
                <a:ea typeface="微软雅黑" panose="020B0503020204020204" pitchFamily="34" charset="-122"/>
              </a:rPr>
              <a:t>系统里，这种“不确定性”将会更加显著</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8331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2" name="文本框 1"/>
          <p:cNvSpPr txBox="1"/>
          <p:nvPr/>
        </p:nvSpPr>
        <p:spPr>
          <a:xfrm>
            <a:off x="540385" y="910919"/>
            <a:ext cx="2062138" cy="553998"/>
          </a:xfrm>
          <a:prstGeom prst="rect">
            <a:avLst/>
          </a:prstGeom>
          <a:noFill/>
        </p:spPr>
        <p:txBody>
          <a:bodyPr wrap="square" rtlCol="0">
            <a:spAutoFit/>
          </a:bodyPr>
          <a:lstStyle/>
          <a:p>
            <a:pPr>
              <a:lnSpc>
                <a:spcPct val="150000"/>
              </a:lnSpc>
            </a:pPr>
            <a:r>
              <a:rPr lang="zh-CN" altLang="en-US" sz="2000" b="1" dirty="0" smtClean="0">
                <a:latin typeface="微软雅黑" panose="020B0503020204020204" pitchFamily="34" charset="-122"/>
                <a:ea typeface="微软雅黑" panose="020B0503020204020204" pitchFamily="34" charset="-122"/>
              </a:rPr>
              <a:t>对易子运算补充</a:t>
            </a:r>
            <a:endParaRPr lang="en-US" altLang="zh-CN" sz="2000" b="1" dirty="0" smtClean="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p:cNvSpPr txBox="1"/>
              <p:nvPr/>
            </p:nvSpPr>
            <p:spPr>
              <a:xfrm>
                <a:off x="620712" y="1465334"/>
                <a:ext cx="6304085" cy="2383729"/>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对易子运算满足：</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t>1. </a:t>
                </a:r>
                <a14:m>
                  <m:oMath xmlns:m="http://schemas.openxmlformats.org/officeDocument/2006/math">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e>
                    </m:d>
                  </m:oMath>
                </a14:m>
                <a:endParaRPr lang="en-US" altLang="zh-CN" dirty="0" smtClean="0"/>
              </a:p>
              <a:p>
                <a:pPr>
                  <a:lnSpc>
                    <a:spcPct val="150000"/>
                  </a:lnSpc>
                </a:pPr>
                <a:r>
                  <a:rPr lang="en-US" altLang="zh-CN" dirty="0" smtClean="0"/>
                  <a:t>2. </a:t>
                </a:r>
                <a14:m>
                  <m:oMath xmlns:m="http://schemas.openxmlformats.org/officeDocument/2006/math">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𝐶</m:t>
                            </m:r>
                          </m:e>
                        </m:acc>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𝐶</m:t>
                            </m:r>
                          </m:e>
                        </m:acc>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𝐶</m:t>
                            </m:r>
                          </m:e>
                        </m:acc>
                      </m:e>
                    </m:d>
                    <m:r>
                      <a:rPr lang="en-US" altLang="zh-CN" b="0" i="1" smtClean="0">
                        <a:latin typeface="Cambria Math" panose="02040503050406030204" pitchFamily="18" charset="0"/>
                      </a:rPr>
                      <m:t>,     </m:t>
                    </m:r>
                    <m:d>
                      <m:dPr>
                        <m:begChr m:val="["/>
                        <m:endChr m:val="]"/>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𝐵</m:t>
                            </m:r>
                          </m:e>
                        </m:acc>
                        <m:r>
                          <a:rPr lang="en-US" altLang="zh-CN" b="0" i="1" smtClean="0">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𝐶</m:t>
                            </m:r>
                          </m:e>
                        </m:acc>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r>
                          <a:rPr lang="en-US" altLang="zh-CN" i="1">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b="0" i="1" smtClean="0">
                                <a:latin typeface="Cambria Math" panose="02040503050406030204" pitchFamily="18" charset="0"/>
                              </a:rPr>
                              <m:t>𝐵</m:t>
                            </m:r>
                          </m:e>
                        </m:acc>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b="0" i="1" smtClean="0">
                                <a:latin typeface="Cambria Math" panose="02040503050406030204" pitchFamily="18" charset="0"/>
                              </a:rPr>
                              <m:t>𝐴</m:t>
                            </m:r>
                          </m:e>
                        </m:acc>
                        <m:r>
                          <a:rPr lang="en-US" altLang="zh-CN" i="1">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𝐶</m:t>
                            </m:r>
                          </m:e>
                        </m:acc>
                      </m:e>
                    </m:d>
                  </m:oMath>
                </a14:m>
                <a:endParaRPr lang="en-US" altLang="zh-CN" dirty="0" smtClean="0"/>
              </a:p>
              <a:p>
                <a:pPr>
                  <a:lnSpc>
                    <a:spcPct val="150000"/>
                  </a:lnSpc>
                </a:pPr>
                <a:r>
                  <a:rPr lang="en-US" altLang="zh-CN" dirty="0" smtClean="0"/>
                  <a:t>3. </a:t>
                </a:r>
                <a14:m>
                  <m:oMath xmlns:m="http://schemas.openxmlformats.org/officeDocument/2006/math">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𝐶</m:t>
                            </m:r>
                          </m:e>
                        </m:acc>
                      </m:e>
                    </m:d>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𝐶</m:t>
                            </m:r>
                          </m:e>
                        </m:acc>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e>
                    </m:d>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𝐶</m:t>
                        </m:r>
                      </m:e>
                    </m:acc>
                  </m:oMath>
                </a14:m>
                <a:endParaRPr lang="en-US" altLang="zh-CN" dirty="0" smtClean="0"/>
              </a:p>
              <a:p>
                <a:pPr>
                  <a:lnSpc>
                    <a:spcPct val="150000"/>
                  </a:lnSpc>
                </a:pPr>
                <a:r>
                  <a:rPr lang="en-US" altLang="zh-CN" dirty="0" smtClean="0"/>
                  <a:t>4. </a:t>
                </a:r>
                <a14:m>
                  <m:oMath xmlns:m="http://schemas.openxmlformats.org/officeDocument/2006/math">
                    <m:d>
                      <m:dPr>
                        <m:begChr m:val="["/>
                        <m:endChr m:val="]"/>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 </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𝐶</m:t>
                            </m:r>
                          </m:e>
                        </m:acc>
                      </m:e>
                    </m:d>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d>
                      <m:dPr>
                        <m:begChr m:val="["/>
                        <m:endChr m:val="]"/>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e>
                    </m:d>
                    <m:r>
                      <a:rPr lang="en-US" altLang="zh-CN" b="0" i="1"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r>
                          <a:rPr lang="en-US" altLang="zh-CN" b="0" i="1" dirty="0" smtClean="0">
                            <a:latin typeface="Cambria Math" panose="02040503050406030204" pitchFamily="18" charset="0"/>
                          </a:rPr>
                          <m:t> ,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e>
                    </m:d>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oMath>
                </a14:m>
                <a:endParaRPr lang="en-US" altLang="zh-CN" dirty="0" smtClean="0"/>
              </a:p>
            </p:txBody>
          </p:sp>
        </mc:Choice>
        <mc:Fallback xmlns="">
          <p:sp>
            <p:nvSpPr>
              <p:cNvPr id="3" name="文本框 2"/>
              <p:cNvSpPr txBox="1">
                <a:spLocks noRot="1" noChangeAspect="1" noMove="1" noResize="1" noEditPoints="1" noAdjustHandles="1" noChangeArrowheads="1" noChangeShapeType="1" noTextEdit="1"/>
              </p:cNvSpPr>
              <p:nvPr/>
            </p:nvSpPr>
            <p:spPr>
              <a:xfrm>
                <a:off x="620712" y="1465334"/>
                <a:ext cx="6304085" cy="2383729"/>
              </a:xfrm>
              <a:prstGeom prst="rect">
                <a:avLst/>
              </a:prstGeom>
              <a:blipFill rotWithShape="0">
                <a:blip r:embed="rId5"/>
                <a:stretch>
                  <a:fillRect l="-870" b="-7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207472" y="3956539"/>
                <a:ext cx="12391903" cy="994631"/>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rPr>
                  <a:t>容易证明，下面给</a:t>
                </a: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rPr>
                  <a:t>4</a:t>
                </a:r>
                <a:r>
                  <a:rPr lang="zh-CN" altLang="en-US" dirty="0" smtClean="0">
                    <a:latin typeface="微软雅黑" panose="020B0503020204020204" pitchFamily="34" charset="-122"/>
                    <a:ea typeface="微软雅黑" panose="020B0503020204020204" pitchFamily="34" charset="-122"/>
                  </a:rPr>
                  <a:t>一个证明：</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r>
                            <a:rPr lang="en-US" altLang="zh-CN" i="1">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𝐵</m:t>
                              </m:r>
                            </m:e>
                          </m:acc>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𝐶</m:t>
                              </m:r>
                            </m:e>
                          </m:acc>
                        </m:e>
                      </m:d>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e>
                      </m:d>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e>
                      </m:d>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r>
                            <a:rPr lang="en-US" altLang="zh-CN" b="0" i="1" dirty="0" smtClean="0">
                              <a:latin typeface="Cambria Math" panose="02040503050406030204" pitchFamily="18" charset="0"/>
                            </a:rPr>
                            <m:t> −</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e>
                      </m:d>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e>
                      </m:d>
                      <m:r>
                        <a:rPr lang="en-US" altLang="zh-CN" b="0" i="1"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e>
                      </m:d>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d>
                        <m:dPr>
                          <m:begChr m:val="["/>
                          <m:endChr m:val="]"/>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e>
                      </m:d>
                    </m:oMath>
                  </m:oMathPara>
                </a14:m>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𝐵</m:t>
                              </m:r>
                            </m:e>
                          </m:acc>
                          <m:r>
                            <a:rPr lang="en-US" altLang="zh-CN" i="1">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𝐶</m:t>
                              </m:r>
                            </m:e>
                          </m:acc>
                        </m:e>
                      </m:d>
                      <m:r>
                        <a:rPr lang="en-US" altLang="zh-CN" b="0" i="1" smtClean="0">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i="1" dirty="0" smtClean="0">
                              <a:latin typeface="Cambria Math" panose="02040503050406030204" pitchFamily="18" charset="0"/>
                            </a:rPr>
                            <m:t>𝐶</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r>
                            <a:rPr lang="en-US" altLang="zh-CN" b="0" i="1" dirty="0" smtClean="0">
                              <a:latin typeface="Cambria Math" panose="02040503050406030204" pitchFamily="18" charset="0"/>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e>
                      </m:d>
                      <m:r>
                        <a:rPr lang="en-US" altLang="zh-CN" i="1" dirty="0">
                          <a:latin typeface="Cambria Math" panose="02040503050406030204" pitchFamily="18" charset="0"/>
                        </a:rPr>
                        <m:t>+</m:t>
                      </m:r>
                      <m:d>
                        <m:dPr>
                          <m:ctrlPr>
                            <a:rPr lang="en-US" altLang="zh-CN" b="0" i="1" dirty="0" smtClean="0">
                              <a:latin typeface="Cambria Math" panose="02040503050406030204" pitchFamily="18" charset="0"/>
                            </a:rPr>
                          </m:ctrlPr>
                        </m:d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r>
                            <a:rPr lang="en-US" altLang="zh-CN" b="0" i="1" dirty="0" smtClean="0">
                              <a:latin typeface="Cambria Math" panose="02040503050406030204" pitchFamily="18" charset="0"/>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e>
                      </m:d>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𝐴</m:t>
                          </m:r>
                        </m:e>
                      </m:acc>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𝐶</m:t>
                              </m:r>
                            </m:e>
                          </m:acc>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e>
                      </m:d>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r>
                            <a:rPr lang="en-US" altLang="zh-CN" b="0" i="1" dirty="0" smtClean="0">
                              <a:latin typeface="Cambria Math" panose="02040503050406030204" pitchFamily="18" charset="0"/>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e>
                      </m:d>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r>
                        <a:rPr lang="en-US" altLang="zh-CN" b="0" i="1" dirty="0" smtClean="0">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d>
                        <m:dPr>
                          <m:begChr m:val="["/>
                          <m:endChr m:val="]"/>
                          <m:ctrlPr>
                            <a:rPr lang="en-US" altLang="zh-CN" i="1" dirty="0">
                              <a:latin typeface="Cambria Math" panose="02040503050406030204" pitchFamily="18" charset="0"/>
                            </a:rPr>
                          </m:ctrlPr>
                        </m:d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r>
                            <a:rPr lang="en-US" altLang="zh-CN" i="1" dirty="0">
                              <a:latin typeface="Cambria Math" panose="02040503050406030204" pitchFamily="18" charset="0"/>
                            </a:rPr>
                            <m:t>, </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e>
                      </m:d>
                      <m:r>
                        <a:rPr lang="en-US" altLang="zh-CN" i="1" dirty="0">
                          <a:latin typeface="Cambria Math" panose="02040503050406030204" pitchFamily="18" charset="0"/>
                        </a:rPr>
                        <m:t>+</m:t>
                      </m:r>
                      <m:d>
                        <m:dPr>
                          <m:begChr m:val="["/>
                          <m:endChr m:val="]"/>
                          <m:ctrlPr>
                            <a:rPr lang="en-US" altLang="zh-CN" i="1" dirty="0">
                              <a:latin typeface="Cambria Math" panose="02040503050406030204" pitchFamily="18" charset="0"/>
                            </a:rPr>
                          </m:ctrlPr>
                        </m:d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m:t>
                              </m:r>
                            </m:e>
                          </m:acc>
                          <m:r>
                            <a:rPr lang="en-US" altLang="zh-CN" i="1" dirty="0">
                              <a:latin typeface="Cambria Math" panose="02040503050406030204" pitchFamily="18" charset="0"/>
                            </a:rPr>
                            <m:t> , </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𝐶</m:t>
                              </m:r>
                            </m:e>
                          </m:acc>
                        </m:e>
                      </m:d>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𝐵</m:t>
                          </m:r>
                        </m:e>
                      </m:acc>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207472" y="3956539"/>
                <a:ext cx="12391903" cy="994631"/>
              </a:xfrm>
              <a:prstGeom prst="rect">
                <a:avLst/>
              </a:prstGeom>
              <a:blipFill rotWithShape="0">
                <a:blip r:embed="rId6"/>
                <a:stretch>
                  <a:fillRect l="-394" t="-3067"/>
                </a:stretch>
              </a:blipFill>
            </p:spPr>
            <p:txBody>
              <a:bodyPr/>
              <a:lstStyle/>
              <a:p>
                <a:r>
                  <a:rPr lang="zh-CN" altLang="en-US">
                    <a:noFill/>
                  </a:rPr>
                  <a:t> </a:t>
                </a:r>
              </a:p>
            </p:txBody>
          </p:sp>
        </mc:Fallback>
      </mc:AlternateContent>
      <p:sp>
        <p:nvSpPr>
          <p:cNvPr id="5" name="文本框 4"/>
          <p:cNvSpPr txBox="1"/>
          <p:nvPr/>
        </p:nvSpPr>
        <p:spPr>
          <a:xfrm>
            <a:off x="207472" y="5035338"/>
            <a:ext cx="4864491"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在两体和多体系统中这些运算性质很有用</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48060108"/>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11670</TotalTime>
  <Words>1445</Words>
  <Application>Microsoft Office PowerPoint</Application>
  <PresentationFormat>宽屏</PresentationFormat>
  <Paragraphs>344</Paragraphs>
  <Slides>27</Slides>
  <Notes>27</Notes>
  <HiddenSlides>2</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Arial Unicode MS</vt:lpstr>
      <vt:lpstr>等线</vt:lpstr>
      <vt:lpstr>宋体</vt:lpstr>
      <vt:lpstr>微软雅黑</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565</cp:revision>
  <dcterms:created xsi:type="dcterms:W3CDTF">2026-04-13T12:58:51Z</dcterms:created>
  <dcterms:modified xsi:type="dcterms:W3CDTF">2026-07-05T15:41:03Z</dcterms:modified>
</cp:coreProperties>
</file>