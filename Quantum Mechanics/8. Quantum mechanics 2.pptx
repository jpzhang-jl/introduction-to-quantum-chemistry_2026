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337" r:id="rId3"/>
    <p:sldId id="397" r:id="rId4"/>
    <p:sldId id="398" r:id="rId5"/>
    <p:sldId id="399" r:id="rId6"/>
    <p:sldId id="400" r:id="rId7"/>
    <p:sldId id="401" r:id="rId8"/>
    <p:sldId id="402" r:id="rId9"/>
    <p:sldId id="403" r:id="rId10"/>
    <p:sldId id="404" r:id="rId11"/>
    <p:sldId id="405" r:id="rId12"/>
    <p:sldId id="406" r:id="rId13"/>
    <p:sldId id="407" r:id="rId14"/>
    <p:sldId id="3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37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0" autoAdjust="0"/>
    <p:restoredTop sz="92005" autoAdjust="0"/>
  </p:normalViewPr>
  <p:slideViewPr>
    <p:cSldViewPr snapToGrid="0">
      <p:cViewPr varScale="1">
        <p:scale>
          <a:sx n="87" d="100"/>
          <a:sy n="87" d="100"/>
        </p:scale>
        <p:origin x="53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CD0B4-0D93-4925-9AE5-BE338DE0EB7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1C58D-F6D9-4444-8C6C-9BE396A37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509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719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102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250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632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89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406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97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70108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373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2038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5648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2242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03695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0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4F24E-D5DB-4E44-B9C1-1C9F966D9DE0}" type="datetime1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427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644C8-A75A-4271-B806-197E7CBB3043}" type="datetime1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428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EAEB6-6817-4662-A1D3-3BC44BA693B7}" type="datetime1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730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12959-142D-4B7D-99C2-885C08D89CC3}" type="datetime1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982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402A6-6B27-4F12-88C3-26F3AADB1B4A}" type="datetime1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445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A87C-D3D9-4098-8262-38F46DBFE130}" type="datetime1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01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05D1-58D2-499A-8919-5CFDC4F042E9}" type="datetime1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771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647B-B16E-4175-BFE9-E10D077C5782}" type="datetime1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631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3D96-C799-489A-9DE7-F5DBBF900548}" type="datetime1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454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37679-E711-45F2-B537-122BD96A4634}" type="datetime1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931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60A1E-7A35-43E8-B9E2-C715633E112E}" type="datetime1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592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EBADF-EE84-4603-B97B-F3FFE6AB9912}" type="datetime1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579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6035010B-2434-47C2-8100-5A5F5450E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87034" y="484388"/>
            <a:ext cx="1617921" cy="1617921"/>
          </a:xfrm>
          <a:prstGeom prst="rect">
            <a:avLst/>
          </a:prstGeom>
        </p:spPr>
      </p:pic>
      <p:sp>
        <p:nvSpPr>
          <p:cNvPr id="3" name="矩形 12"/>
          <p:cNvSpPr/>
          <p:nvPr/>
        </p:nvSpPr>
        <p:spPr>
          <a:xfrm>
            <a:off x="2889789" y="4196487"/>
            <a:ext cx="6412417" cy="81708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 eaLnBrk="1" hangingPunct="1"/>
            <a:endParaRPr lang="zh-CN" altLang="en-US" sz="2400" dirty="0">
              <a:solidFill>
                <a:srgbClr val="0070C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70405" y="2377744"/>
            <a:ext cx="11251177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400" b="1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Introduction to Quantum Chemistry</a:t>
            </a: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000" b="1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——Quantum Mechanics 2</a:t>
            </a:r>
            <a:endParaRPr lang="zh-CN" altLang="en-US" sz="4000" b="1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54370" y="4553630"/>
            <a:ext cx="4883252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张冀鹏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北京师范大学化学学院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2026. 7. 13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8655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55"/>
    </mc:Choice>
    <mc:Fallback xmlns="">
      <p:transition spd="slow" advTm="8855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Spin and angular momentum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99110" y="1304746"/>
            <a:ext cx="1097485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在量子力学中，有一个在经典力学中不存在的物理量：自旋角动量（内禀角动量）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有别于轨道角动量，它不是由粒子在空间中绕某一点旋转而产生的物理量，同时它也有别于经典力学中的自转（绕刚体内某个旋转轴旋转）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之所以将其称为自旋角动量，是这一物理量与量子态的“旋转”有关，且和轨道角动量在量子力学中的行为是一致的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在实验上验证电子自旋存在的著名实验是斯特恩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盖拉赫实验。我们在此只关注自旋的数学框架，而不去讨论实验内容，对实验的讨论可以阅读参考文献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0970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Spin and angular momentum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3419182" y="2523392"/>
            <a:ext cx="5134708" cy="48357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499110" y="1015243"/>
                <a:ext cx="10974852" cy="5975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在量子力学中定义自旋角动量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𝑺</m:t>
                        </m:r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以及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𝑺</m:t>
                            </m:r>
                          </m:e>
                        </m:acc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 </m:t>
                    </m:r>
                    <m:sSubSup>
                      <m:sSub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bSup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𝑦</m:t>
                        </m:r>
                      </m:sub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bSup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𝑦</m:t>
                        </m:r>
                      </m:sub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同第一节所说，我们直接给出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之间的对易关系：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ℏ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𝑧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ℏ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𝑥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ℏ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按此对易关系，可以得到第二种对易关系：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𝑺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𝑺</m:t>
                              </m:r>
                            </m:e>
                          </m:acc>
                        </m:e>
                      </m:d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𝟎</m:t>
                      </m:r>
                    </m:oMath>
                  </m:oMathPara>
                </a14:m>
                <a:endParaRPr lang="en-US" altLang="zh-CN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𝑺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𝑺</m:t>
                            </m:r>
                          </m:e>
                        </m:acc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𝑺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600" b="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𝑺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𝑺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，选一个分量证明即可</a:t>
                </a:r>
                <a:endPara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𝑺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160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1600" b="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𝑆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𝑆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𝑆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𝑆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</m:t>
                      </m:r>
                    </m:oMath>
                  </m:oMathPara>
                </a14:m>
                <a:endPara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𝑆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𝑦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𝑦</m:t>
                          </m:r>
                        </m:sub>
                      </m:sSub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=−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ℏ</m:t>
                      </m:r>
                      <m:d>
                        <m:d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𝑆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𝑧</m:t>
                          </m:r>
                        </m:sub>
                      </m:sSub>
                      <m:r>
                        <a:rPr lang="en-US" altLang="zh-CN" sz="16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ℏ</m:t>
                      </m:r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合并后有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𝑺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</m:oMath>
                </a14:m>
                <a:endPara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10" y="1015243"/>
                <a:ext cx="10974852" cy="5975034"/>
              </a:xfrm>
              <a:prstGeom prst="rect">
                <a:avLst/>
              </a:prstGeom>
              <a:blipFill rotWithShape="0">
                <a:blip r:embed="rId5"/>
                <a:stretch>
                  <a:fillRect l="-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0517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Spin and angular momentum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337185" y="873094"/>
                <a:ext cx="11469053" cy="5418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ts val="2500"/>
                  </a:lnSpc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𝑺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𝑺</m:t>
                            </m:r>
                          </m:e>
                        </m:acc>
                      </m:e>
                    </m:d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意味着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𝑺</m:t>
                            </m:r>
                          </m:e>
                        </m:acc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𝑺</m:t>
                        </m:r>
                      </m:e>
                    </m:acc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中的任一分量都有共同本征态，而三个分量之间不相互对易，只能取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𝑺</m:t>
                            </m:r>
                          </m:e>
                        </m:acc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𝑺</m:t>
                        </m:r>
                      </m:e>
                    </m:acc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其中一个分量的共同本征态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ts val="2500"/>
                  </a:lnSpc>
                </a:pPr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通常选取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的共同本征态作为自旋空间的基矢，记为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𝑠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⟩</m:t>
                    </m:r>
                  </m:oMath>
                </a14:m>
                <a:endParaRPr lang="en-US" altLang="zh-CN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ts val="2500"/>
                  </a:lnSpc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⟩</m:t>
                    </m:r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满足</a:t>
                </a:r>
                <a:endParaRPr lang="en-US" altLang="zh-CN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ts val="25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𝑠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e>
                      </m:d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ℏ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ts val="25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𝑧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ℏ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ts val="25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𝑠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取正整数或半奇数：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,1, 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…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满足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sub>
                        </m:sSub>
                      </m:e>
                    </m:d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≤</m:t>
                    </m:r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𝑠</m:t>
                    </m:r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+1,…,0,1,…,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𝑠</m:t>
                    </m:r>
                  </m:oMath>
                </a14:m>
                <a:endParaRPr lang="en-US" altLang="zh-CN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ts val="25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这两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个本征值方程可以通过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升降算符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的方法得到，这点在后面将角动量理论时会详细介绍，此处只需先记住这一结果即可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ts val="2500"/>
                  </a:lnSpc>
                </a:pPr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对不同粒子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𝑠</m:t>
                    </m:r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的取值不同，但同类粒子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𝑠</m:t>
                    </m:r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是固定的，我们在此只讨论电子自旋，其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𝑠</m:t>
                    </m:r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只能取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，因此本征值方程简化为</a:t>
                </a:r>
                <a:endParaRPr lang="en-US" altLang="zh-CN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±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ℏ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±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±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±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ℏ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±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自旋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空间维数只有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，在数学上非常简单</a:t>
                </a:r>
                <a:endParaRPr lang="en-US" altLang="zh-CN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5" y="873094"/>
                <a:ext cx="11469053" cy="5418663"/>
              </a:xfrm>
              <a:prstGeom prst="rect">
                <a:avLst/>
              </a:prstGeom>
              <a:blipFill rotWithShape="0">
                <a:blip r:embed="rId3"/>
                <a:stretch>
                  <a:fillRect l="-425" t="-2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6317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Spin and angular momentum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337185" y="777875"/>
                <a:ext cx="11469053" cy="59582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方便</m:t>
                    </m:r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起见我们将本征值里的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ℏ</m:t>
                    </m:r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去掉，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,±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分别写成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;+⟩</m:t>
                    </m:r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⟩</m:t>
                    </m:r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，以表示“自旋向上”和“自旋向下”</a:t>
                </a:r>
                <a:endParaRPr lang="en-US" altLang="zh-CN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用坐标表示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;+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 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 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endParaRPr lang="en-US" altLang="zh-CN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这样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的话有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𝑆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𝑧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;+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𝑆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𝑧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;−</m:t>
                            </m:r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𝑆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𝑧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;+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𝑆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𝑧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;−</m:t>
                            </m:r>
                          </m:e>
                        </m:d>
                      </m:e>
                    </m:d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𝑆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𝑧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;+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𝑆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𝑧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;−</m:t>
                            </m:r>
                          </m:e>
                        </m:d>
                      </m:e>
                    </m:d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干脆连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也丢掉，并定义</a:t>
                </a:r>
                <a:endParaRPr lang="en-US" altLang="zh-CN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𝑧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Pauli z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矩阵，</a:t>
                </a:r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这样有</a:t>
                </a:r>
                <a:endParaRPr lang="en-US" altLang="zh-CN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𝑧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1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zh-CN" altLang="en-US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，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𝑧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1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即本征值分别为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现在我们知道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𝑺</m:t>
                            </m:r>
                          </m:e>
                        </m:acc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可以被同时测量，如果现在某个态恰好就是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;+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，即沿着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𝑧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方向测量自旋得到的结果是确定的，那此时突然沿着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𝑥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方向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测量得到的结果是什么呢？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5" y="777875"/>
                <a:ext cx="11469053" cy="5958234"/>
              </a:xfrm>
              <a:prstGeom prst="rect">
                <a:avLst/>
              </a:prstGeom>
              <a:blipFill rotWithShape="0">
                <a:blip r:embed="rId3"/>
                <a:stretch>
                  <a:fillRect l="-425" r="-425" b="-7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6611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Spin and angular momentum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178923" y="721448"/>
                <a:ext cx="11936877" cy="61365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对</m:t>
                    </m:r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;+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沿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𝑥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方向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测量测量，实际上就是将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;+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投影到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的本征态上。我们此时取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𝑺</m:t>
                            </m:r>
                          </m:e>
                        </m:acc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的共同本征态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;+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，这两个基构成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的一组完备基，于是我们对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;+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做完备插入：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;+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;+</m:t>
                          </m:r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;+</m:t>
                          </m:r>
                        </m:e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;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;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;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</m:e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;+</m:t>
                          </m:r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注意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到此时态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;+</m:t>
                        </m:r>
                      </m:e>
                    </m:d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沿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𝑥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方向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测量并不能准确得到自旋的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𝑥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分量，这个结果和自旋各分量间不对易是一致的，而测量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𝑥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分量是自旋向上还是自旋向下的概率分别是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𝑆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;+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𝑆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;+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𝑆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;−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𝑆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;+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，在实验中测得这两个概率均为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den>
                    </m:f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如果按照经典情况考虑，这似乎也是合理的，可以认为对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一个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粒子固定了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𝑧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分量之后，再去测量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𝑥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分量，实际上是筛选粒子的两个分量，如果按这种情况考虑，我们此时再对这个系统的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做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测量，毫无疑问应当是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自旋向上的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但在量子系统里，情况并不是这样。假设现在对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;+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态测量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，得到了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;+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态，现在再对这个态的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做测量，相当于将态投影到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的本征态上，变成了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;+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;+</m:t>
                          </m:r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;+</m:t>
                          </m:r>
                        </m:e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;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;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;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</m:e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;+</m:t>
                          </m:r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此时竟又能测量到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;−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的态！且由于概率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𝑆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;+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𝑆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;+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𝑆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;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𝑆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;+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也还是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！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23" y="721448"/>
                <a:ext cx="11936877" cy="6136552"/>
              </a:xfrm>
              <a:prstGeom prst="rect">
                <a:avLst/>
              </a:prstGeom>
              <a:blipFill rotWithShape="0">
                <a:blip r:embed="rId3"/>
                <a:stretch>
                  <a:fillRect l="-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5987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Spin and angular momentum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193577" y="941256"/>
                <a:ext cx="11936877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上述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半定量的讨论，说明了量子世界与经典世界的根本不同，不对易的两个可观测量无论如何都不可能同时测到准确的结果。当对其中某一个量准确测量时，另一个量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必然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无法准确测量，而是依照一定的概率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随机得到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任一本征值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77" y="941256"/>
                <a:ext cx="11936877" cy="923330"/>
              </a:xfrm>
              <a:prstGeom prst="rect">
                <a:avLst/>
              </a:prstGeom>
              <a:blipFill rotWithShape="0">
                <a:blip r:embed="rId3"/>
                <a:stretch>
                  <a:fillRect l="-460" b="-3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93577" y="2057399"/>
                <a:ext cx="5011616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下面定量讨论自旋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的三个方向之间基矢的变换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77" y="2057399"/>
                <a:ext cx="5011616" cy="483466"/>
              </a:xfrm>
              <a:prstGeom prst="rect">
                <a:avLst/>
              </a:prstGeom>
              <a:blipFill rotWithShape="0">
                <a:blip r:embed="rId4"/>
                <a:stretch>
                  <a:fillRect l="-1095"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63916" y="2782601"/>
                <a:ext cx="9240569" cy="124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前面已经给出过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矩阵，下面再给出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（都在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基下表示）：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一起构成自旋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系统的</a:t>
                </a:r>
                <a:r>
                  <a:rPr lang="en-US" altLang="zh-CN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Pauli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</a:t>
                </a:r>
                <a:endParaRPr lang="en-US" altLang="zh-CN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16" y="2782601"/>
                <a:ext cx="9240569" cy="1244315"/>
              </a:xfrm>
              <a:prstGeom prst="rect">
                <a:avLst/>
              </a:prstGeom>
              <a:blipFill rotWithShape="0">
                <a:blip r:embed="rId5"/>
                <a:stretch>
                  <a:fillRect l="-528" t="-2927" b="-14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337186" y="4286142"/>
                <a:ext cx="6731830" cy="2571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还以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之间的基变换为例，对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做对角化：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𝜆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𝜆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−1=0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=−1</m:t>
                    </m:r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代入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，基础解系为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，归一化后为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代入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，基础解系为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，归一化后为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合并后得到变换矩阵为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6" y="4286142"/>
                <a:ext cx="6731830" cy="2571858"/>
              </a:xfrm>
              <a:prstGeom prst="rect">
                <a:avLst/>
              </a:prstGeom>
              <a:blipFill rotWithShape="0">
                <a:blip r:embed="rId6"/>
                <a:stretch>
                  <a:fillRect l="-724" t="-9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7372350" y="2060352"/>
                <a:ext cx="4264269" cy="3933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基变换关系为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;+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𝑆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;+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𝑆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;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;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𝑆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;+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𝑆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;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逆变换后有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;+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𝑆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;+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𝑆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;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;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𝑆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;+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𝑆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;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:r>
                  <a:rPr lang="zh-CN" altLang="en-US" dirty="0" smtClean="0">
                    <a:ea typeface="微软雅黑" panose="020B0503020204020204" pitchFamily="34" charset="-122"/>
                  </a:rPr>
                  <a:t>即对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;+</m:t>
                        </m:r>
                      </m:e>
                    </m:d>
                  </m:oMath>
                </a14:m>
                <a:r>
                  <a:rPr lang="zh-CN" altLang="en-US" dirty="0">
                    <a:ea typeface="微软雅黑" panose="020B0503020204020204" pitchFamily="34" charset="-122"/>
                  </a:rPr>
                  <a:t>测量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得到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;+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;−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的概率都是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den>
                    </m:f>
                  </m:oMath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2350" y="2060352"/>
                <a:ext cx="4264269" cy="3933128"/>
              </a:xfrm>
              <a:prstGeom prst="rect">
                <a:avLst/>
              </a:prstGeom>
              <a:blipFill rotWithShape="0">
                <a:blip r:embed="rId7"/>
                <a:stretch>
                  <a:fillRect l="-1143" t="-9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69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Spin and angular momentum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04006" y="777875"/>
                <a:ext cx="12178848" cy="6007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0" dirty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下面讨论自旋当中的投影算符：</a:t>
                </a:r>
                <a:endParaRPr lang="en-US" altLang="zh-CN" b="0" dirty="0" smtClean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</m:e>
                      </m:d>
                      <m:d>
                        <m:dPr>
                          <m:begChr m:val="⟨"/>
                          <m:endChr m:val="|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1, 0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 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</m:e>
                      </m:d>
                      <m:d>
                        <m:dPr>
                          <m:begChr m:val="⟨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 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</m:e>
                      </m:d>
                      <m:d>
                        <m:dPr>
                          <m:begChr m:val="⟨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</m:e>
                      </m:d>
                      <m:d>
                        <m:dPr>
                          <m:begChr m:val="⟨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 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 </m:t>
                      </m:r>
                      <m:r>
                        <a:rPr lang="en-US" altLang="zh-CN" b="1" i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𝐈</m:t>
                      </m:r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即完备插入的矩阵表示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e>
                    </m:d>
                    <m:d>
                      <m:dPr>
                        <m:begChr m:val="⟨"/>
                        <m:endChr m:val="|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e>
                    </m:d>
                    <m:d>
                      <m:dPr>
                        <m:begChr m:val="⟨"/>
                        <m:endChr m:val="|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 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也就是说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可以反映自旋在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𝑧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方向上的极化程度（自旋向上粒子与自旋向下态的差值）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</m:e>
                      </m:d>
                      <m:d>
                        <m:dPr>
                          <m:begChr m:val="⟨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 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</m:e>
                      </m:d>
                      <m:d>
                        <m:dPr>
                          <m:begChr m:val="⟨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e>
                    </m:d>
                    <m:d>
                      <m:dPr>
                        <m:begChr m:val="⟨"/>
                        <m:endChr m:val="|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作用于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</m:e>
                      </m:d>
                      <m:d>
                        <m:dPr>
                          <m:begChr m:val="⟨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</m:e>
                      </m:d>
                      <m:r>
                        <a:rPr lang="en-US" altLang="zh-CN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⟩=|+⟩</m:t>
                      </m:r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同理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</m:e>
                      </m:d>
                      <m:d>
                        <m:dPr>
                          <m:begChr m:val="⟨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+⟩=|−⟩</m:t>
                      </m:r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也就是说这两个算符实现了两个本征态之间的相互转换，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e>
                    </m:d>
                    <m:d>
                      <m:dPr>
                        <m:begChr m:val="⟨"/>
                        <m:endChr m:val="|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让本征态“上升”一位，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e>
                    </m:d>
                    <m:d>
                      <m:dPr>
                        <m:begChr m:val="⟨"/>
                        <m:endChr m:val="|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让本征态“下降”一位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06" y="777875"/>
                <a:ext cx="12178848" cy="6007991"/>
              </a:xfrm>
              <a:prstGeom prst="rect">
                <a:avLst/>
              </a:prstGeom>
              <a:blipFill rotWithShape="0">
                <a:blip r:embed="rId3"/>
                <a:stretch>
                  <a:fillRect l="-400" t="-609" b="-7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875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Spin and angular momentum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938068" y="1210954"/>
                <a:ext cx="10007837" cy="5161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还注意到</a:t>
                </a:r>
                <a:endParaRPr lang="en-US" altLang="zh-CN" sz="2000" dirty="0" smtClean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</m:e>
                      </m:d>
                      <m:d>
                        <m:dPr>
                          <m:begChr m:val="⟨"/>
                          <m:endChr m:val="|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</m:e>
                      </m:d>
                      <m:d>
                        <m:dPr>
                          <m:begChr m:val="⟨"/>
                          <m:endChr m:val="|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 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</m:e>
                      </m:d>
                      <m:d>
                        <m:dPr>
                          <m:begChr m:val="⟨"/>
                          <m:endChr m:val="|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</m:e>
                      </m:d>
                      <m:d>
                        <m:dPr>
                          <m:begChr m:val="⟨"/>
                          <m:endChr m:val="|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现在记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 </m:t>
                    </m:r>
                    <m:d>
                      <m:dPr>
                        <m:begChr m:val="|"/>
                        <m:endChr m:val="⟩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e>
                    </m:d>
                    <m:d>
                      <m:dPr>
                        <m:begChr m:val="⟨"/>
                        <m:endChr m:val="|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 </m:t>
                    </m:r>
                    <m:d>
                      <m:dPr>
                        <m:begChr m:val="|"/>
                        <m:endChr m:val="⟩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e>
                    </m:d>
                    <m:d>
                      <m:dPr>
                        <m:begChr m:val="⟨"/>
                        <m:endChr m:val="|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e>
                    </m:d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则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000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这样的定义给了我们一定启示，可以顺势推广到一般的角动量理论中去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068" y="1210954"/>
                <a:ext cx="10007837" cy="5161028"/>
              </a:xfrm>
              <a:prstGeom prst="rect">
                <a:avLst/>
              </a:prstGeom>
              <a:blipFill rotWithShape="0">
                <a:blip r:embed="rId3"/>
                <a:stretch>
                  <a:fillRect l="-670" b="-10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6875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A</a:t>
            </a:r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ngular momentum theory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99110" y="829015"/>
            <a:ext cx="10007837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下面讨论一般角动量理论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540384" y="1332002"/>
                <a:ext cx="10274153" cy="5348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依旧定义角动量算符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𝑱</m:t>
                        </m:r>
                      </m:e>
                    </m:acc>
                    <m:r>
                      <a:rPr lang="en-US" altLang="zh-CN" sz="20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0" i="1" dirty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𝐽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sub>
                        </m:s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0" i="1" dirty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𝐽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sub>
                        </m:s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0" i="1" dirty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𝐽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p>
                        <m:r>
                          <a:rPr lang="en-US" altLang="zh-CN" sz="2000" b="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 </m:t>
                    </m:r>
                    <m:sSubSup>
                      <m:sSubSup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sub>
                      <m:sup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bSup>
                    <m:r>
                      <a:rPr lang="en-US" altLang="zh-CN" sz="20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𝑦</m:t>
                        </m:r>
                      </m:sub>
                      <m:sup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bSup>
                    <m:r>
                      <a:rPr lang="en-US" altLang="zh-CN" sz="20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𝑦</m:t>
                        </m:r>
                      </m:sub>
                      <m:sup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和对易关系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ℏ</m:t>
                      </m:r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𝑧</m:t>
                          </m:r>
                        </m:sub>
                      </m:sSub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ℏ</m:t>
                      </m:r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𝑥</m:t>
                          </m:r>
                        </m:sub>
                      </m:sSub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ℏ</m:t>
                      </m:r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同理可以推出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𝑱</m:t>
                              </m:r>
                            </m:e>
                          </m:acc>
                        </m:e>
                      </m:d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𝟎</m:t>
                      </m:r>
                    </m:oMath>
                  </m:oMathPara>
                </a14:m>
                <a:endParaRPr lang="en-US" altLang="zh-CN" sz="2000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我们依旧按照习惯取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0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的本征态，由于并不清楚本征值是什么，我们权且记为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𝑎</m:t>
                    </m:r>
                  </m:oMath>
                </a14:m>
                <a:r>
                  <a:rPr lang="zh-CN" altLang="en-US" sz="20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𝑏</m:t>
                    </m:r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则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|"/>
                          <m:endChr m:val="⟩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𝑎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𝑏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为确定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𝑎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𝑏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的具体取值，我们下面研究前面讨论的“升算符”与“降算符”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令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</m:sub>
                      </m:sSub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𝑥</m:t>
                          </m:r>
                        </m:sub>
                      </m:sSub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</m:t>
                      </m:r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CN" sz="2000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</m:sub>
                      </m:sSub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𝑥</m:t>
                          </m:r>
                        </m:sub>
                      </m:sSub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</m:t>
                      </m:r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下面探讨这两个算符与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以及两者之间的对易关系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显然有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𝐽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𝐽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±</m:t>
                            </m:r>
                          </m:sub>
                        </m:sSub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的线性组合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±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±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=±ℏ</m:t>
                      </m:r>
                      <m:d>
                        <m:d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±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 ±ℏ</m:t>
                      </m:r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±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84" y="1332002"/>
                <a:ext cx="10274153" cy="5348387"/>
              </a:xfrm>
              <a:prstGeom prst="rect">
                <a:avLst/>
              </a:prstGeom>
              <a:blipFill rotWithShape="0">
                <a:blip r:embed="rId3"/>
                <a:stretch>
                  <a:fillRect l="-653" t="-4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2318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A</a:t>
            </a:r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ngular momentum theory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979707" y="873094"/>
                <a:ext cx="9711446" cy="57089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𝑥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𝑥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</m:sub>
                      </m:sSub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𝑦</m:t>
                              </m:r>
                            </m:sub>
                          </m:sSub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𝑦</m:t>
                              </m:r>
                            </m:sub>
                          </m:sSub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+ℏ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𝑧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ℏ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</m:sub>
                      </m:sSub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𝑦</m:t>
                              </m:r>
                            </m:sub>
                          </m:sSub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𝑦</m:t>
                              </m:r>
                            </m:sub>
                          </m:sSub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ℏ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𝑧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ℏ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从而有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</m:sub>
                          </m:sSub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</m:sub>
                      </m:sSub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−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</m:sub>
                      </m:sSub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=2ℏ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下面将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±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作用到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上观察其行为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±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𝑎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𝑏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±</m:t>
                          </m:r>
                        </m:sub>
                      </m:sSub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begChr m:val="|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𝑎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𝑏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𝑎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±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𝑧</m:t>
                          </m:r>
                        </m:sub>
                      </m:sSub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±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𝑎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𝑏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±</m:t>
                          </m:r>
                        </m:sub>
                      </m:sSub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±ℏ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±ℏ</m:t>
                          </m:r>
                        </m:e>
                      </m:d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±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𝑎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±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也是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的本征态。由于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𝑏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没有简并，有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±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±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±ℏ</m:t>
                          </m:r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707" y="873094"/>
                <a:ext cx="9711446" cy="5708935"/>
              </a:xfrm>
              <a:prstGeom prst="rect">
                <a:avLst/>
              </a:prstGeom>
              <a:blipFill rotWithShape="0">
                <a:blip r:embed="rId3"/>
                <a:stretch>
                  <a:fillRect l="-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144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A</a:t>
            </a:r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ngular momentum theory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418146" y="1103056"/>
                <a:ext cx="11055815" cy="52459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±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±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±ℏ</m:t>
                          </m:r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下面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的任务就是确定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±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，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先看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确定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间还满足关系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ϯ</m:t>
                        </m:r>
                      </m:sup>
                    </m:sSup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ϯ</m:t>
                        </m:r>
                      </m:sup>
                    </m:sSubSup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  <m:sSubSup>
                      <m:sSub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𝑦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ϯ</m:t>
                        </m:r>
                      </m:sup>
                    </m:sSubSup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𝑦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begChr m:val="（"/>
                            <m:endChr m:val="）"/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+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ϯ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sub>
                    </m:sSub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于是两侧分别取内积有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⟨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sub>
                    </m:sSub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+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⟨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sub>
                    </m:sSub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⟨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𝐽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𝑧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ℏ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𝐽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sub>
                        </m:sSub>
                      </m:e>
                    </m:d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</m:d>
                    <m:d>
                      <m:dPr>
                        <m:begChr m:val="⟨"/>
                        <m:endChr m:val="⟩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−ℏ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</m:d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为正实数有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−ℏ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</m:rad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同理有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⟨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sub>
                    </m:sSub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ℏ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</m:d>
                    <m:r>
                      <a:rPr lang="zh-CN" altLang="en-US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，</m:t>
                    </m:r>
                  </m:oMath>
                </a14:m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ℏ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</m:rad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对于角动量而言，还有物理上的限制不可忽视，也就是其分量不可能超过总量，即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≥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这意味着连续对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作用升算符，总会升至某一个最高态后无法再继续作用，即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𝑏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max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</m:t>
                      </m:r>
                    </m:oMath>
                  </m:oMathPara>
                </a14:m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左侧作用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sub>
                    </m:sSub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max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max</m:t>
                            </m:r>
                          </m:sub>
                        </m:sSub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−ℏ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max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同理对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作用降算符也会降至一个最低态，使得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𝑏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min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</m:t>
                      </m:r>
                    </m:oMath>
                  </m:oMathPara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同理可得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min</m:t>
                            </m:r>
                          </m:sub>
                        </m:sSub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ℏ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min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两式结合后有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max</m:t>
                            </m:r>
                          </m:sub>
                        </m:sSub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ℏ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max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min</m:t>
                            </m:r>
                          </m:sub>
                        </m:sSub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ℏ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min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，移项后有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max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min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max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min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+ℏ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得到两个解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max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min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max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min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−ℏ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（显然不对，舍去）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46" y="1103056"/>
                <a:ext cx="11055815" cy="5245988"/>
              </a:xfrm>
              <a:prstGeom prst="rect">
                <a:avLst/>
              </a:prstGeom>
              <a:blipFill rotWithShape="0">
                <a:blip r:embed="rId3"/>
                <a:stretch>
                  <a:fillRect l="-496" t="-465" b="-8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926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A</a:t>
            </a:r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ngular momentum theory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418146" y="1103056"/>
                <a:ext cx="11055815" cy="51877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ea typeface="微软雅黑" panose="020B0503020204020204" pitchFamily="34" charset="-122"/>
                  </a:rPr>
                  <a:t>设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min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上作用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次升算符到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ax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ax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min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ℏ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ea typeface="微软雅黑" panose="020B0503020204020204" pitchFamily="34" charset="-122"/>
                  </a:rPr>
                  <a:t>含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max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ℏ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min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ℏ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den>
                    </m:f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，带回到含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𝑎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的表达式里，得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𝑗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e>
                    </m:d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ℏ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于是现在可以用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𝑗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𝑚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𝑗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e>
                      </m:d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ℏ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𝑧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𝑚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ℏ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同时有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radPr>
                        <m:deg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+1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+1)</m:t>
                          </m:r>
                        </m:e>
                      </m:ra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ℏ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radPr>
                        <m:deg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+1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1)</m:t>
                          </m:r>
                        </m:e>
                      </m:ra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ℏ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套升降算符的系统在量子力学里的诸多领域都有应用，例如谐振子本征值方程的求解和二次量子化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对单体的角动量讨论到此为止，下面回到电子自旋，讨论多个电子角动量的耦合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46" y="1103056"/>
                <a:ext cx="11055815" cy="5187767"/>
              </a:xfrm>
              <a:prstGeom prst="rect">
                <a:avLst/>
              </a:prstGeom>
              <a:blipFill rotWithShape="0">
                <a:blip r:embed="rId3"/>
                <a:stretch>
                  <a:fillRect l="-4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1479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4" y="288319"/>
            <a:ext cx="7874147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Reference and exercise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99551" y="1017720"/>
            <a:ext cx="11376230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it-IT" altLang="zh-CN" sz="2000" dirty="0" smtClean="0"/>
              <a:t>J</a:t>
            </a:r>
            <a:r>
              <a:rPr lang="it-IT" altLang="zh-CN" sz="2000" dirty="0"/>
              <a:t>. J. Sakurai, J. Napolitano. </a:t>
            </a:r>
            <a:r>
              <a:rPr lang="it-IT" altLang="zh-CN" sz="2000" i="1" dirty="0"/>
              <a:t>Modern Quantum Mechanics</a:t>
            </a:r>
            <a:r>
              <a:rPr lang="it-IT" altLang="zh-CN" sz="2000" dirty="0"/>
              <a:t>, 2nd ed., </a:t>
            </a:r>
            <a:r>
              <a:rPr lang="it-IT" altLang="zh-CN" sz="2000" dirty="0" smtClean="0"/>
              <a:t>Cambridge </a:t>
            </a:r>
            <a:r>
              <a:rPr lang="en-US" altLang="zh-CN" sz="2000" dirty="0" smtClean="0"/>
              <a:t>University </a:t>
            </a:r>
            <a:r>
              <a:rPr lang="en-US" altLang="zh-CN" sz="2000" dirty="0"/>
              <a:t>Press, </a:t>
            </a:r>
            <a:r>
              <a:rPr lang="en-US" altLang="zh-CN" sz="2000" b="1" dirty="0"/>
              <a:t>2017</a:t>
            </a:r>
            <a:r>
              <a:rPr lang="en-US" altLang="zh-CN" sz="20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D. J. Griffiths, D. F. </a:t>
            </a:r>
            <a:r>
              <a:rPr lang="en-US" altLang="zh-CN" sz="2000" dirty="0" err="1"/>
              <a:t>Schroeter</a:t>
            </a:r>
            <a:r>
              <a:rPr lang="en-US" altLang="zh-CN" sz="2000" dirty="0"/>
              <a:t>. </a:t>
            </a:r>
            <a:r>
              <a:rPr lang="en-US" altLang="zh-CN" sz="2000" i="1" dirty="0"/>
              <a:t>Introduction to Quantum Mechanics</a:t>
            </a:r>
            <a:r>
              <a:rPr lang="en-US" altLang="zh-CN" sz="2000" dirty="0"/>
              <a:t>, 3rd </a:t>
            </a:r>
            <a:r>
              <a:rPr lang="en-US" altLang="zh-CN" sz="2000" dirty="0" smtClean="0"/>
              <a:t>ed. Cambridge </a:t>
            </a:r>
            <a:r>
              <a:rPr lang="en-US" altLang="zh-CN" sz="2000" dirty="0"/>
              <a:t>University Press, </a:t>
            </a:r>
            <a:r>
              <a:rPr lang="en-US" altLang="zh-CN" sz="2000" b="1" dirty="0"/>
              <a:t>2018</a:t>
            </a:r>
            <a:r>
              <a:rPr lang="en-US" altLang="zh-CN" sz="2000" dirty="0"/>
              <a:t>.</a:t>
            </a:r>
            <a:endParaRPr lang="en-US" altLang="zh-CN" sz="2000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99551" y="1985677"/>
                <a:ext cx="11885611" cy="4845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练习：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 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验证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PPT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中出现的全部对易关系（除了定义）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 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参考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PPT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之间的基变换，自行推导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之间的基变换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，并导出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之间的基变换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3. 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定义轨道角动量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e>
                    </m:acc>
                    <m:r>
                      <a:rPr lang="en-US" altLang="zh-CN" sz="20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2000" b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𝐱</m:t>
                        </m:r>
                      </m:e>
                    </m:acc>
                    <m:r>
                      <a:rPr lang="en-US" altLang="zh-CN" sz="20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×</m:t>
                    </m:r>
                    <m:acc>
                      <m:accPr>
                        <m:chr m:val="̂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2000" b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𝐩</m:t>
                        </m:r>
                      </m:e>
                    </m:acc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，根据正则对易关系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000" b="0" i="0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0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0" i="1" dirty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1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0" i="1" dirty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20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1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0" i="1" dirty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20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ℏ</m:t>
                    </m:r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𝛿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验证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2000" b="1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e>
                    </m:acc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的三个分量之间也满足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𝐿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𝐿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ℏ</m:t>
                      </m:r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𝐿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𝑧</m:t>
                          </m:r>
                        </m:sub>
                      </m:sSub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𝐿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𝐿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ℏ</m:t>
                      </m:r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𝐿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𝑥</m:t>
                          </m:r>
                        </m:sub>
                      </m:sSub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𝐿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𝐿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ℏ</m:t>
                      </m:r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𝐿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*4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参考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PPT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自行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推导角动量本征值方程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*5. 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尝试从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的共同本征态出发，记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;+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 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;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 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num>
                          <m:den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，推导新的“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Pauli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矩阵”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*6. 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寻找所有既厄米又幺正的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2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×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2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51" y="1985677"/>
                <a:ext cx="11885611" cy="4845878"/>
              </a:xfrm>
              <a:prstGeom prst="rect">
                <a:avLst/>
              </a:prstGeom>
              <a:blipFill rotWithShape="0">
                <a:blip r:embed="rId5"/>
                <a:stretch>
                  <a:fillRect l="-821" b="-12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8316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12089</TotalTime>
  <Words>385</Words>
  <Application>Microsoft Office PowerPoint</Application>
  <PresentationFormat>宽屏</PresentationFormat>
  <Paragraphs>194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 Unicode MS</vt:lpstr>
      <vt:lpstr>等线</vt:lpstr>
      <vt:lpstr>宋体</vt:lpstr>
      <vt:lpstr>微软雅黑</vt:lpstr>
      <vt:lpstr>Arial</vt:lpstr>
      <vt:lpstr>Calibri</vt:lpstr>
      <vt:lpstr>Calibri Light</vt:lpstr>
      <vt:lpstr>Cambria Math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Microsoft 帐户</cp:lastModifiedBy>
  <cp:revision>603</cp:revision>
  <dcterms:created xsi:type="dcterms:W3CDTF">2026-04-13T12:58:51Z</dcterms:created>
  <dcterms:modified xsi:type="dcterms:W3CDTF">2026-07-06T10:21:33Z</dcterms:modified>
</cp:coreProperties>
</file>