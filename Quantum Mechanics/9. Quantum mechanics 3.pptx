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337" r:id="rId3"/>
    <p:sldId id="408" r:id="rId4"/>
    <p:sldId id="411" r:id="rId5"/>
    <p:sldId id="410" r:id="rId6"/>
    <p:sldId id="412" r:id="rId7"/>
    <p:sldId id="413" r:id="rId8"/>
    <p:sldId id="414" r:id="rId9"/>
    <p:sldId id="415" r:id="rId10"/>
    <p:sldId id="417" r:id="rId11"/>
    <p:sldId id="418" r:id="rId12"/>
    <p:sldId id="419" r:id="rId13"/>
    <p:sldId id="420" r:id="rId14"/>
    <p:sldId id="421" r:id="rId15"/>
    <p:sldId id="369" r:id="rId16"/>
    <p:sldId id="422" r:id="rId17"/>
    <p:sldId id="423"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37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2005" autoAdjust="0"/>
  </p:normalViewPr>
  <p:slideViewPr>
    <p:cSldViewPr snapToGrid="0">
      <p:cViewPr varScale="1">
        <p:scale>
          <a:sx n="87" d="100"/>
          <a:sy n="87" d="100"/>
        </p:scale>
        <p:origin x="53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6CD0B4-0D93-4925-9AE5-BE338DE0EB77}" type="datetimeFigureOut">
              <a:rPr lang="zh-CN" altLang="en-US" smtClean="0"/>
              <a:t>2026/7/7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1C58D-F6D9-4444-8C6C-9BE396A37525}" type="slidenum">
              <a:rPr lang="zh-CN" altLang="en-US" smtClean="0"/>
              <a:t>‹#›</a:t>
            </a:fld>
            <a:endParaRPr lang="zh-CN" altLang="en-US"/>
          </a:p>
        </p:txBody>
      </p:sp>
    </p:spTree>
    <p:extLst>
      <p:ext uri="{BB962C8B-B14F-4D97-AF65-F5344CB8AC3E}">
        <p14:creationId xmlns:p14="http://schemas.microsoft.com/office/powerpoint/2010/main" val="2989509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a:t>
            </a:fld>
            <a:endParaRPr lang="zh-CN" altLang="en-US"/>
          </a:p>
        </p:txBody>
      </p:sp>
    </p:spTree>
    <p:extLst>
      <p:ext uri="{BB962C8B-B14F-4D97-AF65-F5344CB8AC3E}">
        <p14:creationId xmlns:p14="http://schemas.microsoft.com/office/powerpoint/2010/main" val="766719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a:t>
            </a:fld>
            <a:endParaRPr lang="zh-CN" altLang="en-US"/>
          </a:p>
        </p:txBody>
      </p:sp>
    </p:spTree>
    <p:extLst>
      <p:ext uri="{BB962C8B-B14F-4D97-AF65-F5344CB8AC3E}">
        <p14:creationId xmlns:p14="http://schemas.microsoft.com/office/powerpoint/2010/main" val="2601102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3</a:t>
            </a:fld>
            <a:endParaRPr lang="zh-CN" altLang="en-US"/>
          </a:p>
        </p:txBody>
      </p:sp>
    </p:spTree>
    <p:extLst>
      <p:ext uri="{BB962C8B-B14F-4D97-AF65-F5344CB8AC3E}">
        <p14:creationId xmlns:p14="http://schemas.microsoft.com/office/powerpoint/2010/main" val="4002438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4</a:t>
            </a:fld>
            <a:endParaRPr lang="zh-CN" altLang="en-US"/>
          </a:p>
        </p:txBody>
      </p:sp>
    </p:spTree>
    <p:extLst>
      <p:ext uri="{BB962C8B-B14F-4D97-AF65-F5344CB8AC3E}">
        <p14:creationId xmlns:p14="http://schemas.microsoft.com/office/powerpoint/2010/main" val="466567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5</a:t>
            </a:fld>
            <a:endParaRPr lang="zh-CN" altLang="en-US"/>
          </a:p>
        </p:txBody>
      </p:sp>
    </p:spTree>
    <p:extLst>
      <p:ext uri="{BB962C8B-B14F-4D97-AF65-F5344CB8AC3E}">
        <p14:creationId xmlns:p14="http://schemas.microsoft.com/office/powerpoint/2010/main" val="1701243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6</a:t>
            </a:fld>
            <a:endParaRPr lang="zh-CN" altLang="en-US"/>
          </a:p>
        </p:txBody>
      </p:sp>
    </p:spTree>
    <p:extLst>
      <p:ext uri="{BB962C8B-B14F-4D97-AF65-F5344CB8AC3E}">
        <p14:creationId xmlns:p14="http://schemas.microsoft.com/office/powerpoint/2010/main" val="1101397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7</a:t>
            </a:fld>
            <a:endParaRPr lang="zh-CN" altLang="en-US"/>
          </a:p>
        </p:txBody>
      </p:sp>
    </p:spTree>
    <p:extLst>
      <p:ext uri="{BB962C8B-B14F-4D97-AF65-F5344CB8AC3E}">
        <p14:creationId xmlns:p14="http://schemas.microsoft.com/office/powerpoint/2010/main" val="2143826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8</a:t>
            </a:fld>
            <a:endParaRPr lang="zh-CN" altLang="en-US"/>
          </a:p>
        </p:txBody>
      </p:sp>
    </p:spTree>
    <p:extLst>
      <p:ext uri="{BB962C8B-B14F-4D97-AF65-F5344CB8AC3E}">
        <p14:creationId xmlns:p14="http://schemas.microsoft.com/office/powerpoint/2010/main" val="676510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9</a:t>
            </a:fld>
            <a:endParaRPr lang="zh-CN" altLang="en-US"/>
          </a:p>
        </p:txBody>
      </p:sp>
    </p:spTree>
    <p:extLst>
      <p:ext uri="{BB962C8B-B14F-4D97-AF65-F5344CB8AC3E}">
        <p14:creationId xmlns:p14="http://schemas.microsoft.com/office/powerpoint/2010/main" val="4133377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10</a:t>
            </a:fld>
            <a:endParaRPr lang="zh-CN" altLang="en-US"/>
          </a:p>
        </p:txBody>
      </p:sp>
    </p:spTree>
    <p:extLst>
      <p:ext uri="{BB962C8B-B14F-4D97-AF65-F5344CB8AC3E}">
        <p14:creationId xmlns:p14="http://schemas.microsoft.com/office/powerpoint/2010/main" val="1446409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11</a:t>
            </a:fld>
            <a:endParaRPr lang="zh-CN" altLang="en-US"/>
          </a:p>
        </p:txBody>
      </p:sp>
    </p:spTree>
    <p:extLst>
      <p:ext uri="{BB962C8B-B14F-4D97-AF65-F5344CB8AC3E}">
        <p14:creationId xmlns:p14="http://schemas.microsoft.com/office/powerpoint/2010/main" val="28319929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12</a:t>
            </a:fld>
            <a:endParaRPr lang="zh-CN" altLang="en-US"/>
          </a:p>
        </p:txBody>
      </p:sp>
    </p:spTree>
    <p:extLst>
      <p:ext uri="{BB962C8B-B14F-4D97-AF65-F5344CB8AC3E}">
        <p14:creationId xmlns:p14="http://schemas.microsoft.com/office/powerpoint/2010/main" val="4794990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13</a:t>
            </a:fld>
            <a:endParaRPr lang="zh-CN" altLang="en-US"/>
          </a:p>
        </p:txBody>
      </p:sp>
    </p:spTree>
    <p:extLst>
      <p:ext uri="{BB962C8B-B14F-4D97-AF65-F5344CB8AC3E}">
        <p14:creationId xmlns:p14="http://schemas.microsoft.com/office/powerpoint/2010/main" val="35090566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14</a:t>
            </a:fld>
            <a:endParaRPr lang="zh-CN" altLang="en-US"/>
          </a:p>
        </p:txBody>
      </p:sp>
    </p:spTree>
    <p:extLst>
      <p:ext uri="{BB962C8B-B14F-4D97-AF65-F5344CB8AC3E}">
        <p14:creationId xmlns:p14="http://schemas.microsoft.com/office/powerpoint/2010/main" val="5391928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15</a:t>
            </a:fld>
            <a:endParaRPr lang="zh-CN" altLang="en-US"/>
          </a:p>
        </p:txBody>
      </p:sp>
    </p:spTree>
    <p:extLst>
      <p:ext uri="{BB962C8B-B14F-4D97-AF65-F5344CB8AC3E}">
        <p14:creationId xmlns:p14="http://schemas.microsoft.com/office/powerpoint/2010/main" val="329107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16</a:t>
            </a:fld>
            <a:endParaRPr lang="zh-CN" altLang="en-US"/>
          </a:p>
        </p:txBody>
      </p:sp>
    </p:spTree>
    <p:extLst>
      <p:ext uri="{BB962C8B-B14F-4D97-AF65-F5344CB8AC3E}">
        <p14:creationId xmlns:p14="http://schemas.microsoft.com/office/powerpoint/2010/main" val="29800848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17</a:t>
            </a:fld>
            <a:endParaRPr lang="zh-CN" altLang="en-US"/>
          </a:p>
        </p:txBody>
      </p:sp>
    </p:spTree>
    <p:extLst>
      <p:ext uri="{BB962C8B-B14F-4D97-AF65-F5344CB8AC3E}">
        <p14:creationId xmlns:p14="http://schemas.microsoft.com/office/powerpoint/2010/main" val="1005737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D04F24E-D5DB-4E44-B9C1-1C9F966D9DE0}" type="datetime1">
              <a:rPr lang="zh-CN" altLang="en-US" smtClean="0"/>
              <a:t>2026/7/7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3080427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AC644C8-A75A-4271-B806-197E7CBB3043}" type="datetime1">
              <a:rPr lang="zh-CN" altLang="en-US" smtClean="0"/>
              <a:t>2026/7/7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637428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7E0EAEB6-6817-4662-A1D3-3BC44BA693B7}" type="datetime1">
              <a:rPr lang="zh-CN" altLang="en-US" smtClean="0"/>
              <a:t>2026/7/7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425973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8712959-142D-4B7D-99C2-885C08D89CC3}" type="datetime1">
              <a:rPr lang="zh-CN" altLang="en-US" smtClean="0"/>
              <a:t>2026/7/7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4050982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B0402A6-6B27-4F12-88C3-26F3AADB1B4A}" type="datetime1">
              <a:rPr lang="zh-CN" altLang="en-US" smtClean="0"/>
              <a:t>2026/7/7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21445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A08A87C-D3D9-4098-8262-38F46DBFE130}" type="datetime1">
              <a:rPr lang="zh-CN" altLang="en-US" smtClean="0"/>
              <a:t>2026/7/7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926015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AA405D1-58D2-499A-8919-5CFDC4F042E9}" type="datetime1">
              <a:rPr lang="zh-CN" altLang="en-US" smtClean="0"/>
              <a:t>2026/7/7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3247771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83647B-B16E-4175-BFE9-E10D077C5782}" type="datetime1">
              <a:rPr lang="zh-CN" altLang="en-US" smtClean="0"/>
              <a:t>2026/7/7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50631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6E63D96-C799-489A-9DE7-F5DBBF900548}" type="datetime1">
              <a:rPr lang="zh-CN" altLang="en-US" smtClean="0"/>
              <a:t>2026/7/7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26454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DC37679-E711-45F2-B537-122BD96A4634}" type="datetime1">
              <a:rPr lang="zh-CN" altLang="en-US" smtClean="0"/>
              <a:t>2026/7/7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2723931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260A1E-7A35-43E8-B9E2-C715633E112E}" type="datetime1">
              <a:rPr lang="zh-CN" altLang="en-US" smtClean="0"/>
              <a:t>2026/7/7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2331592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4EBADF-EE84-4603-B97B-F3FFE6AB9912}" type="datetime1">
              <a:rPr lang="zh-CN" altLang="en-US" smtClean="0"/>
              <a:t>2026/7/7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674579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6.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7.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8.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9.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xmlns="" id="{6035010B-2434-47C2-8100-5A5F5450EB77}"/>
              </a:ext>
            </a:extLst>
          </p:cNvPr>
          <p:cNvPicPr>
            <a:picLocks noChangeAspect="1"/>
          </p:cNvPicPr>
          <p:nvPr/>
        </p:nvPicPr>
        <p:blipFill>
          <a:blip r:embed="rId3"/>
          <a:stretch>
            <a:fillRect/>
          </a:stretch>
        </p:blipFill>
        <p:spPr>
          <a:xfrm>
            <a:off x="0" y="0"/>
            <a:ext cx="12192000" cy="6857999"/>
          </a:xfrm>
          <a:prstGeom prst="rect">
            <a:avLst/>
          </a:prstGeom>
        </p:spPr>
      </p:pic>
      <p:pic>
        <p:nvPicPr>
          <p:cNvPr id="2" name="图片 1">
            <a:extLst>
              <a:ext uri="{FF2B5EF4-FFF2-40B4-BE49-F238E27FC236}">
                <a16:creationId xmlns:a16="http://schemas.microsoft.com/office/drawing/2014/main" xmlns="" id="{D0EEB9B2-3160-400E-89BA-0D43C6A829F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287034" y="484388"/>
            <a:ext cx="1617921" cy="1617921"/>
          </a:xfrm>
          <a:prstGeom prst="rect">
            <a:avLst/>
          </a:prstGeom>
        </p:spPr>
      </p:pic>
      <p:sp>
        <p:nvSpPr>
          <p:cNvPr id="3" name="矩形 12"/>
          <p:cNvSpPr/>
          <p:nvPr/>
        </p:nvSpPr>
        <p:spPr>
          <a:xfrm>
            <a:off x="2889789" y="4196487"/>
            <a:ext cx="6412417" cy="81708"/>
          </a:xfrm>
          <a:prstGeom prst="rect">
            <a:avLst/>
          </a:prstGeom>
          <a:solidFill>
            <a:srgbClr val="002060"/>
          </a:solidFill>
          <a:ln w="9525">
            <a:noFill/>
          </a:ln>
        </p:spPr>
        <p:txBody>
          <a:bodyPr anchor="ctr"/>
          <a:lstStyle/>
          <a:p>
            <a:pPr algn="ctr" eaLnBrk="1" hangingPunct="1"/>
            <a:endParaRPr lang="zh-CN" altLang="en-US" sz="2400" dirty="0">
              <a:solidFill>
                <a:srgbClr val="0070C0"/>
              </a:solidFill>
              <a:latin typeface="等线" panose="02010600030101010101" pitchFamily="2" charset="-122"/>
              <a:ea typeface="等线" panose="02010600030101010101" pitchFamily="2" charset="-122"/>
            </a:endParaRPr>
          </a:p>
        </p:txBody>
      </p:sp>
      <p:sp>
        <p:nvSpPr>
          <p:cNvPr id="5" name="矩形 4"/>
          <p:cNvSpPr/>
          <p:nvPr/>
        </p:nvSpPr>
        <p:spPr>
          <a:xfrm>
            <a:off x="470405" y="2377744"/>
            <a:ext cx="11251177" cy="1692771"/>
          </a:xfrm>
          <a:prstGeom prst="rect">
            <a:avLst/>
          </a:prstGeom>
        </p:spPr>
        <p:txBody>
          <a:bodyPr wrap="square">
            <a:spAutoFit/>
          </a:bodyPr>
          <a:lstStyle/>
          <a:p>
            <a:pPr algn="ctr" fontAlgn="base">
              <a:spcBef>
                <a:spcPct val="0"/>
              </a:spcBef>
              <a:spcAft>
                <a:spcPct val="0"/>
              </a:spcAft>
            </a:pPr>
            <a:r>
              <a:rPr lang="en-US" altLang="zh-CN" sz="4400" b="1" dirty="0" smtClean="0">
                <a:latin typeface="Arial" panose="020B0604020202020204" pitchFamily="34" charset="0"/>
                <a:ea typeface="Arial Unicode MS" panose="020B0604020202020204" pitchFamily="34" charset="-122"/>
                <a:cs typeface="Arial" panose="020B0604020202020204" pitchFamily="34" charset="0"/>
              </a:rPr>
              <a:t>Introduction to Quantum Chemistry</a:t>
            </a:r>
          </a:p>
          <a:p>
            <a:pPr algn="ctr" fontAlgn="base">
              <a:lnSpc>
                <a:spcPct val="150000"/>
              </a:lnSpc>
              <a:spcBef>
                <a:spcPct val="0"/>
              </a:spcBef>
              <a:spcAft>
                <a:spcPct val="0"/>
              </a:spcAft>
            </a:pPr>
            <a:r>
              <a:rPr lang="en-US" altLang="zh-CN" sz="4000" b="1" dirty="0" smtClean="0">
                <a:latin typeface="Arial" panose="020B0604020202020204" pitchFamily="34" charset="0"/>
                <a:ea typeface="Arial Unicode MS" panose="020B0604020202020204" pitchFamily="34" charset="-122"/>
                <a:cs typeface="Arial" panose="020B0604020202020204" pitchFamily="34" charset="0"/>
              </a:rPr>
              <a:t>——Quantum </a:t>
            </a:r>
            <a:r>
              <a:rPr lang="en-US" altLang="zh-CN" sz="4000" b="1" smtClean="0">
                <a:latin typeface="Arial" panose="020B0604020202020204" pitchFamily="34" charset="0"/>
                <a:ea typeface="Arial Unicode MS" panose="020B0604020202020204" pitchFamily="34" charset="-122"/>
                <a:cs typeface="Arial" panose="020B0604020202020204" pitchFamily="34" charset="0"/>
              </a:rPr>
              <a:t>Mechanics 3</a:t>
            </a:r>
            <a:endParaRPr lang="zh-CN" altLang="en-US" sz="4000" b="1" dirty="0">
              <a:latin typeface="Arial" panose="020B0604020202020204" pitchFamily="34" charset="0"/>
              <a:ea typeface="Arial Unicode MS" panose="020B0604020202020204" pitchFamily="34" charset="-122"/>
              <a:cs typeface="Arial" panose="020B0604020202020204" pitchFamily="34" charset="0"/>
            </a:endParaRPr>
          </a:p>
        </p:txBody>
      </p:sp>
      <p:sp>
        <p:nvSpPr>
          <p:cNvPr id="6" name="矩形 5"/>
          <p:cNvSpPr/>
          <p:nvPr/>
        </p:nvSpPr>
        <p:spPr>
          <a:xfrm>
            <a:off x="3654370" y="4553630"/>
            <a:ext cx="4883252" cy="1421928"/>
          </a:xfrm>
          <a:prstGeom prst="rect">
            <a:avLst/>
          </a:prstGeom>
        </p:spPr>
        <p:txBody>
          <a:bodyPr wrap="square">
            <a:spAutoFit/>
          </a:bodyPr>
          <a:lstStyle/>
          <a:p>
            <a:pPr algn="ctr">
              <a:lnSpc>
                <a:spcPct val="120000"/>
              </a:lnSpc>
            </a:pPr>
            <a:r>
              <a:rPr lang="zh-CN" altLang="en-US" sz="2400" dirty="0" smtClean="0">
                <a:latin typeface="微软雅黑" panose="020B0503020204020204" pitchFamily="34" charset="-122"/>
                <a:ea typeface="微软雅黑" panose="020B0503020204020204" pitchFamily="34" charset="-122"/>
                <a:sym typeface="微软雅黑" panose="020B0503020204020204" charset="-122"/>
              </a:rPr>
              <a:t>张冀鹏</a:t>
            </a:r>
            <a:endParaRPr lang="en-US" altLang="zh-CN" sz="2400" dirty="0" smtClean="0">
              <a:latin typeface="微软雅黑" panose="020B0503020204020204" pitchFamily="34" charset="-122"/>
              <a:ea typeface="微软雅黑" panose="020B0503020204020204" pitchFamily="34" charset="-122"/>
              <a:sym typeface="微软雅黑" panose="020B0503020204020204" charset="-122"/>
            </a:endParaRPr>
          </a:p>
          <a:p>
            <a:pPr algn="ctr">
              <a:lnSpc>
                <a:spcPct val="120000"/>
              </a:lnSpc>
            </a:pPr>
            <a:r>
              <a:rPr lang="zh-CN" altLang="en-US" sz="2400" dirty="0" smtClean="0">
                <a:latin typeface="微软雅黑" panose="020B0503020204020204" pitchFamily="34" charset="-122"/>
                <a:ea typeface="微软雅黑" panose="020B0503020204020204" pitchFamily="34" charset="-122"/>
                <a:sym typeface="微软雅黑" panose="020B0503020204020204" charset="-122"/>
              </a:rPr>
              <a:t>北京师范大学化学学院</a:t>
            </a:r>
            <a:endParaRPr lang="en-US" altLang="zh-CN" sz="2400" dirty="0" smtClean="0">
              <a:latin typeface="微软雅黑" panose="020B0503020204020204" pitchFamily="34" charset="-122"/>
              <a:ea typeface="微软雅黑" panose="020B0503020204020204" pitchFamily="34" charset="-122"/>
              <a:sym typeface="微软雅黑" panose="020B0503020204020204" charset="-122"/>
            </a:endParaRPr>
          </a:p>
          <a:p>
            <a:pPr algn="ctr">
              <a:lnSpc>
                <a:spcPct val="120000"/>
              </a:lnSpc>
            </a:pPr>
            <a:r>
              <a:rPr lang="en-US" altLang="zh-CN" sz="2400" dirty="0" smtClean="0">
                <a:latin typeface="微软雅黑" panose="020B0503020204020204" pitchFamily="34" charset="-122"/>
                <a:ea typeface="微软雅黑" panose="020B0503020204020204" pitchFamily="34" charset="-122"/>
                <a:sym typeface="微软雅黑" panose="020B0503020204020204" charset="-122"/>
              </a:rPr>
              <a:t>2026. 7. 13</a:t>
            </a:r>
            <a:endParaRPr lang="zh-CN" altLang="en-US" sz="2400" dirty="0">
              <a:latin typeface="微软雅黑" panose="020B0503020204020204" pitchFamily="34" charset="-122"/>
              <a:ea typeface="微软雅黑" panose="020B0503020204020204" pitchFamily="34" charset="-122"/>
              <a:sym typeface="微软雅黑" panose="020B0503020204020204" charset="-122"/>
            </a:endParaRPr>
          </a:p>
        </p:txBody>
      </p:sp>
    </p:spTree>
    <p:extLst>
      <p:ext uri="{BB962C8B-B14F-4D97-AF65-F5344CB8AC3E}">
        <p14:creationId xmlns:p14="http://schemas.microsoft.com/office/powerpoint/2010/main" val="3978655946"/>
      </p:ext>
    </p:extLst>
  </p:cSld>
  <p:clrMapOvr>
    <a:masterClrMapping/>
  </p:clrMapOvr>
  <mc:AlternateContent xmlns:mc="http://schemas.openxmlformats.org/markup-compatibility/2006" xmlns:p14="http://schemas.microsoft.com/office/powerpoint/2010/main">
    <mc:Choice Requires="p14">
      <p:transition spd="slow" p14:dur="2000" advTm="8855"/>
    </mc:Choice>
    <mc:Fallback xmlns="">
      <p:transition spd="slow" advTm="8855"/>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Tensor product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337185" y="706040"/>
                <a:ext cx="10974852" cy="6080511"/>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单个电子</a:t>
                </a:r>
                <a14:m>
                  <m:oMath xmlns:m="http://schemas.openxmlformats.org/officeDocument/2006/math">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oMath>
                </a14:m>
                <a:r>
                  <a:rPr lang="zh-CN" altLang="en-US" dirty="0" smtClean="0">
                    <a:latin typeface="微软雅黑" panose="020B0503020204020204" pitchFamily="34" charset="-122"/>
                    <a:ea typeface="微软雅黑" panose="020B0503020204020204" pitchFamily="34" charset="-122"/>
                  </a:rPr>
                  <a:t>自旋空间的维度是</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2</m:t>
                    </m:r>
                  </m:oMath>
                </a14:m>
                <a:r>
                  <a:rPr lang="zh-CN" altLang="en-US" dirty="0" smtClean="0">
                    <a:latin typeface="微软雅黑" panose="020B0503020204020204" pitchFamily="34" charset="-122"/>
                    <a:ea typeface="微软雅黑" panose="020B0503020204020204" pitchFamily="34" charset="-122"/>
                  </a:rPr>
                  <a:t>，基用</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𝑧</m:t>
                            </m:r>
                          </m:sub>
                        </m:sSub>
                        <m:r>
                          <a:rPr lang="en-US" altLang="zh-CN" i="1">
                            <a:latin typeface="Cambria Math" panose="02040503050406030204" pitchFamily="18" charset="0"/>
                            <a:ea typeface="微软雅黑" panose="020B0503020204020204" pitchFamily="34" charset="-122"/>
                          </a:rPr>
                          <m:t>;+</m:t>
                        </m:r>
                      </m:e>
                    </m:d>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𝑧</m:t>
                            </m:r>
                          </m:sub>
                        </m:sSub>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e>
                    </m:d>
                  </m:oMath>
                </a14:m>
                <a:r>
                  <a:rPr lang="zh-CN" altLang="en-US" dirty="0" smtClean="0">
                    <a:latin typeface="微软雅黑" panose="020B0503020204020204" pitchFamily="34" charset="-122"/>
                    <a:ea typeface="微软雅黑" panose="020B0503020204020204" pitchFamily="34" charset="-122"/>
                  </a:rPr>
                  <a:t>表示</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现在想要描述</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𝑛</m:t>
                    </m:r>
                  </m:oMath>
                </a14:m>
                <a:r>
                  <a:rPr lang="zh-CN" altLang="en-US" dirty="0" smtClean="0">
                    <a:latin typeface="微软雅黑" panose="020B0503020204020204" pitchFamily="34" charset="-122"/>
                    <a:ea typeface="微软雅黑" panose="020B0503020204020204" pitchFamily="34" charset="-122"/>
                  </a:rPr>
                  <a:t>个电子的自旋空间，就要构造一个全新的空间，其维度应该是</a:t>
                </a:r>
                <a14:m>
                  <m:oMath xmlns:m="http://schemas.openxmlformats.org/officeDocument/2006/math">
                    <m:sSup>
                      <m:sSupPr>
                        <m:ctrlPr>
                          <a:rPr lang="en-US" altLang="zh-CN" b="0" i="1" smtClean="0">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2</m:t>
                        </m:r>
                      </m:e>
                      <m:sup>
                        <m:r>
                          <a:rPr lang="en-US" altLang="zh-CN" b="0" i="1" smtClean="0">
                            <a:latin typeface="Cambria Math" panose="02040503050406030204" pitchFamily="18" charset="0"/>
                            <a:ea typeface="微软雅黑" panose="020B0503020204020204" pitchFamily="34" charset="-122"/>
                          </a:rPr>
                          <m:t>𝑛</m:t>
                        </m:r>
                      </m:sup>
                    </m:sSup>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且测量电子</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1</m:t>
                    </m:r>
                  </m:oMath>
                </a14:m>
                <a:r>
                  <a:rPr lang="zh-CN" altLang="en-US" dirty="0" smtClean="0">
                    <a:latin typeface="微软雅黑" panose="020B0503020204020204" pitchFamily="34" charset="-122"/>
                    <a:ea typeface="微软雅黑" panose="020B0503020204020204" pitchFamily="34" charset="-122"/>
                  </a:rPr>
                  <a:t>的自旋时，对其余电子的状态不会产生干扰</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为此考虑一个新的数学结构：线性空间的张量积</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设线性空间</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𝑉</m:t>
                    </m:r>
                  </m:oMath>
                </a14:m>
                <a:r>
                  <a:rPr lang="zh-CN" altLang="en-US" dirty="0" smtClean="0">
                    <a:latin typeface="微软雅黑" panose="020B0503020204020204" pitchFamily="34" charset="-122"/>
                    <a:ea typeface="微软雅黑" panose="020B0503020204020204" pitchFamily="34" charset="-122"/>
                  </a:rPr>
                  <a:t>里的元素为</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h</m:t>
                        </m:r>
                      </m:e>
                      <m:sub>
                        <m:r>
                          <a:rPr lang="en-US" altLang="zh-CN" i="1">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2</m:t>
                        </m:r>
                      </m:sub>
                    </m:sSub>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h</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h</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称为</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h</m:t>
                        </m:r>
                      </m:e>
                      <m:sub>
                        <m:r>
                          <a:rPr lang="en-US" altLang="zh-CN" i="1">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h</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的</a:t>
                </a:r>
                <a:r>
                  <a:rPr lang="zh-CN" altLang="en-US" dirty="0" smtClean="0">
                    <a:solidFill>
                      <a:srgbClr val="FF0000"/>
                    </a:solidFill>
                    <a:latin typeface="微软雅黑" panose="020B0503020204020204" pitchFamily="34" charset="-122"/>
                    <a:ea typeface="微软雅黑" panose="020B0503020204020204" pitchFamily="34" charset="-122"/>
                  </a:rPr>
                  <a:t>张量积</a:t>
                </a:r>
                <a:r>
                  <a:rPr lang="zh-CN" altLang="en-US" dirty="0" smtClean="0">
                    <a:latin typeface="微软雅黑" panose="020B0503020204020204" pitchFamily="34" charset="-122"/>
                    <a:ea typeface="微软雅黑" panose="020B0503020204020204" pitchFamily="34" charset="-122"/>
                  </a:rPr>
                  <a:t>，满足：</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3</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3</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3</m:t>
                          </m:r>
                        </m:sub>
                      </m:sSub>
                      <m:r>
                        <a:rPr lang="en-US" altLang="zh-CN" b="0" i="1" smtClean="0">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h</m:t>
                          </m:r>
                        </m:e>
                        <m:sub>
                          <m:r>
                            <a:rPr lang="en-US" altLang="zh-CN" i="1">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3</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2</m:t>
                          </m:r>
                        </m:sub>
                      </m:sSub>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3</m:t>
                              </m:r>
                            </m:sub>
                          </m:sSub>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3</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3</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 </m:t>
                      </m:r>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𝑘</m:t>
                          </m:r>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𝑘</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e>
                      </m:d>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𝑘</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𝐶</m:t>
                      </m:r>
                    </m:oMath>
                  </m:oMathPara>
                </a14:m>
                <a:endParaRPr lang="en-US" altLang="zh-CN" i="1"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设</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的基为</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𝑟</m:t>
                        </m:r>
                      </m:sub>
                    </m:sSub>
                  </m:oMath>
                </a14:m>
                <a:r>
                  <a:rPr lang="zh-CN" altLang="en-US" dirty="0" smtClean="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2</m:t>
                        </m:r>
                      </m:sub>
                    </m:sSub>
                  </m:oMath>
                </a14:m>
                <a:r>
                  <a:rPr lang="zh-CN" altLang="en-US" dirty="0">
                    <a:latin typeface="微软雅黑" panose="020B0503020204020204" pitchFamily="34" charset="-122"/>
                    <a:ea typeface="微软雅黑" panose="020B0503020204020204" pitchFamily="34" charset="-122"/>
                  </a:rPr>
                  <a:t>的基为</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2</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b="0" i="1" smtClean="0">
                            <a:latin typeface="Cambria Math" panose="02040503050406030204" pitchFamily="18" charset="0"/>
                            <a:ea typeface="微软雅黑" panose="020B0503020204020204" pitchFamily="34" charset="-122"/>
                          </a:rPr>
                          <m:t>𝑠</m:t>
                        </m:r>
                      </m:sub>
                    </m:sSub>
                  </m:oMath>
                </a14:m>
                <a:r>
                  <a:rPr lang="zh-CN" altLang="en-US" dirty="0" smtClean="0">
                    <a:latin typeface="微软雅黑" panose="020B0503020204020204" pitchFamily="34" charset="-122"/>
                    <a:ea typeface="微软雅黑" panose="020B0503020204020204" pitchFamily="34" charset="-122"/>
                  </a:rPr>
                  <a:t>，那么按照上述张量积的定义，</a:t>
                </a:r>
                <a14:m>
                  <m:oMath xmlns:m="http://schemas.openxmlformats.org/officeDocument/2006/math">
                    <m:r>
                      <a:rPr lang="en-US" altLang="zh-CN" i="1">
                        <a:latin typeface="Cambria Math" panose="02040503050406030204" pitchFamily="18" charset="0"/>
                        <a:ea typeface="微软雅黑" panose="020B0503020204020204" pitchFamily="34" charset="-122"/>
                      </a:rPr>
                      <m:t>𝑉</m:t>
                    </m:r>
                  </m:oMath>
                </a14:m>
                <a:r>
                  <a:rPr lang="zh-CN" altLang="en-US" dirty="0" smtClean="0">
                    <a:latin typeface="微软雅黑" panose="020B0503020204020204" pitchFamily="34" charset="-122"/>
                    <a:ea typeface="微软雅黑" panose="020B0503020204020204" pitchFamily="34" charset="-122"/>
                  </a:rPr>
                  <a:t>中的基为</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b="0" i="1" smtClean="0">
                              <a:latin typeface="Cambria Math" panose="02040503050406030204" pitchFamily="18" charset="0"/>
                              <a:ea typeface="微软雅黑" panose="020B0503020204020204" pitchFamily="34" charset="-122"/>
                            </a:rPr>
                            <m:t>𝑠</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𝑟</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𝑟</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b="0" i="1" smtClean="0">
                              <a:latin typeface="Cambria Math" panose="02040503050406030204" pitchFamily="18" charset="0"/>
                              <a:ea typeface="微软雅黑" panose="020B0503020204020204" pitchFamily="34" charset="-122"/>
                            </a:rPr>
                            <m:t>𝑠</m:t>
                          </m:r>
                        </m:sub>
                      </m:sSub>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一共</a:t>
                </a:r>
                <a:r>
                  <a:rPr lang="zh-CN" altLang="en-US" dirty="0" smtClean="0">
                    <a:latin typeface="微软雅黑" panose="020B0503020204020204" pitchFamily="34" charset="-122"/>
                    <a:ea typeface="微软雅黑" panose="020B0503020204020204" pitchFamily="34" charset="-122"/>
                  </a:rPr>
                  <a:t>有</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𝑟</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𝑠</m:t>
                    </m:r>
                  </m:oMath>
                </a14:m>
                <a:r>
                  <a:rPr lang="zh-CN" altLang="en-US" dirty="0" smtClean="0">
                    <a:latin typeface="微软雅黑" panose="020B0503020204020204" pitchFamily="34" charset="-122"/>
                    <a:ea typeface="微软雅黑" panose="020B0503020204020204" pitchFamily="34" charset="-122"/>
                  </a:rPr>
                  <a:t>个基，即</a:t>
                </a:r>
                <a14:m>
                  <m:oMath xmlns:m="http://schemas.openxmlformats.org/officeDocument/2006/math">
                    <m:r>
                      <a:rPr lang="en-US" altLang="zh-CN" i="1">
                        <a:latin typeface="Cambria Math" panose="02040503050406030204" pitchFamily="18" charset="0"/>
                        <a:ea typeface="微软雅黑" panose="020B0503020204020204" pitchFamily="34" charset="-122"/>
                      </a:rPr>
                      <m:t>𝑉</m:t>
                    </m:r>
                  </m:oMath>
                </a14:m>
                <a:r>
                  <a:rPr lang="zh-CN" altLang="en-US" dirty="0" smtClean="0">
                    <a:latin typeface="微软雅黑" panose="020B0503020204020204" pitchFamily="34" charset="-122"/>
                    <a:ea typeface="微软雅黑" panose="020B0503020204020204" pitchFamily="34" charset="-122"/>
                  </a:rPr>
                  <a:t>的维数为</a:t>
                </a:r>
                <a14:m>
                  <m:oMath xmlns:m="http://schemas.openxmlformats.org/officeDocument/2006/math">
                    <m:r>
                      <a:rPr lang="en-US" altLang="zh-CN" i="1">
                        <a:latin typeface="Cambria Math" panose="02040503050406030204" pitchFamily="18" charset="0"/>
                        <a:ea typeface="微软雅黑" panose="020B0503020204020204" pitchFamily="34" charset="-122"/>
                      </a:rPr>
                      <m:t>𝑟</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𝑠</m:t>
                    </m:r>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将</a:t>
                </a:r>
                <a:r>
                  <a:rPr lang="zh-CN" altLang="en-US" dirty="0" smtClean="0">
                    <a:latin typeface="微软雅黑" panose="020B0503020204020204" pitchFamily="34" charset="-122"/>
                    <a:ea typeface="微软雅黑" panose="020B0503020204020204" pitchFamily="34" charset="-122"/>
                  </a:rPr>
                  <a:t>定义了张量积运算的</a:t>
                </a:r>
                <a14:m>
                  <m:oMath xmlns:m="http://schemas.openxmlformats.org/officeDocument/2006/math">
                    <m:r>
                      <a:rPr lang="en-US" altLang="zh-CN" i="1">
                        <a:latin typeface="Cambria Math" panose="02040503050406030204" pitchFamily="18" charset="0"/>
                        <a:ea typeface="微软雅黑" panose="020B0503020204020204" pitchFamily="34" charset="-122"/>
                      </a:rPr>
                      <m:t>𝑉</m:t>
                    </m:r>
                  </m:oMath>
                </a14:m>
                <a:r>
                  <a:rPr lang="zh-CN" altLang="en-US" dirty="0" smtClean="0">
                    <a:latin typeface="微软雅黑" panose="020B0503020204020204" pitchFamily="34" charset="-122"/>
                    <a:ea typeface="微软雅黑" panose="020B0503020204020204" pitchFamily="34" charset="-122"/>
                  </a:rPr>
                  <a:t>记为</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，称为线性空间</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的</a:t>
                </a:r>
                <a:r>
                  <a:rPr lang="zh-CN" altLang="en-US" dirty="0" smtClean="0">
                    <a:solidFill>
                      <a:srgbClr val="FF0000"/>
                    </a:solidFill>
                    <a:latin typeface="微软雅黑" panose="020B0503020204020204" pitchFamily="34" charset="-122"/>
                    <a:ea typeface="微软雅黑" panose="020B0503020204020204" pitchFamily="34" charset="-122"/>
                  </a:rPr>
                  <a:t>张量积</a:t>
                </a:r>
                <a:endParaRPr lang="en-US" altLang="zh-CN" dirty="0" smtClean="0">
                  <a:solidFill>
                    <a:srgbClr val="FF0000"/>
                  </a:solidFill>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37185" y="706040"/>
                <a:ext cx="10974852" cy="6080511"/>
              </a:xfrm>
              <a:prstGeom prst="rect">
                <a:avLst/>
              </a:prstGeom>
              <a:blipFill rotWithShape="0">
                <a:blip r:embed="rId5"/>
                <a:stretch>
                  <a:fillRect l="-4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80970506"/>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Tensor product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418147" y="1424113"/>
                <a:ext cx="10974852" cy="4333622"/>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在定义了线性空间后，还要定义新的线性变换：</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记</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𝑓</m:t>
                    </m:r>
                  </m:oMath>
                </a14:m>
                <a:r>
                  <a:rPr lang="zh-CN" altLang="en-US" dirty="0" smtClean="0">
                    <a:latin typeface="微软雅黑" panose="020B0503020204020204" pitchFamily="34" charset="-122"/>
                    <a:ea typeface="微软雅黑" panose="020B0503020204020204" pitchFamily="34" charset="-122"/>
                  </a:rPr>
                  <a:t>是</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到</a:t>
                </a:r>
                <a14:m>
                  <m:oMath xmlns:m="http://schemas.openxmlformats.org/officeDocument/2006/math">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up>
                        <m:r>
                          <a:rPr lang="en-US" altLang="zh-CN" b="0" i="1" smtClean="0">
                            <a:latin typeface="Cambria Math" panose="02040503050406030204" pitchFamily="18" charset="0"/>
                            <a:ea typeface="微软雅黑" panose="020B0503020204020204" pitchFamily="34" charset="-122"/>
                          </a:rPr>
                          <m:t>′</m:t>
                        </m:r>
                      </m:sup>
                    </m:sSubSup>
                  </m:oMath>
                </a14:m>
                <a:r>
                  <a:rPr lang="zh-CN" altLang="en-US" dirty="0" smtClean="0">
                    <a:latin typeface="微软雅黑" panose="020B0503020204020204" pitchFamily="34" charset="-122"/>
                    <a:ea typeface="微软雅黑" panose="020B0503020204020204" pitchFamily="34" charset="-122"/>
                  </a:rPr>
                  <a:t>的一个线性映射，</a:t>
                </a:r>
                <a:r>
                  <a:rPr lang="en-US" altLang="zh-CN" dirty="0">
                    <a:ea typeface="微软雅黑" panose="020B0503020204020204" pitchFamily="34" charset="-122"/>
                  </a:rPr>
                  <a:t> </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𝑔</m:t>
                    </m:r>
                  </m:oMath>
                </a14:m>
                <a:r>
                  <a:rPr lang="zh-CN" altLang="en-US" dirty="0" smtClean="0">
                    <a:latin typeface="微软雅黑" panose="020B0503020204020204" pitchFamily="34" charset="-122"/>
                    <a:ea typeface="微软雅黑" panose="020B0503020204020204" pitchFamily="34" charset="-122"/>
                  </a:rPr>
                  <a:t>是</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2</m:t>
                        </m:r>
                      </m:sub>
                    </m:sSub>
                  </m:oMath>
                </a14:m>
                <a:r>
                  <a:rPr lang="zh-CN" altLang="en-US" dirty="0">
                    <a:latin typeface="微软雅黑" panose="020B0503020204020204" pitchFamily="34" charset="-122"/>
                    <a:ea typeface="微软雅黑" panose="020B0503020204020204" pitchFamily="34" charset="-122"/>
                  </a:rPr>
                  <a:t>到</a:t>
                </a:r>
                <a14:m>
                  <m:oMath xmlns:m="http://schemas.openxmlformats.org/officeDocument/2006/math">
                    <m:sSubSup>
                      <m:sSubSupPr>
                        <m:ctrlPr>
                          <a:rPr lang="en-US" altLang="zh-CN" i="1">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2</m:t>
                        </m:r>
                      </m:sub>
                      <m:sup>
                        <m:r>
                          <a:rPr lang="en-US" altLang="zh-CN" i="1">
                            <a:latin typeface="Cambria Math" panose="02040503050406030204" pitchFamily="18" charset="0"/>
                            <a:ea typeface="微软雅黑" panose="020B0503020204020204" pitchFamily="34" charset="-122"/>
                          </a:rPr>
                          <m:t>′</m:t>
                        </m:r>
                      </m:sup>
                    </m:sSubSup>
                  </m:oMath>
                </a14:m>
                <a:r>
                  <a:rPr lang="zh-CN" altLang="en-US" dirty="0">
                    <a:latin typeface="微软雅黑" panose="020B0503020204020204" pitchFamily="34" charset="-122"/>
                    <a:ea typeface="微软雅黑" panose="020B0503020204020204" pitchFamily="34" charset="-122"/>
                  </a:rPr>
                  <a:t>的一个</a:t>
                </a:r>
                <a:r>
                  <a:rPr lang="zh-CN" altLang="en-US" dirty="0" smtClean="0">
                    <a:latin typeface="微软雅黑" panose="020B0503020204020204" pitchFamily="34" charset="-122"/>
                    <a:ea typeface="微软雅黑" panose="020B0503020204020204" pitchFamily="34" charset="-122"/>
                  </a:rPr>
                  <a:t>线性映射</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定义</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到</a:t>
                </a:r>
                <a14:m>
                  <m:oMath xmlns:m="http://schemas.openxmlformats.org/officeDocument/2006/math">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up>
                        <m:r>
                          <a:rPr lang="en-US" altLang="zh-CN" b="0" i="1" smtClean="0">
                            <a:latin typeface="Cambria Math" panose="02040503050406030204" pitchFamily="18" charset="0"/>
                            <a:ea typeface="微软雅黑" panose="020B0503020204020204" pitchFamily="34" charset="-122"/>
                          </a:rPr>
                          <m:t>′</m:t>
                        </m:r>
                      </m:sup>
                    </m:sSubSup>
                    <m:r>
                      <a:rPr lang="en-US" altLang="zh-CN" i="1">
                        <a:latin typeface="Cambria Math" panose="02040503050406030204" pitchFamily="18" charset="0"/>
                        <a:ea typeface="微软雅黑" panose="020B0503020204020204" pitchFamily="34" charset="-122"/>
                      </a:rPr>
                      <m:t>⊗</m:t>
                    </m:r>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2</m:t>
                        </m:r>
                      </m:sub>
                      <m:sup>
                        <m:r>
                          <a:rPr lang="en-US" altLang="zh-CN" b="0" i="1" smtClean="0">
                            <a:latin typeface="Cambria Math" panose="02040503050406030204" pitchFamily="18" charset="0"/>
                            <a:ea typeface="微软雅黑" panose="020B0503020204020204" pitchFamily="34" charset="-122"/>
                          </a:rPr>
                          <m:t>′</m:t>
                        </m:r>
                      </m:sup>
                    </m:sSubSup>
                  </m:oMath>
                </a14:m>
                <a:r>
                  <a:rPr lang="zh-CN" altLang="en-US" dirty="0" smtClean="0">
                    <a:latin typeface="微软雅黑" panose="020B0503020204020204" pitchFamily="34" charset="-122"/>
                    <a:ea typeface="微软雅黑" panose="020B0503020204020204" pitchFamily="34" charset="-122"/>
                  </a:rPr>
                  <a:t>的</a:t>
                </a:r>
                <a:r>
                  <a:rPr lang="zh-CN" altLang="en-US" dirty="0">
                    <a:latin typeface="微软雅黑" panose="020B0503020204020204" pitchFamily="34" charset="-122"/>
                    <a:ea typeface="微软雅黑" panose="020B0503020204020204" pitchFamily="34" charset="-122"/>
                  </a:rPr>
                  <a:t>一个</a:t>
                </a:r>
                <a:r>
                  <a:rPr lang="zh-CN" altLang="en-US" dirty="0" smtClean="0">
                    <a:latin typeface="微软雅黑" panose="020B0503020204020204" pitchFamily="34" charset="-122"/>
                    <a:ea typeface="微软雅黑" panose="020B0503020204020204" pitchFamily="34" charset="-122"/>
                  </a:rPr>
                  <a:t>线性映射为</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𝑓</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𝑔</m:t>
                    </m:r>
                  </m:oMath>
                </a14:m>
                <a:r>
                  <a:rPr lang="zh-CN" altLang="en-US" dirty="0" smtClean="0">
                    <a:latin typeface="微软雅黑" panose="020B0503020204020204" pitchFamily="34" charset="-122"/>
                    <a:ea typeface="微软雅黑" panose="020B0503020204020204" pitchFamily="34" charset="-122"/>
                  </a:rPr>
                  <a:t>，满足</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𝑓</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𝑔</m:t>
                          </m:r>
                        </m:e>
                      </m:d>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e>
                      </m: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𝑓</m:t>
                      </m:r>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e>
                      </m: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𝑔</m:t>
                      </m:r>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e>
                      </m:d>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称</a:t>
                </a:r>
                <a14:m>
                  <m:oMath xmlns:m="http://schemas.openxmlformats.org/officeDocument/2006/math">
                    <m:r>
                      <a:rPr lang="en-US" altLang="zh-CN" i="1">
                        <a:latin typeface="Cambria Math" panose="02040503050406030204" pitchFamily="18" charset="0"/>
                        <a:ea typeface="微软雅黑" panose="020B0503020204020204" pitchFamily="34" charset="-122"/>
                      </a:rPr>
                      <m:t>𝑓</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𝑔</m:t>
                    </m:r>
                  </m:oMath>
                </a14:m>
                <a:r>
                  <a:rPr lang="zh-CN" altLang="en-US" dirty="0" smtClean="0">
                    <a:latin typeface="微软雅黑" panose="020B0503020204020204" pitchFamily="34" charset="-122"/>
                    <a:ea typeface="微软雅黑" panose="020B0503020204020204" pitchFamily="34" charset="-122"/>
                  </a:rPr>
                  <a:t>是线性映射</a:t>
                </a:r>
                <a14:m>
                  <m:oMath xmlns:m="http://schemas.openxmlformats.org/officeDocument/2006/math">
                    <m:r>
                      <a:rPr lang="en-US" altLang="zh-CN" i="1">
                        <a:latin typeface="Cambria Math" panose="02040503050406030204" pitchFamily="18" charset="0"/>
                        <a:ea typeface="微软雅黑" panose="020B0503020204020204" pitchFamily="34" charset="-122"/>
                      </a:rPr>
                      <m:t>𝑓</m:t>
                    </m:r>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r>
                      <a:rPr lang="en-US" altLang="zh-CN" i="1">
                        <a:latin typeface="Cambria Math" panose="02040503050406030204" pitchFamily="18" charset="0"/>
                        <a:ea typeface="微软雅黑" panose="020B0503020204020204" pitchFamily="34" charset="-122"/>
                      </a:rPr>
                      <m:t>𝑔</m:t>
                    </m:r>
                  </m:oMath>
                </a14:m>
                <a:r>
                  <a:rPr lang="zh-CN" altLang="en-US" dirty="0" smtClean="0">
                    <a:latin typeface="微软雅黑" panose="020B0503020204020204" pitchFamily="34" charset="-122"/>
                    <a:ea typeface="微软雅黑" panose="020B0503020204020204" pitchFamily="34" charset="-122"/>
                  </a:rPr>
                  <a:t>的</a:t>
                </a:r>
                <a:r>
                  <a:rPr lang="zh-CN" altLang="en-US" dirty="0" smtClean="0">
                    <a:solidFill>
                      <a:srgbClr val="FF0000"/>
                    </a:solidFill>
                    <a:latin typeface="微软雅黑" panose="020B0503020204020204" pitchFamily="34" charset="-122"/>
                    <a:ea typeface="微软雅黑" panose="020B0503020204020204" pitchFamily="34" charset="-122"/>
                  </a:rPr>
                  <a:t>张量积</a:t>
                </a:r>
                <a:endParaRPr lang="en-US" altLang="zh-CN" dirty="0" smtClean="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特别地</a:t>
                </a:r>
                <a14:m>
                  <m:oMath xmlns:m="http://schemas.openxmlformats.org/officeDocument/2006/math">
                    <m:r>
                      <a:rPr lang="en-US" altLang="zh-CN" i="1">
                        <a:latin typeface="Cambria Math" panose="02040503050406030204" pitchFamily="18" charset="0"/>
                        <a:ea typeface="微软雅黑" panose="020B0503020204020204" pitchFamily="34" charset="-122"/>
                      </a:rPr>
                      <m:t>𝑓</m:t>
                    </m:r>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r>
                      <a:rPr lang="en-US" altLang="zh-CN" i="1">
                        <a:latin typeface="Cambria Math" panose="02040503050406030204" pitchFamily="18" charset="0"/>
                        <a:ea typeface="微软雅黑" panose="020B0503020204020204" pitchFamily="34" charset="-122"/>
                      </a:rPr>
                      <m:t>𝑔</m:t>
                    </m:r>
                  </m:oMath>
                </a14:m>
                <a:r>
                  <a:rPr lang="zh-CN" altLang="en-US" dirty="0" smtClean="0">
                    <a:latin typeface="微软雅黑" panose="020B0503020204020204" pitchFamily="34" charset="-122"/>
                    <a:ea typeface="微软雅黑" panose="020B0503020204020204" pitchFamily="34" charset="-122"/>
                  </a:rPr>
                  <a:t>分别是</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上的线性变换，称</a:t>
                </a:r>
                <a14:m>
                  <m:oMath xmlns:m="http://schemas.openxmlformats.org/officeDocument/2006/math">
                    <m:r>
                      <a:rPr lang="en-US" altLang="zh-CN" i="1">
                        <a:latin typeface="Cambria Math" panose="02040503050406030204" pitchFamily="18" charset="0"/>
                        <a:ea typeface="微软雅黑" panose="020B0503020204020204" pitchFamily="34" charset="-122"/>
                      </a:rPr>
                      <m:t>𝑓</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𝑔</m:t>
                    </m:r>
                  </m:oMath>
                </a14:m>
                <a:r>
                  <a:rPr lang="zh-CN" altLang="en-US" dirty="0" smtClean="0">
                    <a:latin typeface="微软雅黑" panose="020B0503020204020204" pitchFamily="34" charset="-122"/>
                    <a:ea typeface="微软雅黑" panose="020B0503020204020204" pitchFamily="34" charset="-122"/>
                  </a:rPr>
                  <a:t>是线性变换</a:t>
                </a:r>
                <a14:m>
                  <m:oMath xmlns:m="http://schemas.openxmlformats.org/officeDocument/2006/math">
                    <m:r>
                      <a:rPr lang="en-US" altLang="zh-CN" i="1">
                        <a:latin typeface="Cambria Math" panose="02040503050406030204" pitchFamily="18" charset="0"/>
                        <a:ea typeface="微软雅黑" panose="020B0503020204020204" pitchFamily="34" charset="-122"/>
                      </a:rPr>
                      <m:t>𝑓</m:t>
                    </m:r>
                  </m:oMath>
                </a14:m>
                <a:r>
                  <a:rPr lang="zh-CN" altLang="en-US" dirty="0">
                    <a:latin typeface="微软雅黑" panose="020B0503020204020204" pitchFamily="34" charset="-122"/>
                    <a:ea typeface="微软雅黑" panose="020B0503020204020204" pitchFamily="34" charset="-122"/>
                  </a:rPr>
                  <a:t>和</a:t>
                </a:r>
                <a14:m>
                  <m:oMath xmlns:m="http://schemas.openxmlformats.org/officeDocument/2006/math">
                    <m:r>
                      <a:rPr lang="en-US" altLang="zh-CN" i="1">
                        <a:latin typeface="Cambria Math" panose="02040503050406030204" pitchFamily="18" charset="0"/>
                        <a:ea typeface="微软雅黑" panose="020B0503020204020204" pitchFamily="34" charset="-122"/>
                      </a:rPr>
                      <m:t>𝑔</m:t>
                    </m:r>
                  </m:oMath>
                </a14:m>
                <a:r>
                  <a:rPr lang="zh-CN" altLang="en-US" dirty="0">
                    <a:latin typeface="微软雅黑" panose="020B0503020204020204" pitchFamily="34" charset="-122"/>
                    <a:ea typeface="微软雅黑" panose="020B0503020204020204" pitchFamily="34" charset="-122"/>
                  </a:rPr>
                  <a:t>的</a:t>
                </a:r>
                <a:r>
                  <a:rPr lang="zh-CN" altLang="en-US" dirty="0">
                    <a:solidFill>
                      <a:srgbClr val="FF0000"/>
                    </a:solidFill>
                    <a:latin typeface="微软雅黑" panose="020B0503020204020204" pitchFamily="34" charset="-122"/>
                    <a:ea typeface="微软雅黑" panose="020B0503020204020204" pitchFamily="34" charset="-122"/>
                  </a:rPr>
                  <a:t>张量积</a:t>
                </a:r>
                <a:endParaRPr lang="en-US" altLang="zh-CN"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下面研究</a:t>
                </a:r>
                <a14:m>
                  <m:oMath xmlns:m="http://schemas.openxmlformats.org/officeDocument/2006/math">
                    <m:r>
                      <a:rPr lang="en-US" altLang="zh-CN" i="1">
                        <a:latin typeface="Cambria Math" panose="02040503050406030204" pitchFamily="18" charset="0"/>
                        <a:ea typeface="微软雅黑" panose="020B0503020204020204" pitchFamily="34" charset="-122"/>
                      </a:rPr>
                      <m:t>𝑓</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𝑔</m:t>
                    </m:r>
                  </m:oMath>
                </a14:m>
                <a:r>
                  <a:rPr lang="zh-CN" altLang="en-US" dirty="0" smtClean="0">
                    <a:latin typeface="微软雅黑" panose="020B0503020204020204" pitchFamily="34" charset="-122"/>
                    <a:ea typeface="微软雅黑" panose="020B0503020204020204" pitchFamily="34" charset="-122"/>
                  </a:rPr>
                  <a:t>的矩阵表示：</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设</a:t>
                </a:r>
                <a14:m>
                  <m:oMath xmlns:m="http://schemas.openxmlformats.org/officeDocument/2006/math">
                    <m:r>
                      <a:rPr lang="en-US" altLang="zh-CN" i="1">
                        <a:latin typeface="Cambria Math" panose="02040503050406030204" pitchFamily="18" charset="0"/>
                        <a:ea typeface="微软雅黑" panose="020B0503020204020204" pitchFamily="34" charset="-122"/>
                      </a:rPr>
                      <m:t>𝑓</m:t>
                    </m:r>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2</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𝑟</m:t>
                            </m:r>
                          </m:sub>
                        </m:sSub>
                      </m:e>
                    </m:d>
                    <m:r>
                      <a:rPr lang="en-US" altLang="zh-CN" b="0" i="1" smtClean="0">
                        <a:latin typeface="Cambria Math" panose="02040503050406030204" pitchFamily="18" charset="0"/>
                        <a:ea typeface="微软雅黑" panose="020B0503020204020204" pitchFamily="34" charset="-122"/>
                      </a:rPr>
                      <m:t>=</m:t>
                    </m:r>
                    <m:d>
                      <m:dPr>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2</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𝑟</m:t>
                            </m:r>
                          </m:sub>
                        </m:sSub>
                      </m:e>
                    </m:d>
                    <m:r>
                      <a:rPr lang="en-US" altLang="zh-CN" b="1" i="0" smtClean="0">
                        <a:latin typeface="Cambria Math" panose="02040503050406030204" pitchFamily="18" charset="0"/>
                        <a:ea typeface="微软雅黑" panose="020B0503020204020204" pitchFamily="34" charset="-122"/>
                      </a:rPr>
                      <m:t>𝐀</m:t>
                    </m:r>
                    <m:r>
                      <a:rPr lang="en-US" altLang="zh-CN" b="1" i="0"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𝑔</m:t>
                    </m:r>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2</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𝑠</m:t>
                            </m:r>
                          </m:sub>
                        </m:sSub>
                      </m:e>
                    </m:d>
                    <m:r>
                      <a:rPr lang="en-US" altLang="zh-CN" b="0" i="1" smtClean="0">
                        <a:latin typeface="Cambria Math" panose="02040503050406030204" pitchFamily="18" charset="0"/>
                        <a:ea typeface="微软雅黑" panose="020B0503020204020204" pitchFamily="34" charset="-122"/>
                      </a:rPr>
                      <m:t>=</m:t>
                    </m:r>
                    <m:d>
                      <m:dPr>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2</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𝑠</m:t>
                            </m:r>
                          </m:sub>
                        </m:sSub>
                      </m:e>
                    </m:d>
                    <m:r>
                      <a:rPr lang="en-US" altLang="zh-CN" b="1" i="0" smtClean="0">
                        <a:latin typeface="Cambria Math" panose="02040503050406030204" pitchFamily="18" charset="0"/>
                        <a:ea typeface="微软雅黑" panose="020B0503020204020204" pitchFamily="34" charset="-122"/>
                      </a:rPr>
                      <m:t>𝐁</m:t>
                    </m:r>
                  </m:oMath>
                </a14:m>
                <a:endParaRPr lang="en-US" altLang="zh-CN" b="1"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即</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𝑓</m:t>
                    </m:r>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𝑖</m:t>
                            </m:r>
                          </m:sub>
                        </m:sSub>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1</m:t>
                        </m:r>
                      </m:sub>
                    </m:s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1</m:t>
                        </m:r>
                        <m:r>
                          <a:rPr lang="en-US" altLang="zh-CN" b="0" i="1" smtClean="0">
                            <a:latin typeface="Cambria Math" panose="02040503050406030204" pitchFamily="18" charset="0"/>
                            <a:ea typeface="微软雅黑" panose="020B0503020204020204" pitchFamily="34" charset="-122"/>
                          </a:rPr>
                          <m:t>𝑖</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2</m:t>
                        </m:r>
                      </m:sub>
                    </m:s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2</m:t>
                        </m:r>
                        <m:r>
                          <a:rPr lang="en-US" altLang="zh-CN" b="0" i="1" smtClean="0">
                            <a:latin typeface="Cambria Math" panose="02040503050406030204" pitchFamily="18" charset="0"/>
                            <a:ea typeface="微软雅黑" panose="020B0503020204020204" pitchFamily="34" charset="-122"/>
                          </a:rPr>
                          <m:t>𝑖</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𝑟</m:t>
                        </m:r>
                      </m:sub>
                    </m:s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𝑟𝑖</m:t>
                        </m:r>
                      </m:sub>
                    </m:sSub>
                    <m:r>
                      <a:rPr lang="en-US" altLang="zh-CN" b="0" i="1" smtClean="0">
                        <a:latin typeface="Cambria Math" panose="02040503050406030204" pitchFamily="18" charset="0"/>
                        <a:ea typeface="微软雅黑" panose="020B0503020204020204" pitchFamily="34" charset="-122"/>
                      </a:rPr>
                      <m:t>=</m:t>
                    </m:r>
                    <m:nary>
                      <m:naryPr>
                        <m:chr m:val="∑"/>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𝑘</m:t>
                        </m:r>
                        <m:r>
                          <a:rPr lang="en-US" altLang="zh-CN" b="0" i="1" smtClean="0">
                            <a:latin typeface="Cambria Math" panose="02040503050406030204" pitchFamily="18" charset="0"/>
                            <a:ea typeface="微软雅黑" panose="020B0503020204020204" pitchFamily="34" charset="-122"/>
                          </a:rPr>
                          <m:t>=1</m:t>
                        </m:r>
                      </m:sub>
                      <m:sup>
                        <m:r>
                          <a:rPr lang="en-US" altLang="zh-CN" b="0" i="1" smtClean="0">
                            <a:latin typeface="Cambria Math" panose="02040503050406030204" pitchFamily="18" charset="0"/>
                            <a:ea typeface="微软雅黑" panose="020B0503020204020204" pitchFamily="34" charset="-122"/>
                          </a:rPr>
                          <m:t>𝑟</m:t>
                        </m:r>
                      </m:sup>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𝑘</m:t>
                            </m:r>
                          </m:sub>
                        </m:s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𝑘𝑖</m:t>
                            </m:r>
                          </m:sub>
                        </m:sSub>
                      </m:e>
                    </m:nary>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𝑔</m:t>
                    </m:r>
                    <m:d>
                      <m:dPr>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b="0" i="1" smtClean="0">
                                <a:latin typeface="Cambria Math" panose="02040503050406030204" pitchFamily="18" charset="0"/>
                                <a:ea typeface="微软雅黑" panose="020B0503020204020204" pitchFamily="34" charset="-122"/>
                              </a:rPr>
                              <m:t>𝑗</m:t>
                            </m:r>
                          </m:sub>
                        </m:sSub>
                      </m:e>
                    </m:d>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1</m:t>
                        </m:r>
                      </m:sub>
                    </m:sSub>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𝑏</m:t>
                        </m:r>
                      </m:e>
                      <m:sub>
                        <m:r>
                          <a:rPr lang="en-US" altLang="zh-CN" i="1">
                            <a:latin typeface="Cambria Math" panose="02040503050406030204" pitchFamily="18" charset="0"/>
                            <a:ea typeface="微软雅黑" panose="020B0503020204020204" pitchFamily="34" charset="-122"/>
                          </a:rPr>
                          <m:t>1</m:t>
                        </m:r>
                        <m:r>
                          <a:rPr lang="en-US" altLang="zh-CN" b="0" i="1" smtClean="0">
                            <a:latin typeface="Cambria Math" panose="02040503050406030204" pitchFamily="18" charset="0"/>
                            <a:ea typeface="微软雅黑" panose="020B0503020204020204" pitchFamily="34" charset="-122"/>
                          </a:rPr>
                          <m:t>𝑗</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2</m:t>
                        </m:r>
                      </m:sub>
                    </m:sSub>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𝑏</m:t>
                        </m:r>
                      </m:e>
                      <m:sub>
                        <m:r>
                          <a:rPr lang="en-US" altLang="zh-CN" i="1">
                            <a:latin typeface="Cambria Math" panose="02040503050406030204" pitchFamily="18" charset="0"/>
                            <a:ea typeface="微软雅黑" panose="020B0503020204020204" pitchFamily="34" charset="-122"/>
                          </a:rPr>
                          <m:t>2</m:t>
                        </m:r>
                        <m:r>
                          <a:rPr lang="en-US" altLang="zh-CN" b="0" i="1" smtClean="0">
                            <a:latin typeface="Cambria Math" panose="02040503050406030204" pitchFamily="18" charset="0"/>
                            <a:ea typeface="微软雅黑" panose="020B0503020204020204" pitchFamily="34" charset="-122"/>
                          </a:rPr>
                          <m:t>𝑗</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b="0" i="1" smtClean="0">
                            <a:latin typeface="Cambria Math" panose="02040503050406030204" pitchFamily="18" charset="0"/>
                            <a:ea typeface="微软雅黑" panose="020B0503020204020204" pitchFamily="34" charset="-122"/>
                          </a:rPr>
                          <m:t>𝑠</m:t>
                        </m:r>
                      </m:sub>
                    </m:sSub>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𝑏</m:t>
                        </m:r>
                      </m:e>
                      <m:sub>
                        <m:r>
                          <a:rPr lang="en-US" altLang="zh-CN" b="0" i="1" smtClean="0">
                            <a:latin typeface="Cambria Math" panose="02040503050406030204" pitchFamily="18" charset="0"/>
                            <a:ea typeface="微软雅黑" panose="020B0503020204020204" pitchFamily="34" charset="-122"/>
                          </a:rPr>
                          <m:t>𝑠𝑗</m:t>
                        </m:r>
                      </m:sub>
                    </m:sSub>
                    <m:r>
                      <a:rPr lang="en-US" altLang="zh-CN" i="1">
                        <a:latin typeface="Cambria Math" panose="02040503050406030204" pitchFamily="18" charset="0"/>
                        <a:ea typeface="微软雅黑" panose="020B0503020204020204" pitchFamily="34" charset="-122"/>
                      </a:rPr>
                      <m:t>=</m:t>
                    </m:r>
                    <m:nary>
                      <m:naryPr>
                        <m:chr m:val="∑"/>
                        <m:ctrlPr>
                          <a:rPr lang="en-US" altLang="zh-CN" i="1">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𝑙</m:t>
                        </m:r>
                        <m:r>
                          <a:rPr lang="en-US" altLang="zh-CN" i="1">
                            <a:latin typeface="Cambria Math" panose="02040503050406030204" pitchFamily="18" charset="0"/>
                            <a:ea typeface="微软雅黑" panose="020B0503020204020204" pitchFamily="34" charset="-122"/>
                          </a:rPr>
                          <m:t>=1</m:t>
                        </m:r>
                      </m:sub>
                      <m:sup>
                        <m:r>
                          <a:rPr lang="en-US" altLang="zh-CN" b="0" i="1" smtClean="0">
                            <a:latin typeface="Cambria Math" panose="02040503050406030204" pitchFamily="18" charset="0"/>
                            <a:ea typeface="微软雅黑" panose="020B0503020204020204" pitchFamily="34" charset="-122"/>
                          </a:rPr>
                          <m:t>𝑠</m:t>
                        </m:r>
                      </m:sup>
                      <m:e>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b="0" i="1" smtClean="0">
                                <a:latin typeface="Cambria Math" panose="02040503050406030204" pitchFamily="18" charset="0"/>
                                <a:ea typeface="微软雅黑" panose="020B0503020204020204" pitchFamily="34" charset="-122"/>
                              </a:rPr>
                              <m:t>𝑙</m:t>
                            </m:r>
                          </m:sub>
                        </m:sSub>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𝑏</m:t>
                            </m:r>
                          </m:e>
                          <m:sub>
                            <m:r>
                              <a:rPr lang="en-US" altLang="zh-CN" b="0" i="1" smtClean="0">
                                <a:latin typeface="Cambria Math" panose="02040503050406030204" pitchFamily="18" charset="0"/>
                                <a:ea typeface="微软雅黑" panose="020B0503020204020204" pitchFamily="34" charset="-122"/>
                              </a:rPr>
                              <m:t>𝑙𝑗</m:t>
                            </m:r>
                          </m:sub>
                        </m:sSub>
                      </m:e>
                    </m:nary>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则</a:t>
                </a:r>
                <a14:m>
                  <m:oMath xmlns:m="http://schemas.openxmlformats.org/officeDocument/2006/math">
                    <m:d>
                      <m:dPr>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𝑓</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𝑔</m:t>
                        </m:r>
                      </m:e>
                    </m:d>
                    <m:d>
                      <m:dPr>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𝑖</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𝜂</m:t>
                            </m:r>
                          </m:e>
                          <m:sub>
                            <m:r>
                              <a:rPr lang="en-US" altLang="zh-CN" b="0" i="1" smtClean="0">
                                <a:latin typeface="Cambria Math" panose="02040503050406030204" pitchFamily="18" charset="0"/>
                                <a:ea typeface="微软雅黑" panose="020B0503020204020204" pitchFamily="34" charset="-122"/>
                              </a:rPr>
                              <m:t>𝑗</m:t>
                            </m:r>
                          </m:sub>
                        </m:sSub>
                      </m:e>
                    </m:d>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𝑓</m:t>
                    </m:r>
                    <m:d>
                      <m:dPr>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𝑖</m:t>
                            </m:r>
                          </m:sub>
                        </m:sSub>
                      </m:e>
                    </m:d>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𝑔</m:t>
                    </m:r>
                    <m:d>
                      <m:dPr>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𝑗</m:t>
                            </m:r>
                          </m:sub>
                        </m:sSub>
                      </m:e>
                    </m:d>
                    <m:r>
                      <a:rPr lang="en-US" altLang="zh-CN" b="0" i="1" smtClean="0">
                        <a:latin typeface="Cambria Math" panose="02040503050406030204" pitchFamily="18" charset="0"/>
                        <a:ea typeface="微软雅黑" panose="020B0503020204020204" pitchFamily="34" charset="-122"/>
                      </a:rPr>
                      <m:t>=</m:t>
                    </m:r>
                    <m:d>
                      <m:dPr>
                        <m:ctrlPr>
                          <a:rPr lang="en-US" altLang="zh-CN" b="0" i="1" smtClean="0">
                            <a:latin typeface="Cambria Math" panose="02040503050406030204" pitchFamily="18" charset="0"/>
                            <a:ea typeface="微软雅黑" panose="020B0503020204020204" pitchFamily="34" charset="-122"/>
                          </a:rPr>
                        </m:ctrlPr>
                      </m:dPr>
                      <m:e>
                        <m:nary>
                          <m:naryPr>
                            <m:chr m:val="∑"/>
                            <m:ctrlPr>
                              <a:rPr lang="en-US" altLang="zh-CN" i="1">
                                <a:latin typeface="Cambria Math" panose="02040503050406030204" pitchFamily="18" charset="0"/>
                                <a:ea typeface="微软雅黑" panose="020B0503020204020204" pitchFamily="34" charset="-122"/>
                              </a:rPr>
                            </m:ctrlPr>
                          </m:naryPr>
                          <m:sub>
                            <m:r>
                              <a:rPr lang="en-US" altLang="zh-CN" i="1">
                                <a:latin typeface="Cambria Math" panose="02040503050406030204" pitchFamily="18" charset="0"/>
                                <a:ea typeface="微软雅黑" panose="020B0503020204020204" pitchFamily="34" charset="-122"/>
                              </a:rPr>
                              <m:t>𝑘</m:t>
                            </m:r>
                            <m:r>
                              <a:rPr lang="en-US" altLang="zh-CN" i="1">
                                <a:latin typeface="Cambria Math" panose="02040503050406030204" pitchFamily="18" charset="0"/>
                                <a:ea typeface="微软雅黑" panose="020B0503020204020204" pitchFamily="34" charset="-122"/>
                              </a:rPr>
                              <m:t>=1</m:t>
                            </m:r>
                          </m:sub>
                          <m:sup>
                            <m:r>
                              <a:rPr lang="en-US" altLang="zh-CN" i="1">
                                <a:latin typeface="Cambria Math" panose="02040503050406030204" pitchFamily="18" charset="0"/>
                                <a:ea typeface="微软雅黑" panose="020B0503020204020204" pitchFamily="34" charset="-122"/>
                              </a:rPr>
                              <m:t>𝑟</m:t>
                            </m:r>
                          </m:sup>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𝑘</m:t>
                                </m:r>
                              </m:sub>
                            </m:sSub>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𝑘𝑖</m:t>
                                </m:r>
                              </m:sub>
                            </m:sSub>
                          </m:e>
                        </m:nary>
                      </m:e>
                    </m:d>
                    <m:r>
                      <a:rPr lang="en-US" altLang="zh-CN" b="0" i="1" smtClean="0">
                        <a:latin typeface="Cambria Math" panose="02040503050406030204" pitchFamily="18" charset="0"/>
                        <a:ea typeface="微软雅黑" panose="020B0503020204020204" pitchFamily="34" charset="-122"/>
                      </a:rPr>
                      <m:t>⊗</m:t>
                    </m:r>
                    <m:d>
                      <m:dPr>
                        <m:ctrlPr>
                          <a:rPr lang="en-US" altLang="zh-CN" b="0" i="1" smtClean="0">
                            <a:latin typeface="Cambria Math" panose="02040503050406030204" pitchFamily="18" charset="0"/>
                            <a:ea typeface="微软雅黑" panose="020B0503020204020204" pitchFamily="34" charset="-122"/>
                          </a:rPr>
                        </m:ctrlPr>
                      </m:dPr>
                      <m:e>
                        <m:nary>
                          <m:naryPr>
                            <m:chr m:val="∑"/>
                            <m:ctrlPr>
                              <a:rPr lang="en-US" altLang="zh-CN" i="1">
                                <a:latin typeface="Cambria Math" panose="02040503050406030204" pitchFamily="18" charset="0"/>
                                <a:ea typeface="微软雅黑" panose="020B0503020204020204" pitchFamily="34" charset="-122"/>
                              </a:rPr>
                            </m:ctrlPr>
                          </m:naryPr>
                          <m:sub>
                            <m:r>
                              <a:rPr lang="en-US" altLang="zh-CN" i="1">
                                <a:latin typeface="Cambria Math" panose="02040503050406030204" pitchFamily="18" charset="0"/>
                                <a:ea typeface="微软雅黑" panose="020B0503020204020204" pitchFamily="34" charset="-122"/>
                              </a:rPr>
                              <m:t>𝑙</m:t>
                            </m:r>
                            <m:r>
                              <a:rPr lang="en-US" altLang="zh-CN" i="1">
                                <a:latin typeface="Cambria Math" panose="02040503050406030204" pitchFamily="18" charset="0"/>
                                <a:ea typeface="微软雅黑" panose="020B0503020204020204" pitchFamily="34" charset="-122"/>
                              </a:rPr>
                              <m:t>=1</m:t>
                            </m:r>
                          </m:sub>
                          <m:sup>
                            <m:r>
                              <a:rPr lang="en-US" altLang="zh-CN" i="1">
                                <a:latin typeface="Cambria Math" panose="02040503050406030204" pitchFamily="18" charset="0"/>
                                <a:ea typeface="微软雅黑" panose="020B0503020204020204" pitchFamily="34" charset="-122"/>
                              </a:rPr>
                              <m:t>𝑠</m:t>
                            </m:r>
                          </m:sup>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𝑙</m:t>
                                </m:r>
                              </m:sub>
                            </m:sSub>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𝑏</m:t>
                                </m:r>
                              </m:e>
                              <m:sub>
                                <m:r>
                                  <a:rPr lang="en-US" altLang="zh-CN" i="1">
                                    <a:latin typeface="Cambria Math" panose="02040503050406030204" pitchFamily="18" charset="0"/>
                                    <a:ea typeface="微软雅黑" panose="020B0503020204020204" pitchFamily="34" charset="-122"/>
                                  </a:rPr>
                                  <m:t>𝑙𝑗</m:t>
                                </m:r>
                              </m:sub>
                            </m:sSub>
                          </m:e>
                        </m:nary>
                      </m:e>
                    </m:d>
                    <m:r>
                      <a:rPr lang="en-US" altLang="zh-CN" b="0" i="1" smtClean="0">
                        <a:latin typeface="Cambria Math" panose="02040503050406030204" pitchFamily="18" charset="0"/>
                        <a:ea typeface="微软雅黑" panose="020B0503020204020204" pitchFamily="34" charset="-122"/>
                      </a:rPr>
                      <m:t>=</m:t>
                    </m:r>
                    <m:nary>
                      <m:naryPr>
                        <m:chr m:val="∑"/>
                        <m:ctrlPr>
                          <a:rPr lang="en-US" altLang="zh-CN" i="1">
                            <a:latin typeface="Cambria Math" panose="02040503050406030204" pitchFamily="18" charset="0"/>
                            <a:ea typeface="微软雅黑" panose="020B0503020204020204" pitchFamily="34" charset="-122"/>
                          </a:rPr>
                        </m:ctrlPr>
                      </m:naryPr>
                      <m:sub>
                        <m:r>
                          <a:rPr lang="en-US" altLang="zh-CN" i="1">
                            <a:latin typeface="Cambria Math" panose="02040503050406030204" pitchFamily="18" charset="0"/>
                            <a:ea typeface="微软雅黑" panose="020B0503020204020204" pitchFamily="34" charset="-122"/>
                          </a:rPr>
                          <m:t>𝑘</m:t>
                        </m:r>
                        <m:r>
                          <a:rPr lang="en-US" altLang="zh-CN" i="1">
                            <a:latin typeface="Cambria Math" panose="02040503050406030204" pitchFamily="18" charset="0"/>
                            <a:ea typeface="微软雅黑" panose="020B0503020204020204" pitchFamily="34" charset="-122"/>
                          </a:rPr>
                          <m:t>=1</m:t>
                        </m:r>
                      </m:sub>
                      <m:sup>
                        <m:r>
                          <a:rPr lang="en-US" altLang="zh-CN" i="1">
                            <a:latin typeface="Cambria Math" panose="02040503050406030204" pitchFamily="18" charset="0"/>
                            <a:ea typeface="微软雅黑" panose="020B0503020204020204" pitchFamily="34" charset="-122"/>
                          </a:rPr>
                          <m:t>𝑟</m:t>
                        </m:r>
                      </m:sup>
                      <m:e>
                        <m:nary>
                          <m:naryPr>
                            <m:chr m:val="∑"/>
                            <m:ctrlPr>
                              <a:rPr lang="en-US" altLang="zh-CN" i="1" smtClean="0">
                                <a:latin typeface="Cambria Math" panose="02040503050406030204" pitchFamily="18" charset="0"/>
                                <a:ea typeface="微软雅黑" panose="020B0503020204020204" pitchFamily="34" charset="-122"/>
                              </a:rPr>
                            </m:ctrlPr>
                          </m:naryPr>
                          <m:sub>
                            <m:r>
                              <a:rPr lang="en-US" altLang="zh-CN" i="1">
                                <a:latin typeface="Cambria Math" panose="02040503050406030204" pitchFamily="18" charset="0"/>
                                <a:ea typeface="微软雅黑" panose="020B0503020204020204" pitchFamily="34" charset="-122"/>
                              </a:rPr>
                              <m:t>𝑙</m:t>
                            </m:r>
                            <m:r>
                              <a:rPr lang="en-US" altLang="zh-CN" i="1">
                                <a:latin typeface="Cambria Math" panose="02040503050406030204" pitchFamily="18" charset="0"/>
                                <a:ea typeface="微软雅黑" panose="020B0503020204020204" pitchFamily="34" charset="-122"/>
                              </a:rPr>
                              <m:t>=1</m:t>
                            </m:r>
                          </m:sub>
                          <m:sup>
                            <m:r>
                              <a:rPr lang="en-US" altLang="zh-CN" i="1">
                                <a:latin typeface="Cambria Math" panose="02040503050406030204" pitchFamily="18" charset="0"/>
                                <a:ea typeface="微软雅黑" panose="020B0503020204020204" pitchFamily="34" charset="-122"/>
                              </a:rPr>
                              <m:t>𝑠</m:t>
                            </m:r>
                          </m:sup>
                          <m:e>
                            <m:d>
                              <m:dPr>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b="0" i="1" smtClean="0">
                                        <a:latin typeface="Cambria Math" panose="02040503050406030204" pitchFamily="18" charset="0"/>
                                        <a:ea typeface="微软雅黑" panose="020B0503020204020204" pitchFamily="34" charset="-122"/>
                                      </a:rPr>
                                      <m:t>𝑘</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b="0" i="1" smtClean="0">
                                        <a:latin typeface="Cambria Math" panose="02040503050406030204" pitchFamily="18" charset="0"/>
                                        <a:ea typeface="微软雅黑" panose="020B0503020204020204" pitchFamily="34" charset="-122"/>
                                      </a:rPr>
                                      <m:t>𝑙</m:t>
                                    </m:r>
                                  </m:sub>
                                </m:sSub>
                              </m:e>
                            </m:d>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𝑎</m:t>
                                </m:r>
                              </m:e>
                              <m:sub>
                                <m:r>
                                  <a:rPr lang="en-US" altLang="zh-CN" b="0" i="1" smtClean="0">
                                    <a:latin typeface="Cambria Math" panose="02040503050406030204" pitchFamily="18" charset="0"/>
                                    <a:ea typeface="微软雅黑" panose="020B0503020204020204" pitchFamily="34" charset="-122"/>
                                  </a:rPr>
                                  <m:t>𝑘𝑖</m:t>
                                </m:r>
                              </m:sub>
                            </m:s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𝑏</m:t>
                                </m:r>
                              </m:e>
                              <m:sub>
                                <m:r>
                                  <a:rPr lang="en-US" altLang="zh-CN" b="0" i="1" smtClean="0">
                                    <a:latin typeface="Cambria Math" panose="02040503050406030204" pitchFamily="18" charset="0"/>
                                    <a:ea typeface="微软雅黑" panose="020B0503020204020204" pitchFamily="34" charset="-122"/>
                                  </a:rPr>
                                  <m:t>𝑙𝑗</m:t>
                                </m:r>
                              </m:sub>
                            </m:sSub>
                          </m:e>
                        </m:nary>
                      </m:e>
                    </m:nary>
                  </m:oMath>
                </a14:m>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18147" y="1424113"/>
                <a:ext cx="10974852" cy="4333622"/>
              </a:xfrm>
              <a:prstGeom prst="rect">
                <a:avLst/>
              </a:prstGeom>
              <a:blipFill rotWithShape="0">
                <a:blip r:embed="rId5"/>
                <a:stretch>
                  <a:fillRect l="-500" b="-144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72191298"/>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Tensor product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418147" y="1494451"/>
                <a:ext cx="10974852" cy="4275722"/>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在此我们忽略推导，只给出最后矩阵的形式</a:t>
                </a:r>
                <a:endParaRPr lang="en-US" altLang="zh-CN"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𝑓</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𝑔</m:t>
                          </m:r>
                        </m:e>
                      </m:d>
                      <m:d>
                        <m:dPr>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𝑠</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𝑟</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𝑟</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𝑠</m:t>
                              </m:r>
                            </m:sub>
                          </m:sSub>
                        </m:e>
                      </m:d>
                      <m:r>
                        <a:rPr lang="en-US" altLang="zh-CN" i="1">
                          <a:latin typeface="Cambria Math" panose="02040503050406030204" pitchFamily="18" charset="0"/>
                          <a:ea typeface="微软雅黑" panose="020B0503020204020204" pitchFamily="34" charset="-122"/>
                        </a:rPr>
                        <m:t>=</m:t>
                      </m:r>
                      <m:d>
                        <m:dPr>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𝑠</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𝑟</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𝑒</m:t>
                              </m:r>
                            </m:e>
                            <m:sub>
                              <m:r>
                                <a:rPr lang="en-US" altLang="zh-CN" i="1">
                                  <a:latin typeface="Cambria Math" panose="02040503050406030204" pitchFamily="18" charset="0"/>
                                  <a:ea typeface="微软雅黑" panose="020B0503020204020204" pitchFamily="34" charset="-122"/>
                                </a:rPr>
                                <m:t>𝑟</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𝜂</m:t>
                              </m:r>
                            </m:e>
                            <m:sub>
                              <m:r>
                                <a:rPr lang="en-US" altLang="zh-CN" i="1">
                                  <a:latin typeface="Cambria Math" panose="02040503050406030204" pitchFamily="18" charset="0"/>
                                  <a:ea typeface="微软雅黑" panose="020B0503020204020204" pitchFamily="34" charset="-122"/>
                                </a:rPr>
                                <m:t>𝑠</m:t>
                              </m:r>
                            </m:sub>
                          </m:sSub>
                        </m:e>
                      </m:d>
                      <m:r>
                        <a:rPr lang="en-US" altLang="zh-CN" b="1">
                          <a:latin typeface="Cambria Math" panose="02040503050406030204" pitchFamily="18" charset="0"/>
                          <a:ea typeface="微软雅黑" panose="020B0503020204020204" pitchFamily="34" charset="-122"/>
                        </a:rPr>
                        <m:t>𝐂</m:t>
                      </m:r>
                    </m:oMath>
                  </m:oMathPara>
                </a14:m>
                <a:endParaRPr lang="en-US" altLang="zh-CN" b="1"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b="1">
                          <a:latin typeface="Cambria Math" panose="02040503050406030204" pitchFamily="18" charset="0"/>
                          <a:ea typeface="微软雅黑" panose="020B0503020204020204" pitchFamily="34" charset="-122"/>
                        </a:rPr>
                        <m:t>𝐂</m:t>
                      </m:r>
                      <m:r>
                        <a:rPr lang="en-US" altLang="zh-CN" b="1" i="1">
                          <a:latin typeface="Cambria Math" panose="02040503050406030204" pitchFamily="18" charset="0"/>
                          <a:ea typeface="微软雅黑" panose="020B0503020204020204" pitchFamily="34" charset="-122"/>
                        </a:rPr>
                        <m:t>= </m:t>
                      </m:r>
                      <m:sSub>
                        <m:sSubPr>
                          <m:ctrlPr>
                            <a:rPr lang="en-US" altLang="zh-CN" b="1" i="1">
                              <a:latin typeface="Cambria Math" panose="02040503050406030204" pitchFamily="18" charset="0"/>
                              <a:ea typeface="微软雅黑" panose="020B0503020204020204" pitchFamily="34" charset="-122"/>
                            </a:rPr>
                          </m:ctrlPr>
                        </m:sSubPr>
                        <m:e>
                          <m:d>
                            <m:dPr>
                              <m:ctrlPr>
                                <a:rPr lang="en-US" altLang="zh-CN" b="1" i="1">
                                  <a:latin typeface="Cambria Math" panose="02040503050406030204" pitchFamily="18" charset="0"/>
                                  <a:ea typeface="微软雅黑" panose="020B0503020204020204" pitchFamily="34" charset="-122"/>
                                </a:rPr>
                              </m:ctrlPr>
                            </m:dPr>
                            <m:e>
                              <m:m>
                                <m:mPr>
                                  <m:mcs>
                                    <m:mc>
                                      <m:mcPr>
                                        <m:count m:val="4"/>
                                        <m:mcJc m:val="center"/>
                                      </m:mcPr>
                                    </m:mc>
                                  </m:mcs>
                                  <m:ctrlPr>
                                    <a:rPr lang="en-US" altLang="zh-CN" b="1" i="1">
                                      <a:latin typeface="Cambria Math" panose="02040503050406030204" pitchFamily="18" charset="0"/>
                                      <a:ea typeface="微软雅黑" panose="020B0503020204020204" pitchFamily="34" charset="-122"/>
                                    </a:rPr>
                                  </m:ctrlPr>
                                </m:mPr>
                                <m:mr>
                                  <m:e>
                                    <m:sSub>
                                      <m:sSubPr>
                                        <m:ctrlPr>
                                          <a:rPr lang="en-US" altLang="zh-CN" i="1">
                                            <a:latin typeface="Cambria Math" panose="02040503050406030204" pitchFamily="18" charset="0"/>
                                            <a:ea typeface="微软雅黑" panose="020B0503020204020204" pitchFamily="34" charset="-122"/>
                                          </a:rPr>
                                        </m:ctrlPr>
                                      </m:sSubPr>
                                      <m:e>
                                        <m:r>
                                          <m:rPr>
                                            <m:brk m:alnAt="7"/>
                                          </m:rPr>
                                          <a:rPr lang="en-US" altLang="zh-CN" i="1">
                                            <a:latin typeface="Cambria Math" panose="02040503050406030204" pitchFamily="18" charset="0"/>
                                            <a:ea typeface="微软雅黑" panose="020B0503020204020204" pitchFamily="34" charset="-122"/>
                                          </a:rPr>
                                          <m:t>𝑎</m:t>
                                        </m:r>
                                      </m:e>
                                      <m:sub>
                                        <m:r>
                                          <m:rPr>
                                            <m:brk m:alnAt="7"/>
                                          </m:rPr>
                                          <a:rPr lang="en-US" altLang="zh-CN" i="1">
                                            <a:latin typeface="Cambria Math" panose="02040503050406030204" pitchFamily="18" charset="0"/>
                                            <a:ea typeface="微软雅黑" panose="020B0503020204020204" pitchFamily="34" charset="-122"/>
                                          </a:rPr>
                                          <m:t>1</m:t>
                                        </m:r>
                                        <m:r>
                                          <a:rPr lang="en-US" altLang="zh-CN" i="1">
                                            <a:latin typeface="Cambria Math" panose="02040503050406030204" pitchFamily="18" charset="0"/>
                                            <a:ea typeface="微软雅黑" panose="020B0503020204020204" pitchFamily="34" charset="-122"/>
                                          </a:rPr>
                                          <m:t>1</m:t>
                                        </m:r>
                                      </m:sub>
                                    </m:sSub>
                                    <m:r>
                                      <m:rPr>
                                        <m:brk m:alnAt="7"/>
                                      </m:rPr>
                                      <a:rPr lang="en-US" altLang="zh-CN" b="1">
                                        <a:latin typeface="Cambria Math" panose="02040503050406030204" pitchFamily="18" charset="0"/>
                                        <a:ea typeface="微软雅黑" panose="020B0503020204020204" pitchFamily="34" charset="-122"/>
                                      </a:rPr>
                                      <m:t>𝐁</m:t>
                                    </m:r>
                                  </m:e>
                                  <m:e>
                                    <m:sSub>
                                      <m:sSubPr>
                                        <m:ctrlPr>
                                          <a:rPr lang="en-US" altLang="zh-CN" i="1">
                                            <a:latin typeface="Cambria Math" panose="02040503050406030204" pitchFamily="18" charset="0"/>
                                            <a:ea typeface="微软雅黑" panose="020B0503020204020204" pitchFamily="34" charset="-122"/>
                                          </a:rPr>
                                        </m:ctrlPr>
                                      </m:sSubPr>
                                      <m:e>
                                        <m:r>
                                          <m:rPr>
                                            <m:brk m:alnAt="7"/>
                                          </m:rPr>
                                          <a:rPr lang="en-US" altLang="zh-CN" i="1">
                                            <a:latin typeface="Cambria Math" panose="02040503050406030204" pitchFamily="18" charset="0"/>
                                            <a:ea typeface="微软雅黑" panose="020B0503020204020204" pitchFamily="34" charset="-122"/>
                                          </a:rPr>
                                          <m:t>𝑎</m:t>
                                        </m:r>
                                      </m:e>
                                      <m:sub>
                                        <m:r>
                                          <m:rPr>
                                            <m:brk m:alnAt="7"/>
                                          </m:rPr>
                                          <a:rPr lang="en-US" altLang="zh-CN" i="1">
                                            <a:latin typeface="Cambria Math" panose="02040503050406030204" pitchFamily="18" charset="0"/>
                                            <a:ea typeface="微软雅黑" panose="020B0503020204020204" pitchFamily="34" charset="-122"/>
                                          </a:rPr>
                                          <m:t>1</m:t>
                                        </m:r>
                                        <m:r>
                                          <a:rPr lang="en-US" altLang="zh-CN" i="1">
                                            <a:latin typeface="Cambria Math" panose="02040503050406030204" pitchFamily="18" charset="0"/>
                                            <a:ea typeface="微软雅黑" panose="020B0503020204020204" pitchFamily="34" charset="-122"/>
                                          </a:rPr>
                                          <m:t>2</m:t>
                                        </m:r>
                                      </m:sub>
                                    </m:sSub>
                                    <m:r>
                                      <m:rPr>
                                        <m:brk m:alnAt="7"/>
                                      </m:rPr>
                                      <a:rPr lang="en-US" altLang="zh-CN" b="1">
                                        <a:latin typeface="Cambria Math" panose="02040503050406030204" pitchFamily="18" charset="0"/>
                                        <a:ea typeface="微软雅黑" panose="020B0503020204020204" pitchFamily="34" charset="-122"/>
                                      </a:rPr>
                                      <m:t>𝐁</m:t>
                                    </m:r>
                                  </m:e>
                                  <m:e>
                                    <m:r>
                                      <a:rPr lang="en-US" altLang="zh-CN" b="1" i="1">
                                        <a:latin typeface="Cambria Math" panose="02040503050406030204" pitchFamily="18" charset="0"/>
                                        <a:ea typeface="微软雅黑" panose="020B0503020204020204" pitchFamily="34" charset="-122"/>
                                      </a:rPr>
                                      <m:t>⋯</m:t>
                                    </m:r>
                                  </m:e>
                                  <m:e>
                                    <m:sSub>
                                      <m:sSubPr>
                                        <m:ctrlPr>
                                          <a:rPr lang="en-US" altLang="zh-CN" i="1">
                                            <a:latin typeface="Cambria Math" panose="02040503050406030204" pitchFamily="18" charset="0"/>
                                            <a:ea typeface="微软雅黑" panose="020B0503020204020204" pitchFamily="34" charset="-122"/>
                                          </a:rPr>
                                        </m:ctrlPr>
                                      </m:sSubPr>
                                      <m:e>
                                        <m:r>
                                          <m:rPr>
                                            <m:brk m:alnAt="7"/>
                                          </m:rPr>
                                          <a:rPr lang="en-US" altLang="zh-CN" i="1">
                                            <a:latin typeface="Cambria Math" panose="02040503050406030204" pitchFamily="18" charset="0"/>
                                            <a:ea typeface="微软雅黑" panose="020B0503020204020204" pitchFamily="34" charset="-122"/>
                                          </a:rPr>
                                          <m:t>𝑎</m:t>
                                        </m:r>
                                      </m:e>
                                      <m:sub>
                                        <m:r>
                                          <m:rPr>
                                            <m:brk m:alnAt="7"/>
                                          </m:rPr>
                                          <a:rPr lang="en-US" altLang="zh-CN" i="1">
                                            <a:latin typeface="Cambria Math" panose="02040503050406030204" pitchFamily="18" charset="0"/>
                                            <a:ea typeface="微软雅黑" panose="020B0503020204020204" pitchFamily="34" charset="-122"/>
                                          </a:rPr>
                                          <m:t>1</m:t>
                                        </m:r>
                                        <m:r>
                                          <a:rPr lang="en-US" altLang="zh-CN" i="1">
                                            <a:latin typeface="Cambria Math" panose="02040503050406030204" pitchFamily="18" charset="0"/>
                                            <a:ea typeface="微软雅黑" panose="020B0503020204020204" pitchFamily="34" charset="-122"/>
                                          </a:rPr>
                                          <m:t>𝑟</m:t>
                                        </m:r>
                                      </m:sub>
                                    </m:sSub>
                                    <m:r>
                                      <m:rPr>
                                        <m:brk m:alnAt="7"/>
                                      </m:rPr>
                                      <a:rPr lang="en-US" altLang="zh-CN" b="1">
                                        <a:latin typeface="Cambria Math" panose="02040503050406030204" pitchFamily="18" charset="0"/>
                                        <a:ea typeface="微软雅黑" panose="020B0503020204020204" pitchFamily="34" charset="-122"/>
                                      </a:rPr>
                                      <m:t>𝐁</m:t>
                                    </m:r>
                                  </m:e>
                                </m:mr>
                                <m:mr>
                                  <m:e>
                                    <m:sSub>
                                      <m:sSubPr>
                                        <m:ctrlPr>
                                          <a:rPr lang="en-US" altLang="zh-CN" i="1">
                                            <a:latin typeface="Cambria Math" panose="02040503050406030204" pitchFamily="18" charset="0"/>
                                            <a:ea typeface="微软雅黑" panose="020B0503020204020204" pitchFamily="34" charset="-122"/>
                                          </a:rPr>
                                        </m:ctrlPr>
                                      </m:sSubPr>
                                      <m:e>
                                        <m:r>
                                          <m:rPr>
                                            <m:brk m:alnAt="7"/>
                                          </m:rP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21</m:t>
                                        </m:r>
                                      </m:sub>
                                    </m:sSub>
                                    <m:r>
                                      <m:rPr>
                                        <m:brk m:alnAt="7"/>
                                      </m:rPr>
                                      <a:rPr lang="en-US" altLang="zh-CN" b="1">
                                        <a:latin typeface="Cambria Math" panose="02040503050406030204" pitchFamily="18" charset="0"/>
                                        <a:ea typeface="微软雅黑" panose="020B0503020204020204" pitchFamily="34" charset="-122"/>
                                      </a:rPr>
                                      <m:t>𝐁</m:t>
                                    </m:r>
                                  </m:e>
                                  <m:e>
                                    <m:sSub>
                                      <m:sSubPr>
                                        <m:ctrlPr>
                                          <a:rPr lang="en-US" altLang="zh-CN" i="1">
                                            <a:latin typeface="Cambria Math" panose="02040503050406030204" pitchFamily="18" charset="0"/>
                                            <a:ea typeface="微软雅黑" panose="020B0503020204020204" pitchFamily="34" charset="-122"/>
                                          </a:rPr>
                                        </m:ctrlPr>
                                      </m:sSubPr>
                                      <m:e>
                                        <m:r>
                                          <m:rPr>
                                            <m:brk m:alnAt="7"/>
                                          </m:rP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22</m:t>
                                        </m:r>
                                      </m:sub>
                                    </m:sSub>
                                    <m:r>
                                      <m:rPr>
                                        <m:brk m:alnAt="7"/>
                                      </m:rPr>
                                      <a:rPr lang="en-US" altLang="zh-CN" b="1">
                                        <a:latin typeface="Cambria Math" panose="02040503050406030204" pitchFamily="18" charset="0"/>
                                        <a:ea typeface="微软雅黑" panose="020B0503020204020204" pitchFamily="34" charset="-122"/>
                                      </a:rPr>
                                      <m:t>𝐁</m:t>
                                    </m:r>
                                  </m:e>
                                  <m:e>
                                    <m:r>
                                      <a:rPr lang="en-US" altLang="zh-CN" b="1" i="1">
                                        <a:latin typeface="Cambria Math" panose="02040503050406030204" pitchFamily="18" charset="0"/>
                                        <a:ea typeface="微软雅黑" panose="020B0503020204020204" pitchFamily="34" charset="-122"/>
                                      </a:rPr>
                                      <m:t>⋯</m:t>
                                    </m:r>
                                  </m:e>
                                  <m:e>
                                    <m:sSub>
                                      <m:sSubPr>
                                        <m:ctrlPr>
                                          <a:rPr lang="en-US" altLang="zh-CN" i="1">
                                            <a:latin typeface="Cambria Math" panose="02040503050406030204" pitchFamily="18" charset="0"/>
                                            <a:ea typeface="微软雅黑" panose="020B0503020204020204" pitchFamily="34" charset="-122"/>
                                          </a:rPr>
                                        </m:ctrlPr>
                                      </m:sSubPr>
                                      <m:e>
                                        <m:r>
                                          <m:rPr>
                                            <m:brk m:alnAt="7"/>
                                          </m:rP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2</m:t>
                                        </m:r>
                                        <m:r>
                                          <a:rPr lang="en-US" altLang="zh-CN" i="1">
                                            <a:latin typeface="Cambria Math" panose="02040503050406030204" pitchFamily="18" charset="0"/>
                                            <a:ea typeface="微软雅黑" panose="020B0503020204020204" pitchFamily="34" charset="-122"/>
                                          </a:rPr>
                                          <m:t>𝑟</m:t>
                                        </m:r>
                                      </m:sub>
                                    </m:sSub>
                                    <m:r>
                                      <m:rPr>
                                        <m:brk m:alnAt="7"/>
                                      </m:rPr>
                                      <a:rPr lang="en-US" altLang="zh-CN" b="1">
                                        <a:latin typeface="Cambria Math" panose="02040503050406030204" pitchFamily="18" charset="0"/>
                                        <a:ea typeface="微软雅黑" panose="020B0503020204020204" pitchFamily="34" charset="-122"/>
                                      </a:rPr>
                                      <m:t>𝐁</m:t>
                                    </m:r>
                                  </m:e>
                                </m:mr>
                                <m:mr>
                                  <m:e>
                                    <m:r>
                                      <a:rPr lang="en-US" altLang="zh-CN" b="1" i="1">
                                        <a:latin typeface="Cambria Math" panose="02040503050406030204" pitchFamily="18" charset="0"/>
                                        <a:ea typeface="微软雅黑" panose="020B0503020204020204" pitchFamily="34" charset="-122"/>
                                      </a:rPr>
                                      <m:t>⋮</m:t>
                                    </m:r>
                                  </m:e>
                                  <m:e>
                                    <m:r>
                                      <a:rPr lang="en-US" altLang="zh-CN" b="1" i="1">
                                        <a:latin typeface="Cambria Math" panose="02040503050406030204" pitchFamily="18" charset="0"/>
                                        <a:ea typeface="微软雅黑" panose="020B0503020204020204" pitchFamily="34" charset="-122"/>
                                      </a:rPr>
                                      <m:t>⋮</m:t>
                                    </m:r>
                                  </m:e>
                                  <m:e>
                                    <m:r>
                                      <a:rPr lang="en-US" altLang="zh-CN" b="1" i="1">
                                        <a:latin typeface="Cambria Math" panose="02040503050406030204" pitchFamily="18" charset="0"/>
                                        <a:ea typeface="微软雅黑" panose="020B0503020204020204" pitchFamily="34" charset="-122"/>
                                      </a:rPr>
                                      <m:t>⋱</m:t>
                                    </m:r>
                                  </m:e>
                                  <m:e>
                                    <m:r>
                                      <a:rPr lang="en-US" altLang="zh-CN" b="1" i="1">
                                        <a:latin typeface="Cambria Math" panose="02040503050406030204" pitchFamily="18" charset="0"/>
                                        <a:ea typeface="微软雅黑" panose="020B0503020204020204" pitchFamily="34" charset="-122"/>
                                      </a:rPr>
                                      <m:t>⋮</m:t>
                                    </m:r>
                                  </m:e>
                                </m:mr>
                                <m:mr>
                                  <m:e>
                                    <m:sSub>
                                      <m:sSubPr>
                                        <m:ctrlPr>
                                          <a:rPr lang="en-US" altLang="zh-CN" i="1">
                                            <a:latin typeface="Cambria Math" panose="02040503050406030204" pitchFamily="18" charset="0"/>
                                            <a:ea typeface="微软雅黑" panose="020B0503020204020204" pitchFamily="34" charset="-122"/>
                                          </a:rPr>
                                        </m:ctrlPr>
                                      </m:sSubPr>
                                      <m:e>
                                        <m:r>
                                          <m:rPr>
                                            <m:brk m:alnAt="7"/>
                                          </m:rP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𝑟</m:t>
                                        </m:r>
                                        <m:r>
                                          <a:rPr lang="en-US" altLang="zh-CN" i="1">
                                            <a:latin typeface="Cambria Math" panose="02040503050406030204" pitchFamily="18" charset="0"/>
                                            <a:ea typeface="微软雅黑" panose="020B0503020204020204" pitchFamily="34" charset="-122"/>
                                          </a:rPr>
                                          <m:t>1</m:t>
                                        </m:r>
                                      </m:sub>
                                    </m:sSub>
                                    <m:r>
                                      <m:rPr>
                                        <m:brk m:alnAt="7"/>
                                      </m:rPr>
                                      <a:rPr lang="en-US" altLang="zh-CN" b="1">
                                        <a:latin typeface="Cambria Math" panose="02040503050406030204" pitchFamily="18" charset="0"/>
                                        <a:ea typeface="微软雅黑" panose="020B0503020204020204" pitchFamily="34" charset="-122"/>
                                      </a:rPr>
                                      <m:t>𝐁</m:t>
                                    </m:r>
                                  </m:e>
                                  <m:e>
                                    <m:sSub>
                                      <m:sSubPr>
                                        <m:ctrlPr>
                                          <a:rPr lang="en-US" altLang="zh-CN" i="1">
                                            <a:latin typeface="Cambria Math" panose="02040503050406030204" pitchFamily="18" charset="0"/>
                                            <a:ea typeface="微软雅黑" panose="020B0503020204020204" pitchFamily="34" charset="-122"/>
                                          </a:rPr>
                                        </m:ctrlPr>
                                      </m:sSubPr>
                                      <m:e>
                                        <m:r>
                                          <m:rPr>
                                            <m:brk m:alnAt="7"/>
                                          </m:rP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𝑟</m:t>
                                        </m:r>
                                        <m:r>
                                          <a:rPr lang="en-US" altLang="zh-CN" i="1">
                                            <a:latin typeface="Cambria Math" panose="02040503050406030204" pitchFamily="18" charset="0"/>
                                            <a:ea typeface="微软雅黑" panose="020B0503020204020204" pitchFamily="34" charset="-122"/>
                                          </a:rPr>
                                          <m:t>2</m:t>
                                        </m:r>
                                      </m:sub>
                                    </m:sSub>
                                    <m:r>
                                      <m:rPr>
                                        <m:brk m:alnAt="7"/>
                                      </m:rPr>
                                      <a:rPr lang="en-US" altLang="zh-CN" b="1">
                                        <a:latin typeface="Cambria Math" panose="02040503050406030204" pitchFamily="18" charset="0"/>
                                        <a:ea typeface="微软雅黑" panose="020B0503020204020204" pitchFamily="34" charset="-122"/>
                                      </a:rPr>
                                      <m:t>𝐁</m:t>
                                    </m:r>
                                  </m:e>
                                  <m:e>
                                    <m:r>
                                      <a:rPr lang="en-US" altLang="zh-CN" b="1" i="1">
                                        <a:latin typeface="Cambria Math" panose="02040503050406030204" pitchFamily="18" charset="0"/>
                                        <a:ea typeface="微软雅黑" panose="020B0503020204020204" pitchFamily="34" charset="-122"/>
                                      </a:rPr>
                                      <m:t>⋯</m:t>
                                    </m:r>
                                  </m:e>
                                  <m:e>
                                    <m:sSub>
                                      <m:sSubPr>
                                        <m:ctrlPr>
                                          <a:rPr lang="en-US" altLang="zh-CN" i="1">
                                            <a:latin typeface="Cambria Math" panose="02040503050406030204" pitchFamily="18" charset="0"/>
                                            <a:ea typeface="微软雅黑" panose="020B0503020204020204" pitchFamily="34" charset="-122"/>
                                          </a:rPr>
                                        </m:ctrlPr>
                                      </m:sSubPr>
                                      <m:e>
                                        <m:r>
                                          <m:rPr>
                                            <m:brk m:alnAt="7"/>
                                          </m:rPr>
                                          <a:rPr lang="en-US" altLang="zh-CN" i="1">
                                            <a:latin typeface="Cambria Math" panose="02040503050406030204" pitchFamily="18" charset="0"/>
                                            <a:ea typeface="微软雅黑" panose="020B0503020204020204" pitchFamily="34" charset="-122"/>
                                          </a:rPr>
                                          <m:t>𝑎</m:t>
                                        </m:r>
                                      </m:e>
                                      <m:sub>
                                        <m:r>
                                          <a:rPr lang="en-US" altLang="zh-CN" i="1">
                                            <a:latin typeface="Cambria Math" panose="02040503050406030204" pitchFamily="18" charset="0"/>
                                            <a:ea typeface="微软雅黑" panose="020B0503020204020204" pitchFamily="34" charset="-122"/>
                                          </a:rPr>
                                          <m:t>𝑟𝑟</m:t>
                                        </m:r>
                                      </m:sub>
                                    </m:sSub>
                                    <m:r>
                                      <m:rPr>
                                        <m:brk m:alnAt="7"/>
                                      </m:rPr>
                                      <a:rPr lang="en-US" altLang="zh-CN" b="1">
                                        <a:latin typeface="Cambria Math" panose="02040503050406030204" pitchFamily="18" charset="0"/>
                                        <a:ea typeface="微软雅黑" panose="020B0503020204020204" pitchFamily="34" charset="-122"/>
                                      </a:rPr>
                                      <m:t>𝐁</m:t>
                                    </m:r>
                                  </m:e>
                                </m:mr>
                              </m:m>
                            </m:e>
                          </m:d>
                        </m:e>
                        <m:sub>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𝑟</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𝑟</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m:t>
                          </m:r>
                        </m:sub>
                      </m:sSub>
                    </m:oMath>
                  </m:oMathPara>
                </a14:m>
                <a:endParaRPr lang="en-US" altLang="zh-CN" b="1"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称为矩阵</a:t>
                </a:r>
                <a14:m>
                  <m:oMath xmlns:m="http://schemas.openxmlformats.org/officeDocument/2006/math">
                    <m:r>
                      <a:rPr lang="en-US" altLang="zh-CN" b="1">
                        <a:latin typeface="Cambria Math" panose="02040503050406030204" pitchFamily="18" charset="0"/>
                        <a:ea typeface="微软雅黑" panose="020B0503020204020204" pitchFamily="34" charset="-122"/>
                      </a:rPr>
                      <m:t>𝐀</m:t>
                    </m:r>
                  </m:oMath>
                </a14:m>
                <a:r>
                  <a:rPr lang="zh-CN" altLang="en-US" dirty="0">
                    <a:latin typeface="微软雅黑" panose="020B0503020204020204" pitchFamily="34" charset="-122"/>
                    <a:ea typeface="微软雅黑" panose="020B0503020204020204" pitchFamily="34" charset="-122"/>
                  </a:rPr>
                  <a:t>和</a:t>
                </a:r>
                <a14:m>
                  <m:oMath xmlns:m="http://schemas.openxmlformats.org/officeDocument/2006/math">
                    <m:r>
                      <a:rPr lang="en-US" altLang="zh-CN" b="1">
                        <a:latin typeface="Cambria Math" panose="02040503050406030204" pitchFamily="18" charset="0"/>
                        <a:ea typeface="微软雅黑" panose="020B0503020204020204" pitchFamily="34" charset="-122"/>
                      </a:rPr>
                      <m:t>𝐁</m:t>
                    </m:r>
                  </m:oMath>
                </a14:m>
                <a:r>
                  <a:rPr lang="zh-CN" altLang="en-US" dirty="0">
                    <a:latin typeface="微软雅黑" panose="020B0503020204020204" pitchFamily="34" charset="-122"/>
                    <a:ea typeface="微软雅黑" panose="020B0503020204020204" pitchFamily="34" charset="-122"/>
                  </a:rPr>
                  <a:t>的</a:t>
                </a:r>
                <a:r>
                  <a:rPr lang="zh-CN" altLang="en-US" dirty="0">
                    <a:solidFill>
                      <a:srgbClr val="FF0000"/>
                    </a:solidFill>
                    <a:latin typeface="微软雅黑" panose="020B0503020204020204" pitchFamily="34" charset="-122"/>
                    <a:ea typeface="微软雅黑" panose="020B0503020204020204" pitchFamily="34" charset="-122"/>
                  </a:rPr>
                  <a:t>克罗内克积</a:t>
                </a:r>
                <a:endParaRPr lang="en-US" altLang="zh-CN"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最后给出</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上线性变换的复合。设</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𝑓</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𝑔</m:t>
                        </m:r>
                      </m:e>
                      <m:sub>
                        <m:r>
                          <a:rPr lang="en-US" altLang="zh-CN" b="0" i="1" smtClean="0">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𝑓</m:t>
                        </m:r>
                      </m:e>
                      <m:sub>
                        <m:r>
                          <a:rPr lang="en-US" altLang="zh-CN" b="0" i="1" smtClean="0">
                            <a:latin typeface="Cambria Math" panose="02040503050406030204" pitchFamily="18" charset="0"/>
                            <a:ea typeface="微软雅黑" panose="020B0503020204020204" pitchFamily="34" charset="-122"/>
                          </a:rPr>
                          <m:t>2</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𝑔</m:t>
                        </m:r>
                      </m:e>
                      <m:sub>
                        <m:r>
                          <a:rPr lang="en-US" altLang="zh-CN" b="0" i="1" smtClean="0">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是</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上的两个线性变换，则</a:t>
                </a:r>
                <a:endParaRPr lang="en-US" altLang="zh-CN" b="0" i="1" dirty="0" smtClean="0">
                  <a:latin typeface="Cambria Math" panose="02040503050406030204" pitchFamily="18" charset="0"/>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𝑓</m:t>
                              </m:r>
                            </m:e>
                            <m:sub>
                              <m:r>
                                <a:rPr lang="en-US" altLang="zh-CN" i="1">
                                  <a:latin typeface="Cambria Math" panose="02040503050406030204" pitchFamily="18" charset="0"/>
                                  <a:ea typeface="微软雅黑" panose="020B0503020204020204" pitchFamily="34" charset="-122"/>
                                </a:rPr>
                                <m:t>2</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𝑔</m:t>
                              </m:r>
                            </m:e>
                            <m:sub>
                              <m:r>
                                <a:rPr lang="en-US" altLang="zh-CN" i="1">
                                  <a:latin typeface="Cambria Math" panose="02040503050406030204" pitchFamily="18" charset="0"/>
                                  <a:ea typeface="微软雅黑" panose="020B0503020204020204" pitchFamily="34" charset="-122"/>
                                </a:rPr>
                                <m:t>2</m:t>
                              </m:r>
                            </m:sub>
                          </m:sSub>
                        </m:e>
                      </m:d>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𝑓</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𝑔</m:t>
                              </m:r>
                            </m:e>
                            <m:sub>
                              <m:r>
                                <a:rPr lang="en-US" altLang="zh-CN" i="1">
                                  <a:latin typeface="Cambria Math" panose="02040503050406030204" pitchFamily="18" charset="0"/>
                                  <a:ea typeface="微软雅黑" panose="020B0503020204020204" pitchFamily="34" charset="-122"/>
                                </a:rPr>
                                <m:t>1</m:t>
                              </m:r>
                            </m:sub>
                          </m:sSub>
                        </m:e>
                      </m:d>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e>
                      </m:d>
                      <m:r>
                        <a:rPr lang="en-US" altLang="zh-CN" b="0" i="1" smtClean="0">
                          <a:latin typeface="Cambria Math" panose="02040503050406030204" pitchFamily="18" charset="0"/>
                          <a:ea typeface="微软雅黑" panose="020B0503020204020204" pitchFamily="34" charset="-122"/>
                        </a:rPr>
                        <m:t>=</m:t>
                      </m:r>
                      <m:d>
                        <m:dPr>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𝑓</m:t>
                              </m:r>
                            </m:e>
                            <m:sub>
                              <m:r>
                                <a:rPr lang="en-US" altLang="zh-CN" i="1">
                                  <a:latin typeface="Cambria Math" panose="02040503050406030204" pitchFamily="18" charset="0"/>
                                  <a:ea typeface="微软雅黑" panose="020B0503020204020204" pitchFamily="34" charset="-122"/>
                                </a:rPr>
                                <m:t>2</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𝑔</m:t>
                              </m:r>
                            </m:e>
                            <m:sub>
                              <m:r>
                                <a:rPr lang="en-US" altLang="zh-CN" i="1">
                                  <a:latin typeface="Cambria Math" panose="02040503050406030204" pitchFamily="18" charset="0"/>
                                  <a:ea typeface="微软雅黑" panose="020B0503020204020204" pitchFamily="34" charset="-122"/>
                                </a:rPr>
                                <m:t>2</m:t>
                              </m:r>
                            </m:sub>
                          </m:sSub>
                        </m:e>
                      </m:d>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𝑓</m:t>
                              </m:r>
                            </m:e>
                            <m:sub>
                              <m:r>
                                <a:rPr lang="en-US" altLang="zh-CN" b="0" i="1" smtClean="0">
                                  <a:latin typeface="Cambria Math" panose="02040503050406030204" pitchFamily="18" charset="0"/>
                                  <a:ea typeface="微软雅黑" panose="020B0503020204020204" pitchFamily="34" charset="-122"/>
                                </a:rPr>
                                <m:t>1</m:t>
                              </m:r>
                            </m:sub>
                          </m:sSub>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𝑓</m:t>
                              </m:r>
                            </m:e>
                            <m:sub>
                              <m:r>
                                <a:rPr lang="en-US" altLang="zh-CN" b="0" i="1" smtClean="0">
                                  <a:latin typeface="Cambria Math" panose="02040503050406030204" pitchFamily="18" charset="0"/>
                                  <a:ea typeface="微软雅黑" panose="020B0503020204020204" pitchFamily="34" charset="-122"/>
                                </a:rPr>
                                <m:t>2</m:t>
                              </m:r>
                            </m:sub>
                          </m:sSub>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e>
                          </m:d>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𝑓</m:t>
                          </m:r>
                        </m:e>
                        <m:sub>
                          <m:r>
                            <a:rPr lang="en-US" altLang="zh-CN" b="0" i="1" smtClean="0">
                              <a:latin typeface="Cambria Math" panose="02040503050406030204" pitchFamily="18" charset="0"/>
                              <a:ea typeface="微软雅黑" panose="020B0503020204020204" pitchFamily="34" charset="-122"/>
                            </a:rPr>
                            <m:t>2</m:t>
                          </m:r>
                        </m:sub>
                      </m:sSub>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𝑓</m:t>
                              </m:r>
                            </m:e>
                            <m:sub>
                              <m:r>
                                <a:rPr lang="en-US" altLang="zh-CN" b="0" i="1" smtClean="0">
                                  <a:latin typeface="Cambria Math" panose="02040503050406030204" pitchFamily="18" charset="0"/>
                                  <a:ea typeface="微软雅黑" panose="020B0503020204020204" pitchFamily="34" charset="-122"/>
                                </a:rPr>
                                <m:t>1</m:t>
                              </m:r>
                            </m:sub>
                          </m:sSub>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1</m:t>
                                  </m:r>
                                </m:sub>
                              </m:sSub>
                            </m:e>
                          </m:d>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𝑔</m:t>
                          </m:r>
                        </m:e>
                        <m:sub>
                          <m:r>
                            <a:rPr lang="en-US" altLang="zh-CN" b="0" i="1" smtClean="0">
                              <a:latin typeface="Cambria Math" panose="02040503050406030204" pitchFamily="18" charset="0"/>
                              <a:ea typeface="微软雅黑" panose="020B0503020204020204" pitchFamily="34" charset="-122"/>
                            </a:rPr>
                            <m:t>2</m:t>
                          </m:r>
                        </m:sub>
                      </m:sSub>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𝑓</m:t>
                              </m:r>
                            </m:e>
                            <m:sub>
                              <m:r>
                                <a:rPr lang="en-US" altLang="zh-CN" b="0" i="1" smtClean="0">
                                  <a:latin typeface="Cambria Math" panose="02040503050406030204" pitchFamily="18" charset="0"/>
                                  <a:ea typeface="微软雅黑" panose="020B0503020204020204" pitchFamily="34" charset="-122"/>
                                </a:rPr>
                                <m:t>2</m:t>
                              </m:r>
                            </m:sub>
                          </m:sSub>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h</m:t>
                                  </m:r>
                                </m:e>
                                <m:sub>
                                  <m:r>
                                    <a:rPr lang="en-US" altLang="zh-CN" b="0" i="1" smtClean="0">
                                      <a:latin typeface="Cambria Math" panose="02040503050406030204" pitchFamily="18" charset="0"/>
                                      <a:ea typeface="微软雅黑" panose="020B0503020204020204" pitchFamily="34" charset="-122"/>
                                    </a:rPr>
                                    <m:t>2</m:t>
                                  </m:r>
                                </m:sub>
                              </m:sSub>
                            </m:e>
                          </m:d>
                        </m:e>
                      </m:d>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效果相当于先在两个空间内先做连续变换后再做张量积</a:t>
                </a:r>
                <a:endParaRPr lang="en-US" altLang="zh-CN" dirty="0">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18147" y="1494451"/>
                <a:ext cx="10974852" cy="4275722"/>
              </a:xfrm>
              <a:prstGeom prst="rect">
                <a:avLst/>
              </a:prstGeom>
              <a:blipFill rotWithShape="0">
                <a:blip r:embed="rId5"/>
                <a:stretch>
                  <a:fillRect l="-500" b="-12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2960597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2-spin systems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499110" y="1304746"/>
                <a:ext cx="10974852" cy="4810035"/>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有了上述工具，我们现在可以对</a:t>
                </a:r>
                <a:r>
                  <a:rPr lang="zh-CN" altLang="en-US" dirty="0">
                    <a:latin typeface="微软雅黑" panose="020B0503020204020204" pitchFamily="34" charset="-122"/>
                    <a:ea typeface="微软雅黑" panose="020B0503020204020204" pitchFamily="34" charset="-122"/>
                  </a:rPr>
                  <a:t>多</a:t>
                </a:r>
                <a:r>
                  <a:rPr lang="zh-CN" altLang="en-US" dirty="0" smtClean="0">
                    <a:latin typeface="微软雅黑" panose="020B0503020204020204" pitchFamily="34" charset="-122"/>
                    <a:ea typeface="微软雅黑" panose="020B0503020204020204" pitchFamily="34" charset="-122"/>
                  </a:rPr>
                  <a:t>电子系统的自旋讨论了，方便起见只讨论</a:t>
                </a:r>
                <a:r>
                  <a:rPr lang="en-US" altLang="zh-CN" dirty="0" smtClean="0">
                    <a:latin typeface="微软雅黑" panose="020B0503020204020204" pitchFamily="34" charset="-122"/>
                    <a:ea typeface="微软雅黑" panose="020B0503020204020204" pitchFamily="34" charset="-122"/>
                  </a:rPr>
                  <a:t>2</a:t>
                </a:r>
                <a:r>
                  <a:rPr lang="zh-CN" altLang="en-US" dirty="0" smtClean="0">
                    <a:latin typeface="微软雅黑" panose="020B0503020204020204" pitchFamily="34" charset="-122"/>
                    <a:ea typeface="微软雅黑" panose="020B0503020204020204" pitchFamily="34" charset="-122"/>
                  </a:rPr>
                  <a:t>个电子的自旋</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设电子</a:t>
                </a:r>
                <a:r>
                  <a:rPr lang="en-US" altLang="zh-CN" dirty="0" smtClean="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自旋的态空间为</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，电子</a:t>
                </a:r>
                <a:r>
                  <a:rPr lang="en-US" altLang="zh-CN" dirty="0" smtClean="0">
                    <a:latin typeface="微软雅黑" panose="020B0503020204020204" pitchFamily="34" charset="-122"/>
                    <a:ea typeface="微软雅黑" panose="020B0503020204020204" pitchFamily="34" charset="-122"/>
                  </a:rPr>
                  <a:t>2</a:t>
                </a:r>
                <a:r>
                  <a:rPr lang="zh-CN" altLang="en-US" dirty="0" smtClean="0">
                    <a:latin typeface="微软雅黑" panose="020B0503020204020204" pitchFamily="34" charset="-122"/>
                    <a:ea typeface="微软雅黑" panose="020B0503020204020204" pitchFamily="34" charset="-122"/>
                  </a:rPr>
                  <a:t>的自旋态空间是</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，则电子</a:t>
                </a:r>
                <a:r>
                  <a:rPr lang="en-US" altLang="zh-CN" dirty="0" smtClean="0">
                    <a:latin typeface="微软雅黑" panose="020B0503020204020204" pitchFamily="34" charset="-122"/>
                    <a:ea typeface="微软雅黑" panose="020B0503020204020204" pitchFamily="34" charset="-122"/>
                  </a:rPr>
                  <a:t>1</a:t>
                </a:r>
                <a:r>
                  <a:rPr lang="zh-CN" altLang="en-US" dirty="0" smtClean="0">
                    <a:latin typeface="微软雅黑" panose="020B0503020204020204" pitchFamily="34" charset="-122"/>
                    <a:ea typeface="微软雅黑" panose="020B0503020204020204" pitchFamily="34" charset="-122"/>
                  </a:rPr>
                  <a:t>和</a:t>
                </a:r>
                <a:r>
                  <a:rPr lang="en-US" altLang="zh-CN" dirty="0" smtClean="0">
                    <a:latin typeface="微软雅黑" panose="020B0503020204020204" pitchFamily="34" charset="-122"/>
                    <a:ea typeface="微软雅黑" panose="020B0503020204020204" pitchFamily="34" charset="-122"/>
                  </a:rPr>
                  <a:t>2</a:t>
                </a:r>
                <a:r>
                  <a:rPr lang="zh-CN" altLang="en-US" dirty="0" smtClean="0">
                    <a:latin typeface="微软雅黑" panose="020B0503020204020204" pitchFamily="34" charset="-122"/>
                    <a:ea typeface="微软雅黑" panose="020B0503020204020204" pitchFamily="34" charset="-122"/>
                  </a:rPr>
                  <a:t>耦合后的态空间为</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2</m:t>
                        </m:r>
                      </m:sub>
                    </m:sSub>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的基为</a:t>
                </a: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 </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 </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 </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 </m:t>
                      </m:r>
                      <m:d>
                        <m:dPr>
                          <m:ctrlPr>
                            <a:rPr lang="en-US" altLang="zh-CN" b="0" i="1" smtClean="0">
                              <a:latin typeface="Cambria Math" panose="02040503050406030204" pitchFamily="18" charset="0"/>
                              <a:ea typeface="微软雅黑" panose="020B0503020204020204" pitchFamily="34" charset="-122"/>
                            </a:rPr>
                          </m:ctrlPr>
                        </m:dPr>
                        <m:e>
                          <m:f>
                            <m:fPr>
                              <m:type m:val="noBa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d>
                                <m:dPr>
                                  <m:ctrlPr>
                                    <a:rPr lang="en-US" altLang="zh-CN" b="0" i="1" smtClean="0">
                                      <a:latin typeface="Cambria Math" panose="02040503050406030204" pitchFamily="18" charset="0"/>
                                      <a:ea typeface="微软雅黑" panose="020B0503020204020204" pitchFamily="34" charset="-122"/>
                                    </a:rPr>
                                  </m:ctrlPr>
                                </m:dPr>
                                <m:e>
                                  <m:f>
                                    <m:fPr>
                                      <m:type m:val="noBa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0</m:t>
                                      </m:r>
                                    </m:den>
                                  </m:f>
                                </m:e>
                              </m:d>
                            </m:num>
                            <m:den>
                              <m:r>
                                <a:rPr lang="en-US" altLang="zh-CN" b="0" i="1" smtClean="0">
                                  <a:latin typeface="Cambria Math" panose="02040503050406030204" pitchFamily="18" charset="0"/>
                                  <a:ea typeface="微软雅黑" panose="020B0503020204020204" pitchFamily="34" charset="-122"/>
                                </a:rPr>
                                <m:t>0</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
                                        <a:rPr lang="en-US" altLang="zh-CN" i="1">
                                          <a:latin typeface="Cambria Math" panose="02040503050406030204" pitchFamily="18" charset="0"/>
                                          <a:ea typeface="微软雅黑" panose="020B0503020204020204" pitchFamily="34" charset="-122"/>
                                        </a:rPr>
                                        <m:t>0</m:t>
                                      </m:r>
                                    </m:den>
                                  </m:f>
                                </m:e>
                              </m:d>
                            </m:den>
                          </m:f>
                        </m:e>
                      </m:d>
                      <m:r>
                        <a:rPr lang="en-US" altLang="zh-CN" b="0" i="1" smtClean="0">
                          <a:latin typeface="Cambria Math" panose="02040503050406030204" pitchFamily="18" charset="0"/>
                          <a:ea typeface="微软雅黑" panose="020B0503020204020204" pitchFamily="34" charset="-122"/>
                        </a:rPr>
                        <m:t>= </m:t>
                      </m:r>
                      <m:d>
                        <m:dPr>
                          <m:ctrlPr>
                            <a:rPr lang="en-US" altLang="zh-CN" b="0" i="1" smtClean="0">
                              <a:latin typeface="Cambria Math" panose="02040503050406030204" pitchFamily="18" charset="0"/>
                              <a:ea typeface="微软雅黑" panose="020B0503020204020204" pitchFamily="34" charset="-122"/>
                            </a:rPr>
                          </m:ctrlPr>
                        </m:dPr>
                        <m:e>
                          <m:f>
                            <m:fPr>
                              <m:type m:val="noBa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eqArr>
                                <m:eqArrPr>
                                  <m:ctrlPr>
                                    <a:rPr lang="en-US" altLang="zh-CN" b="0" i="1" smtClean="0">
                                      <a:latin typeface="Cambria Math" panose="02040503050406030204" pitchFamily="18" charset="0"/>
                                      <a:ea typeface="微软雅黑" panose="020B0503020204020204" pitchFamily="34" charset="-122"/>
                                    </a:rPr>
                                  </m:ctrlPr>
                                </m:eqArrPr>
                                <m:e>
                                  <m:r>
                                    <a:rPr lang="en-US" altLang="zh-CN" b="0" i="1" smtClean="0">
                                      <a:latin typeface="Cambria Math" panose="02040503050406030204" pitchFamily="18" charset="0"/>
                                      <a:ea typeface="微软雅黑" panose="020B0503020204020204" pitchFamily="34" charset="-122"/>
                                    </a:rPr>
                                    <m:t>0</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eqArr>
                            </m:den>
                          </m:f>
                        </m:e>
                      </m:d>
                      <m:r>
                        <a:rPr lang="en-US" altLang="zh-CN" b="0" i="0" smtClean="0">
                          <a:latin typeface="Cambria Math" panose="02040503050406030204" pitchFamily="18" charset="0"/>
                          <a:ea typeface="微软雅黑" panose="020B0503020204020204" pitchFamily="34" charset="-122"/>
                        </a:rPr>
                        <m:t>,  </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 </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0</m:t>
                                      </m:r>
                                    </m:num>
                                    <m:den>
                                      <m:r>
                                        <a:rPr lang="en-US" altLang="zh-CN" b="0" i="1" smtClean="0">
                                          <a:latin typeface="Cambria Math" panose="02040503050406030204" pitchFamily="18" charset="0"/>
                                          <a:ea typeface="微软雅黑" panose="020B0503020204020204" pitchFamily="34" charset="-122"/>
                                        </a:rPr>
                                        <m:t>1</m:t>
                                      </m:r>
                                    </m:den>
                                  </m:f>
                                </m:e>
                              </m:d>
                            </m:num>
                            <m:den>
                              <m:r>
                                <a:rPr lang="en-US" altLang="zh-CN" i="1">
                                  <a:latin typeface="Cambria Math" panose="02040503050406030204" pitchFamily="18" charset="0"/>
                                  <a:ea typeface="微软雅黑" panose="020B0503020204020204" pitchFamily="34" charset="-122"/>
                                </a:rPr>
                                <m:t>0</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0</m:t>
                                      </m:r>
                                    </m:num>
                                    <m:den>
                                      <m:r>
                                        <a:rPr lang="en-US" altLang="zh-CN" b="0" i="1" smtClean="0">
                                          <a:latin typeface="Cambria Math" panose="02040503050406030204" pitchFamily="18" charset="0"/>
                                          <a:ea typeface="微软雅黑" panose="020B0503020204020204" pitchFamily="34" charset="-122"/>
                                        </a:rPr>
                                        <m:t>1</m:t>
                                      </m:r>
                                    </m:den>
                                  </m:f>
                                </m:e>
                              </m:d>
                            </m:den>
                          </m:f>
                        </m:e>
                      </m:d>
                      <m:r>
                        <a:rPr lang="en-US" altLang="zh-CN" i="1">
                          <a:latin typeface="Cambria Math" panose="02040503050406030204" pitchFamily="18" charset="0"/>
                          <a:ea typeface="微软雅黑" panose="020B0503020204020204" pitchFamily="34" charset="-122"/>
                        </a:rPr>
                        <m:t>= </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0</m:t>
                              </m:r>
                            </m:num>
                            <m:den>
                              <m:eqArr>
                                <m:eqArrPr>
                                  <m:ctrlPr>
                                    <a:rPr lang="en-US" altLang="zh-CN" i="1">
                                      <a:latin typeface="Cambria Math" panose="02040503050406030204" pitchFamily="18" charset="0"/>
                                      <a:ea typeface="微软雅黑" panose="020B0503020204020204" pitchFamily="34" charset="-122"/>
                                    </a:rPr>
                                  </m:ctrlPr>
                                </m:eqArrPr>
                                <m:e>
                                  <m:r>
                                    <a:rPr lang="en-US" altLang="zh-CN" b="0" i="1" smtClean="0">
                                      <a:latin typeface="Cambria Math" panose="02040503050406030204" pitchFamily="18" charset="0"/>
                                      <a:ea typeface="微软雅黑" panose="020B0503020204020204" pitchFamily="34" charset="-122"/>
                                    </a:rPr>
                                    <m:t>1</m:t>
                                  </m:r>
                                </m:e>
                                <m:e>
                                  <m:r>
                                    <a:rPr lang="en-US" altLang="zh-CN" i="1">
                                      <a:latin typeface="Cambria Math" panose="02040503050406030204" pitchFamily="18" charset="0"/>
                                    </a:rPr>
                                    <m:t>0</m:t>
                                  </m:r>
                                </m:e>
                                <m:e>
                                  <m:r>
                                    <a:rPr lang="en-US" altLang="zh-CN" i="1">
                                      <a:latin typeface="Cambria Math" panose="02040503050406030204" pitchFamily="18" charset="0"/>
                                    </a:rPr>
                                    <m:t>0</m:t>
                                  </m:r>
                                </m:e>
                              </m:eqArr>
                            </m:den>
                          </m:f>
                        </m:e>
                      </m:d>
                    </m:oMath>
                  </m:oMathPara>
                </a14:m>
                <a:endParaRPr lang="en-US" altLang="zh-CN" dirty="0" smtClean="0">
                  <a:latin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 </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0</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
                                        <a:rPr lang="en-US" altLang="zh-CN" i="1">
                                          <a:latin typeface="Cambria Math" panose="02040503050406030204" pitchFamily="18" charset="0"/>
                                          <a:ea typeface="微软雅黑" panose="020B0503020204020204" pitchFamily="34" charset="-122"/>
                                        </a:rPr>
                                        <m:t>0</m:t>
                                      </m:r>
                                    </m:den>
                                  </m:f>
                                </m:e>
                              </m:d>
                            </m:num>
                            <m:den>
                              <m:r>
                                <a:rPr lang="en-US" altLang="zh-CN" b="0" i="1" smtClean="0">
                                  <a:latin typeface="Cambria Math" panose="02040503050406030204" pitchFamily="18" charset="0"/>
                                  <a:ea typeface="微软雅黑" panose="020B0503020204020204" pitchFamily="34" charset="-122"/>
                                </a:rPr>
                                <m:t>1</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
                                        <a:rPr lang="en-US" altLang="zh-CN" i="1">
                                          <a:latin typeface="Cambria Math" panose="02040503050406030204" pitchFamily="18" charset="0"/>
                                          <a:ea typeface="微软雅黑" panose="020B0503020204020204" pitchFamily="34" charset="-122"/>
                                        </a:rPr>
                                        <m:t>0</m:t>
                                      </m:r>
                                    </m:den>
                                  </m:f>
                                </m:e>
                              </m:d>
                            </m:den>
                          </m:f>
                        </m:e>
                      </m:d>
                      <m:r>
                        <a:rPr lang="en-US" altLang="zh-CN" i="1">
                          <a:latin typeface="Cambria Math" panose="02040503050406030204" pitchFamily="18" charset="0"/>
                          <a:ea typeface="微软雅黑" panose="020B0503020204020204" pitchFamily="34" charset="-122"/>
                        </a:rPr>
                        <m:t>= </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0</m:t>
                              </m:r>
                            </m:num>
                            <m:den>
                              <m:eqArr>
                                <m:eqArrPr>
                                  <m:ctrlPr>
                                    <a:rPr lang="en-US" altLang="zh-CN" i="1">
                                      <a:latin typeface="Cambria Math" panose="02040503050406030204" pitchFamily="18" charset="0"/>
                                      <a:ea typeface="微软雅黑" panose="020B0503020204020204" pitchFamily="34" charset="-122"/>
                                    </a:rPr>
                                  </m:ctrlPr>
                                </m:eqArrPr>
                                <m:e>
                                  <m:r>
                                    <a:rPr lang="en-US" altLang="zh-CN" i="1">
                                      <a:latin typeface="Cambria Math" panose="02040503050406030204" pitchFamily="18" charset="0"/>
                                      <a:ea typeface="微软雅黑" panose="020B0503020204020204" pitchFamily="34" charset="-122"/>
                                    </a:rPr>
                                    <m:t>0</m:t>
                                  </m:r>
                                </m:e>
                                <m:e>
                                  <m:r>
                                    <a:rPr lang="en-US" altLang="zh-CN" b="0" i="1" smtClean="0">
                                      <a:latin typeface="Cambria Math" panose="02040503050406030204" pitchFamily="18" charset="0"/>
                                      <a:ea typeface="微软雅黑" panose="020B0503020204020204" pitchFamily="34" charset="-122"/>
                                    </a:rPr>
                                    <m:t>1</m:t>
                                  </m:r>
                                </m:e>
                                <m:e>
                                  <m:r>
                                    <a:rPr lang="en-US" altLang="zh-CN" i="1">
                                      <a:latin typeface="Cambria Math" panose="02040503050406030204" pitchFamily="18" charset="0"/>
                                    </a:rPr>
                                    <m:t>0</m:t>
                                  </m:r>
                                </m:e>
                              </m:eqArr>
                            </m:den>
                          </m:f>
                        </m:e>
                      </m:d>
                      <m:r>
                        <a:rPr lang="en-US" altLang="zh-CN" b="0" i="0" smtClean="0">
                          <a:latin typeface="Cambria Math" panose="02040503050406030204" pitchFamily="18" charset="0"/>
                        </a:rPr>
                        <m:t>,  </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 </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0</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0</m:t>
                                      </m:r>
                                    </m:num>
                                    <m:den>
                                      <m:r>
                                        <a:rPr lang="en-US" altLang="zh-CN" b="0" i="1" smtClean="0">
                                          <a:latin typeface="Cambria Math" panose="02040503050406030204" pitchFamily="18" charset="0"/>
                                          <a:ea typeface="微软雅黑" panose="020B0503020204020204" pitchFamily="34" charset="-122"/>
                                        </a:rPr>
                                        <m:t>1</m:t>
                                      </m:r>
                                    </m:den>
                                  </m:f>
                                </m:e>
                              </m:d>
                            </m:num>
                            <m:den>
                              <m:r>
                                <a:rPr lang="en-US" altLang="zh-CN" b="0" i="1" smtClean="0">
                                  <a:latin typeface="Cambria Math" panose="02040503050406030204" pitchFamily="18" charset="0"/>
                                  <a:ea typeface="微软雅黑" panose="020B0503020204020204" pitchFamily="34" charset="-122"/>
                                </a:rPr>
                                <m:t>1</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0</m:t>
                                      </m:r>
                                    </m:num>
                                    <m:den>
                                      <m:r>
                                        <a:rPr lang="en-US" altLang="zh-CN" b="0" i="1" smtClean="0">
                                          <a:latin typeface="Cambria Math" panose="02040503050406030204" pitchFamily="18" charset="0"/>
                                          <a:ea typeface="微软雅黑" panose="020B0503020204020204" pitchFamily="34" charset="-122"/>
                                        </a:rPr>
                                        <m:t>1</m:t>
                                      </m:r>
                                    </m:den>
                                  </m:f>
                                </m:e>
                              </m:d>
                            </m:den>
                          </m:f>
                        </m:e>
                      </m:d>
                      <m:r>
                        <a:rPr lang="en-US" altLang="zh-CN" i="1">
                          <a:latin typeface="Cambria Math" panose="02040503050406030204" pitchFamily="18" charset="0"/>
                          <a:ea typeface="微软雅黑" panose="020B0503020204020204" pitchFamily="34" charset="-122"/>
                        </a:rPr>
                        <m:t>= </m:t>
                      </m:r>
                      <m:d>
                        <m:dPr>
                          <m:ctrlPr>
                            <a:rPr lang="en-US" altLang="zh-CN" i="1">
                              <a:latin typeface="Cambria Math" panose="02040503050406030204" pitchFamily="18" charset="0"/>
                              <a:ea typeface="微软雅黑" panose="020B0503020204020204" pitchFamily="34" charset="-122"/>
                            </a:rPr>
                          </m:ctrlPr>
                        </m:dPr>
                        <m:e>
                          <m:f>
                            <m:fPr>
                              <m:type m:val="noBar"/>
                              <m:ctrlPr>
                                <a:rPr lang="en-US" altLang="zh-CN" i="1">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0</m:t>
                              </m:r>
                            </m:num>
                            <m:den>
                              <m:eqArr>
                                <m:eqArrPr>
                                  <m:ctrlPr>
                                    <a:rPr lang="en-US" altLang="zh-CN" i="1">
                                      <a:latin typeface="Cambria Math" panose="02040503050406030204" pitchFamily="18" charset="0"/>
                                      <a:ea typeface="微软雅黑" panose="020B0503020204020204" pitchFamily="34" charset="-122"/>
                                    </a:rPr>
                                  </m:ctrlPr>
                                </m:eqArrPr>
                                <m:e>
                                  <m:r>
                                    <a:rPr lang="en-US" altLang="zh-CN" i="1">
                                      <a:latin typeface="Cambria Math" panose="02040503050406030204" pitchFamily="18" charset="0"/>
                                      <a:ea typeface="微软雅黑" panose="020B0503020204020204" pitchFamily="34" charset="-122"/>
                                    </a:rPr>
                                    <m:t>0</m:t>
                                  </m:r>
                                </m:e>
                                <m:e>
                                  <m:r>
                                    <a:rPr lang="en-US" altLang="zh-CN" i="1">
                                      <a:latin typeface="Cambria Math" panose="02040503050406030204" pitchFamily="18" charset="0"/>
                                    </a:rPr>
                                    <m:t>0</m:t>
                                  </m:r>
                                </m:e>
                                <m:e>
                                  <m:r>
                                    <a:rPr lang="en-US" altLang="zh-CN" b="0" i="1" smtClean="0">
                                      <a:latin typeface="Cambria Math" panose="02040503050406030204" pitchFamily="18" charset="0"/>
                                    </a:rPr>
                                    <m:t>1</m:t>
                                  </m:r>
                                </m:e>
                              </m:eqArr>
                            </m:den>
                          </m:f>
                        </m:e>
                      </m:d>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简便起见将其写成</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oMath>
                </a14:m>
                <a:r>
                  <a:rPr lang="zh-CN" altLang="en-US" dirty="0" smtClean="0">
                    <a:latin typeface="微软雅黑" panose="020B0503020204020204" pitchFamily="34" charset="-122"/>
                    <a:ea typeface="微软雅黑" panose="020B0503020204020204" pitchFamily="34" charset="-122"/>
                  </a:rPr>
                  <a:t>，或</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oMath>
                </a14:m>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499110" y="1304746"/>
                <a:ext cx="10974852" cy="4810035"/>
              </a:xfrm>
              <a:prstGeom prst="rect">
                <a:avLst/>
              </a:prstGeom>
              <a:blipFill rotWithShape="0">
                <a:blip r:embed="rId5"/>
                <a:stretch>
                  <a:fillRect l="-500" b="-10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73937604"/>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2-spin systems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337185" y="1304746"/>
                <a:ext cx="11670934" cy="4131387"/>
              </a:xfrm>
              <a:prstGeom prst="rect">
                <a:avLst/>
              </a:prstGeom>
            </p:spPr>
            <p:txBody>
              <a:bodyPr wrap="square">
                <a:spAutoFit/>
              </a:bodyPr>
              <a:lstStyle/>
              <a:p>
                <a:r>
                  <a:rPr lang="zh-CN" altLang="en-US" dirty="0" smtClean="0">
                    <a:latin typeface="微软雅黑" panose="020B0503020204020204" pitchFamily="34" charset="-122"/>
                    <a:ea typeface="微软雅黑" panose="020B0503020204020204" pitchFamily="34" charset="-122"/>
                  </a:rPr>
                  <a:t>定义总自旋角动量</a:t>
                </a:r>
                <a14:m>
                  <m:oMath xmlns:m="http://schemas.openxmlformats.org/officeDocument/2006/math">
                    <m:acc>
                      <m:accPr>
                        <m:chr m:val="̂"/>
                        <m:ctrlPr>
                          <a:rPr lang="en-US" altLang="zh-CN" b="1" i="1">
                            <a:latin typeface="Cambria Math" panose="02040503050406030204" pitchFamily="18" charset="0"/>
                            <a:ea typeface="微软雅黑" panose="020B0503020204020204" pitchFamily="34" charset="-122"/>
                          </a:rPr>
                        </m:ctrlPr>
                      </m:accPr>
                      <m:e>
                        <m:r>
                          <a:rPr lang="en-US" altLang="zh-CN" b="1" i="1">
                            <a:latin typeface="Cambria Math" panose="02040503050406030204" pitchFamily="18" charset="0"/>
                            <a:ea typeface="微软雅黑" panose="020B0503020204020204" pitchFamily="34" charset="-122"/>
                          </a:rPr>
                          <m:t>𝑺</m:t>
                        </m:r>
                      </m:e>
                    </m:acc>
                    <m:r>
                      <a:rPr lang="en-US" altLang="zh-CN" b="1" i="1" dirty="0">
                        <a:latin typeface="Cambria Math" panose="02040503050406030204" pitchFamily="18" charset="0"/>
                        <a:ea typeface="微软雅黑" panose="020B0503020204020204" pitchFamily="34" charset="-122"/>
                      </a:rPr>
                      <m:t>=</m:t>
                    </m:r>
                    <m:sSub>
                      <m:sSubPr>
                        <m:ctrlPr>
                          <a:rPr lang="en-US" altLang="zh-CN" b="1" i="1" dirty="0">
                            <a:latin typeface="Cambria Math" panose="02040503050406030204" pitchFamily="18" charset="0"/>
                            <a:ea typeface="微软雅黑" panose="020B0503020204020204" pitchFamily="34" charset="-122"/>
                          </a:rPr>
                        </m:ctrlPr>
                      </m:sSubPr>
                      <m:e>
                        <m:acc>
                          <m:accPr>
                            <m:chr m:val="̂"/>
                            <m:ctrlPr>
                              <a:rPr lang="en-US" altLang="zh-CN" b="1" i="1" dirty="0">
                                <a:latin typeface="Cambria Math" panose="02040503050406030204" pitchFamily="18" charset="0"/>
                                <a:ea typeface="微软雅黑" panose="020B0503020204020204" pitchFamily="34" charset="-122"/>
                              </a:rPr>
                            </m:ctrlPr>
                          </m:accPr>
                          <m:e>
                            <m:r>
                              <a:rPr lang="en-US" altLang="zh-CN" b="1" i="1" dirty="0">
                                <a:latin typeface="Cambria Math" panose="02040503050406030204" pitchFamily="18" charset="0"/>
                                <a:ea typeface="微软雅黑" panose="020B0503020204020204" pitchFamily="34" charset="-122"/>
                              </a:rPr>
                              <m:t>𝑺</m:t>
                            </m:r>
                          </m:e>
                        </m:acc>
                      </m:e>
                      <m:sub>
                        <m:r>
                          <a:rPr lang="en-US" altLang="zh-CN" b="1" i="1" dirty="0">
                            <a:latin typeface="Cambria Math" panose="02040503050406030204" pitchFamily="18" charset="0"/>
                            <a:ea typeface="微软雅黑" panose="020B0503020204020204" pitchFamily="34" charset="-122"/>
                          </a:rPr>
                          <m:t>𝟏</m:t>
                        </m:r>
                      </m:sub>
                    </m:sSub>
                    <m:r>
                      <a:rPr lang="en-US" altLang="zh-CN" b="1" i="1" dirty="0">
                        <a:latin typeface="Cambria Math" panose="02040503050406030204" pitchFamily="18" charset="0"/>
                        <a:ea typeface="微软雅黑" panose="020B0503020204020204" pitchFamily="34" charset="-122"/>
                      </a:rPr>
                      <m:t>+</m:t>
                    </m:r>
                    <m:sSub>
                      <m:sSubPr>
                        <m:ctrlPr>
                          <a:rPr lang="en-US" altLang="zh-CN" b="1" i="1" dirty="0">
                            <a:latin typeface="Cambria Math" panose="02040503050406030204" pitchFamily="18" charset="0"/>
                            <a:ea typeface="微软雅黑" panose="020B0503020204020204" pitchFamily="34" charset="-122"/>
                          </a:rPr>
                        </m:ctrlPr>
                      </m:sSubPr>
                      <m:e>
                        <m:acc>
                          <m:accPr>
                            <m:chr m:val="̂"/>
                            <m:ctrlPr>
                              <a:rPr lang="en-US" altLang="zh-CN" b="1" i="1" dirty="0">
                                <a:latin typeface="Cambria Math" panose="02040503050406030204" pitchFamily="18" charset="0"/>
                                <a:ea typeface="微软雅黑" panose="020B0503020204020204" pitchFamily="34" charset="-122"/>
                              </a:rPr>
                            </m:ctrlPr>
                          </m:accPr>
                          <m:e>
                            <m:r>
                              <a:rPr lang="en-US" altLang="zh-CN" b="1" i="1" dirty="0">
                                <a:latin typeface="Cambria Math" panose="02040503050406030204" pitchFamily="18" charset="0"/>
                                <a:ea typeface="微软雅黑" panose="020B0503020204020204" pitchFamily="34" charset="-122"/>
                              </a:rPr>
                              <m:t>𝑺</m:t>
                            </m:r>
                          </m:e>
                        </m:acc>
                      </m:e>
                      <m:sub>
                        <m:r>
                          <a:rPr lang="en-US" altLang="zh-CN" b="1" i="1" dirty="0">
                            <a:latin typeface="Cambria Math" panose="02040503050406030204" pitchFamily="18" charset="0"/>
                            <a:ea typeface="微软雅黑" panose="020B0503020204020204" pitchFamily="34" charset="-122"/>
                          </a:rPr>
                          <m:t>𝟐</m:t>
                        </m:r>
                      </m:sub>
                    </m:sSub>
                  </m:oMath>
                </a14:m>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注意这是简写，实际上表示的是</a:t>
                </a:r>
                <a14:m>
                  <m:oMath xmlns:m="http://schemas.openxmlformats.org/officeDocument/2006/math">
                    <m:acc>
                      <m:accPr>
                        <m:chr m:val="̂"/>
                        <m:ctrlPr>
                          <a:rPr lang="en-US" altLang="zh-CN" b="1" i="1">
                            <a:latin typeface="Cambria Math" panose="02040503050406030204" pitchFamily="18" charset="0"/>
                            <a:ea typeface="微软雅黑" panose="020B0503020204020204" pitchFamily="34" charset="-122"/>
                          </a:rPr>
                        </m:ctrlPr>
                      </m:accPr>
                      <m:e>
                        <m:r>
                          <a:rPr lang="en-US" altLang="zh-CN" b="1" i="1">
                            <a:latin typeface="Cambria Math" panose="02040503050406030204" pitchFamily="18" charset="0"/>
                            <a:ea typeface="微软雅黑" panose="020B0503020204020204" pitchFamily="34" charset="-122"/>
                          </a:rPr>
                          <m:t>𝑺</m:t>
                        </m:r>
                      </m:e>
                    </m:acc>
                    <m:r>
                      <a:rPr lang="en-US" altLang="zh-CN" b="1" i="1">
                        <a:latin typeface="Cambria Math" panose="02040503050406030204" pitchFamily="18" charset="0"/>
                        <a:ea typeface="微软雅黑" panose="020B0503020204020204" pitchFamily="34" charset="-122"/>
                      </a:rPr>
                      <m:t>=</m:t>
                    </m:r>
                    <m:sSub>
                      <m:sSubPr>
                        <m:ctrlPr>
                          <a:rPr lang="en-US" altLang="zh-CN" b="1" i="1" dirty="0">
                            <a:latin typeface="Cambria Math" panose="02040503050406030204" pitchFamily="18" charset="0"/>
                            <a:ea typeface="微软雅黑" panose="020B0503020204020204" pitchFamily="34" charset="-122"/>
                          </a:rPr>
                        </m:ctrlPr>
                      </m:sSubPr>
                      <m:e>
                        <m:acc>
                          <m:accPr>
                            <m:chr m:val="̂"/>
                            <m:ctrlPr>
                              <a:rPr lang="en-US" altLang="zh-CN" b="1" i="1" dirty="0">
                                <a:latin typeface="Cambria Math" panose="02040503050406030204" pitchFamily="18" charset="0"/>
                                <a:ea typeface="微软雅黑" panose="020B0503020204020204" pitchFamily="34" charset="-122"/>
                              </a:rPr>
                            </m:ctrlPr>
                          </m:accPr>
                          <m:e>
                            <m:r>
                              <a:rPr lang="en-US" altLang="zh-CN" b="1" i="1" dirty="0">
                                <a:latin typeface="Cambria Math" panose="02040503050406030204" pitchFamily="18" charset="0"/>
                                <a:ea typeface="微软雅黑" panose="020B0503020204020204" pitchFamily="34" charset="-122"/>
                              </a:rPr>
                              <m:t>𝑺</m:t>
                            </m:r>
                          </m:e>
                        </m:acc>
                      </m:e>
                      <m:sub>
                        <m:r>
                          <a:rPr lang="en-US" altLang="zh-CN" b="1" i="1" dirty="0">
                            <a:latin typeface="Cambria Math" panose="02040503050406030204" pitchFamily="18" charset="0"/>
                            <a:ea typeface="微软雅黑" panose="020B0503020204020204" pitchFamily="34" charset="-122"/>
                          </a:rPr>
                          <m:t>𝟏</m:t>
                        </m:r>
                      </m:sub>
                    </m:sSub>
                    <m:r>
                      <a:rPr lang="en-US" altLang="zh-CN" b="1" i="1" dirty="0">
                        <a:latin typeface="Cambria Math" panose="02040503050406030204" pitchFamily="18" charset="0"/>
                        <a:ea typeface="微软雅黑" panose="020B0503020204020204" pitchFamily="34" charset="-122"/>
                      </a:rPr>
                      <m:t>⊗</m:t>
                    </m:r>
                    <m:acc>
                      <m:accPr>
                        <m:chr m:val="̂"/>
                        <m:ctrlPr>
                          <a:rPr lang="en-US" altLang="zh-CN" b="1" i="1" dirty="0">
                            <a:latin typeface="Cambria Math" panose="02040503050406030204" pitchFamily="18" charset="0"/>
                            <a:ea typeface="微软雅黑" panose="020B0503020204020204" pitchFamily="34" charset="-122"/>
                          </a:rPr>
                        </m:ctrlPr>
                      </m:accPr>
                      <m:e>
                        <m:r>
                          <a:rPr lang="en-US" altLang="zh-CN" b="1" i="1" dirty="0">
                            <a:latin typeface="Cambria Math" panose="02040503050406030204" pitchFamily="18" charset="0"/>
                            <a:ea typeface="微软雅黑" panose="020B0503020204020204" pitchFamily="34" charset="-122"/>
                          </a:rPr>
                          <m:t>𝑰</m:t>
                        </m:r>
                      </m:e>
                    </m:acc>
                    <m:r>
                      <a:rPr lang="en-US" altLang="zh-CN" b="1" i="1" dirty="0">
                        <a:latin typeface="Cambria Math" panose="02040503050406030204" pitchFamily="18" charset="0"/>
                        <a:ea typeface="微软雅黑" panose="020B0503020204020204" pitchFamily="34" charset="-122"/>
                      </a:rPr>
                      <m:t>+</m:t>
                    </m:r>
                    <m:acc>
                      <m:accPr>
                        <m:chr m:val="̂"/>
                        <m:ctrlPr>
                          <a:rPr lang="en-US" altLang="zh-CN" b="1" i="1" dirty="0">
                            <a:latin typeface="Cambria Math" panose="02040503050406030204" pitchFamily="18" charset="0"/>
                            <a:ea typeface="微软雅黑" panose="020B0503020204020204" pitchFamily="34" charset="-122"/>
                          </a:rPr>
                        </m:ctrlPr>
                      </m:accPr>
                      <m:e>
                        <m:r>
                          <a:rPr lang="en-US" altLang="zh-CN" b="1" i="1" dirty="0">
                            <a:latin typeface="Cambria Math" panose="02040503050406030204" pitchFamily="18" charset="0"/>
                            <a:ea typeface="微软雅黑" panose="020B0503020204020204" pitchFamily="34" charset="-122"/>
                          </a:rPr>
                          <m:t>𝑰</m:t>
                        </m:r>
                      </m:e>
                    </m:acc>
                    <m:r>
                      <a:rPr lang="en-US" altLang="zh-CN" b="1" i="1" dirty="0">
                        <a:latin typeface="Cambria Math" panose="02040503050406030204" pitchFamily="18" charset="0"/>
                        <a:ea typeface="微软雅黑" panose="020B0503020204020204" pitchFamily="34" charset="-122"/>
                      </a:rPr>
                      <m:t>⊗</m:t>
                    </m:r>
                    <m:sSub>
                      <m:sSubPr>
                        <m:ctrlPr>
                          <a:rPr lang="en-US" altLang="zh-CN" b="1" i="1" dirty="0">
                            <a:latin typeface="Cambria Math" panose="02040503050406030204" pitchFamily="18" charset="0"/>
                            <a:ea typeface="微软雅黑" panose="020B0503020204020204" pitchFamily="34" charset="-122"/>
                          </a:rPr>
                        </m:ctrlPr>
                      </m:sSubPr>
                      <m:e>
                        <m:acc>
                          <m:accPr>
                            <m:chr m:val="̂"/>
                            <m:ctrlPr>
                              <a:rPr lang="en-US" altLang="zh-CN" b="1" i="1" dirty="0">
                                <a:latin typeface="Cambria Math" panose="02040503050406030204" pitchFamily="18" charset="0"/>
                                <a:ea typeface="微软雅黑" panose="020B0503020204020204" pitchFamily="34" charset="-122"/>
                              </a:rPr>
                            </m:ctrlPr>
                          </m:accPr>
                          <m:e>
                            <m:r>
                              <a:rPr lang="en-US" altLang="zh-CN" b="1" i="1" dirty="0">
                                <a:latin typeface="Cambria Math" panose="02040503050406030204" pitchFamily="18" charset="0"/>
                                <a:ea typeface="微软雅黑" panose="020B0503020204020204" pitchFamily="34" charset="-122"/>
                              </a:rPr>
                              <m:t>𝑺</m:t>
                            </m:r>
                          </m:e>
                        </m:acc>
                      </m:e>
                      <m:sub>
                        <m:r>
                          <a:rPr lang="en-US" altLang="zh-CN" b="1" i="1" dirty="0">
                            <a:latin typeface="Cambria Math" panose="02040503050406030204" pitchFamily="18" charset="0"/>
                            <a:ea typeface="微软雅黑" panose="020B0503020204020204" pitchFamily="34" charset="-122"/>
                          </a:rPr>
                          <m:t>𝟐</m:t>
                        </m:r>
                      </m:sub>
                    </m:sSub>
                  </m:oMath>
                </a14:m>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对于这个体系我们依旧寻找相互对易的算符，构造共同本征态</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首先</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的自旋角动量间互不相干，从而</a:t>
                </a:r>
                <a:r>
                  <a:rPr lang="zh-CN" altLang="en-US" dirty="0" smtClean="0">
                    <a:latin typeface="微软雅黑" panose="020B0503020204020204" pitchFamily="34" charset="-122"/>
                    <a:ea typeface="微软雅黑" panose="020B0503020204020204" pitchFamily="34" charset="-122"/>
                  </a:rPr>
                  <a:t>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1</m:t>
                              </m:r>
                              <m:r>
                                <a:rPr lang="en-US" altLang="zh-CN" b="0" i="1" smtClean="0">
                                  <a:latin typeface="Cambria Math" panose="02040503050406030204" pitchFamily="18" charset="0"/>
                                  <a:ea typeface="微软雅黑" panose="020B0503020204020204" pitchFamily="34" charset="-122"/>
                                </a:rPr>
                                <m:t>𝑥</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2</m:t>
                              </m:r>
                              <m:r>
                                <a:rPr lang="en-US" altLang="zh-CN" b="0" i="1" smtClean="0">
                                  <a:latin typeface="Cambria Math" panose="02040503050406030204" pitchFamily="18" charset="0"/>
                                  <a:ea typeface="微软雅黑" panose="020B0503020204020204" pitchFamily="34" charset="-122"/>
                                </a:rPr>
                                <m:t>𝑦</m:t>
                              </m:r>
                            </m:sub>
                          </m:sSub>
                        </m:e>
                      </m:d>
                      <m:r>
                        <a:rPr lang="en-US" altLang="zh-CN" b="0" i="1" smtClean="0">
                          <a:latin typeface="Cambria Math" panose="02040503050406030204" pitchFamily="18" charset="0"/>
                          <a:ea typeface="微软雅黑" panose="020B0503020204020204" pitchFamily="34" charset="-122"/>
                        </a:rPr>
                        <m:t>=0,  </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1</m:t>
                              </m:r>
                              <m:r>
                                <a:rPr lang="en-US" altLang="zh-CN" b="0" i="1" smtClean="0">
                                  <a:latin typeface="Cambria Math" panose="02040503050406030204" pitchFamily="18" charset="0"/>
                                  <a:ea typeface="微软雅黑" panose="020B0503020204020204" pitchFamily="34" charset="-122"/>
                                </a:rPr>
                                <m:t>𝑧</m:t>
                              </m:r>
                            </m:sub>
                          </m:sSub>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2</m:t>
                              </m:r>
                              <m:r>
                                <a:rPr lang="en-US" altLang="zh-CN" b="0" i="1" smtClean="0">
                                  <a:latin typeface="Cambria Math" panose="02040503050406030204" pitchFamily="18" charset="0"/>
                                  <a:ea typeface="微软雅黑" panose="020B0503020204020204" pitchFamily="34" charset="-122"/>
                                </a:rPr>
                                <m:t>𝑧</m:t>
                              </m:r>
                            </m:sub>
                          </m:sSub>
                        </m:e>
                      </m:d>
                      <m:r>
                        <a:rPr lang="en-US" altLang="zh-CN" i="1">
                          <a:latin typeface="Cambria Math" panose="02040503050406030204" pitchFamily="18" charset="0"/>
                          <a:ea typeface="微软雅黑" panose="020B0503020204020204" pitchFamily="34" charset="-122"/>
                        </a:rPr>
                        <m:t>=0</m:t>
                      </m:r>
                      <m:r>
                        <a:rPr lang="en-US" altLang="zh-CN" b="0" i="1" smtClean="0">
                          <a:latin typeface="Cambria Math" panose="02040503050406030204" pitchFamily="18" charset="0"/>
                          <a:ea typeface="微软雅黑" panose="020B0503020204020204" pitchFamily="34" charset="-122"/>
                        </a:rPr>
                        <m:t>, …</m:t>
                      </m:r>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而各自自旋角动量满足</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1</m:t>
                              </m:r>
                              <m:r>
                                <a:rPr lang="en-US" altLang="zh-CN" b="0" i="1" smtClean="0">
                                  <a:latin typeface="Cambria Math" panose="02040503050406030204" pitchFamily="18" charset="0"/>
                                  <a:ea typeface="微软雅黑" panose="020B0503020204020204" pitchFamily="34" charset="-122"/>
                                </a:rPr>
                                <m:t>𝑥</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1</m:t>
                              </m:r>
                              <m:r>
                                <a:rPr lang="en-US" altLang="zh-CN" b="0" i="1" smtClean="0">
                                  <a:latin typeface="Cambria Math" panose="02040503050406030204" pitchFamily="18" charset="0"/>
                                  <a:ea typeface="微软雅黑" panose="020B0503020204020204" pitchFamily="34" charset="-122"/>
                                </a:rPr>
                                <m:t>𝑦</m:t>
                              </m:r>
                            </m:sub>
                          </m:sSub>
                        </m:e>
                      </m:d>
                      <m:r>
                        <a:rPr lang="en-US" altLang="zh-CN" b="0" i="1" smtClean="0">
                          <a:latin typeface="Cambria Math" panose="02040503050406030204" pitchFamily="18" charset="0"/>
                          <a:ea typeface="微软雅黑" panose="020B0503020204020204" pitchFamily="34" charset="-122"/>
                        </a:rPr>
                        <m:t>=</m:t>
                      </m:r>
                      <m:r>
                        <a:rPr lang="en-US" altLang="zh-CN" i="1" dirty="0">
                          <a:latin typeface="Cambria Math" panose="02040503050406030204" pitchFamily="18" charset="0"/>
                          <a:ea typeface="微软雅黑" panose="020B0503020204020204" pitchFamily="34" charset="-122"/>
                        </a:rPr>
                        <m:t>𝑖</m:t>
                      </m:r>
                      <m:r>
                        <a:rPr lang="en-US" altLang="zh-CN" i="1" dirty="0">
                          <a:latin typeface="Cambria Math" panose="02040503050406030204" pitchFamily="18" charset="0"/>
                          <a:ea typeface="微软雅黑" panose="020B0503020204020204" pitchFamily="34" charset="-122"/>
                        </a:rPr>
                        <m:t>ℏ</m:t>
                      </m:r>
                      <m:sSub>
                        <m:sSubPr>
                          <m:ctrlPr>
                            <a:rPr lang="en-US" altLang="zh-CN" b="0" i="1" dirty="0"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𝑆</m:t>
                              </m:r>
                            </m:e>
                          </m:acc>
                        </m:e>
                        <m:sub>
                          <m:r>
                            <a:rPr lang="en-US" altLang="zh-CN" b="0" i="1" dirty="0" smtClean="0">
                              <a:latin typeface="Cambria Math" panose="02040503050406030204" pitchFamily="18" charset="0"/>
                              <a:ea typeface="微软雅黑" panose="020B0503020204020204" pitchFamily="34" charset="-122"/>
                            </a:rPr>
                            <m:t>1</m:t>
                          </m:r>
                          <m:r>
                            <a:rPr lang="en-US" altLang="zh-CN" b="0" i="1" dirty="0" smtClean="0">
                              <a:latin typeface="Cambria Math" panose="02040503050406030204" pitchFamily="18" charset="0"/>
                              <a:ea typeface="微软雅黑" panose="020B0503020204020204" pitchFamily="34" charset="-122"/>
                            </a:rPr>
                            <m:t>𝑧</m:t>
                          </m:r>
                        </m:sub>
                      </m:sSub>
                      <m:r>
                        <a:rPr lang="en-US" altLang="zh-CN" b="0" i="1" dirty="0" smtClean="0">
                          <a:latin typeface="Cambria Math" panose="02040503050406030204" pitchFamily="18" charset="0"/>
                          <a:ea typeface="微软雅黑" panose="020B0503020204020204" pitchFamily="34" charset="-122"/>
                        </a:rPr>
                        <m:t>,  </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2</m:t>
                              </m:r>
                              <m:r>
                                <a:rPr lang="en-US" altLang="zh-CN" i="1">
                                  <a:latin typeface="Cambria Math" panose="02040503050406030204" pitchFamily="18" charset="0"/>
                                  <a:ea typeface="微软雅黑" panose="020B0503020204020204" pitchFamily="34" charset="-122"/>
                                </a:rPr>
                                <m:t>𝑥</m:t>
                              </m:r>
                            </m:sub>
                          </m:sSub>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2</m:t>
                              </m:r>
                              <m:r>
                                <a:rPr lang="en-US" altLang="zh-CN" i="1">
                                  <a:latin typeface="Cambria Math" panose="02040503050406030204" pitchFamily="18" charset="0"/>
                                  <a:ea typeface="微软雅黑" panose="020B0503020204020204" pitchFamily="34" charset="-122"/>
                                </a:rPr>
                                <m:t>𝑦</m:t>
                              </m:r>
                            </m:sub>
                          </m:sSub>
                        </m:e>
                      </m:d>
                      <m:r>
                        <a:rPr lang="en-US" altLang="zh-CN" i="1">
                          <a:latin typeface="Cambria Math" panose="02040503050406030204" pitchFamily="18" charset="0"/>
                          <a:ea typeface="微软雅黑" panose="020B0503020204020204" pitchFamily="34" charset="-122"/>
                        </a:rPr>
                        <m:t>=</m:t>
                      </m:r>
                      <m:r>
                        <a:rPr lang="en-US" altLang="zh-CN" i="1" dirty="0">
                          <a:latin typeface="Cambria Math" panose="02040503050406030204" pitchFamily="18" charset="0"/>
                          <a:ea typeface="微软雅黑" panose="020B0503020204020204" pitchFamily="34" charset="-122"/>
                        </a:rPr>
                        <m:t>𝑖</m:t>
                      </m:r>
                      <m:r>
                        <a:rPr lang="en-US" altLang="zh-CN" i="1" dirty="0">
                          <a:latin typeface="Cambria Math" panose="02040503050406030204" pitchFamily="18" charset="0"/>
                          <a:ea typeface="微软雅黑" panose="020B0503020204020204" pitchFamily="34" charset="-122"/>
                        </a:rPr>
                        <m:t>ℏ</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2</m:t>
                          </m:r>
                          <m:r>
                            <a:rPr lang="en-US" altLang="zh-CN" i="1" dirty="0">
                              <a:latin typeface="Cambria Math" panose="02040503050406030204" pitchFamily="18" charset="0"/>
                              <a:ea typeface="微软雅黑" panose="020B0503020204020204" pitchFamily="34" charset="-122"/>
                            </a:rPr>
                            <m:t>𝑧</m:t>
                          </m:r>
                        </m:sub>
                      </m:sSub>
                      <m:r>
                        <a:rPr lang="en-US" altLang="zh-CN" b="0" i="1" dirty="0" smtClean="0">
                          <a:latin typeface="Cambria Math" panose="02040503050406030204" pitchFamily="18" charset="0"/>
                          <a:ea typeface="微软雅黑" panose="020B0503020204020204" pitchFamily="34" charset="-122"/>
                        </a:rPr>
                        <m:t>,  … </m:t>
                      </m:r>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这样的话有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𝑥</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𝑦</m:t>
                              </m:r>
                            </m:sub>
                          </m:sSub>
                        </m:e>
                      </m: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𝑖</m:t>
                      </m:r>
                      <m:r>
                        <a:rPr lang="en-US" altLang="zh-CN" b="0" i="1" smtClean="0">
                          <a:latin typeface="Cambria Math" panose="02040503050406030204" pitchFamily="18" charset="0"/>
                          <a:ea typeface="微软雅黑" panose="020B0503020204020204" pitchFamily="34" charset="-122"/>
                        </a:rPr>
                        <m:t>ℏ</m:t>
                      </m:r>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𝑧</m:t>
                          </m:r>
                        </m:sub>
                      </m:sSub>
                      <m:r>
                        <a:rPr lang="en-US" altLang="zh-CN" b="0" i="1" smtClean="0">
                          <a:latin typeface="Cambria Math" panose="02040503050406030204" pitchFamily="18" charset="0"/>
                          <a:ea typeface="微软雅黑" panose="020B0503020204020204" pitchFamily="34" charset="-122"/>
                        </a:rPr>
                        <m:t>,  </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𝑦</m:t>
                              </m:r>
                            </m:sub>
                          </m:sSub>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𝑧</m:t>
                              </m:r>
                            </m:sub>
                          </m:sSub>
                        </m:e>
                      </m:d>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𝑖</m:t>
                      </m:r>
                      <m:r>
                        <a:rPr lang="en-US" altLang="zh-CN" i="1">
                          <a:latin typeface="Cambria Math" panose="02040503050406030204" pitchFamily="18" charset="0"/>
                          <a:ea typeface="微软雅黑" panose="020B0503020204020204" pitchFamily="34" charset="-122"/>
                        </a:rPr>
                        <m:t>ℏ</m:t>
                      </m:r>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𝑥</m:t>
                          </m:r>
                        </m:sub>
                      </m:sSub>
                      <m:r>
                        <a:rPr lang="en-US" altLang="zh-CN" b="0" i="1" smtClean="0">
                          <a:latin typeface="Cambria Math" panose="02040503050406030204" pitchFamily="18" charset="0"/>
                          <a:ea typeface="微软雅黑" panose="020B0503020204020204" pitchFamily="34" charset="-122"/>
                        </a:rPr>
                        <m:t>,  </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𝑧</m:t>
                              </m:r>
                            </m:sub>
                          </m:sSub>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𝑥</m:t>
                              </m:r>
                            </m:sub>
                          </m:sSub>
                        </m:e>
                      </m:d>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𝑖</m:t>
                      </m:r>
                      <m:r>
                        <a:rPr lang="en-US" altLang="zh-CN" i="1">
                          <a:latin typeface="Cambria Math" panose="02040503050406030204" pitchFamily="18" charset="0"/>
                          <a:ea typeface="微软雅黑" panose="020B0503020204020204" pitchFamily="34" charset="-122"/>
                        </a:rPr>
                        <m:t>ℏ</m:t>
                      </m:r>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𝑦</m:t>
                          </m:r>
                        </m:sub>
                      </m:sSub>
                    </m:oMath>
                  </m:oMathPara>
                </a14:m>
                <a:endParaRPr lang="en-US" altLang="zh-CN" dirty="0" smtClean="0">
                  <a:latin typeface="微软雅黑" panose="020B0503020204020204" pitchFamily="34" charset="-122"/>
                  <a:ea typeface="微软雅黑" panose="020B0503020204020204" pitchFamily="34" charset="-122"/>
                </a:endParaRPr>
              </a:p>
              <a:p>
                <a:r>
                  <a:rPr lang="zh-CN" altLang="en-US" sz="1600" dirty="0" smtClean="0">
                    <a:latin typeface="微软雅黑" panose="020B0503020204020204" pitchFamily="34" charset="-122"/>
                    <a:ea typeface="微软雅黑" panose="020B0503020204020204" pitchFamily="34" charset="-122"/>
                  </a:rPr>
                  <a:t>取一个证明：</a:t>
                </a:r>
                <a:endParaRPr lang="en-US" altLang="zh-CN" sz="1600"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sz="1600" i="1">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𝑥</m:t>
                              </m:r>
                            </m:sub>
                          </m:sSub>
                          <m:r>
                            <a:rPr lang="en-US" altLang="zh-CN" sz="1600" i="1">
                              <a:latin typeface="Cambria Math" panose="02040503050406030204" pitchFamily="18" charset="0"/>
                              <a:ea typeface="微软雅黑" panose="020B0503020204020204" pitchFamily="34" charset="-122"/>
                            </a:rPr>
                            <m:t>, </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𝑦</m:t>
                              </m:r>
                            </m:sub>
                          </m:sSub>
                        </m:e>
                      </m:d>
                      <m:r>
                        <a:rPr lang="en-US" altLang="zh-CN" sz="1600" b="0" i="1" smtClean="0">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𝑥</m:t>
                          </m:r>
                        </m:sub>
                      </m:sSub>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𝑦</m:t>
                          </m:r>
                        </m:sub>
                      </m:sSub>
                      <m:r>
                        <a:rPr lang="en-US" altLang="zh-CN" sz="1600" b="0" i="1" smtClean="0">
                          <a:latin typeface="Cambria Math" panose="02040503050406030204" pitchFamily="18" charset="0"/>
                          <a:ea typeface="微软雅黑" panose="020B0503020204020204" pitchFamily="34" charset="-122"/>
                        </a:rPr>
                        <m:t> −</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𝑦</m:t>
                          </m:r>
                        </m:sub>
                      </m:sSub>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𝑥</m:t>
                          </m:r>
                        </m:sub>
                      </m:sSub>
                      <m:r>
                        <a:rPr lang="en-US" altLang="zh-CN" sz="1600" b="0" i="1" smtClean="0">
                          <a:latin typeface="Cambria Math" panose="02040503050406030204" pitchFamily="18" charset="0"/>
                          <a:ea typeface="微软雅黑" panose="020B0503020204020204" pitchFamily="34" charset="-122"/>
                        </a:rPr>
                        <m:t>=</m:t>
                      </m:r>
                      <m:d>
                        <m:dPr>
                          <m:ctrlPr>
                            <a:rPr lang="en-US" altLang="zh-CN" sz="1600" b="0" i="1" smtClean="0">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1</m:t>
                              </m:r>
                              <m:r>
                                <a:rPr lang="en-US" altLang="zh-CN" sz="1600" i="1">
                                  <a:latin typeface="Cambria Math" panose="02040503050406030204" pitchFamily="18" charset="0"/>
                                  <a:ea typeface="微软雅黑" panose="020B0503020204020204" pitchFamily="34" charset="-122"/>
                                </a:rPr>
                                <m:t>𝑥</m:t>
                              </m:r>
                            </m:sub>
                          </m:sSub>
                          <m:r>
                            <a:rPr lang="en-US" altLang="zh-CN" sz="1600" b="0" i="1" smtClean="0">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2</m:t>
                              </m:r>
                              <m:r>
                                <a:rPr lang="en-US" altLang="zh-CN" sz="1600" i="1">
                                  <a:latin typeface="Cambria Math" panose="02040503050406030204" pitchFamily="18" charset="0"/>
                                  <a:ea typeface="微软雅黑" panose="020B0503020204020204" pitchFamily="34" charset="-122"/>
                                </a:rPr>
                                <m:t>𝑥</m:t>
                              </m:r>
                            </m:sub>
                          </m:sSub>
                        </m:e>
                      </m:d>
                      <m:d>
                        <m:dPr>
                          <m:ctrlPr>
                            <a:rPr lang="en-US" altLang="zh-CN" sz="1600" b="0" i="1" smtClean="0">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1</m:t>
                              </m:r>
                              <m:r>
                                <a:rPr lang="en-US" altLang="zh-CN" sz="1600" b="0" i="1" smtClean="0">
                                  <a:latin typeface="Cambria Math" panose="02040503050406030204" pitchFamily="18" charset="0"/>
                                  <a:ea typeface="微软雅黑" panose="020B0503020204020204" pitchFamily="34" charset="-122"/>
                                </a:rPr>
                                <m:t>𝑦</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2</m:t>
                              </m:r>
                              <m:r>
                                <a:rPr lang="en-US" altLang="zh-CN" sz="1600" b="0" i="1" smtClean="0">
                                  <a:latin typeface="Cambria Math" panose="02040503050406030204" pitchFamily="18" charset="0"/>
                                  <a:ea typeface="微软雅黑" panose="020B0503020204020204" pitchFamily="34" charset="-122"/>
                                </a:rPr>
                                <m:t>𝑦</m:t>
                              </m:r>
                            </m:sub>
                          </m:sSub>
                        </m:e>
                      </m:d>
                      <m:r>
                        <a:rPr lang="en-US" altLang="zh-CN" sz="1600" b="0" i="1" smtClean="0">
                          <a:latin typeface="Cambria Math" panose="02040503050406030204" pitchFamily="18" charset="0"/>
                          <a:ea typeface="微软雅黑" panose="020B0503020204020204" pitchFamily="34" charset="-122"/>
                        </a:rPr>
                        <m:t>−</m:t>
                      </m:r>
                      <m:d>
                        <m:dPr>
                          <m:ctrlPr>
                            <a:rPr lang="en-US" altLang="zh-CN" sz="1600" i="1">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1</m:t>
                              </m:r>
                              <m:r>
                                <a:rPr lang="en-US" altLang="zh-CN" sz="1600" i="1">
                                  <a:latin typeface="Cambria Math" panose="02040503050406030204" pitchFamily="18" charset="0"/>
                                  <a:ea typeface="微软雅黑" panose="020B0503020204020204" pitchFamily="34" charset="-122"/>
                                </a:rPr>
                                <m:t>𝑦</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2</m:t>
                              </m:r>
                              <m:r>
                                <a:rPr lang="en-US" altLang="zh-CN" sz="1600" i="1">
                                  <a:latin typeface="Cambria Math" panose="02040503050406030204" pitchFamily="18" charset="0"/>
                                  <a:ea typeface="微软雅黑" panose="020B0503020204020204" pitchFamily="34" charset="-122"/>
                                </a:rPr>
                                <m:t>𝑦</m:t>
                              </m:r>
                            </m:sub>
                          </m:sSub>
                        </m:e>
                      </m:d>
                      <m:d>
                        <m:dPr>
                          <m:ctrlPr>
                            <a:rPr lang="en-US" altLang="zh-CN" sz="1600" i="1">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1</m:t>
                              </m:r>
                              <m:r>
                                <a:rPr lang="en-US" altLang="zh-CN" sz="1600" i="1">
                                  <a:latin typeface="Cambria Math" panose="02040503050406030204" pitchFamily="18" charset="0"/>
                                  <a:ea typeface="微软雅黑" panose="020B0503020204020204" pitchFamily="34" charset="-122"/>
                                </a:rPr>
                                <m:t>𝑥</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2</m:t>
                              </m:r>
                              <m:r>
                                <a:rPr lang="en-US" altLang="zh-CN" sz="1600" i="1">
                                  <a:latin typeface="Cambria Math" panose="02040503050406030204" pitchFamily="18" charset="0"/>
                                  <a:ea typeface="微软雅黑" panose="020B0503020204020204" pitchFamily="34" charset="-122"/>
                                </a:rPr>
                                <m:t>𝑥</m:t>
                              </m:r>
                            </m:sub>
                          </m:sSub>
                        </m:e>
                      </m:d>
                      <m:r>
                        <a:rPr lang="en-US" altLang="zh-CN" sz="1600" b="0" i="1" smtClean="0">
                          <a:latin typeface="Cambria Math" panose="02040503050406030204" pitchFamily="18" charset="0"/>
                          <a:ea typeface="微软雅黑" panose="020B0503020204020204" pitchFamily="34" charset="-122"/>
                        </a:rPr>
                        <m:t>=</m:t>
                      </m:r>
                      <m:sSub>
                        <m:sSubPr>
                          <m:ctrlPr>
                            <a:rPr lang="en-US" altLang="zh-CN" sz="1600" i="1" smtClean="0">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1</m:t>
                          </m:r>
                          <m:r>
                            <a:rPr lang="en-US" altLang="zh-CN" sz="1600" i="1">
                              <a:latin typeface="Cambria Math" panose="02040503050406030204" pitchFamily="18" charset="0"/>
                              <a:ea typeface="微软雅黑" panose="020B0503020204020204" pitchFamily="34" charset="-122"/>
                            </a:rPr>
                            <m:t>𝑥</m:t>
                          </m:r>
                        </m:sub>
                      </m:sSub>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1</m:t>
                          </m:r>
                          <m:r>
                            <a:rPr lang="en-US" altLang="zh-CN" sz="1600" i="1">
                              <a:latin typeface="Cambria Math" panose="02040503050406030204" pitchFamily="18" charset="0"/>
                              <a:ea typeface="微软雅黑" panose="020B0503020204020204" pitchFamily="34" charset="-122"/>
                            </a:rPr>
                            <m:t>𝑦</m:t>
                          </m:r>
                        </m:sub>
                      </m:sSub>
                      <m:r>
                        <a:rPr lang="en-US" altLang="zh-CN" sz="1600" b="0" i="1" smtClean="0">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1</m:t>
                          </m:r>
                          <m:r>
                            <a:rPr lang="en-US" altLang="zh-CN" sz="1600" i="1">
                              <a:latin typeface="Cambria Math" panose="02040503050406030204" pitchFamily="18" charset="0"/>
                              <a:ea typeface="微软雅黑" panose="020B0503020204020204" pitchFamily="34" charset="-122"/>
                            </a:rPr>
                            <m:t>𝑦</m:t>
                          </m:r>
                        </m:sub>
                      </m:sSub>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1</m:t>
                          </m:r>
                          <m:r>
                            <a:rPr lang="en-US" altLang="zh-CN" sz="1600" i="1">
                              <a:latin typeface="Cambria Math" panose="02040503050406030204" pitchFamily="18" charset="0"/>
                              <a:ea typeface="微软雅黑" panose="020B0503020204020204" pitchFamily="34" charset="-122"/>
                            </a:rPr>
                            <m:t>𝑥</m:t>
                          </m:r>
                        </m:sub>
                      </m:sSub>
                      <m:r>
                        <a:rPr lang="en-US" altLang="zh-CN" sz="1600" b="0" i="1" smtClean="0">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2</m:t>
                          </m:r>
                          <m:r>
                            <a:rPr lang="en-US" altLang="zh-CN" sz="1600" i="1">
                              <a:latin typeface="Cambria Math" panose="02040503050406030204" pitchFamily="18" charset="0"/>
                              <a:ea typeface="微软雅黑" panose="020B0503020204020204" pitchFamily="34" charset="-122"/>
                            </a:rPr>
                            <m:t>𝑥</m:t>
                          </m:r>
                        </m:sub>
                      </m:sSub>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2</m:t>
                          </m:r>
                          <m:r>
                            <a:rPr lang="en-US" altLang="zh-CN" sz="1600" i="1">
                              <a:latin typeface="Cambria Math" panose="02040503050406030204" pitchFamily="18" charset="0"/>
                              <a:ea typeface="微软雅黑" panose="020B0503020204020204" pitchFamily="34" charset="-122"/>
                            </a:rPr>
                            <m:t>𝑦</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2</m:t>
                          </m:r>
                          <m:r>
                            <a:rPr lang="en-US" altLang="zh-CN" sz="1600" i="1">
                              <a:latin typeface="Cambria Math" panose="02040503050406030204" pitchFamily="18" charset="0"/>
                              <a:ea typeface="微软雅黑" panose="020B0503020204020204" pitchFamily="34" charset="-122"/>
                            </a:rPr>
                            <m:t>𝑦</m:t>
                          </m:r>
                        </m:sub>
                      </m:sSub>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2</m:t>
                          </m:r>
                          <m:r>
                            <a:rPr lang="en-US" altLang="zh-CN" sz="1600" i="1">
                              <a:latin typeface="Cambria Math" panose="02040503050406030204" pitchFamily="18" charset="0"/>
                              <a:ea typeface="微软雅黑" panose="020B0503020204020204" pitchFamily="34" charset="-122"/>
                            </a:rPr>
                            <m:t>𝑥</m:t>
                          </m:r>
                        </m:sub>
                      </m:sSub>
                      <m:r>
                        <a:rPr lang="en-US" altLang="zh-CN" sz="1600" b="0" i="1" smtClean="0">
                          <a:latin typeface="Cambria Math" panose="02040503050406030204" pitchFamily="18" charset="0"/>
                          <a:ea typeface="微软雅黑" panose="020B0503020204020204" pitchFamily="34" charset="-122"/>
                        </a:rPr>
                        <m:t>=</m:t>
                      </m:r>
                      <m:d>
                        <m:dPr>
                          <m:begChr m:val="["/>
                          <m:endChr m:val="]"/>
                          <m:ctrlPr>
                            <a:rPr lang="en-US" altLang="zh-CN" sz="1600" b="0" i="1" smtClean="0">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1</m:t>
                              </m:r>
                              <m:r>
                                <a:rPr lang="en-US" altLang="zh-CN" sz="1600" i="1">
                                  <a:latin typeface="Cambria Math" panose="02040503050406030204" pitchFamily="18" charset="0"/>
                                  <a:ea typeface="微软雅黑" panose="020B0503020204020204" pitchFamily="34" charset="-122"/>
                                </a:rPr>
                                <m:t>𝑥</m:t>
                              </m:r>
                            </m:sub>
                          </m:sSub>
                          <m:r>
                            <a:rPr lang="en-US" altLang="zh-CN" sz="1600" b="0" i="1" smtClean="0">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1</m:t>
                              </m:r>
                              <m:r>
                                <a:rPr lang="en-US" altLang="zh-CN" sz="1600" b="0" i="1" smtClean="0">
                                  <a:latin typeface="Cambria Math" panose="02040503050406030204" pitchFamily="18" charset="0"/>
                                  <a:ea typeface="微软雅黑" panose="020B0503020204020204" pitchFamily="34" charset="-122"/>
                                </a:rPr>
                                <m:t>𝑦</m:t>
                              </m:r>
                            </m:sub>
                          </m:sSub>
                        </m:e>
                      </m:d>
                      <m:r>
                        <a:rPr lang="en-US" altLang="zh-CN" sz="1600" b="0" i="1" smtClean="0">
                          <a:latin typeface="Cambria Math" panose="02040503050406030204" pitchFamily="18" charset="0"/>
                          <a:ea typeface="微软雅黑" panose="020B0503020204020204" pitchFamily="34" charset="-122"/>
                        </a:rPr>
                        <m:t>+</m:t>
                      </m:r>
                      <m:d>
                        <m:dPr>
                          <m:begChr m:val="["/>
                          <m:endChr m:val="]"/>
                          <m:ctrlPr>
                            <a:rPr lang="en-US" altLang="zh-CN" sz="1600" b="0" i="1" smtClean="0">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2</m:t>
                              </m:r>
                              <m:r>
                                <a:rPr lang="en-US" altLang="zh-CN" sz="1600" i="1">
                                  <a:latin typeface="Cambria Math" panose="02040503050406030204" pitchFamily="18" charset="0"/>
                                  <a:ea typeface="微软雅黑" panose="020B0503020204020204" pitchFamily="34" charset="-122"/>
                                </a:rPr>
                                <m:t>𝑥</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2</m:t>
                              </m:r>
                              <m:r>
                                <a:rPr lang="en-US" altLang="zh-CN" sz="1600" i="1">
                                  <a:latin typeface="Cambria Math" panose="02040503050406030204" pitchFamily="18" charset="0"/>
                                  <a:ea typeface="微软雅黑" panose="020B0503020204020204" pitchFamily="34" charset="-122"/>
                                </a:rPr>
                                <m:t>𝑦</m:t>
                              </m:r>
                            </m:sub>
                          </m:sSub>
                        </m:e>
                      </m:d>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𝑖</m:t>
                      </m:r>
                      <m:r>
                        <a:rPr lang="en-US" altLang="zh-CN" sz="1600" b="0" i="1" smtClean="0">
                          <a:latin typeface="Cambria Math" panose="02040503050406030204" pitchFamily="18" charset="0"/>
                          <a:ea typeface="微软雅黑" panose="020B0503020204020204" pitchFamily="34" charset="-122"/>
                        </a:rPr>
                        <m:t>ℏ</m:t>
                      </m:r>
                      <m:d>
                        <m:dPr>
                          <m:ctrlPr>
                            <a:rPr lang="en-US" altLang="zh-CN" sz="1600" b="0" i="1" smtClean="0">
                              <a:latin typeface="Cambria Math" panose="02040503050406030204" pitchFamily="18" charset="0"/>
                              <a:ea typeface="微软雅黑" panose="020B0503020204020204" pitchFamily="34" charset="-122"/>
                            </a:rPr>
                          </m:ctrlPr>
                        </m:dPr>
                        <m:e>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a:latin typeface="Cambria Math" panose="02040503050406030204" pitchFamily="18" charset="0"/>
                                  <a:ea typeface="微软雅黑" panose="020B0503020204020204" pitchFamily="34" charset="-122"/>
                                </a:rPr>
                                <m:t>1</m:t>
                              </m:r>
                              <m:r>
                                <a:rPr lang="en-US" altLang="zh-CN" sz="1600" b="0" i="1" smtClean="0">
                                  <a:latin typeface="Cambria Math" panose="02040503050406030204" pitchFamily="18" charset="0"/>
                                  <a:ea typeface="微软雅黑" panose="020B0503020204020204" pitchFamily="34" charset="-122"/>
                                </a:rPr>
                                <m:t>𝑧</m:t>
                              </m:r>
                            </m:sub>
                          </m:sSub>
                          <m:r>
                            <a:rPr lang="en-US" altLang="zh-CN" sz="1600" b="0" i="1" smtClean="0">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2</m:t>
                              </m:r>
                              <m:r>
                                <a:rPr lang="en-US" altLang="zh-CN" sz="1600" b="0" i="1" smtClean="0">
                                  <a:latin typeface="Cambria Math" panose="02040503050406030204" pitchFamily="18" charset="0"/>
                                  <a:ea typeface="微软雅黑" panose="020B0503020204020204" pitchFamily="34" charset="-122"/>
                                </a:rPr>
                                <m:t>𝑧</m:t>
                              </m:r>
                            </m:sub>
                          </m:sSub>
                        </m:e>
                      </m:d>
                      <m:r>
                        <a:rPr lang="en-US" altLang="zh-CN" sz="1600" b="0" i="1" smtClean="0">
                          <a:latin typeface="Cambria Math" panose="02040503050406030204" pitchFamily="18" charset="0"/>
                          <a:ea typeface="微软雅黑" panose="020B0503020204020204" pitchFamily="34" charset="-122"/>
                        </a:rPr>
                        <m:t>=</m:t>
                      </m:r>
                      <m:r>
                        <a:rPr lang="en-US" altLang="zh-CN" sz="1600" b="0" i="1" smtClean="0">
                          <a:latin typeface="Cambria Math" panose="02040503050406030204" pitchFamily="18" charset="0"/>
                          <a:ea typeface="微软雅黑" panose="020B0503020204020204" pitchFamily="34" charset="-122"/>
                        </a:rPr>
                        <m:t>𝑖</m:t>
                      </m:r>
                      <m:r>
                        <a:rPr lang="en-US" altLang="zh-CN" sz="1600" b="0" i="1" smtClean="0">
                          <a:latin typeface="Cambria Math" panose="02040503050406030204" pitchFamily="18" charset="0"/>
                          <a:ea typeface="微软雅黑" panose="020B0503020204020204" pitchFamily="34" charset="-122"/>
                        </a:rPr>
                        <m:t>ℏ</m:t>
                      </m:r>
                      <m:sSub>
                        <m:sSubPr>
                          <m:ctrlPr>
                            <a:rPr lang="en-US" altLang="zh-CN" sz="1600" b="0" i="1" smtClean="0">
                              <a:latin typeface="Cambria Math" panose="02040503050406030204" pitchFamily="18" charset="0"/>
                              <a:ea typeface="微软雅黑" panose="020B0503020204020204" pitchFamily="34" charset="-122"/>
                            </a:rPr>
                          </m:ctrlPr>
                        </m:sSubPr>
                        <m:e>
                          <m:acc>
                            <m:accPr>
                              <m:chr m:val="̂"/>
                              <m:ctrlPr>
                                <a:rPr lang="en-US" altLang="zh-CN" sz="1600" b="0" i="1" smtClean="0">
                                  <a:latin typeface="Cambria Math" panose="02040503050406030204" pitchFamily="18" charset="0"/>
                                  <a:ea typeface="微软雅黑" panose="020B0503020204020204" pitchFamily="34" charset="-122"/>
                                </a:rPr>
                              </m:ctrlPr>
                            </m:accPr>
                            <m:e>
                              <m:r>
                                <a:rPr lang="en-US" altLang="zh-CN" sz="1600" b="0" i="1" smtClean="0">
                                  <a:latin typeface="Cambria Math" panose="02040503050406030204" pitchFamily="18" charset="0"/>
                                  <a:ea typeface="微软雅黑" panose="020B0503020204020204" pitchFamily="34" charset="-122"/>
                                </a:rPr>
                                <m:t>𝑆</m:t>
                              </m:r>
                            </m:e>
                          </m:acc>
                        </m:e>
                        <m:sub>
                          <m:r>
                            <a:rPr lang="en-US" altLang="zh-CN" sz="1600" b="0" i="1" smtClean="0">
                              <a:latin typeface="Cambria Math" panose="02040503050406030204" pitchFamily="18" charset="0"/>
                              <a:ea typeface="微软雅黑" panose="020B0503020204020204" pitchFamily="34" charset="-122"/>
                            </a:rPr>
                            <m:t>𝑧</m:t>
                          </m:r>
                        </m:sub>
                      </m:sSub>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同理还可以证明</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p>
                            <m:sSupPr>
                              <m:ctrlPr>
                                <a:rPr lang="en-US" altLang="zh-CN" b="0" i="1" smtClean="0">
                                  <a:latin typeface="Cambria Math" panose="02040503050406030204" pitchFamily="18" charset="0"/>
                                  <a:ea typeface="微软雅黑" panose="020B0503020204020204" pitchFamily="34" charset="-122"/>
                                </a:rPr>
                              </m:ctrlPr>
                            </m:sSup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𝑆</m:t>
                                  </m:r>
                                </m:e>
                              </m:acc>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 </m:t>
                          </m:r>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1" i="1" smtClean="0">
                                  <a:latin typeface="Cambria Math" panose="02040503050406030204" pitchFamily="18" charset="0"/>
                                  <a:ea typeface="微软雅黑" panose="020B0503020204020204" pitchFamily="34" charset="-122"/>
                                </a:rPr>
                                <m:t>𝑺</m:t>
                              </m:r>
                            </m:e>
                          </m:acc>
                        </m:e>
                      </m:d>
                      <m:r>
                        <a:rPr lang="en-US" altLang="zh-CN" b="0"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𝟎</m:t>
                      </m:r>
                    </m:oMath>
                  </m:oMathPara>
                </a14:m>
                <a:endParaRPr lang="en-US" altLang="zh-CN" b="1" dirty="0" smtClean="0">
                  <a:latin typeface="微软雅黑" panose="020B0503020204020204" pitchFamily="34" charset="-122"/>
                  <a:ea typeface="微软雅黑" panose="020B0503020204020204" pitchFamily="34"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337185" y="1304746"/>
                <a:ext cx="11670934" cy="4131387"/>
              </a:xfrm>
              <a:prstGeom prst="rect">
                <a:avLst/>
              </a:prstGeom>
              <a:blipFill rotWithShape="0">
                <a:blip r:embed="rId5"/>
                <a:stretch>
                  <a:fillRect l="-418" t="-4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337184" y="5372100"/>
                <a:ext cx="11031269" cy="1342740"/>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那么这个两体系统的基还可以选取</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p>
                        <m:r>
                          <a:rPr lang="en-US" altLang="zh-CN" i="1">
                            <a:latin typeface="Cambria Math" panose="02040503050406030204" pitchFamily="18" charset="0"/>
                            <a:ea typeface="微软雅黑" panose="020B0503020204020204" pitchFamily="34" charset="-122"/>
                          </a:rPr>
                          <m:t>2</m:t>
                        </m:r>
                      </m:sup>
                    </m:sSup>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b="0"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𝑧</m:t>
                        </m:r>
                      </m:sub>
                    </m:sSub>
                  </m:oMath>
                </a14:m>
                <a:r>
                  <a:rPr lang="zh-CN" altLang="en-US" dirty="0" smtClean="0">
                    <a:latin typeface="微软雅黑" panose="020B0503020204020204" pitchFamily="34" charset="-122"/>
                    <a:ea typeface="微软雅黑" panose="020B0503020204020204" pitchFamily="34" charset="-122"/>
                  </a:rPr>
                  <a:t>的共同本征态，本征值方程为</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p>
                          <m:r>
                            <a:rPr lang="en-US" altLang="zh-CN" i="1">
                              <a:latin typeface="Cambria Math" panose="02040503050406030204" pitchFamily="18" charset="0"/>
                              <a:ea typeface="微软雅黑" panose="020B0503020204020204" pitchFamily="34" charset="-122"/>
                            </a:rPr>
                            <m:t>2</m:t>
                          </m:r>
                        </m:sup>
                      </m:sSup>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𝑚</m:t>
                          </m:r>
                        </m:e>
                      </m: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𝑠</m:t>
                      </m:r>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+1</m:t>
                          </m:r>
                        </m:e>
                      </m:d>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ℏ</m:t>
                          </m:r>
                        </m:e>
                        <m:sup>
                          <m:r>
                            <a:rPr lang="en-US" altLang="zh-CN" b="0" i="1" smtClean="0">
                              <a:latin typeface="Cambria Math" panose="02040503050406030204" pitchFamily="18" charset="0"/>
                              <a:ea typeface="微软雅黑" panose="020B0503020204020204" pitchFamily="34" charset="-122"/>
                            </a:rPr>
                            <m:t>2</m:t>
                          </m:r>
                        </m:sup>
                      </m:sSup>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𝑚</m:t>
                          </m:r>
                        </m:e>
                      </m:d>
                    </m:oMath>
                  </m:oMathPara>
                </a14:m>
                <a:endParaRPr lang="en-US" altLang="zh-CN" dirty="0" smtClean="0">
                  <a:latin typeface="微软雅黑" panose="020B0503020204020204" pitchFamily="34" charset="-122"/>
                  <a:ea typeface="微软雅黑" panose="020B0503020204020204" pitchFamily="34" charset="-122"/>
                </a:endParaRPr>
              </a:p>
              <a:p>
                <a:pPr algn="ctr"/>
                <a14:m>
                  <m:oMathPara xmlns:m="http://schemas.openxmlformats.org/officeDocument/2006/math">
                    <m:oMathParaPr>
                      <m:jc m:val="center"/>
                    </m:oMathParaPr>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𝑧</m:t>
                          </m:r>
                        </m:sub>
                      </m:sSub>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𝑚</m:t>
                          </m:r>
                        </m:e>
                      </m:d>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𝑚</m:t>
                      </m:r>
                      <m:r>
                        <a:rPr lang="en-US" altLang="zh-CN" b="0" i="1" smtClean="0">
                          <a:latin typeface="Cambria Math" panose="02040503050406030204" pitchFamily="18" charset="0"/>
                          <a:ea typeface="微软雅黑" panose="020B0503020204020204" pitchFamily="34" charset="-122"/>
                        </a:rPr>
                        <m:t>ℏ</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𝑚</m:t>
                          </m:r>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与单电子自旋</a:t>
                </a:r>
                <a14:m>
                  <m:oMath xmlns:m="http://schemas.openxmlformats.org/officeDocument/2006/math">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oMath>
                </a14:m>
                <a:r>
                  <a:rPr lang="zh-CN" altLang="en-US" dirty="0" smtClean="0">
                    <a:latin typeface="微软雅黑" panose="020B0503020204020204" pitchFamily="34" charset="-122"/>
                    <a:ea typeface="微软雅黑" panose="020B0503020204020204" pitchFamily="34" charset="-122"/>
                  </a:rPr>
                  <a:t>系统时的情况是类似的</a:t>
                </a:r>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337184" y="5372100"/>
                <a:ext cx="11031269" cy="1342740"/>
              </a:xfrm>
              <a:prstGeom prst="rect">
                <a:avLst/>
              </a:prstGeom>
              <a:blipFill rotWithShape="0">
                <a:blip r:embed="rId6"/>
                <a:stretch>
                  <a:fillRect l="-442" t="-1810" b="-13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26942878"/>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2-spin systems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146220" y="1213339"/>
                <a:ext cx="11318949" cy="5228675"/>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现在我们找到了</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的两组表象下的基，一组是</a:t>
                </a:r>
                <a14:m>
                  <m:oMath xmlns:m="http://schemas.openxmlformats.org/officeDocument/2006/math">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𝑆</m:t>
                            </m:r>
                          </m:e>
                        </m:acc>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𝑆</m:t>
                            </m:r>
                          </m:e>
                        </m:acc>
                      </m:e>
                      <m:sub>
                        <m:r>
                          <a:rPr lang="en-US" altLang="zh-CN" b="0" i="1" smtClean="0">
                            <a:latin typeface="Cambria Math" panose="02040503050406030204" pitchFamily="18" charset="0"/>
                          </a:rPr>
                          <m:t>1</m:t>
                        </m:r>
                        <m:r>
                          <a:rPr lang="en-US" altLang="zh-CN" b="0" i="1" smtClean="0">
                            <a:latin typeface="Cambria Math" panose="02040503050406030204" pitchFamily="18" charset="0"/>
                          </a:rPr>
                          <m:t>𝑧</m:t>
                        </m:r>
                      </m:sub>
                    </m:sSub>
                    <m:r>
                      <a:rPr lang="en-US" altLang="zh-CN" b="0" i="1" smtClean="0">
                        <a:latin typeface="Cambria Math" panose="02040503050406030204" pitchFamily="18" charset="0"/>
                      </a:rPr>
                      <m:t>, </m:t>
                    </m:r>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𝑆</m:t>
                            </m:r>
                          </m:e>
                        </m:acc>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𝑆</m:t>
                            </m:r>
                          </m:e>
                        </m:acc>
                      </m:e>
                      <m:sub>
                        <m:r>
                          <a:rPr lang="en-US" altLang="zh-CN" b="0" i="1" smtClean="0">
                            <a:latin typeface="Cambria Math" panose="02040503050406030204" pitchFamily="18" charset="0"/>
                          </a:rPr>
                          <m:t>2</m:t>
                        </m:r>
                        <m:r>
                          <a:rPr lang="en-US" altLang="zh-CN" b="0" i="1" smtClean="0">
                            <a:latin typeface="Cambria Math" panose="02040503050406030204" pitchFamily="18" charset="0"/>
                          </a:rPr>
                          <m:t>𝑧</m:t>
                        </m:r>
                      </m:sub>
                    </m:sSub>
                  </m:oMath>
                </a14:m>
                <a:r>
                  <a:rPr lang="zh-CN" altLang="en-US" dirty="0" smtClean="0">
                    <a:latin typeface="微软雅黑" panose="020B0503020204020204" pitchFamily="34" charset="-122"/>
                    <a:ea typeface="微软雅黑" panose="020B0503020204020204" pitchFamily="34" charset="-122"/>
                  </a:rPr>
                  <a:t>的共同本征态，一组是</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p>
                        <m:r>
                          <a:rPr lang="en-US" altLang="zh-CN" i="1">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𝑧</m:t>
                        </m:r>
                      </m:sub>
                    </m:sSub>
                  </m:oMath>
                </a14:m>
                <a:r>
                  <a:rPr lang="zh-CN" altLang="en-US" dirty="0" smtClean="0">
                    <a:latin typeface="微软雅黑" panose="020B0503020204020204" pitchFamily="34" charset="-122"/>
                    <a:ea typeface="微软雅黑" panose="020B0503020204020204" pitchFamily="34" charset="-122"/>
                  </a:rPr>
                  <a:t>的共同本征态</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下面研究两组基之间的变换，在</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𝑚</m:t>
                        </m:r>
                      </m:e>
                    </m:d>
                  </m:oMath>
                </a14:m>
                <a:r>
                  <a:rPr lang="zh-CN" altLang="en-US" dirty="0" smtClean="0">
                    <a:latin typeface="微软雅黑" panose="020B0503020204020204" pitchFamily="34" charset="-122"/>
                    <a:ea typeface="微软雅黑" panose="020B0503020204020204" pitchFamily="34" charset="-122"/>
                  </a:rPr>
                  <a:t>左侧做完备插入：</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𝑚</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e>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𝑚</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e>
                      </m:d>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e>
                        <m:e>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𝑚</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e>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𝑚</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m:t>
                          </m:r>
                        </m:e>
                      </m:d>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m:t>
                          </m:r>
                        </m:e>
                        <m:e>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𝑚</m:t>
                          </m:r>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或者写成</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𝑚</m:t>
                          </m:r>
                        </m:e>
                      </m:d>
                      <m:r>
                        <a:rPr lang="en-US" altLang="zh-CN" i="1">
                          <a:latin typeface="Cambria Math" panose="02040503050406030204" pitchFamily="18" charset="0"/>
                          <a:ea typeface="微软雅黑" panose="020B0503020204020204" pitchFamily="34" charset="-122"/>
                        </a:rPr>
                        <m:t>=</m:t>
                      </m:r>
                      <m:nary>
                        <m:naryPr>
                          <m:chr m:val="∑"/>
                          <m:supHide m:val="on"/>
                          <m:ctrlPr>
                            <a:rPr lang="en-US" altLang="zh-CN" b="0" i="1" smtClean="0">
                              <a:latin typeface="Cambria Math" panose="02040503050406030204" pitchFamily="18" charset="0"/>
                              <a:ea typeface="微软雅黑" panose="020B0503020204020204" pitchFamily="34" charset="-122"/>
                            </a:rPr>
                          </m:ctrlPr>
                        </m:naryPr>
                        <m: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1</m:t>
                              </m:r>
                            </m:sub>
                          </m:sSub>
                        </m:sub>
                        <m:sup/>
                        <m:e>
                          <m:nary>
                            <m:naryPr>
                              <m:chr m:val="∑"/>
                              <m:supHide m:val="on"/>
                              <m:ctrlPr>
                                <a:rPr lang="en-US" altLang="zh-CN" b="0" i="1" smtClean="0">
                                  <a:latin typeface="Cambria Math" panose="02040503050406030204" pitchFamily="18" charset="0"/>
                                  <a:ea typeface="微软雅黑" panose="020B0503020204020204" pitchFamily="34" charset="-122"/>
                                </a:rPr>
                              </m:ctrlPr>
                            </m:naryPr>
                            <m: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2</m:t>
                                  </m:r>
                                </m:sub>
                              </m:sSub>
                            </m:sub>
                            <m:sup/>
                            <m:e>
                              <m:d>
                                <m:dPr>
                                  <m:begChr m:val="|"/>
                                  <m:endChr m:val="⟩"/>
                                  <m:ctrlPr>
                                    <a:rPr lang="en-US" altLang="zh-CN" b="0" i="1" smtClean="0">
                                      <a:latin typeface="Cambria Math" panose="02040503050406030204" pitchFamily="18" charset="0"/>
                                      <a:ea typeface="微软雅黑" panose="020B0503020204020204" pitchFamily="34" charset="-122"/>
                                    </a:rPr>
                                  </m:ctrlPr>
                                </m:dPr>
                                <m:e>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2</m:t>
                                      </m:r>
                                    </m:sub>
                                  </m:sSub>
                                </m:e>
                              </m:d>
                            </m:e>
                          </m:nary>
                        </m:e>
                      </m:nary>
                      <m:d>
                        <m:dPr>
                          <m:begChr m:val="⟨"/>
                          <m:endChr m:val="|"/>
                          <m:ctrlPr>
                            <a:rPr lang="en-US" altLang="zh-CN" i="1">
                              <a:latin typeface="Cambria Math" panose="02040503050406030204" pitchFamily="18" charset="0"/>
                              <a:ea typeface="微软雅黑" panose="020B0503020204020204" pitchFamily="34" charset="-122"/>
                            </a:rPr>
                          </m:ctrlPr>
                        </m:dPr>
                        <m:e>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
                                <a:rPr lang="en-US" altLang="zh-CN" i="1">
                                  <a:latin typeface="Cambria Math" panose="02040503050406030204" pitchFamily="18" charset="0"/>
                                  <a:ea typeface="微软雅黑" panose="020B0503020204020204" pitchFamily="34" charset="-122"/>
                                </a:rPr>
                                <m:t>2</m:t>
                              </m:r>
                            </m:den>
                          </m:f>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𝑚</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
                                <a:rPr lang="en-US" altLang="zh-CN" i="1">
                                  <a:latin typeface="Cambria Math" panose="02040503050406030204" pitchFamily="18" charset="0"/>
                                  <a:ea typeface="微软雅黑" panose="020B0503020204020204" pitchFamily="34" charset="-122"/>
                                </a:rPr>
                                <m:t>2</m:t>
                              </m:r>
                            </m:den>
                          </m:f>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𝑚</m:t>
                              </m:r>
                            </m:e>
                            <m:sub>
                              <m:r>
                                <a:rPr lang="en-US" altLang="zh-CN" i="1">
                                  <a:latin typeface="Cambria Math" panose="02040503050406030204" pitchFamily="18" charset="0"/>
                                  <a:ea typeface="微软雅黑" panose="020B0503020204020204" pitchFamily="34" charset="-122"/>
                                </a:rPr>
                                <m:t>2</m:t>
                              </m:r>
                            </m:sub>
                          </m:sSub>
                        </m:e>
                      </m:d>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𝑚</m:t>
                      </m:r>
                      <m:r>
                        <a:rPr lang="en-US" altLang="zh-CN" i="1">
                          <a:latin typeface="Cambria Math" panose="02040503050406030204" pitchFamily="18" charset="0"/>
                          <a:ea typeface="微软雅黑" panose="020B0503020204020204" pitchFamily="34" charset="-122"/>
                        </a:rPr>
                        <m:t>⟩</m:t>
                      </m:r>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首先</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𝑚</m:t>
                    </m:r>
                  </m:oMath>
                </a14:m>
                <a:r>
                  <a:rPr lang="zh-CN" altLang="en-US" dirty="0" smtClean="0">
                    <a:latin typeface="微软雅黑" panose="020B0503020204020204" pitchFamily="34" charset="-122"/>
                    <a:ea typeface="微软雅黑" panose="020B0503020204020204" pitchFamily="34" charset="-122"/>
                  </a:rPr>
                  <a:t>必须满足</a:t>
                </a:r>
                <a14:m>
                  <m:oMath xmlns:m="http://schemas.openxmlformats.org/officeDocument/2006/math">
                    <m:r>
                      <a:rPr lang="en-US" altLang="zh-CN" i="1">
                        <a:latin typeface="Cambria Math" panose="02040503050406030204" pitchFamily="18" charset="0"/>
                        <a:ea typeface="微软雅黑" panose="020B0503020204020204" pitchFamily="34" charset="-122"/>
                      </a:rPr>
                      <m:t>𝑚</m:t>
                    </m:r>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2</m:t>
                        </m:r>
                      </m:sub>
                    </m:sSub>
                  </m:oMath>
                </a14:m>
                <a:endParaRPr lang="en-US" altLang="zh-CN" dirty="0" smtClean="0">
                  <a:latin typeface="微软雅黑" panose="020B0503020204020204" pitchFamily="34" charset="-122"/>
                  <a:ea typeface="微软雅黑" panose="020B0503020204020204" pitchFamily="34" charset="-122"/>
                </a:endParaRPr>
              </a:p>
              <a:p>
                <a:r>
                  <a:rPr lang="zh-CN" altLang="en-US" sz="1600" dirty="0" smtClean="0">
                    <a:latin typeface="微软雅黑" panose="020B0503020204020204" pitchFamily="34" charset="-122"/>
                    <a:ea typeface="微软雅黑" panose="020B0503020204020204" pitchFamily="34" charset="-122"/>
                  </a:rPr>
                  <a:t>只需考虑内积</a:t>
                </a:r>
                <a14:m>
                  <m:oMath xmlns:m="http://schemas.openxmlformats.org/officeDocument/2006/math">
                    <m:d>
                      <m:dPr>
                        <m:begChr m:val="⟨"/>
                        <m:endChr m:val="|"/>
                        <m:ctrlPr>
                          <a:rPr lang="en-US" altLang="zh-CN" sz="1600" i="1">
                            <a:latin typeface="Cambria Math" panose="02040503050406030204" pitchFamily="18" charset="0"/>
                            <a:ea typeface="微软雅黑" panose="020B0503020204020204" pitchFamily="34" charset="-122"/>
                          </a:rPr>
                        </m:ctrlPr>
                      </m:dPr>
                      <m:e>
                        <m:f>
                          <m:fPr>
                            <m:ctrlPr>
                              <a:rPr lang="en-US" altLang="zh-CN" sz="1600" i="1">
                                <a:latin typeface="Cambria Math" panose="02040503050406030204" pitchFamily="18" charset="0"/>
                                <a:ea typeface="微软雅黑" panose="020B0503020204020204" pitchFamily="34" charset="-122"/>
                              </a:rPr>
                            </m:ctrlPr>
                          </m:fPr>
                          <m:num>
                            <m:r>
                              <a:rPr lang="en-US" altLang="zh-CN" sz="1600" i="1">
                                <a:latin typeface="Cambria Math" panose="02040503050406030204" pitchFamily="18" charset="0"/>
                                <a:ea typeface="微软雅黑" panose="020B0503020204020204" pitchFamily="34" charset="-122"/>
                              </a:rPr>
                              <m:t>1</m:t>
                            </m:r>
                          </m:num>
                          <m:den>
                            <m:r>
                              <a:rPr lang="en-US" altLang="zh-CN" sz="1600" i="1">
                                <a:latin typeface="Cambria Math" panose="02040503050406030204" pitchFamily="18" charset="0"/>
                                <a:ea typeface="微软雅黑" panose="020B0503020204020204" pitchFamily="34" charset="-122"/>
                              </a:rPr>
                              <m:t>2</m:t>
                            </m:r>
                          </m:den>
                        </m:f>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𝑚</m:t>
                            </m:r>
                          </m:e>
                          <m:sub>
                            <m:r>
                              <a:rPr lang="en-US" altLang="zh-CN" sz="1600" i="1">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f>
                          <m:fPr>
                            <m:ctrlPr>
                              <a:rPr lang="en-US" altLang="zh-CN" sz="1600" i="1">
                                <a:latin typeface="Cambria Math" panose="02040503050406030204" pitchFamily="18" charset="0"/>
                                <a:ea typeface="微软雅黑" panose="020B0503020204020204" pitchFamily="34" charset="-122"/>
                              </a:rPr>
                            </m:ctrlPr>
                          </m:fPr>
                          <m:num>
                            <m:r>
                              <a:rPr lang="en-US" altLang="zh-CN" sz="1600" i="1">
                                <a:latin typeface="Cambria Math" panose="02040503050406030204" pitchFamily="18" charset="0"/>
                                <a:ea typeface="微软雅黑" panose="020B0503020204020204" pitchFamily="34" charset="-122"/>
                              </a:rPr>
                              <m:t>1</m:t>
                            </m:r>
                          </m:num>
                          <m:den>
                            <m:r>
                              <a:rPr lang="en-US" altLang="zh-CN" sz="1600" i="1">
                                <a:latin typeface="Cambria Math" panose="02040503050406030204" pitchFamily="18" charset="0"/>
                                <a:ea typeface="微软雅黑" panose="020B0503020204020204" pitchFamily="34" charset="-122"/>
                              </a:rPr>
                              <m:t>2</m:t>
                            </m:r>
                          </m:den>
                        </m:f>
                        <m:r>
                          <a:rPr lang="en-US" altLang="zh-CN" sz="1600" i="1">
                            <a:latin typeface="Cambria Math" panose="02040503050406030204" pitchFamily="18" charset="0"/>
                            <a:ea typeface="微软雅黑" panose="020B0503020204020204" pitchFamily="34" charset="-122"/>
                          </a:rPr>
                          <m:t>, </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𝑚</m:t>
                            </m:r>
                          </m:e>
                          <m:sub>
                            <m:r>
                              <a:rPr lang="en-US" altLang="zh-CN" sz="1600" i="1">
                                <a:latin typeface="Cambria Math" panose="02040503050406030204" pitchFamily="18" charset="0"/>
                                <a:ea typeface="微软雅黑" panose="020B0503020204020204" pitchFamily="34" charset="-122"/>
                              </a:rPr>
                              <m:t>2</m:t>
                            </m:r>
                          </m:sub>
                        </m:sSub>
                      </m:e>
                    </m:d>
                    <m:d>
                      <m:dPr>
                        <m:ctrlPr>
                          <a:rPr lang="en-US" altLang="zh-CN" sz="1600" b="0" i="1" smtClean="0">
                            <a:latin typeface="Cambria Math" panose="02040503050406030204" pitchFamily="18" charset="0"/>
                            <a:ea typeface="微软雅黑" panose="020B0503020204020204" pitchFamily="34" charset="-122"/>
                          </a:rPr>
                        </m:ctrlPr>
                      </m:dPr>
                      <m:e>
                        <m:sSub>
                          <m:sSubPr>
                            <m:ctrlPr>
                              <a:rPr lang="en-US" altLang="zh-CN" sz="1600" b="0" i="1" dirty="0" smtClean="0">
                                <a:latin typeface="Cambria Math" panose="02040503050406030204" pitchFamily="18" charset="0"/>
                                <a:ea typeface="微软雅黑" panose="020B0503020204020204" pitchFamily="34" charset="-122"/>
                              </a:rPr>
                            </m:ctrlPr>
                          </m:sSubPr>
                          <m:e>
                            <m:acc>
                              <m:accPr>
                                <m:chr m:val="̂"/>
                                <m:ctrlPr>
                                  <a:rPr lang="en-US" altLang="zh-CN" sz="1600" b="0" i="1" smtClean="0">
                                    <a:latin typeface="Cambria Math" panose="02040503050406030204" pitchFamily="18" charset="0"/>
                                    <a:ea typeface="微软雅黑" panose="020B0503020204020204" pitchFamily="34" charset="-122"/>
                                  </a:rPr>
                                </m:ctrlPr>
                              </m:accPr>
                              <m:e>
                                <m:r>
                                  <a:rPr lang="en-US" altLang="zh-CN" sz="1600" b="0" i="1" smtClean="0">
                                    <a:latin typeface="Cambria Math" panose="02040503050406030204" pitchFamily="18" charset="0"/>
                                    <a:ea typeface="微软雅黑" panose="020B0503020204020204" pitchFamily="34" charset="-122"/>
                                  </a:rPr>
                                  <m:t>𝑆</m:t>
                                </m:r>
                              </m:e>
                            </m:acc>
                          </m:e>
                          <m:sub>
                            <m:r>
                              <a:rPr lang="en-US" altLang="zh-CN" sz="1600" b="0" i="1" dirty="0" smtClean="0">
                                <a:latin typeface="Cambria Math" panose="02040503050406030204" pitchFamily="18" charset="0"/>
                                <a:ea typeface="微软雅黑" panose="020B0503020204020204" pitchFamily="34" charset="-122"/>
                              </a:rPr>
                              <m:t>𝑧</m:t>
                            </m:r>
                          </m:sub>
                        </m:sSub>
                        <m:r>
                          <a:rPr lang="en-US" altLang="zh-CN" sz="1600" b="0" i="1" dirty="0" smtClean="0">
                            <a:latin typeface="Cambria Math" panose="02040503050406030204" pitchFamily="18" charset="0"/>
                            <a:ea typeface="微软雅黑" panose="020B0503020204020204" pitchFamily="34" charset="-122"/>
                          </a:rPr>
                          <m:t> −</m:t>
                        </m:r>
                        <m:sSub>
                          <m:sSubPr>
                            <m:ctrlPr>
                              <a:rPr lang="en-US" altLang="zh-CN" sz="1600" b="0" i="1" dirty="0" smtClean="0">
                                <a:latin typeface="Cambria Math" panose="02040503050406030204" pitchFamily="18" charset="0"/>
                                <a:ea typeface="微软雅黑" panose="020B0503020204020204" pitchFamily="34" charset="-122"/>
                              </a:rPr>
                            </m:ctrlPr>
                          </m:sSubPr>
                          <m:e>
                            <m:acc>
                              <m:accPr>
                                <m:chr m:val="̂"/>
                                <m:ctrlPr>
                                  <a:rPr lang="en-US" altLang="zh-CN" sz="1600" b="0" i="1" dirty="0" smtClean="0">
                                    <a:latin typeface="Cambria Math" panose="02040503050406030204" pitchFamily="18" charset="0"/>
                                    <a:ea typeface="微软雅黑" panose="020B0503020204020204" pitchFamily="34" charset="-122"/>
                                  </a:rPr>
                                </m:ctrlPr>
                              </m:accPr>
                              <m:e>
                                <m:r>
                                  <a:rPr lang="en-US" altLang="zh-CN" sz="1600" b="0" i="1" dirty="0" smtClean="0">
                                    <a:latin typeface="Cambria Math" panose="02040503050406030204" pitchFamily="18" charset="0"/>
                                    <a:ea typeface="微软雅黑" panose="020B0503020204020204" pitchFamily="34" charset="-122"/>
                                  </a:rPr>
                                  <m:t>𝑆</m:t>
                                </m:r>
                              </m:e>
                            </m:acc>
                          </m:e>
                          <m:sub>
                            <m:r>
                              <a:rPr lang="en-US" altLang="zh-CN" sz="1600" b="0" i="1" dirty="0" smtClean="0">
                                <a:latin typeface="Cambria Math" panose="02040503050406030204" pitchFamily="18" charset="0"/>
                                <a:ea typeface="微软雅黑" panose="020B0503020204020204" pitchFamily="34" charset="-122"/>
                              </a:rPr>
                              <m:t>1</m:t>
                            </m:r>
                            <m:r>
                              <a:rPr lang="en-US" altLang="zh-CN" sz="1600" b="0" i="1" dirty="0" smtClean="0">
                                <a:latin typeface="Cambria Math" panose="02040503050406030204" pitchFamily="18" charset="0"/>
                                <a:ea typeface="微软雅黑" panose="020B0503020204020204" pitchFamily="34" charset="-122"/>
                              </a:rPr>
                              <m:t>𝑧</m:t>
                            </m:r>
                          </m:sub>
                        </m:sSub>
                        <m:r>
                          <a:rPr lang="en-US" altLang="zh-CN" sz="1600" b="0" i="1" dirty="0" smtClean="0">
                            <a:latin typeface="Cambria Math" panose="02040503050406030204" pitchFamily="18" charset="0"/>
                            <a:ea typeface="微软雅黑" panose="020B0503020204020204" pitchFamily="34" charset="-122"/>
                          </a:rPr>
                          <m:t>−</m:t>
                        </m:r>
                        <m:sSub>
                          <m:sSubPr>
                            <m:ctrlPr>
                              <a:rPr lang="en-US" altLang="zh-CN" sz="1600" b="0" i="1" dirty="0" smtClean="0">
                                <a:latin typeface="Cambria Math" panose="02040503050406030204" pitchFamily="18" charset="0"/>
                                <a:ea typeface="微软雅黑" panose="020B0503020204020204" pitchFamily="34" charset="-122"/>
                              </a:rPr>
                            </m:ctrlPr>
                          </m:sSubPr>
                          <m:e>
                            <m:acc>
                              <m:accPr>
                                <m:chr m:val="̂"/>
                                <m:ctrlPr>
                                  <a:rPr lang="en-US" altLang="zh-CN" sz="1600" b="0" i="1" dirty="0" smtClean="0">
                                    <a:latin typeface="Cambria Math" panose="02040503050406030204" pitchFamily="18" charset="0"/>
                                    <a:ea typeface="微软雅黑" panose="020B0503020204020204" pitchFamily="34" charset="-122"/>
                                  </a:rPr>
                                </m:ctrlPr>
                              </m:accPr>
                              <m:e>
                                <m:r>
                                  <a:rPr lang="en-US" altLang="zh-CN" sz="1600" b="0" i="1" dirty="0" smtClean="0">
                                    <a:latin typeface="Cambria Math" panose="02040503050406030204" pitchFamily="18" charset="0"/>
                                    <a:ea typeface="微软雅黑" panose="020B0503020204020204" pitchFamily="34" charset="-122"/>
                                  </a:rPr>
                                  <m:t>𝑆</m:t>
                                </m:r>
                              </m:e>
                            </m:acc>
                          </m:e>
                          <m:sub>
                            <m:r>
                              <a:rPr lang="en-US" altLang="zh-CN" sz="1600" b="0" i="1" dirty="0" smtClean="0">
                                <a:latin typeface="Cambria Math" panose="02040503050406030204" pitchFamily="18" charset="0"/>
                                <a:ea typeface="微软雅黑" panose="020B0503020204020204" pitchFamily="34" charset="-122"/>
                              </a:rPr>
                              <m:t>2</m:t>
                            </m:r>
                            <m:r>
                              <a:rPr lang="en-US" altLang="zh-CN" sz="1600" b="0" i="1" dirty="0" smtClean="0">
                                <a:latin typeface="Cambria Math" panose="02040503050406030204" pitchFamily="18" charset="0"/>
                                <a:ea typeface="微软雅黑" panose="020B0503020204020204" pitchFamily="34" charset="-122"/>
                              </a:rPr>
                              <m:t>𝑧</m:t>
                            </m:r>
                          </m:sub>
                        </m:sSub>
                      </m:e>
                    </m:d>
                    <m:d>
                      <m:dPr>
                        <m:begChr m:val="|"/>
                        <m:endChr m:val="⟩"/>
                        <m:ctrlPr>
                          <a:rPr lang="en-US" altLang="zh-CN" sz="1600" b="0" i="1" dirty="0" smtClean="0">
                            <a:latin typeface="Cambria Math" panose="02040503050406030204" pitchFamily="18" charset="0"/>
                            <a:ea typeface="微软雅黑" panose="020B0503020204020204" pitchFamily="34" charset="-122"/>
                          </a:rPr>
                        </m:ctrlPr>
                      </m:dPr>
                      <m:e>
                        <m:r>
                          <a:rPr lang="en-US" altLang="zh-CN" sz="1600" b="0" i="1" dirty="0" smtClean="0">
                            <a:latin typeface="Cambria Math" panose="02040503050406030204" pitchFamily="18" charset="0"/>
                            <a:ea typeface="微软雅黑" panose="020B0503020204020204" pitchFamily="34" charset="-122"/>
                          </a:rPr>
                          <m:t>𝑠</m:t>
                        </m:r>
                        <m:r>
                          <a:rPr lang="en-US" altLang="zh-CN" sz="1600" b="0" i="1" dirty="0" smtClean="0">
                            <a:latin typeface="Cambria Math" panose="02040503050406030204" pitchFamily="18" charset="0"/>
                            <a:ea typeface="微软雅黑" panose="020B0503020204020204" pitchFamily="34" charset="-122"/>
                          </a:rPr>
                          <m:t>, </m:t>
                        </m:r>
                        <m:r>
                          <a:rPr lang="en-US" altLang="zh-CN" sz="1600" b="0" i="1" dirty="0" smtClean="0">
                            <a:latin typeface="Cambria Math" panose="02040503050406030204" pitchFamily="18" charset="0"/>
                            <a:ea typeface="微软雅黑" panose="020B0503020204020204" pitchFamily="34" charset="-122"/>
                          </a:rPr>
                          <m:t>𝑚</m:t>
                        </m:r>
                      </m:e>
                    </m:d>
                  </m:oMath>
                </a14:m>
                <a:endParaRPr lang="en-US" altLang="zh-CN" sz="1600"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sz="1600" i="1">
                              <a:latin typeface="Cambria Math" panose="02040503050406030204" pitchFamily="18" charset="0"/>
                              <a:ea typeface="微软雅黑" panose="020B0503020204020204" pitchFamily="34" charset="-122"/>
                            </a:rPr>
                          </m:ctrlPr>
                        </m:dPr>
                        <m:e>
                          <m:f>
                            <m:fPr>
                              <m:ctrlPr>
                                <a:rPr lang="en-US" altLang="zh-CN" sz="1600" i="1">
                                  <a:latin typeface="Cambria Math" panose="02040503050406030204" pitchFamily="18" charset="0"/>
                                  <a:ea typeface="微软雅黑" panose="020B0503020204020204" pitchFamily="34" charset="-122"/>
                                </a:rPr>
                              </m:ctrlPr>
                            </m:fPr>
                            <m:num>
                              <m:r>
                                <a:rPr lang="en-US" altLang="zh-CN" sz="1600" i="1">
                                  <a:latin typeface="Cambria Math" panose="02040503050406030204" pitchFamily="18" charset="0"/>
                                  <a:ea typeface="微软雅黑" panose="020B0503020204020204" pitchFamily="34" charset="-122"/>
                                </a:rPr>
                                <m:t>1</m:t>
                              </m:r>
                            </m:num>
                            <m:den>
                              <m:r>
                                <a:rPr lang="en-US" altLang="zh-CN" sz="1600" i="1">
                                  <a:latin typeface="Cambria Math" panose="02040503050406030204" pitchFamily="18" charset="0"/>
                                  <a:ea typeface="微软雅黑" panose="020B0503020204020204" pitchFamily="34" charset="-122"/>
                                </a:rPr>
                                <m:t>2</m:t>
                              </m:r>
                            </m:den>
                          </m:f>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𝑚</m:t>
                              </m:r>
                            </m:e>
                            <m:sub>
                              <m:r>
                                <a:rPr lang="en-US" altLang="zh-CN" sz="1600" i="1">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f>
                            <m:fPr>
                              <m:ctrlPr>
                                <a:rPr lang="en-US" altLang="zh-CN" sz="1600" i="1">
                                  <a:latin typeface="Cambria Math" panose="02040503050406030204" pitchFamily="18" charset="0"/>
                                  <a:ea typeface="微软雅黑" panose="020B0503020204020204" pitchFamily="34" charset="-122"/>
                                </a:rPr>
                              </m:ctrlPr>
                            </m:fPr>
                            <m:num>
                              <m:r>
                                <a:rPr lang="en-US" altLang="zh-CN" sz="1600" i="1">
                                  <a:latin typeface="Cambria Math" panose="02040503050406030204" pitchFamily="18" charset="0"/>
                                  <a:ea typeface="微软雅黑" panose="020B0503020204020204" pitchFamily="34" charset="-122"/>
                                </a:rPr>
                                <m:t>1</m:t>
                              </m:r>
                            </m:num>
                            <m:den>
                              <m:r>
                                <a:rPr lang="en-US" altLang="zh-CN" sz="1600" i="1">
                                  <a:latin typeface="Cambria Math" panose="02040503050406030204" pitchFamily="18" charset="0"/>
                                  <a:ea typeface="微软雅黑" panose="020B0503020204020204" pitchFamily="34" charset="-122"/>
                                </a:rPr>
                                <m:t>2</m:t>
                              </m:r>
                            </m:den>
                          </m:f>
                          <m:r>
                            <a:rPr lang="en-US" altLang="zh-CN" sz="1600" i="1">
                              <a:latin typeface="Cambria Math" panose="02040503050406030204" pitchFamily="18" charset="0"/>
                              <a:ea typeface="微软雅黑" panose="020B0503020204020204" pitchFamily="34" charset="-122"/>
                            </a:rPr>
                            <m:t>, </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𝑚</m:t>
                              </m:r>
                            </m:e>
                            <m:sub>
                              <m:r>
                                <a:rPr lang="en-US" altLang="zh-CN" sz="1600" i="1">
                                  <a:latin typeface="Cambria Math" panose="02040503050406030204" pitchFamily="18" charset="0"/>
                                  <a:ea typeface="微软雅黑" panose="020B0503020204020204" pitchFamily="34" charset="-122"/>
                                </a:rPr>
                                <m:t>2</m:t>
                              </m:r>
                            </m:sub>
                          </m:sSub>
                        </m:e>
                      </m:d>
                      <m:d>
                        <m:dPr>
                          <m:ctrlPr>
                            <a:rPr lang="en-US" altLang="zh-CN" sz="1600" i="1">
                              <a:latin typeface="Cambria Math" panose="02040503050406030204" pitchFamily="18" charset="0"/>
                              <a:ea typeface="微软雅黑" panose="020B0503020204020204" pitchFamily="34" charset="-122"/>
                            </a:rPr>
                          </m:ctrlPr>
                        </m:dPr>
                        <m:e>
                          <m:sSub>
                            <m:sSubPr>
                              <m:ctrlPr>
                                <a:rPr lang="en-US" altLang="zh-CN" sz="1600" i="1" dirty="0">
                                  <a:latin typeface="Cambria Math" panose="02040503050406030204" pitchFamily="18" charset="0"/>
                                  <a:ea typeface="微软雅黑" panose="020B0503020204020204" pitchFamily="34" charset="-122"/>
                                </a:rPr>
                              </m:ctrlPr>
                            </m:sSubPr>
                            <m:e>
                              <m:acc>
                                <m:accPr>
                                  <m:chr m:val="̂"/>
                                  <m:ctrlPr>
                                    <a:rPr lang="en-US" altLang="zh-CN" sz="1600" i="1">
                                      <a:latin typeface="Cambria Math" panose="02040503050406030204" pitchFamily="18" charset="0"/>
                                      <a:ea typeface="微软雅黑" panose="020B0503020204020204" pitchFamily="34" charset="-122"/>
                                    </a:rPr>
                                  </m:ctrlPr>
                                </m:accPr>
                                <m:e>
                                  <m:r>
                                    <a:rPr lang="en-US" altLang="zh-CN" sz="1600" i="1">
                                      <a:latin typeface="Cambria Math" panose="02040503050406030204" pitchFamily="18" charset="0"/>
                                      <a:ea typeface="微软雅黑" panose="020B0503020204020204" pitchFamily="34" charset="-122"/>
                                    </a:rPr>
                                    <m:t>𝑆</m:t>
                                  </m:r>
                                </m:e>
                              </m:acc>
                            </m:e>
                            <m:sub>
                              <m:r>
                                <a:rPr lang="en-US" altLang="zh-CN" sz="1600" i="1" dirty="0">
                                  <a:latin typeface="Cambria Math" panose="02040503050406030204" pitchFamily="18" charset="0"/>
                                  <a:ea typeface="微软雅黑" panose="020B0503020204020204" pitchFamily="34" charset="-122"/>
                                </a:rPr>
                                <m:t>𝑧</m:t>
                              </m:r>
                            </m:sub>
                          </m:sSub>
                          <m:r>
                            <a:rPr lang="en-US" altLang="zh-CN" sz="1600" i="1" dirty="0">
                              <a:latin typeface="Cambria Math" panose="02040503050406030204" pitchFamily="18" charset="0"/>
                              <a:ea typeface="微软雅黑" panose="020B0503020204020204" pitchFamily="34" charset="-122"/>
                            </a:rPr>
                            <m:t> −</m:t>
                          </m:r>
                          <m:sSub>
                            <m:sSubPr>
                              <m:ctrlPr>
                                <a:rPr lang="en-US" altLang="zh-CN" sz="1600" i="1" dirty="0">
                                  <a:latin typeface="Cambria Math" panose="02040503050406030204" pitchFamily="18" charset="0"/>
                                  <a:ea typeface="微软雅黑" panose="020B0503020204020204" pitchFamily="34" charset="-122"/>
                                </a:rPr>
                              </m:ctrlPr>
                            </m:sSubPr>
                            <m:e>
                              <m:acc>
                                <m:accPr>
                                  <m:chr m:val="̂"/>
                                  <m:ctrlPr>
                                    <a:rPr lang="en-US" altLang="zh-CN" sz="1600" i="1" dirty="0">
                                      <a:latin typeface="Cambria Math" panose="02040503050406030204" pitchFamily="18" charset="0"/>
                                      <a:ea typeface="微软雅黑" panose="020B0503020204020204" pitchFamily="34" charset="-122"/>
                                    </a:rPr>
                                  </m:ctrlPr>
                                </m:accPr>
                                <m:e>
                                  <m:r>
                                    <a:rPr lang="en-US" altLang="zh-CN" sz="1600" i="1" dirty="0">
                                      <a:latin typeface="Cambria Math" panose="02040503050406030204" pitchFamily="18" charset="0"/>
                                      <a:ea typeface="微软雅黑" panose="020B0503020204020204" pitchFamily="34" charset="-122"/>
                                    </a:rPr>
                                    <m:t>𝑆</m:t>
                                  </m:r>
                                </m:e>
                              </m:acc>
                            </m:e>
                            <m:sub>
                              <m:r>
                                <a:rPr lang="en-US" altLang="zh-CN" sz="1600" i="1" dirty="0">
                                  <a:latin typeface="Cambria Math" panose="02040503050406030204" pitchFamily="18" charset="0"/>
                                  <a:ea typeface="微软雅黑" panose="020B0503020204020204" pitchFamily="34" charset="-122"/>
                                </a:rPr>
                                <m:t>1</m:t>
                              </m:r>
                              <m:r>
                                <a:rPr lang="en-US" altLang="zh-CN" sz="1600" i="1" dirty="0">
                                  <a:latin typeface="Cambria Math" panose="02040503050406030204" pitchFamily="18" charset="0"/>
                                  <a:ea typeface="微软雅黑" panose="020B0503020204020204" pitchFamily="34" charset="-122"/>
                                </a:rPr>
                                <m:t>𝑧</m:t>
                              </m:r>
                            </m:sub>
                          </m:sSub>
                          <m:r>
                            <a:rPr lang="en-US" altLang="zh-CN" sz="1600" i="1" dirty="0">
                              <a:latin typeface="Cambria Math" panose="02040503050406030204" pitchFamily="18" charset="0"/>
                              <a:ea typeface="微软雅黑" panose="020B0503020204020204" pitchFamily="34" charset="-122"/>
                            </a:rPr>
                            <m:t>−</m:t>
                          </m:r>
                          <m:sSub>
                            <m:sSubPr>
                              <m:ctrlPr>
                                <a:rPr lang="en-US" altLang="zh-CN" sz="1600" i="1" dirty="0">
                                  <a:latin typeface="Cambria Math" panose="02040503050406030204" pitchFamily="18" charset="0"/>
                                  <a:ea typeface="微软雅黑" panose="020B0503020204020204" pitchFamily="34" charset="-122"/>
                                </a:rPr>
                              </m:ctrlPr>
                            </m:sSubPr>
                            <m:e>
                              <m:acc>
                                <m:accPr>
                                  <m:chr m:val="̂"/>
                                  <m:ctrlPr>
                                    <a:rPr lang="en-US" altLang="zh-CN" sz="1600" i="1" dirty="0">
                                      <a:latin typeface="Cambria Math" panose="02040503050406030204" pitchFamily="18" charset="0"/>
                                      <a:ea typeface="微软雅黑" panose="020B0503020204020204" pitchFamily="34" charset="-122"/>
                                    </a:rPr>
                                  </m:ctrlPr>
                                </m:accPr>
                                <m:e>
                                  <m:r>
                                    <a:rPr lang="en-US" altLang="zh-CN" sz="1600" i="1" dirty="0">
                                      <a:latin typeface="Cambria Math" panose="02040503050406030204" pitchFamily="18" charset="0"/>
                                      <a:ea typeface="微软雅黑" panose="020B0503020204020204" pitchFamily="34" charset="-122"/>
                                    </a:rPr>
                                    <m:t>𝑆</m:t>
                                  </m:r>
                                </m:e>
                              </m:acc>
                            </m:e>
                            <m:sub>
                              <m:r>
                                <a:rPr lang="en-US" altLang="zh-CN" sz="1600" i="1" dirty="0">
                                  <a:latin typeface="Cambria Math" panose="02040503050406030204" pitchFamily="18" charset="0"/>
                                  <a:ea typeface="微软雅黑" panose="020B0503020204020204" pitchFamily="34" charset="-122"/>
                                </a:rPr>
                                <m:t>2</m:t>
                              </m:r>
                              <m:r>
                                <a:rPr lang="en-US" altLang="zh-CN" sz="1600" i="1" dirty="0">
                                  <a:latin typeface="Cambria Math" panose="02040503050406030204" pitchFamily="18" charset="0"/>
                                  <a:ea typeface="微软雅黑" panose="020B0503020204020204" pitchFamily="34" charset="-122"/>
                                </a:rPr>
                                <m:t>𝑧</m:t>
                              </m:r>
                            </m:sub>
                          </m:sSub>
                        </m:e>
                      </m:d>
                      <m:d>
                        <m:dPr>
                          <m:begChr m:val="|"/>
                          <m:endChr m:val="⟩"/>
                          <m:ctrlPr>
                            <a:rPr lang="en-US" altLang="zh-CN" sz="1600" i="1" dirty="0">
                              <a:latin typeface="Cambria Math" panose="02040503050406030204" pitchFamily="18" charset="0"/>
                              <a:ea typeface="微软雅黑" panose="020B0503020204020204" pitchFamily="34" charset="-122"/>
                            </a:rPr>
                          </m:ctrlPr>
                        </m:dPr>
                        <m:e>
                          <m:r>
                            <a:rPr lang="en-US" altLang="zh-CN" sz="1600" i="1" dirty="0">
                              <a:latin typeface="Cambria Math" panose="02040503050406030204" pitchFamily="18" charset="0"/>
                              <a:ea typeface="微软雅黑" panose="020B0503020204020204" pitchFamily="34" charset="-122"/>
                            </a:rPr>
                            <m:t>𝑠</m:t>
                          </m:r>
                          <m:r>
                            <a:rPr lang="en-US" altLang="zh-CN" sz="1600" i="1" dirty="0">
                              <a:latin typeface="Cambria Math" panose="02040503050406030204" pitchFamily="18" charset="0"/>
                              <a:ea typeface="微软雅黑" panose="020B0503020204020204" pitchFamily="34" charset="-122"/>
                            </a:rPr>
                            <m:t>, </m:t>
                          </m:r>
                          <m:r>
                            <a:rPr lang="en-US" altLang="zh-CN" sz="1600" i="1" dirty="0">
                              <a:latin typeface="Cambria Math" panose="02040503050406030204" pitchFamily="18" charset="0"/>
                              <a:ea typeface="微软雅黑" panose="020B0503020204020204" pitchFamily="34" charset="-122"/>
                            </a:rPr>
                            <m:t>𝑚</m:t>
                          </m:r>
                        </m:e>
                      </m:d>
                      <m:r>
                        <a:rPr lang="en-US" altLang="zh-CN" sz="1600" b="0" i="1" dirty="0" smtClean="0">
                          <a:latin typeface="Cambria Math" panose="02040503050406030204" pitchFamily="18" charset="0"/>
                          <a:ea typeface="微软雅黑" panose="020B0503020204020204" pitchFamily="34" charset="-122"/>
                        </a:rPr>
                        <m:t>=(</m:t>
                      </m:r>
                      <m:r>
                        <a:rPr lang="en-US" altLang="zh-CN" sz="1600" b="0" i="1" dirty="0" smtClean="0">
                          <a:latin typeface="Cambria Math" panose="02040503050406030204" pitchFamily="18" charset="0"/>
                          <a:ea typeface="微软雅黑" panose="020B0503020204020204" pitchFamily="34" charset="-122"/>
                        </a:rPr>
                        <m:t>𝑚</m:t>
                      </m:r>
                      <m:r>
                        <a:rPr lang="en-US" altLang="zh-CN" sz="1600" b="0" i="1" dirty="0" smtClean="0">
                          <a:latin typeface="Cambria Math" panose="02040503050406030204" pitchFamily="18" charset="0"/>
                          <a:ea typeface="微软雅黑" panose="020B0503020204020204" pitchFamily="34" charset="-122"/>
                        </a:rPr>
                        <m:t>−</m:t>
                      </m:r>
                      <m:sSub>
                        <m:sSubPr>
                          <m:ctrlPr>
                            <a:rPr lang="en-US" altLang="zh-CN" sz="1600" b="0" i="1" dirty="0" smtClean="0">
                              <a:latin typeface="Cambria Math" panose="02040503050406030204" pitchFamily="18" charset="0"/>
                              <a:ea typeface="微软雅黑" panose="020B0503020204020204" pitchFamily="34" charset="-122"/>
                            </a:rPr>
                          </m:ctrlPr>
                        </m:sSubPr>
                        <m:e>
                          <m:r>
                            <a:rPr lang="en-US" altLang="zh-CN" sz="1600" b="0" i="1" dirty="0" smtClean="0">
                              <a:latin typeface="Cambria Math" panose="02040503050406030204" pitchFamily="18" charset="0"/>
                              <a:ea typeface="微软雅黑" panose="020B0503020204020204" pitchFamily="34" charset="-122"/>
                            </a:rPr>
                            <m:t>𝑚</m:t>
                          </m:r>
                        </m:e>
                        <m:sub>
                          <m:r>
                            <a:rPr lang="en-US" altLang="zh-CN" sz="1600" b="0" i="1" dirty="0" smtClean="0">
                              <a:latin typeface="Cambria Math" panose="02040503050406030204" pitchFamily="18" charset="0"/>
                              <a:ea typeface="微软雅黑" panose="020B0503020204020204" pitchFamily="34" charset="-122"/>
                            </a:rPr>
                            <m:t>1</m:t>
                          </m:r>
                        </m:sub>
                      </m:sSub>
                      <m:r>
                        <a:rPr lang="en-US" altLang="zh-CN" sz="1600" b="0" i="1" dirty="0" smtClean="0">
                          <a:latin typeface="Cambria Math" panose="02040503050406030204" pitchFamily="18" charset="0"/>
                          <a:ea typeface="微软雅黑" panose="020B0503020204020204" pitchFamily="34" charset="-122"/>
                        </a:rPr>
                        <m:t>−</m:t>
                      </m:r>
                      <m:sSub>
                        <m:sSubPr>
                          <m:ctrlPr>
                            <a:rPr lang="en-US" altLang="zh-CN" sz="1600" b="0" i="1" dirty="0" smtClean="0">
                              <a:latin typeface="Cambria Math" panose="02040503050406030204" pitchFamily="18" charset="0"/>
                              <a:ea typeface="微软雅黑" panose="020B0503020204020204" pitchFamily="34" charset="-122"/>
                            </a:rPr>
                          </m:ctrlPr>
                        </m:sSubPr>
                        <m:e>
                          <m:r>
                            <a:rPr lang="en-US" altLang="zh-CN" sz="1600" b="0" i="1" dirty="0" smtClean="0">
                              <a:latin typeface="Cambria Math" panose="02040503050406030204" pitchFamily="18" charset="0"/>
                              <a:ea typeface="微软雅黑" panose="020B0503020204020204" pitchFamily="34" charset="-122"/>
                            </a:rPr>
                            <m:t>𝑚</m:t>
                          </m:r>
                        </m:e>
                        <m:sub>
                          <m:r>
                            <a:rPr lang="en-US" altLang="zh-CN" sz="1600" b="0" i="1" dirty="0" smtClean="0">
                              <a:latin typeface="Cambria Math" panose="02040503050406030204" pitchFamily="18" charset="0"/>
                              <a:ea typeface="微软雅黑" panose="020B0503020204020204" pitchFamily="34" charset="-122"/>
                            </a:rPr>
                            <m:t>2</m:t>
                          </m:r>
                        </m:sub>
                      </m:sSub>
                      <m:r>
                        <a:rPr lang="en-US" altLang="zh-CN" sz="1600" b="0" i="1" dirty="0" smtClean="0">
                          <a:latin typeface="Cambria Math" panose="02040503050406030204" pitchFamily="18" charset="0"/>
                          <a:ea typeface="微软雅黑" panose="020B0503020204020204" pitchFamily="34" charset="-122"/>
                        </a:rPr>
                        <m:t>)</m:t>
                      </m:r>
                      <m:d>
                        <m:dPr>
                          <m:begChr m:val="⟨"/>
                          <m:endChr m:val="|"/>
                          <m:ctrlPr>
                            <a:rPr lang="en-US" altLang="zh-CN" sz="1600" i="1">
                              <a:latin typeface="Cambria Math" panose="02040503050406030204" pitchFamily="18" charset="0"/>
                              <a:ea typeface="微软雅黑" panose="020B0503020204020204" pitchFamily="34" charset="-122"/>
                            </a:rPr>
                          </m:ctrlPr>
                        </m:dPr>
                        <m:e>
                          <m:f>
                            <m:fPr>
                              <m:ctrlPr>
                                <a:rPr lang="en-US" altLang="zh-CN" sz="1600" i="1">
                                  <a:latin typeface="Cambria Math" panose="02040503050406030204" pitchFamily="18" charset="0"/>
                                  <a:ea typeface="微软雅黑" panose="020B0503020204020204" pitchFamily="34" charset="-122"/>
                                </a:rPr>
                              </m:ctrlPr>
                            </m:fPr>
                            <m:num>
                              <m:r>
                                <a:rPr lang="en-US" altLang="zh-CN" sz="1600" i="1">
                                  <a:latin typeface="Cambria Math" panose="02040503050406030204" pitchFamily="18" charset="0"/>
                                  <a:ea typeface="微软雅黑" panose="020B0503020204020204" pitchFamily="34" charset="-122"/>
                                </a:rPr>
                                <m:t>1</m:t>
                              </m:r>
                            </m:num>
                            <m:den>
                              <m:r>
                                <a:rPr lang="en-US" altLang="zh-CN" sz="1600" i="1">
                                  <a:latin typeface="Cambria Math" panose="02040503050406030204" pitchFamily="18" charset="0"/>
                                  <a:ea typeface="微软雅黑" panose="020B0503020204020204" pitchFamily="34" charset="-122"/>
                                </a:rPr>
                                <m:t>2</m:t>
                              </m:r>
                            </m:den>
                          </m:f>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𝑚</m:t>
                              </m:r>
                            </m:e>
                            <m:sub>
                              <m:r>
                                <a:rPr lang="en-US" altLang="zh-CN" sz="1600" i="1">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f>
                            <m:fPr>
                              <m:ctrlPr>
                                <a:rPr lang="en-US" altLang="zh-CN" sz="1600" i="1">
                                  <a:latin typeface="Cambria Math" panose="02040503050406030204" pitchFamily="18" charset="0"/>
                                  <a:ea typeface="微软雅黑" panose="020B0503020204020204" pitchFamily="34" charset="-122"/>
                                </a:rPr>
                              </m:ctrlPr>
                            </m:fPr>
                            <m:num>
                              <m:r>
                                <a:rPr lang="en-US" altLang="zh-CN" sz="1600" i="1">
                                  <a:latin typeface="Cambria Math" panose="02040503050406030204" pitchFamily="18" charset="0"/>
                                  <a:ea typeface="微软雅黑" panose="020B0503020204020204" pitchFamily="34" charset="-122"/>
                                </a:rPr>
                                <m:t>1</m:t>
                              </m:r>
                            </m:num>
                            <m:den>
                              <m:r>
                                <a:rPr lang="en-US" altLang="zh-CN" sz="1600" i="1">
                                  <a:latin typeface="Cambria Math" panose="02040503050406030204" pitchFamily="18" charset="0"/>
                                  <a:ea typeface="微软雅黑" panose="020B0503020204020204" pitchFamily="34" charset="-122"/>
                                </a:rPr>
                                <m:t>2</m:t>
                              </m:r>
                            </m:den>
                          </m:f>
                          <m:r>
                            <a:rPr lang="en-US" altLang="zh-CN" sz="1600" i="1">
                              <a:latin typeface="Cambria Math" panose="02040503050406030204" pitchFamily="18" charset="0"/>
                              <a:ea typeface="微软雅黑" panose="020B0503020204020204" pitchFamily="34" charset="-122"/>
                            </a:rPr>
                            <m:t>, </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𝑚</m:t>
                              </m:r>
                            </m:e>
                            <m:sub>
                              <m:r>
                                <a:rPr lang="en-US" altLang="zh-CN" sz="1600" i="1">
                                  <a:latin typeface="Cambria Math" panose="02040503050406030204" pitchFamily="18" charset="0"/>
                                  <a:ea typeface="微软雅黑" panose="020B0503020204020204" pitchFamily="34" charset="-122"/>
                                </a:rPr>
                                <m:t>2</m:t>
                              </m:r>
                            </m:sub>
                          </m:sSub>
                        </m:e>
                      </m:d>
                      <m:r>
                        <a:rPr lang="en-US" altLang="zh-CN" sz="1600" i="1">
                          <a:latin typeface="Cambria Math" panose="02040503050406030204" pitchFamily="18" charset="0"/>
                          <a:ea typeface="微软雅黑" panose="020B0503020204020204" pitchFamily="34" charset="-122"/>
                        </a:rPr>
                        <m:t>𝑠</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𝑚</m:t>
                      </m:r>
                      <m:r>
                        <a:rPr lang="en-US" altLang="zh-CN" sz="1600" i="1">
                          <a:latin typeface="Cambria Math" panose="02040503050406030204" pitchFamily="18" charset="0"/>
                          <a:ea typeface="微软雅黑" panose="020B0503020204020204" pitchFamily="34" charset="-122"/>
                        </a:rPr>
                        <m:t>⟩</m:t>
                      </m:r>
                    </m:oMath>
                  </m:oMathPara>
                </a14:m>
                <a:endParaRPr lang="en-US" altLang="zh-CN" sz="1600" dirty="0">
                  <a:latin typeface="微软雅黑" panose="020B0503020204020204" pitchFamily="34" charset="-122"/>
                  <a:ea typeface="微软雅黑" panose="020B0503020204020204" pitchFamily="34" charset="-122"/>
                </a:endParaRPr>
              </a:p>
              <a:p>
                <a:r>
                  <a:rPr lang="zh-CN" altLang="en-US" sz="1600" dirty="0" smtClean="0">
                    <a:latin typeface="微软雅黑" panose="020B0503020204020204" pitchFamily="34" charset="-122"/>
                    <a:ea typeface="微软雅黑" panose="020B0503020204020204" pitchFamily="34" charset="-122"/>
                  </a:rPr>
                  <a:t>若</a:t>
                </a:r>
                <a14:m>
                  <m:oMath xmlns:m="http://schemas.openxmlformats.org/officeDocument/2006/math">
                    <m:d>
                      <m:dPr>
                        <m:begChr m:val="⟨"/>
                        <m:endChr m:val="|"/>
                        <m:ctrlPr>
                          <a:rPr lang="en-US" altLang="zh-CN" sz="1600" i="1">
                            <a:latin typeface="Cambria Math" panose="02040503050406030204" pitchFamily="18" charset="0"/>
                            <a:ea typeface="微软雅黑" panose="020B0503020204020204" pitchFamily="34" charset="-122"/>
                          </a:rPr>
                        </m:ctrlPr>
                      </m:dPr>
                      <m:e>
                        <m:f>
                          <m:fPr>
                            <m:ctrlPr>
                              <a:rPr lang="en-US" altLang="zh-CN" sz="1600" i="1">
                                <a:latin typeface="Cambria Math" panose="02040503050406030204" pitchFamily="18" charset="0"/>
                                <a:ea typeface="微软雅黑" panose="020B0503020204020204" pitchFamily="34" charset="-122"/>
                              </a:rPr>
                            </m:ctrlPr>
                          </m:fPr>
                          <m:num>
                            <m:r>
                              <a:rPr lang="en-US" altLang="zh-CN" sz="1600" i="1">
                                <a:latin typeface="Cambria Math" panose="02040503050406030204" pitchFamily="18" charset="0"/>
                                <a:ea typeface="微软雅黑" panose="020B0503020204020204" pitchFamily="34" charset="-122"/>
                              </a:rPr>
                              <m:t>1</m:t>
                            </m:r>
                          </m:num>
                          <m:den>
                            <m:r>
                              <a:rPr lang="en-US" altLang="zh-CN" sz="1600" i="1">
                                <a:latin typeface="Cambria Math" panose="02040503050406030204" pitchFamily="18" charset="0"/>
                                <a:ea typeface="微软雅黑" panose="020B0503020204020204" pitchFamily="34" charset="-122"/>
                              </a:rPr>
                              <m:t>2</m:t>
                            </m:r>
                          </m:den>
                        </m:f>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𝑚</m:t>
                            </m:r>
                          </m:e>
                          <m:sub>
                            <m:r>
                              <a:rPr lang="en-US" altLang="zh-CN" sz="1600" i="1">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f>
                          <m:fPr>
                            <m:ctrlPr>
                              <a:rPr lang="en-US" altLang="zh-CN" sz="1600" i="1">
                                <a:latin typeface="Cambria Math" panose="02040503050406030204" pitchFamily="18" charset="0"/>
                                <a:ea typeface="微软雅黑" panose="020B0503020204020204" pitchFamily="34" charset="-122"/>
                              </a:rPr>
                            </m:ctrlPr>
                          </m:fPr>
                          <m:num>
                            <m:r>
                              <a:rPr lang="en-US" altLang="zh-CN" sz="1600" i="1">
                                <a:latin typeface="Cambria Math" panose="02040503050406030204" pitchFamily="18" charset="0"/>
                                <a:ea typeface="微软雅黑" panose="020B0503020204020204" pitchFamily="34" charset="-122"/>
                              </a:rPr>
                              <m:t>1</m:t>
                            </m:r>
                          </m:num>
                          <m:den>
                            <m:r>
                              <a:rPr lang="en-US" altLang="zh-CN" sz="1600" i="1">
                                <a:latin typeface="Cambria Math" panose="02040503050406030204" pitchFamily="18" charset="0"/>
                                <a:ea typeface="微软雅黑" panose="020B0503020204020204" pitchFamily="34" charset="-122"/>
                              </a:rPr>
                              <m:t>2</m:t>
                            </m:r>
                          </m:den>
                        </m:f>
                        <m:r>
                          <a:rPr lang="en-US" altLang="zh-CN" sz="1600" i="1">
                            <a:latin typeface="Cambria Math" panose="02040503050406030204" pitchFamily="18" charset="0"/>
                            <a:ea typeface="微软雅黑" panose="020B0503020204020204" pitchFamily="34" charset="-122"/>
                          </a:rPr>
                          <m:t>, </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𝑚</m:t>
                            </m:r>
                          </m:e>
                          <m:sub>
                            <m:r>
                              <a:rPr lang="en-US" altLang="zh-CN" sz="1600" i="1">
                                <a:latin typeface="Cambria Math" panose="02040503050406030204" pitchFamily="18" charset="0"/>
                                <a:ea typeface="微软雅黑" panose="020B0503020204020204" pitchFamily="34" charset="-122"/>
                              </a:rPr>
                              <m:t>2</m:t>
                            </m:r>
                          </m:sub>
                        </m:sSub>
                      </m:e>
                    </m:d>
                    <m:r>
                      <a:rPr lang="en-US" altLang="zh-CN" sz="1600" i="1">
                        <a:latin typeface="Cambria Math" panose="02040503050406030204" pitchFamily="18" charset="0"/>
                        <a:ea typeface="微软雅黑" panose="020B0503020204020204" pitchFamily="34" charset="-122"/>
                      </a:rPr>
                      <m:t>𝑠</m:t>
                    </m:r>
                    <m:r>
                      <a:rPr lang="en-US" altLang="zh-CN" sz="1600" i="1">
                        <a:latin typeface="Cambria Math" panose="02040503050406030204" pitchFamily="18" charset="0"/>
                        <a:ea typeface="微软雅黑" panose="020B0503020204020204" pitchFamily="34" charset="-122"/>
                      </a:rPr>
                      <m:t>,</m:t>
                    </m:r>
                    <m:r>
                      <a:rPr lang="en-US" altLang="zh-CN" sz="1600" i="1">
                        <a:latin typeface="Cambria Math" panose="02040503050406030204" pitchFamily="18" charset="0"/>
                        <a:ea typeface="微软雅黑" panose="020B0503020204020204" pitchFamily="34" charset="-122"/>
                      </a:rPr>
                      <m:t>𝑚</m:t>
                    </m:r>
                    <m:r>
                      <a:rPr lang="en-US" altLang="zh-CN" sz="1600" i="1">
                        <a:latin typeface="Cambria Math" panose="02040503050406030204" pitchFamily="18" charset="0"/>
                        <a:ea typeface="微软雅黑" panose="020B0503020204020204" pitchFamily="34" charset="-122"/>
                      </a:rPr>
                      <m:t>⟩≠0</m:t>
                    </m:r>
                  </m:oMath>
                </a14:m>
                <a:r>
                  <a:rPr lang="zh-CN" altLang="en-US" sz="1600" dirty="0" smtClean="0">
                    <a:latin typeface="微软雅黑" panose="020B0503020204020204" pitchFamily="34" charset="-122"/>
                    <a:ea typeface="微软雅黑" panose="020B0503020204020204" pitchFamily="34" charset="-122"/>
                  </a:rPr>
                  <a:t>，则</a:t>
                </a:r>
                <a14:m>
                  <m:oMath xmlns:m="http://schemas.openxmlformats.org/officeDocument/2006/math">
                    <m:r>
                      <a:rPr lang="en-US" altLang="zh-CN" sz="1600" i="1" dirty="0">
                        <a:latin typeface="Cambria Math" panose="02040503050406030204" pitchFamily="18" charset="0"/>
                        <a:ea typeface="微软雅黑" panose="020B0503020204020204" pitchFamily="34" charset="-122"/>
                      </a:rPr>
                      <m:t>𝑚</m:t>
                    </m:r>
                    <m:r>
                      <a:rPr lang="en-US" altLang="zh-CN" sz="1600" i="1" dirty="0">
                        <a:latin typeface="Cambria Math" panose="02040503050406030204" pitchFamily="18" charset="0"/>
                        <a:ea typeface="微软雅黑" panose="020B0503020204020204" pitchFamily="34" charset="-122"/>
                      </a:rPr>
                      <m:t>−</m:t>
                    </m:r>
                    <m:sSub>
                      <m:sSubPr>
                        <m:ctrlPr>
                          <a:rPr lang="en-US" altLang="zh-CN" sz="1600" i="1" dirty="0">
                            <a:latin typeface="Cambria Math" panose="02040503050406030204" pitchFamily="18" charset="0"/>
                            <a:ea typeface="微软雅黑" panose="020B0503020204020204" pitchFamily="34" charset="-122"/>
                          </a:rPr>
                        </m:ctrlPr>
                      </m:sSubPr>
                      <m:e>
                        <m:r>
                          <a:rPr lang="en-US" altLang="zh-CN" sz="1600" i="1" dirty="0">
                            <a:latin typeface="Cambria Math" panose="02040503050406030204" pitchFamily="18" charset="0"/>
                            <a:ea typeface="微软雅黑" panose="020B0503020204020204" pitchFamily="34" charset="-122"/>
                          </a:rPr>
                          <m:t>𝑚</m:t>
                        </m:r>
                      </m:e>
                      <m:sub>
                        <m:r>
                          <a:rPr lang="en-US" altLang="zh-CN" sz="1600" i="1" dirty="0">
                            <a:latin typeface="Cambria Math" panose="02040503050406030204" pitchFamily="18" charset="0"/>
                            <a:ea typeface="微软雅黑" panose="020B0503020204020204" pitchFamily="34" charset="-122"/>
                          </a:rPr>
                          <m:t>1</m:t>
                        </m:r>
                      </m:sub>
                    </m:sSub>
                    <m:r>
                      <a:rPr lang="en-US" altLang="zh-CN" sz="1600" i="1" dirty="0">
                        <a:latin typeface="Cambria Math" panose="02040503050406030204" pitchFamily="18" charset="0"/>
                        <a:ea typeface="微软雅黑" panose="020B0503020204020204" pitchFamily="34" charset="-122"/>
                      </a:rPr>
                      <m:t>−</m:t>
                    </m:r>
                    <m:sSub>
                      <m:sSubPr>
                        <m:ctrlPr>
                          <a:rPr lang="en-US" altLang="zh-CN" sz="1600" i="1" dirty="0">
                            <a:latin typeface="Cambria Math" panose="02040503050406030204" pitchFamily="18" charset="0"/>
                            <a:ea typeface="微软雅黑" panose="020B0503020204020204" pitchFamily="34" charset="-122"/>
                          </a:rPr>
                        </m:ctrlPr>
                      </m:sSubPr>
                      <m:e>
                        <m:r>
                          <a:rPr lang="en-US" altLang="zh-CN" sz="1600" i="1" dirty="0">
                            <a:latin typeface="Cambria Math" panose="02040503050406030204" pitchFamily="18" charset="0"/>
                            <a:ea typeface="微软雅黑" panose="020B0503020204020204" pitchFamily="34" charset="-122"/>
                          </a:rPr>
                          <m:t>𝑚</m:t>
                        </m:r>
                      </m:e>
                      <m:sub>
                        <m:r>
                          <a:rPr lang="en-US" altLang="zh-CN" sz="1600" i="1" dirty="0">
                            <a:latin typeface="Cambria Math" panose="02040503050406030204" pitchFamily="18" charset="0"/>
                            <a:ea typeface="微软雅黑" panose="020B0503020204020204" pitchFamily="34" charset="-122"/>
                          </a:rPr>
                          <m:t>2</m:t>
                        </m:r>
                      </m:sub>
                    </m:sSub>
                    <m:r>
                      <a:rPr lang="en-US" altLang="zh-CN" sz="1600" b="0" i="1" dirty="0" smtClean="0">
                        <a:latin typeface="Cambria Math" panose="02040503050406030204" pitchFamily="18" charset="0"/>
                        <a:ea typeface="微软雅黑" panose="020B0503020204020204" pitchFamily="34" charset="-122"/>
                      </a:rPr>
                      <m:t>=0</m:t>
                    </m:r>
                  </m:oMath>
                </a14:m>
                <a:r>
                  <a:rPr lang="zh-CN" altLang="en-US" sz="1600" dirty="0" smtClean="0">
                    <a:latin typeface="微软雅黑" panose="020B0503020204020204" pitchFamily="34" charset="-122"/>
                    <a:ea typeface="微软雅黑" panose="020B0503020204020204" pitchFamily="34" charset="-122"/>
                  </a:rPr>
                  <a:t>，即</a:t>
                </a:r>
                <a14:m>
                  <m:oMath xmlns:m="http://schemas.openxmlformats.org/officeDocument/2006/math">
                    <m:r>
                      <a:rPr lang="en-US" altLang="zh-CN" sz="1600" i="1">
                        <a:latin typeface="Cambria Math" panose="02040503050406030204" pitchFamily="18" charset="0"/>
                        <a:ea typeface="微软雅黑" panose="020B0503020204020204" pitchFamily="34" charset="-122"/>
                      </a:rPr>
                      <m:t>𝑚</m:t>
                    </m:r>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𝑚</m:t>
                        </m:r>
                      </m:e>
                      <m:sub>
                        <m:r>
                          <a:rPr lang="en-US" altLang="zh-CN" sz="1600" i="1">
                            <a:latin typeface="Cambria Math" panose="02040503050406030204" pitchFamily="18" charset="0"/>
                            <a:ea typeface="微软雅黑" panose="020B0503020204020204" pitchFamily="34" charset="-122"/>
                          </a:rPr>
                          <m:t>1</m:t>
                        </m:r>
                      </m:sub>
                    </m:sSub>
                    <m:r>
                      <a:rPr lang="en-US" altLang="zh-CN" sz="1600" i="1">
                        <a:latin typeface="Cambria Math" panose="02040503050406030204" pitchFamily="18" charset="0"/>
                        <a:ea typeface="微软雅黑" panose="020B0503020204020204" pitchFamily="34" charset="-122"/>
                      </a:rPr>
                      <m:t>+</m:t>
                    </m:r>
                    <m:sSub>
                      <m:sSubPr>
                        <m:ctrlPr>
                          <a:rPr lang="en-US" altLang="zh-CN" sz="1600" i="1">
                            <a:latin typeface="Cambria Math" panose="02040503050406030204" pitchFamily="18" charset="0"/>
                            <a:ea typeface="微软雅黑" panose="020B0503020204020204" pitchFamily="34" charset="-122"/>
                          </a:rPr>
                        </m:ctrlPr>
                      </m:sSubPr>
                      <m:e>
                        <m:r>
                          <a:rPr lang="en-US" altLang="zh-CN" sz="1600" i="1">
                            <a:latin typeface="Cambria Math" panose="02040503050406030204" pitchFamily="18" charset="0"/>
                            <a:ea typeface="微软雅黑" panose="020B0503020204020204" pitchFamily="34" charset="-122"/>
                          </a:rPr>
                          <m:t>𝑚</m:t>
                        </m:r>
                      </m:e>
                      <m:sub>
                        <m:r>
                          <a:rPr lang="en-US" altLang="zh-CN" sz="1600" i="1">
                            <a:latin typeface="Cambria Math" panose="02040503050406030204" pitchFamily="18" charset="0"/>
                            <a:ea typeface="微软雅黑" panose="020B0503020204020204" pitchFamily="34" charset="-122"/>
                          </a:rPr>
                          <m:t>2</m:t>
                        </m:r>
                      </m:sub>
                    </m:sSub>
                  </m:oMath>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其次根据角动量相加的模型，</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𝑠</m:t>
                    </m:r>
                  </m:oMath>
                </a14:m>
                <a:r>
                  <a:rPr lang="zh-CN" altLang="en-US" dirty="0" smtClean="0">
                    <a:latin typeface="微软雅黑" panose="020B0503020204020204" pitchFamily="34" charset="-122"/>
                    <a:ea typeface="微软雅黑" panose="020B0503020204020204" pitchFamily="34" charset="-122"/>
                  </a:rPr>
                  <a:t>最大只能取到</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2</m:t>
                        </m:r>
                      </m:sub>
                    </m:sSub>
                  </m:oMath>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a:t>
                </a:r>
                <a14:m>
                  <m:oMath xmlns:m="http://schemas.openxmlformats.org/officeDocument/2006/math">
                    <m:r>
                      <a:rPr lang="en-US" altLang="zh-CN" i="1">
                        <a:latin typeface="Cambria Math" panose="02040503050406030204" pitchFamily="18" charset="0"/>
                        <a:ea typeface="微软雅黑" panose="020B0503020204020204" pitchFamily="34" charset="-122"/>
                      </a:rPr>
                      <m:t>𝑠</m:t>
                    </m:r>
                  </m:oMath>
                </a14:m>
                <a:r>
                  <a:rPr lang="zh-CN" altLang="en-US" dirty="0" smtClean="0">
                    <a:latin typeface="微软雅黑" panose="020B0503020204020204" pitchFamily="34" charset="-122"/>
                    <a:ea typeface="微软雅黑" panose="020B0503020204020204" pitchFamily="34" charset="-122"/>
                  </a:rPr>
                  <a:t>是</a:t>
                </a:r>
                <a14:m>
                  <m:oMath xmlns:m="http://schemas.openxmlformats.org/officeDocument/2006/math">
                    <m:r>
                      <a:rPr lang="en-US" altLang="zh-CN" i="1">
                        <a:latin typeface="Cambria Math" panose="02040503050406030204" pitchFamily="18" charset="0"/>
                        <a:ea typeface="微软雅黑" panose="020B0503020204020204" pitchFamily="34" charset="-122"/>
                      </a:rPr>
                      <m:t>𝑚</m:t>
                    </m:r>
                  </m:oMath>
                </a14:m>
                <a:r>
                  <a:rPr lang="zh-CN" altLang="en-US" dirty="0" smtClean="0">
                    <a:latin typeface="微软雅黑" panose="020B0503020204020204" pitchFamily="34" charset="-122"/>
                    <a:ea typeface="微软雅黑" panose="020B0503020204020204" pitchFamily="34" charset="-122"/>
                  </a:rPr>
                  <a:t>的最大取值，而</a:t>
                </a:r>
                <a14:m>
                  <m:oMath xmlns:m="http://schemas.openxmlformats.org/officeDocument/2006/math">
                    <m:r>
                      <a:rPr lang="en-US" altLang="zh-CN" i="1">
                        <a:latin typeface="Cambria Math" panose="02040503050406030204" pitchFamily="18" charset="0"/>
                        <a:ea typeface="微软雅黑" panose="020B0503020204020204" pitchFamily="34" charset="-122"/>
                      </a:rPr>
                      <m:t>𝑚</m:t>
                    </m:r>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𝑚</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𝑚</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𝑚</m:t>
                        </m:r>
                      </m:e>
                      <m:sub>
                        <m:r>
                          <a:rPr lang="en-US" altLang="zh-CN" i="1">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𝑚</m:t>
                        </m:r>
                      </m:e>
                      <m:sub>
                        <m:r>
                          <a:rPr lang="en-US" altLang="zh-CN" i="1">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最大分别只能取到</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2</m:t>
                        </m:r>
                      </m:sub>
                    </m:sSub>
                  </m:oMath>
                </a14:m>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根据两表象下的基数目相同，可以证明</a:t>
                </a:r>
                <a14:m>
                  <m:oMath xmlns:m="http://schemas.openxmlformats.org/officeDocument/2006/math">
                    <m:r>
                      <a:rPr lang="en-US" altLang="zh-CN" i="1">
                        <a:latin typeface="Cambria Math" panose="02040503050406030204" pitchFamily="18" charset="0"/>
                        <a:ea typeface="微软雅黑" panose="020B0503020204020204" pitchFamily="34" charset="-122"/>
                      </a:rPr>
                      <m:t>𝑠</m:t>
                    </m:r>
                  </m:oMath>
                </a14:m>
                <a:r>
                  <a:rPr lang="zh-CN" altLang="en-US" dirty="0" smtClean="0">
                    <a:latin typeface="微软雅黑" panose="020B0503020204020204" pitchFamily="34" charset="-122"/>
                    <a:ea typeface="微软雅黑" panose="020B0503020204020204" pitchFamily="34" charset="-122"/>
                  </a:rPr>
                  <a:t>可以取</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𝑠</m:t>
                        </m:r>
                      </m:e>
                      <m:sub>
                        <m:r>
                          <a:rPr lang="en-US" altLang="zh-CN" i="1">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−1, …,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𝑠</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oMath>
                </a14:m>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证明放在补充里，可当作练习）</a:t>
                </a:r>
                <a:endParaRPr lang="en-US" altLang="zh-CN" dirty="0" smtClean="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这样在</a:t>
                </a:r>
                <a:r>
                  <a:rPr lang="zh-CN" altLang="en-US" dirty="0">
                    <a:latin typeface="微软雅黑" panose="020B0503020204020204" pitchFamily="34" charset="-122"/>
                    <a:ea typeface="微软雅黑" panose="020B0503020204020204" pitchFamily="34" charset="-122"/>
                  </a:rPr>
                  <a:t>两</a:t>
                </a:r>
                <a:r>
                  <a:rPr lang="zh-CN" altLang="en-US" dirty="0" smtClean="0">
                    <a:latin typeface="微软雅黑" panose="020B0503020204020204" pitchFamily="34" charset="-122"/>
                    <a:ea typeface="微软雅黑" panose="020B0503020204020204" pitchFamily="34" charset="-122"/>
                  </a:rPr>
                  <a:t>体自旋</a:t>
                </a:r>
                <a14:m>
                  <m:oMath xmlns:m="http://schemas.openxmlformats.org/officeDocument/2006/math">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
                          <a:rPr lang="en-US" altLang="zh-CN" i="1">
                            <a:latin typeface="Cambria Math" panose="02040503050406030204" pitchFamily="18" charset="0"/>
                            <a:ea typeface="微软雅黑" panose="020B0503020204020204" pitchFamily="34" charset="-122"/>
                          </a:rPr>
                          <m:t>2</m:t>
                        </m:r>
                      </m:den>
                    </m:f>
                  </m:oMath>
                </a14:m>
                <a:r>
                  <a:rPr lang="zh-CN" altLang="en-US" dirty="0" smtClean="0">
                    <a:latin typeface="微软雅黑" panose="020B0503020204020204" pitchFamily="34" charset="-122"/>
                    <a:ea typeface="微软雅黑" panose="020B0503020204020204" pitchFamily="34" charset="-122"/>
                  </a:rPr>
                  <a:t>系统下，</a:t>
                </a:r>
                <a:r>
                  <a:rPr lang="en-US" altLang="zh-CN" dirty="0">
                    <a:ea typeface="微软雅黑" panose="020B0503020204020204" pitchFamily="34" charset="-122"/>
                  </a:rPr>
                  <a:t> </a:t>
                </a:r>
                <a14:m>
                  <m:oMath xmlns:m="http://schemas.openxmlformats.org/officeDocument/2006/math">
                    <m:r>
                      <a:rPr lang="en-US" altLang="zh-CN" i="1">
                        <a:latin typeface="Cambria Math" panose="02040503050406030204" pitchFamily="18" charset="0"/>
                        <a:ea typeface="微软雅黑" panose="020B0503020204020204" pitchFamily="34" charset="-122"/>
                      </a:rPr>
                      <m:t>𝑠</m:t>
                    </m:r>
                  </m:oMath>
                </a14:m>
                <a:r>
                  <a:rPr lang="zh-CN" altLang="en-US" dirty="0" smtClean="0">
                    <a:latin typeface="微软雅黑" panose="020B0503020204020204" pitchFamily="34" charset="-122"/>
                    <a:ea typeface="微软雅黑" panose="020B0503020204020204" pitchFamily="34" charset="-122"/>
                  </a:rPr>
                  <a:t>只能取</a:t>
                </a:r>
                <a14:m>
                  <m:oMath xmlns:m="http://schemas.openxmlformats.org/officeDocument/2006/math">
                    <m:r>
                      <a:rPr lang="en-US" altLang="zh-CN" i="1">
                        <a:latin typeface="Cambria Math" panose="02040503050406030204" pitchFamily="18" charset="0"/>
                        <a:ea typeface="微软雅黑" panose="020B0503020204020204" pitchFamily="34" charset="-122"/>
                      </a:rPr>
                      <m:t>1</m:t>
                    </m:r>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r>
                      <a:rPr lang="en-US" altLang="zh-CN" b="0" i="1" dirty="0" smtClean="0">
                        <a:latin typeface="Cambria Math" panose="02040503050406030204" pitchFamily="18" charset="0"/>
                        <a:ea typeface="微软雅黑" panose="020B0503020204020204" pitchFamily="34" charset="-122"/>
                      </a:rPr>
                      <m:t>0</m:t>
                    </m:r>
                  </m:oMath>
                </a14:m>
                <a:endParaRPr lang="en-US" altLang="zh-CN" dirty="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46220" y="1213339"/>
                <a:ext cx="11318949" cy="5228675"/>
              </a:xfrm>
              <a:prstGeom prst="rect">
                <a:avLst/>
              </a:prstGeom>
              <a:blipFill rotWithShape="0">
                <a:blip r:embed="rId5"/>
                <a:stretch>
                  <a:fillRect l="-485" t="-466" r="-1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76364481"/>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2-spin systems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425797" y="873094"/>
                <a:ext cx="11318949" cy="6010492"/>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先讨论</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=1, </m:t>
                    </m:r>
                    <m:r>
                      <a:rPr lang="en-US" altLang="zh-CN" b="0" i="1" smtClean="0">
                        <a:latin typeface="Cambria Math" panose="02040503050406030204" pitchFamily="18" charset="0"/>
                        <a:ea typeface="微软雅黑" panose="020B0503020204020204" pitchFamily="34" charset="-122"/>
                      </a:rPr>
                      <m:t>𝑚</m:t>
                    </m:r>
                    <m:r>
                      <a:rPr lang="en-US" altLang="zh-CN" b="0" i="1" smtClean="0">
                        <a:latin typeface="Cambria Math" panose="02040503050406030204" pitchFamily="18" charset="0"/>
                        <a:ea typeface="微软雅黑" panose="020B0503020204020204" pitchFamily="34" charset="-122"/>
                      </a:rPr>
                      <m:t>=1</m:t>
                    </m:r>
                  </m:oMath>
                </a14:m>
                <a:r>
                  <a:rPr lang="zh-CN" altLang="en-US" dirty="0" smtClean="0">
                    <a:latin typeface="微软雅黑" panose="020B0503020204020204" pitchFamily="34" charset="-122"/>
                    <a:ea typeface="微软雅黑" panose="020B0503020204020204" pitchFamily="34" charset="-122"/>
                  </a:rPr>
                  <a:t>，此时</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𝑚</m:t>
                        </m:r>
                      </m:e>
                    </m:d>
                  </m:oMath>
                </a14:m>
                <a:r>
                  <a:rPr lang="zh-CN" altLang="en-US" dirty="0" smtClean="0">
                    <a:latin typeface="微软雅黑" panose="020B0503020204020204" pitchFamily="34" charset="-122"/>
                    <a:ea typeface="微软雅黑" panose="020B0503020204020204" pitchFamily="34" charset="-122"/>
                  </a:rPr>
                  <a:t>只能被写为</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=1</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𝑚</m:t>
                          </m:r>
                          <m:r>
                            <a:rPr lang="en-US" altLang="zh-CN" b="0" i="1" smtClean="0">
                              <a:latin typeface="Cambria Math" panose="02040503050406030204" pitchFamily="18" charset="0"/>
                              <a:ea typeface="微软雅黑" panose="020B0503020204020204" pitchFamily="34" charset="-122"/>
                            </a:rPr>
                            <m:t>=1</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oMath>
                  </m:oMathPara>
                </a14:m>
                <a:endParaRPr lang="en-US" altLang="zh-CN" b="0"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同理</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=1, </m:t>
                          </m:r>
                          <m:r>
                            <a:rPr lang="en-US" altLang="zh-CN" i="1">
                              <a:latin typeface="Cambria Math" panose="02040503050406030204" pitchFamily="18" charset="0"/>
                              <a:ea typeface="微软雅黑" panose="020B0503020204020204" pitchFamily="34" charset="-122"/>
                            </a:rPr>
                            <m:t>𝑚</m:t>
                          </m:r>
                          <m:r>
                            <a:rPr lang="en-US" altLang="zh-CN" i="1">
                              <a:latin typeface="Cambria Math" panose="02040503050406030204" pitchFamily="18" charset="0"/>
                              <a:ea typeface="微软雅黑" panose="020B0503020204020204" pitchFamily="34" charset="-122"/>
                            </a:rPr>
                            <m:t>=−1</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对于</a:t>
                </a:r>
                <a14:m>
                  <m:oMath xmlns:m="http://schemas.openxmlformats.org/officeDocument/2006/math">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=1, </m:t>
                    </m:r>
                    <m:r>
                      <a:rPr lang="en-US" altLang="zh-CN" i="1">
                        <a:latin typeface="Cambria Math" panose="02040503050406030204" pitchFamily="18" charset="0"/>
                        <a:ea typeface="微软雅黑" panose="020B0503020204020204" pitchFamily="34" charset="-122"/>
                      </a:rPr>
                      <m:t>𝑚</m:t>
                    </m:r>
                    <m:r>
                      <a:rPr lang="en-US" altLang="zh-CN" i="1">
                        <a:latin typeface="Cambria Math" panose="02040503050406030204" pitchFamily="18" charset="0"/>
                        <a:ea typeface="微软雅黑" panose="020B0503020204020204" pitchFamily="34" charset="-122"/>
                      </a:rPr>
                      <m:t>=0</m:t>
                    </m:r>
                  </m:oMath>
                </a14:m>
                <a:r>
                  <a:rPr lang="zh-CN" altLang="en-US" dirty="0" smtClean="0">
                    <a:latin typeface="微软雅黑" panose="020B0503020204020204" pitchFamily="34" charset="-122"/>
                    <a:ea typeface="微软雅黑" panose="020B0503020204020204" pitchFamily="34" charset="-122"/>
                  </a:rPr>
                  <a:t>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1, </m:t>
                          </m:r>
                          <m:r>
                            <a:rPr lang="en-US" altLang="zh-CN" b="0" i="1" smtClean="0">
                              <a:latin typeface="Cambria Math" panose="02040503050406030204" pitchFamily="18" charset="0"/>
                              <a:ea typeface="微软雅黑" panose="020B0503020204020204" pitchFamily="34" charset="-122"/>
                            </a:rPr>
                            <m:t>0</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e>
                          <m:r>
                            <a:rPr lang="en-US" altLang="zh-CN" b="0" i="1" smtClean="0">
                              <a:latin typeface="Cambria Math" panose="02040503050406030204" pitchFamily="18" charset="0"/>
                              <a:ea typeface="微软雅黑" panose="020B0503020204020204" pitchFamily="34" charset="-122"/>
                            </a:rPr>
                            <m:t>1, 0</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e>
                          <m:r>
                            <a:rPr lang="en-US" altLang="zh-CN" b="0" i="1" smtClean="0">
                              <a:latin typeface="Cambria Math" panose="02040503050406030204" pitchFamily="18" charset="0"/>
                              <a:ea typeface="微软雅黑" panose="020B0503020204020204" pitchFamily="34" charset="-122"/>
                            </a:rPr>
                            <m:t>1</m:t>
                          </m:r>
                          <m:r>
                            <a:rPr lang="en-US" altLang="zh-CN"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0</m:t>
                          </m:r>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仅凭对</a:t>
                </a:r>
                <a14:m>
                  <m:oMath xmlns:m="http://schemas.openxmlformats.org/officeDocument/2006/math">
                    <m:r>
                      <a:rPr lang="en-US" altLang="zh-CN" i="1">
                        <a:latin typeface="Cambria Math" panose="02040503050406030204" pitchFamily="18" charset="0"/>
                        <a:ea typeface="微软雅黑" panose="020B0503020204020204" pitchFamily="34" charset="-122"/>
                      </a:rPr>
                      <m:t>𝑚</m:t>
                    </m:r>
                  </m:oMath>
                </a14:m>
                <a:r>
                  <a:rPr lang="zh-CN" altLang="en-US" dirty="0" smtClean="0">
                    <a:latin typeface="微软雅黑" panose="020B0503020204020204" pitchFamily="34" charset="-122"/>
                    <a:ea typeface="微软雅黑" panose="020B0503020204020204" pitchFamily="34" charset="-122"/>
                  </a:rPr>
                  <a:t>的限制条件不足以确定系数，下面还要借助升降算符</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定义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𝑆</m:t>
                              </m:r>
                            </m:e>
                          </m:acc>
                        </m:e>
                        <m:sub>
                          <m:r>
                            <a:rPr lang="en-US" altLang="zh-CN" b="0" i="1" dirty="0" smtClean="0">
                              <a:latin typeface="Cambria Math" panose="02040503050406030204" pitchFamily="18" charset="0"/>
                              <a:ea typeface="微软雅黑" panose="020B0503020204020204" pitchFamily="34" charset="-122"/>
                            </a:rPr>
                            <m:t>+</m:t>
                          </m:r>
                        </m:sub>
                      </m:sSub>
                      <m:r>
                        <a:rPr lang="en-US" altLang="zh-CN" b="0" i="1" dirty="0" smtClean="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1</m:t>
                          </m:r>
                          <m:r>
                            <a:rPr lang="en-US" altLang="zh-CN" i="1" dirty="0">
                              <a:latin typeface="Cambria Math" panose="02040503050406030204" pitchFamily="18" charset="0"/>
                              <a:ea typeface="微软雅黑" panose="020B0503020204020204" pitchFamily="34" charset="-122"/>
                            </a:rPr>
                            <m:t>+</m:t>
                          </m:r>
                        </m:sub>
                      </m:sSub>
                      <m:r>
                        <a:rPr lang="en-US" altLang="zh-CN" b="0" i="1" dirty="0" smtClean="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2</m:t>
                          </m:r>
                          <m:r>
                            <a:rPr lang="en-US" altLang="zh-CN" i="1" dirty="0">
                              <a:latin typeface="Cambria Math" panose="02040503050406030204" pitchFamily="18" charset="0"/>
                              <a:ea typeface="微软雅黑" panose="020B0503020204020204" pitchFamily="34" charset="-122"/>
                            </a:rPr>
                            <m:t>+</m:t>
                          </m:r>
                        </m:sub>
                      </m:sSub>
                      <m:r>
                        <a:rPr lang="en-US" altLang="zh-CN" b="0" i="1" dirty="0" smtClean="0">
                          <a:latin typeface="Cambria Math" panose="02040503050406030204" pitchFamily="18" charset="0"/>
                          <a:ea typeface="微软雅黑" panose="020B0503020204020204" pitchFamily="34" charset="-122"/>
                        </a:rPr>
                        <m:t>,  </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m:t>
                          </m:r>
                        </m:sub>
                      </m:sSub>
                      <m:r>
                        <a:rPr lang="en-US" altLang="zh-CN" b="0" i="1" dirty="0" smtClean="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1−</m:t>
                          </m:r>
                        </m:sub>
                      </m:sSub>
                      <m:r>
                        <a:rPr lang="en-US" altLang="zh-CN" b="0" i="1" dirty="0" smtClean="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2−</m:t>
                          </m:r>
                        </m:sub>
                      </m:sSub>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现在既可以对</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1,−1</m:t>
                        </m:r>
                      </m:e>
                    </m:d>
                  </m:oMath>
                </a14:m>
                <a:r>
                  <a:rPr lang="zh-CN" altLang="en-US" dirty="0" smtClean="0">
                    <a:latin typeface="微软雅黑" panose="020B0503020204020204" pitchFamily="34" charset="-122"/>
                    <a:ea typeface="微软雅黑" panose="020B0503020204020204" pitchFamily="34" charset="-122"/>
                  </a:rPr>
                  <a:t>使用升算符得到</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1, 0</m:t>
                        </m:r>
                      </m:e>
                    </m:d>
                  </m:oMath>
                </a14:m>
                <a:r>
                  <a:rPr lang="zh-CN" altLang="en-US" dirty="0" smtClean="0">
                    <a:latin typeface="微软雅黑" panose="020B0503020204020204" pitchFamily="34" charset="-122"/>
                    <a:ea typeface="微软雅黑" panose="020B0503020204020204" pitchFamily="34" charset="-122"/>
                  </a:rPr>
                  <a:t>，也可以对</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1,1</m:t>
                        </m:r>
                      </m:e>
                    </m:d>
                  </m:oMath>
                </a14:m>
                <a:r>
                  <a:rPr lang="zh-CN" altLang="en-US" dirty="0" smtClean="0">
                    <a:latin typeface="微软雅黑" panose="020B0503020204020204" pitchFamily="34" charset="-122"/>
                    <a:ea typeface="微软雅黑" panose="020B0503020204020204" pitchFamily="34" charset="-122"/>
                  </a:rPr>
                  <a:t>使用降算符</a:t>
                </a:r>
                <a:r>
                  <a:rPr lang="zh-CN" altLang="en-US" dirty="0">
                    <a:latin typeface="微软雅黑" panose="020B0503020204020204" pitchFamily="34" charset="-122"/>
                    <a:ea typeface="微软雅黑" panose="020B0503020204020204" pitchFamily="34" charset="-122"/>
                  </a:rPr>
                  <a:t>得到</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1, 0</m:t>
                        </m:r>
                      </m:e>
                    </m:d>
                  </m:oMath>
                </a14:m>
                <a:r>
                  <a:rPr lang="zh-CN" altLang="en-US" dirty="0" smtClean="0">
                    <a:latin typeface="微软雅黑" panose="020B0503020204020204" pitchFamily="34" charset="-122"/>
                    <a:ea typeface="微软雅黑" panose="020B0503020204020204" pitchFamily="34" charset="-122"/>
                  </a:rPr>
                  <a:t>。这里采用后者：</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m:t>
                          </m:r>
                        </m:sub>
                      </m:sSub>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1,1</m:t>
                          </m:r>
                        </m:e>
                      </m:d>
                      <m:r>
                        <a:rPr lang="en-US" altLang="zh-CN" b="0" i="1" smtClean="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1−</m:t>
                          </m:r>
                        </m:sub>
                      </m:sSub>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2−</m:t>
                          </m:r>
                        </m:sub>
                      </m:sSub>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根据</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m:t>
                        </m:r>
                      </m:sub>
                    </m:sSub>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𝑚</m:t>
                        </m:r>
                      </m:e>
                    </m:d>
                    <m:r>
                      <a:rPr lang="en-US" altLang="zh-CN" b="0" i="1" smtClean="0">
                        <a:latin typeface="Cambria Math" panose="02040503050406030204" pitchFamily="18" charset="0"/>
                        <a:ea typeface="微软雅黑" panose="020B0503020204020204" pitchFamily="34" charset="-122"/>
                      </a:rPr>
                      <m:t>=</m:t>
                    </m:r>
                    <m:rad>
                      <m:radPr>
                        <m:degHide m:val="on"/>
                        <m:ctrlPr>
                          <a:rPr lang="en-US" altLang="zh-CN" b="0" i="1" smtClean="0">
                            <a:latin typeface="Cambria Math" panose="02040503050406030204" pitchFamily="18" charset="0"/>
                            <a:ea typeface="微软雅黑" panose="020B0503020204020204" pitchFamily="34" charset="-122"/>
                          </a:rPr>
                        </m:ctrlPr>
                      </m:radPr>
                      <m:deg/>
                      <m:e>
                        <m:r>
                          <a:rPr lang="en-US" altLang="zh-CN" b="0" i="1" smtClean="0">
                            <a:latin typeface="Cambria Math" panose="02040503050406030204" pitchFamily="18" charset="0"/>
                            <a:ea typeface="微软雅黑" panose="020B0503020204020204" pitchFamily="34" charset="-122"/>
                          </a:rPr>
                          <m:t>𝑠</m:t>
                        </m:r>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+1</m:t>
                            </m:r>
                          </m:e>
                        </m: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𝑚</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𝑚</m:t>
                        </m:r>
                        <m:r>
                          <a:rPr lang="en-US" altLang="zh-CN" b="0" i="1" smtClean="0">
                            <a:latin typeface="Cambria Math" panose="02040503050406030204" pitchFamily="18" charset="0"/>
                            <a:ea typeface="微软雅黑" panose="020B0503020204020204" pitchFamily="34" charset="-122"/>
                          </a:rPr>
                          <m:t>−1)</m:t>
                        </m:r>
                      </m:e>
                    </m:ra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𝑚</m:t>
                    </m:r>
                    <m:r>
                      <a:rPr lang="en-US" altLang="zh-CN" b="0" i="1" smtClean="0">
                        <a:latin typeface="Cambria Math" panose="02040503050406030204" pitchFamily="18" charset="0"/>
                        <a:ea typeface="微软雅黑" panose="020B0503020204020204" pitchFamily="34" charset="-122"/>
                      </a:rPr>
                      <m:t>−1⟩</m:t>
                    </m:r>
                  </m:oMath>
                </a14:m>
                <a:r>
                  <a:rPr lang="zh-CN" altLang="en-US" dirty="0" smtClean="0">
                    <a:latin typeface="微软雅黑" panose="020B0503020204020204" pitchFamily="34" charset="-122"/>
                    <a:ea typeface="微软雅黑" panose="020B0503020204020204" pitchFamily="34" charset="-122"/>
                  </a:rPr>
                  <a:t>有</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ad>
                        <m:radPr>
                          <m:degHide m:val="on"/>
                          <m:ctrlPr>
                            <a:rPr lang="en-US" altLang="zh-CN" b="0" i="1" smtClean="0">
                              <a:latin typeface="Cambria Math" panose="02040503050406030204" pitchFamily="18" charset="0"/>
                              <a:ea typeface="微软雅黑" panose="020B0503020204020204" pitchFamily="34" charset="-122"/>
                            </a:rPr>
                          </m:ctrlPr>
                        </m:radPr>
                        <m:deg/>
                        <m:e>
                          <m:r>
                            <a:rPr lang="en-US" altLang="zh-CN" b="0" i="1" smtClean="0">
                              <a:latin typeface="Cambria Math" panose="02040503050406030204" pitchFamily="18" charset="0"/>
                              <a:ea typeface="微软雅黑" panose="020B0503020204020204" pitchFamily="34" charset="-122"/>
                            </a:rPr>
                            <m:t>1×2−1×0</m:t>
                          </m:r>
                        </m:e>
                      </m:rad>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1, 0</m:t>
                          </m:r>
                        </m:e>
                      </m:d>
                      <m:r>
                        <a:rPr lang="en-US" altLang="zh-CN" b="0" i="1" smtClean="0">
                          <a:latin typeface="Cambria Math" panose="02040503050406030204" pitchFamily="18" charset="0"/>
                          <a:ea typeface="微软雅黑" panose="020B0503020204020204" pitchFamily="34" charset="-122"/>
                        </a:rPr>
                        <m:t>=</m:t>
                      </m:r>
                      <m:rad>
                        <m:radPr>
                          <m:degHide m:val="on"/>
                          <m:ctrlPr>
                            <a:rPr lang="en-US" altLang="zh-CN" b="0" i="1" smtClean="0">
                              <a:latin typeface="Cambria Math" panose="02040503050406030204" pitchFamily="18" charset="0"/>
                              <a:ea typeface="微软雅黑" panose="020B0503020204020204" pitchFamily="34" charset="-122"/>
                            </a:rPr>
                          </m:ctrlPr>
                        </m:radPr>
                        <m:deg/>
                        <m:e>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3</m:t>
                              </m:r>
                            </m:num>
                            <m:den>
                              <m:r>
                                <a:rPr lang="en-US" altLang="zh-CN" b="0" i="1" smtClean="0">
                                  <a:latin typeface="Cambria Math" panose="02040503050406030204" pitchFamily="18" charset="0"/>
                                  <a:ea typeface="微软雅黑" panose="020B0503020204020204" pitchFamily="34" charset="-122"/>
                                </a:rPr>
                                <m:t>2</m:t>
                              </m:r>
                            </m:den>
                          </m:f>
                          <m:r>
                            <a:rPr lang="en-US" altLang="zh-CN" b="0" i="1" smtClean="0">
                              <a:latin typeface="Cambria Math" panose="02040503050406030204" pitchFamily="18" charset="0"/>
                              <a:ea typeface="微软雅黑" panose="020B0503020204020204" pitchFamily="34" charset="-122"/>
                            </a:rPr>
                            <m:t> −</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r>
                            <a:rPr lang="en-US" altLang="zh-CN" b="0" i="1" smtClean="0">
                              <a:latin typeface="Cambria Math" panose="02040503050406030204" pitchFamily="18" charset="0"/>
                              <a:ea typeface="微软雅黑" panose="020B0503020204020204" pitchFamily="34" charset="-122"/>
                            </a:rPr>
                            <m:t>)</m:t>
                          </m:r>
                        </m:e>
                      </m:rad>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rad>
                        <m:radPr>
                          <m:degHide m:val="on"/>
                          <m:ctrlPr>
                            <a:rPr lang="en-US" altLang="zh-CN" i="1">
                              <a:latin typeface="Cambria Math" panose="02040503050406030204" pitchFamily="18" charset="0"/>
                              <a:ea typeface="微软雅黑" panose="020B0503020204020204" pitchFamily="34" charset="-122"/>
                            </a:rPr>
                          </m:ctrlPr>
                        </m:radPr>
                        <m:deg/>
                        <m:e>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
                                <a:rPr lang="en-US" altLang="zh-CN" i="1">
                                  <a:latin typeface="Cambria Math" panose="02040503050406030204" pitchFamily="18" charset="0"/>
                                  <a:ea typeface="微软雅黑" panose="020B0503020204020204" pitchFamily="34" charset="-122"/>
                                </a:rPr>
                                <m:t>2</m:t>
                              </m:r>
                            </m:den>
                          </m:f>
                          <m:r>
                            <a:rPr lang="en-US" altLang="zh-CN" i="1">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3</m:t>
                              </m:r>
                            </m:num>
                            <m:den>
                              <m:r>
                                <a:rPr lang="en-US" altLang="zh-CN" i="1">
                                  <a:latin typeface="Cambria Math" panose="02040503050406030204" pitchFamily="18" charset="0"/>
                                  <a:ea typeface="微软雅黑" panose="020B0503020204020204" pitchFamily="34" charset="-122"/>
                                </a:rPr>
                                <m:t>2</m:t>
                              </m:r>
                            </m:den>
                          </m:f>
                          <m:r>
                            <a:rPr lang="en-US" altLang="zh-CN" i="1">
                              <a:latin typeface="Cambria Math" panose="02040503050406030204" pitchFamily="18" charset="0"/>
                              <a:ea typeface="微软雅黑" panose="020B0503020204020204" pitchFamily="34" charset="-122"/>
                            </a:rPr>
                            <m:t> −</m:t>
                          </m:r>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
                                <a:rPr lang="en-US" altLang="zh-CN" i="1">
                                  <a:latin typeface="Cambria Math" panose="02040503050406030204" pitchFamily="18" charset="0"/>
                                  <a:ea typeface="微软雅黑" panose="020B0503020204020204" pitchFamily="34" charset="-122"/>
                                </a:rPr>
                                <m:t>2</m:t>
                              </m:r>
                            </m:den>
                          </m:f>
                          <m:r>
                            <a:rPr lang="en-US" altLang="zh-CN" i="1">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
                                <a:rPr lang="en-US" altLang="zh-CN" i="1">
                                  <a:latin typeface="Cambria Math" panose="02040503050406030204" pitchFamily="18" charset="0"/>
                                  <a:ea typeface="微软雅黑" panose="020B0503020204020204" pitchFamily="34" charset="-122"/>
                                </a:rPr>
                                <m:t>2</m:t>
                              </m:r>
                            </m:den>
                          </m:f>
                          <m:r>
                            <a:rPr lang="en-US" altLang="zh-CN" i="1">
                              <a:latin typeface="Cambria Math" panose="02040503050406030204" pitchFamily="18" charset="0"/>
                              <a:ea typeface="微软雅黑" panose="020B0503020204020204" pitchFamily="34" charset="-122"/>
                            </a:rPr>
                            <m:t>)</m:t>
                          </m:r>
                        </m:e>
                      </m:rad>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得</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1, 0</m:t>
                          </m:r>
                        </m:e>
                      </m:d>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ad>
                            <m:radPr>
                              <m:degHide m:val="on"/>
                              <m:ctrlPr>
                                <a:rPr lang="en-US" altLang="zh-CN" b="0" i="1" smtClean="0">
                                  <a:latin typeface="Cambria Math" panose="02040503050406030204" pitchFamily="18" charset="0"/>
                                  <a:ea typeface="微软雅黑" panose="020B0503020204020204" pitchFamily="34" charset="-122"/>
                                </a:rPr>
                              </m:ctrlPr>
                            </m:radPr>
                            <m:deg/>
                            <m:e>
                              <m:r>
                                <a:rPr lang="en-US" altLang="zh-CN" b="0" i="1" smtClean="0">
                                  <a:latin typeface="Cambria Math" panose="02040503050406030204" pitchFamily="18" charset="0"/>
                                  <a:ea typeface="微软雅黑" panose="020B0503020204020204" pitchFamily="34" charset="-122"/>
                                </a:rPr>
                                <m:t>2</m:t>
                              </m:r>
                            </m:e>
                          </m:rad>
                        </m:den>
                      </m:f>
                      <m:d>
                        <m:dPr>
                          <m:ctrlPr>
                            <a:rPr lang="en-US" altLang="zh-CN" b="0" i="1" smtClean="0">
                              <a:latin typeface="Cambria Math" panose="02040503050406030204" pitchFamily="18" charset="0"/>
                              <a:ea typeface="微软雅黑" panose="020B0503020204020204" pitchFamily="34" charset="-122"/>
                            </a:rPr>
                          </m:ctrlPr>
                        </m:dPr>
                        <m:e>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对于</a:t>
                </a:r>
                <a14:m>
                  <m:oMath xmlns:m="http://schemas.openxmlformats.org/officeDocument/2006/math">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=0, </m:t>
                    </m:r>
                    <m:r>
                      <a:rPr lang="en-US" altLang="zh-CN" i="1">
                        <a:latin typeface="Cambria Math" panose="02040503050406030204" pitchFamily="18" charset="0"/>
                        <a:ea typeface="微软雅黑" panose="020B0503020204020204" pitchFamily="34" charset="-122"/>
                      </a:rPr>
                      <m:t>𝑚</m:t>
                    </m:r>
                    <m:r>
                      <a:rPr lang="en-US" altLang="zh-CN" i="1">
                        <a:latin typeface="Cambria Math" panose="02040503050406030204" pitchFamily="18" charset="0"/>
                        <a:ea typeface="微软雅黑" panose="020B0503020204020204" pitchFamily="34" charset="-122"/>
                      </a:rPr>
                      <m:t>=0</m:t>
                    </m:r>
                  </m:oMath>
                </a14:m>
                <a:r>
                  <a:rPr lang="zh-CN" altLang="en-US" dirty="0" smtClean="0">
                    <a:latin typeface="微软雅黑" panose="020B0503020204020204" pitchFamily="34" charset="-122"/>
                    <a:ea typeface="微软雅黑" panose="020B0503020204020204" pitchFamily="34" charset="-122"/>
                  </a:rPr>
                  <a:t>，只需要让</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|0, 0⟩</m:t>
                    </m:r>
                  </m:oMath>
                </a14:m>
                <a:r>
                  <a:rPr lang="zh-CN" altLang="en-US" dirty="0" smtClean="0">
                    <a:latin typeface="微软雅黑" panose="020B0503020204020204" pitchFamily="34" charset="-122"/>
                    <a:ea typeface="微软雅黑" panose="020B0503020204020204" pitchFamily="34" charset="-122"/>
                  </a:rPr>
                  <a:t>与</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1, 1</m:t>
                        </m:r>
                      </m:e>
                    </m:d>
                    <m:r>
                      <a:rPr lang="en-US" altLang="zh-CN" b="0" i="1" smtClean="0">
                        <a:latin typeface="Cambria Math" panose="02040503050406030204" pitchFamily="18" charset="0"/>
                        <a:ea typeface="微软雅黑" panose="020B0503020204020204" pitchFamily="34" charset="-122"/>
                      </a:rPr>
                      <m:t>, </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1, 0</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1,−1</m:t>
                        </m:r>
                      </m:e>
                    </m:d>
                  </m:oMath>
                </a14:m>
                <a:r>
                  <a:rPr lang="zh-CN" altLang="en-US" dirty="0" smtClean="0">
                    <a:latin typeface="微软雅黑" panose="020B0503020204020204" pitchFamily="34" charset="-122"/>
                    <a:ea typeface="微软雅黑" panose="020B0503020204020204" pitchFamily="34" charset="-122"/>
                  </a:rPr>
                  <a:t>正交即可。得</a:t>
                </a:r>
                <a:endParaRPr lang="en-US" altLang="zh-CN"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0, 0</m:t>
                          </m:r>
                        </m:e>
                      </m:d>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ad>
                            <m:radPr>
                              <m:degHide m:val="on"/>
                              <m:ctrlPr>
                                <a:rPr lang="en-US" altLang="zh-CN" b="0" i="1" smtClean="0">
                                  <a:latin typeface="Cambria Math" panose="02040503050406030204" pitchFamily="18" charset="0"/>
                                  <a:ea typeface="微软雅黑" panose="020B0503020204020204" pitchFamily="34" charset="-122"/>
                                </a:rPr>
                              </m:ctrlPr>
                            </m:radPr>
                            <m:deg/>
                            <m:e>
                              <m:r>
                                <a:rPr lang="en-US" altLang="zh-CN" b="0" i="1" smtClean="0">
                                  <a:latin typeface="Cambria Math" panose="02040503050406030204" pitchFamily="18" charset="0"/>
                                  <a:ea typeface="微软雅黑" panose="020B0503020204020204" pitchFamily="34" charset="-122"/>
                                </a:rPr>
                                <m:t>2</m:t>
                              </m:r>
                            </m:e>
                          </m:rad>
                        </m:den>
                      </m:f>
                      <m:d>
                        <m:dPr>
                          <m:ctrlPr>
                            <a:rPr lang="en-US" altLang="zh-CN" i="1">
                              <a:latin typeface="Cambria Math" panose="02040503050406030204" pitchFamily="18" charset="0"/>
                              <a:ea typeface="微软雅黑" panose="020B0503020204020204" pitchFamily="34" charset="-122"/>
                            </a:rPr>
                          </m:ctrlPr>
                        </m:dPr>
                        <m:e>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e>
                      </m:d>
                    </m:oMath>
                  </m:oMathPara>
                </a14:m>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25797" y="873094"/>
                <a:ext cx="11318949" cy="6010492"/>
              </a:xfrm>
              <a:prstGeom prst="rect">
                <a:avLst/>
              </a:prstGeom>
              <a:blipFill rotWithShape="0">
                <a:blip r:embed="rId5"/>
                <a:stretch>
                  <a:fillRect l="-485" t="-5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1051606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Triplet and singlet states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418147" y="832373"/>
                <a:ext cx="11318949" cy="5964197"/>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1</m:t>
                          </m:r>
                          <m:r>
                            <a:rPr lang="en-US" altLang="zh-CN" i="1">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1</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1, 0</m:t>
                          </m:r>
                        </m:e>
                      </m:d>
                      <m:r>
                        <a:rPr lang="en-US" altLang="zh-CN" i="1">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ad>
                            <m:radPr>
                              <m:degHide m:val="on"/>
                              <m:ctrlPr>
                                <a:rPr lang="en-US" altLang="zh-CN" i="1">
                                  <a:latin typeface="Cambria Math" panose="02040503050406030204" pitchFamily="18" charset="0"/>
                                  <a:ea typeface="微软雅黑" panose="020B0503020204020204" pitchFamily="34" charset="-122"/>
                                </a:rPr>
                              </m:ctrlPr>
                            </m:radPr>
                            <m:deg/>
                            <m:e>
                              <m:r>
                                <a:rPr lang="en-US" altLang="zh-CN" i="1">
                                  <a:latin typeface="Cambria Math" panose="02040503050406030204" pitchFamily="18" charset="0"/>
                                  <a:ea typeface="微软雅黑" panose="020B0503020204020204" pitchFamily="34" charset="-122"/>
                                </a:rPr>
                                <m:t>2</m:t>
                              </m:r>
                            </m:e>
                          </m:rad>
                        </m:den>
                      </m:f>
                      <m:d>
                        <m:dPr>
                          <m:ctrlPr>
                            <a:rPr lang="en-US" altLang="zh-CN" i="1">
                              <a:latin typeface="Cambria Math" panose="02040503050406030204" pitchFamily="18" charset="0"/>
                              <a:ea typeface="微软雅黑" panose="020B0503020204020204" pitchFamily="34" charset="-122"/>
                            </a:rPr>
                          </m:ctrlPr>
                        </m:dPr>
                        <m:e>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e>
                      </m:d>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1, </m:t>
                          </m:r>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1</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上面的三个</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=1</m:t>
                    </m:r>
                  </m:oMath>
                </a14:m>
                <a:r>
                  <a:rPr lang="zh-CN" altLang="en-US" dirty="0" smtClean="0">
                    <a:latin typeface="微软雅黑" panose="020B0503020204020204" pitchFamily="34" charset="-122"/>
                    <a:ea typeface="微软雅黑" panose="020B0503020204020204" pitchFamily="34" charset="-122"/>
                  </a:rPr>
                  <a:t>的态称为自旋</a:t>
                </a:r>
                <a:r>
                  <a:rPr lang="zh-CN" altLang="en-US" dirty="0" smtClean="0">
                    <a:solidFill>
                      <a:srgbClr val="FF0000"/>
                    </a:solidFill>
                    <a:latin typeface="微软雅黑" panose="020B0503020204020204" pitchFamily="34" charset="-122"/>
                    <a:ea typeface="微软雅黑" panose="020B0503020204020204" pitchFamily="34" charset="-122"/>
                  </a:rPr>
                  <a:t>三重态</a:t>
                </a:r>
                <a:endParaRPr lang="en-US" altLang="zh-CN" dirty="0" smtClean="0">
                  <a:solidFill>
                    <a:srgbClr val="FF0000"/>
                  </a:solidFill>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而</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0, 0</m:t>
                          </m:r>
                        </m:e>
                      </m:d>
                      <m:r>
                        <a:rPr lang="en-US" altLang="zh-CN" i="1">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ad>
                            <m:radPr>
                              <m:degHide m:val="on"/>
                              <m:ctrlPr>
                                <a:rPr lang="en-US" altLang="zh-CN" i="1">
                                  <a:latin typeface="Cambria Math" panose="02040503050406030204" pitchFamily="18" charset="0"/>
                                  <a:ea typeface="微软雅黑" panose="020B0503020204020204" pitchFamily="34" charset="-122"/>
                                </a:rPr>
                              </m:ctrlPr>
                            </m:radPr>
                            <m:deg/>
                            <m:e>
                              <m:r>
                                <a:rPr lang="en-US" altLang="zh-CN" i="1">
                                  <a:latin typeface="Cambria Math" panose="02040503050406030204" pitchFamily="18" charset="0"/>
                                  <a:ea typeface="微软雅黑" panose="020B0503020204020204" pitchFamily="34" charset="-122"/>
                                </a:rPr>
                                <m:t>2</m:t>
                              </m:r>
                            </m:e>
                          </m:rad>
                        </m:den>
                      </m:f>
                      <m:d>
                        <m:dPr>
                          <m:ctrlPr>
                            <a:rPr lang="en-US" altLang="zh-CN" i="1">
                              <a:latin typeface="Cambria Math" panose="02040503050406030204" pitchFamily="18" charset="0"/>
                              <a:ea typeface="微软雅黑" panose="020B0503020204020204" pitchFamily="34" charset="-122"/>
                            </a:rPr>
                          </m:ctrlPr>
                        </m:dPr>
                        <m:e>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e>
                      </m:d>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称为自旋</a:t>
                </a:r>
                <a:r>
                  <a:rPr lang="zh-CN" altLang="en-US" dirty="0" smtClean="0">
                    <a:solidFill>
                      <a:srgbClr val="FF0000"/>
                    </a:solidFill>
                    <a:latin typeface="微软雅黑" panose="020B0503020204020204" pitchFamily="34" charset="-122"/>
                    <a:ea typeface="微软雅黑" panose="020B0503020204020204" pitchFamily="34" charset="-122"/>
                  </a:rPr>
                  <a:t>单重态</a:t>
                </a:r>
                <a:endParaRPr lang="en-US" altLang="zh-CN" dirty="0" smtClean="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在量子多体物理中具有至关重要的作用</a:t>
                </a:r>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因为右侧基函数是两个电子</a:t>
                </a:r>
                <a:r>
                  <a:rPr lang="zh-CN" altLang="en-US" dirty="0" smtClean="0">
                    <a:solidFill>
                      <a:srgbClr val="FF0000"/>
                    </a:solidFill>
                    <a:latin typeface="微软雅黑" panose="020B0503020204020204" pitchFamily="34" charset="-122"/>
                    <a:ea typeface="微软雅黑" panose="020B0503020204020204" pitchFamily="34" charset="-122"/>
                  </a:rPr>
                  <a:t>各自自旋</a:t>
                </a:r>
                <a:r>
                  <a:rPr lang="zh-CN" altLang="en-US" dirty="0" smtClean="0">
                    <a:latin typeface="微软雅黑" panose="020B0503020204020204" pitchFamily="34" charset="-122"/>
                    <a:ea typeface="微软雅黑" panose="020B0503020204020204" pitchFamily="34" charset="-122"/>
                  </a:rPr>
                  <a:t>本征态的直积，而右侧基函数是角动量做矢量和后的本征态，称左侧表象为</a:t>
                </a:r>
                <a:r>
                  <a:rPr lang="zh-CN" altLang="en-US" dirty="0" smtClean="0">
                    <a:solidFill>
                      <a:srgbClr val="FF0000"/>
                    </a:solidFill>
                    <a:latin typeface="微软雅黑" panose="020B0503020204020204" pitchFamily="34" charset="-122"/>
                    <a:ea typeface="微软雅黑" panose="020B0503020204020204" pitchFamily="34" charset="-122"/>
                  </a:rPr>
                  <a:t>耦合表象</a:t>
                </a:r>
                <a:endParaRPr lang="en-US" altLang="zh-CN" dirty="0" smtClean="0">
                  <a:solidFill>
                    <a:srgbClr val="FF0000"/>
                  </a:solidFill>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18147" y="832373"/>
                <a:ext cx="11318949" cy="5964197"/>
              </a:xfrm>
              <a:prstGeom prst="rect">
                <a:avLst/>
              </a:prstGeom>
              <a:blipFill rotWithShape="0">
                <a:blip r:embed="rId5"/>
                <a:stretch>
                  <a:fillRect l="-4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2353427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Product state and entangled state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418147" y="832373"/>
                <a:ext cx="11318949" cy="5107104"/>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考察下面两个态：</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用张量积的形式重写第一个态有</a:t>
                </a:r>
                <a:endParaRPr lang="en-US" altLang="zh-CN" dirty="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 </m:t>
                      </m:r>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也就是说，这样的一个态既可以先做张量积后再叠加，也可以在</a:t>
                </a:r>
                <a:r>
                  <a:rPr lang="zh-CN" altLang="en-US" dirty="0" smtClean="0">
                    <a:solidFill>
                      <a:srgbClr val="FF0000"/>
                    </a:solidFill>
                    <a:latin typeface="微软雅黑" panose="020B0503020204020204" pitchFamily="34" charset="-122"/>
                    <a:ea typeface="微软雅黑" panose="020B0503020204020204" pitchFamily="34" charset="-122"/>
                  </a:rPr>
                  <a:t>各自的自旋空间</a:t>
                </a:r>
                <a:r>
                  <a:rPr lang="zh-CN" altLang="en-US" dirty="0" smtClean="0">
                    <a:latin typeface="微软雅黑" panose="020B0503020204020204" pitchFamily="34" charset="-122"/>
                    <a:ea typeface="微软雅黑" panose="020B0503020204020204" pitchFamily="34" charset="-122"/>
                  </a:rPr>
                  <a:t>做叠加后再做张量积</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现在将</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dirty="0">
                            <a:latin typeface="Cambria Math" panose="02040503050406030204" pitchFamily="18" charset="0"/>
                            <a:ea typeface="微软雅黑" panose="020B0503020204020204" pitchFamily="34" charset="-122"/>
                          </a:rPr>
                          <m:t>+</m:t>
                        </m:r>
                      </m:sub>
                    </m:sSub>
                  </m:oMath>
                </a14:m>
                <a:r>
                  <a:rPr lang="zh-CN" altLang="en-US" dirty="0" smtClean="0">
                    <a:latin typeface="微软雅黑" panose="020B0503020204020204" pitchFamily="34" charset="-122"/>
                    <a:ea typeface="微软雅黑" panose="020B0503020204020204" pitchFamily="34" charset="-122"/>
                  </a:rPr>
                  <a:t>作用在（</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）上有</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dirty="0">
                              <a:latin typeface="Cambria Math" panose="02040503050406030204" pitchFamily="18" charset="0"/>
                              <a:ea typeface="微软雅黑" panose="020B0503020204020204" pitchFamily="34" charset="-122"/>
                            </a:rPr>
                            <m:t>+</m:t>
                          </m:r>
                        </m:sub>
                      </m:sSub>
                      <m:r>
                        <a:rPr lang="en-US" altLang="zh-CN" b="0" i="1" dirty="0"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1</m:t>
                          </m:r>
                          <m:r>
                            <a:rPr lang="en-US" altLang="zh-CN" i="1" dirty="0">
                              <a:latin typeface="Cambria Math" panose="02040503050406030204" pitchFamily="18" charset="0"/>
                              <a:ea typeface="微软雅黑" panose="020B0503020204020204" pitchFamily="34" charset="-122"/>
                            </a:rPr>
                            <m:t>+</m:t>
                          </m:r>
                        </m:sub>
                      </m:sSub>
                      <m:r>
                        <a:rPr lang="en-US" altLang="zh-CN" b="0" i="1" dirty="0" smtClean="0">
                          <a:latin typeface="Cambria Math" panose="02040503050406030204" pitchFamily="18" charset="0"/>
                          <a:ea typeface="微软雅黑" panose="020B0503020204020204" pitchFamily="34" charset="-122"/>
                        </a:rPr>
                        <m:t>⊗</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𝐼</m:t>
                          </m:r>
                        </m:e>
                      </m:acc>
                      <m:r>
                        <a:rPr lang="en-US" altLang="zh-CN" b="0" i="1" dirty="0" smtClean="0">
                          <a:latin typeface="Cambria Math" panose="02040503050406030204" pitchFamily="18" charset="0"/>
                          <a:ea typeface="微软雅黑" panose="020B0503020204020204" pitchFamily="34" charset="-122"/>
                        </a:rPr>
                        <m:t>)+(</m:t>
                      </m:r>
                      <m:acc>
                        <m:accPr>
                          <m:chr m:val="̂"/>
                          <m:ctrlPr>
                            <a:rPr lang="en-US" altLang="zh-CN" i="1" dirty="0">
                              <a:latin typeface="Cambria Math" panose="02040503050406030204" pitchFamily="18" charset="0"/>
                              <a:ea typeface="微软雅黑" panose="020B0503020204020204" pitchFamily="34" charset="-122"/>
                            </a:rPr>
                          </m:ctrlPr>
                        </m:accPr>
                        <m:e>
                          <m:r>
                            <a:rPr lang="en-US" altLang="zh-CN" i="1" dirty="0">
                              <a:latin typeface="Cambria Math" panose="02040503050406030204" pitchFamily="18" charset="0"/>
                              <a:ea typeface="微软雅黑" panose="020B0503020204020204" pitchFamily="34" charset="-122"/>
                            </a:rPr>
                            <m:t>𝐼</m:t>
                          </m:r>
                        </m:e>
                      </m:acc>
                      <m:r>
                        <a:rPr lang="en-US" altLang="zh-CN" i="1" dirty="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b="0" i="1" smtClean="0">
                              <a:latin typeface="Cambria Math" panose="02040503050406030204" pitchFamily="18" charset="0"/>
                              <a:ea typeface="微软雅黑" panose="020B0503020204020204" pitchFamily="34" charset="-122"/>
                            </a:rPr>
                            <m:t>2</m:t>
                          </m:r>
                          <m:r>
                            <a:rPr lang="en-US" altLang="zh-CN" i="1" dirty="0">
                              <a:latin typeface="Cambria Math" panose="02040503050406030204" pitchFamily="18" charset="0"/>
                              <a:ea typeface="微软雅黑" panose="020B0503020204020204" pitchFamily="34" charset="-122"/>
                            </a:rPr>
                            <m:t>+</m:t>
                          </m:r>
                        </m:sub>
                      </m:sSub>
                      <m:r>
                        <a:rPr lang="en-US" altLang="zh-CN" b="0" i="1" dirty="0"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1</m:t>
                          </m:r>
                          <m:r>
                            <a:rPr lang="en-US" altLang="zh-CN" i="1" dirty="0">
                              <a:latin typeface="Cambria Math" panose="02040503050406030204" pitchFamily="18" charset="0"/>
                              <a:ea typeface="微软雅黑" panose="020B0503020204020204" pitchFamily="34" charset="-122"/>
                            </a:rPr>
                            <m:t>+</m:t>
                          </m:r>
                        </m:sub>
                      </m:sSub>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𝑆</m:t>
                              </m:r>
                            </m:e>
                          </m:acc>
                        </m:e>
                        <m:sub>
                          <m:r>
                            <a:rPr lang="en-US" altLang="zh-CN" i="1">
                              <a:latin typeface="Cambria Math" panose="02040503050406030204" pitchFamily="18" charset="0"/>
                              <a:ea typeface="微软雅黑" panose="020B0503020204020204" pitchFamily="34" charset="-122"/>
                            </a:rPr>
                            <m:t>2</m:t>
                          </m:r>
                          <m:r>
                            <a:rPr lang="en-US" altLang="zh-CN" i="1" dirty="0">
                              <a:latin typeface="Cambria Math" panose="02040503050406030204" pitchFamily="18" charset="0"/>
                              <a:ea typeface="微软雅黑" panose="020B0503020204020204" pitchFamily="34" charset="-122"/>
                            </a:rPr>
                            <m:t>+</m:t>
                          </m:r>
                        </m:sub>
                      </m:sSub>
                      <m:r>
                        <a:rPr lang="en-US" altLang="zh-CN" i="1">
                          <a:latin typeface="Cambria Math" panose="02040503050406030204" pitchFamily="18" charset="0"/>
                          <a:ea typeface="微软雅黑" panose="020B0503020204020204" pitchFamily="34" charset="-122"/>
                        </a:rPr>
                        <m:t>(|+⟩+|−⟩) </m:t>
                      </m:r>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操作变成</a:t>
                </a:r>
                <a:r>
                  <a:rPr lang="zh-CN" altLang="en-US" dirty="0" smtClean="0">
                    <a:solidFill>
                      <a:srgbClr val="FF0000"/>
                    </a:solidFill>
                    <a:latin typeface="微软雅黑" panose="020B0503020204020204" pitchFamily="34" charset="-122"/>
                    <a:ea typeface="微软雅黑" panose="020B0503020204020204" pitchFamily="34" charset="-122"/>
                  </a:rPr>
                  <a:t>各自自旋空间的算符</a:t>
                </a:r>
                <a:r>
                  <a:rPr lang="zh-CN" altLang="en-US" dirty="0" smtClean="0">
                    <a:latin typeface="微软雅黑" panose="020B0503020204020204" pitchFamily="34" charset="-122"/>
                    <a:ea typeface="微软雅黑" panose="020B0503020204020204" pitchFamily="34" charset="-122"/>
                  </a:rPr>
                  <a:t>操作在对应态上后再做张量积，互不影响与干扰</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这样</a:t>
                </a:r>
                <a:r>
                  <a:rPr lang="zh-CN" altLang="en-US" dirty="0" smtClean="0">
                    <a:latin typeface="微软雅黑" panose="020B0503020204020204" pitchFamily="34" charset="-122"/>
                    <a:ea typeface="微软雅黑" panose="020B0503020204020204" pitchFamily="34" charset="-122"/>
                  </a:rPr>
                  <a:t>的态称为</a:t>
                </a:r>
                <a:r>
                  <a:rPr lang="zh-CN" altLang="en-US" dirty="0" smtClean="0">
                    <a:solidFill>
                      <a:srgbClr val="FF0000"/>
                    </a:solidFill>
                    <a:latin typeface="微软雅黑" panose="020B0503020204020204" pitchFamily="34" charset="-122"/>
                    <a:ea typeface="微软雅黑" panose="020B0503020204020204" pitchFamily="34" charset="-122"/>
                  </a:rPr>
                  <a:t>直积态</a:t>
                </a:r>
                <a:endParaRPr lang="en-US" altLang="zh-CN" dirty="0" smtClean="0">
                  <a:solidFill>
                    <a:srgbClr val="FF0000"/>
                  </a:solidFill>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而</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oMath>
                </a14:m>
                <a:r>
                  <a:rPr lang="zh-CN" altLang="en-US" dirty="0" smtClean="0">
                    <a:latin typeface="微软雅黑" panose="020B0503020204020204" pitchFamily="34" charset="-122"/>
                    <a:ea typeface="微软雅黑" panose="020B0503020204020204" pitchFamily="34" charset="-122"/>
                  </a:rPr>
                  <a:t>却不能写成如上两粒子态张量积的形式（证明作为练习），称为</a:t>
                </a:r>
                <a:r>
                  <a:rPr lang="zh-CN" altLang="en-US" dirty="0" smtClean="0">
                    <a:solidFill>
                      <a:srgbClr val="FF0000"/>
                    </a:solidFill>
                    <a:latin typeface="微软雅黑" panose="020B0503020204020204" pitchFamily="34" charset="-122"/>
                    <a:ea typeface="微软雅黑" panose="020B0503020204020204" pitchFamily="34" charset="-122"/>
                  </a:rPr>
                  <a:t>纠缠态</a:t>
                </a:r>
                <a:endParaRPr lang="en-US" altLang="zh-CN" dirty="0" smtClean="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纠缠</a:t>
                </a:r>
                <a:r>
                  <a:rPr lang="zh-CN" altLang="en-US" dirty="0" smtClean="0">
                    <a:latin typeface="微软雅黑" panose="020B0503020204020204" pitchFamily="34" charset="-122"/>
                    <a:ea typeface="微软雅黑" panose="020B0503020204020204" pitchFamily="34" charset="-122"/>
                  </a:rPr>
                  <a:t>态在量子测量理论和量子计算中具有重要地位</a:t>
                </a:r>
                <a:endParaRPr lang="en-US" altLang="zh-CN" dirty="0" smtClean="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18147" y="832373"/>
                <a:ext cx="11318949" cy="5107104"/>
              </a:xfrm>
              <a:prstGeom prst="rect">
                <a:avLst/>
              </a:prstGeom>
              <a:blipFill rotWithShape="0">
                <a:blip r:embed="rId5"/>
                <a:stretch>
                  <a:fillRect l="-485" b="-1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1806941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Spin-orbital coupling</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xmlns:a14="http://schemas.microsoft.com/office/drawing/2010/main">
        <mc:Choice Requires="a14">
          <p:sp>
            <p:nvSpPr>
              <p:cNvPr id="4" name="文本框 3"/>
              <p:cNvSpPr txBox="1"/>
              <p:nvPr/>
            </p:nvSpPr>
            <p:spPr>
              <a:xfrm>
                <a:off x="418147" y="832373"/>
                <a:ext cx="11318949" cy="5603778"/>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下面讨论另外一种角动量的叠加，单电子自旋</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轨道耦合</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由于没有直接讨论连续情况下的运动方程，轨道角动量没有讨论，但并不影响直接讨论</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轨道角动量</a:t>
                </a:r>
                <a14:m>
                  <m:oMath xmlns:m="http://schemas.openxmlformats.org/officeDocument/2006/math">
                    <m:acc>
                      <m:accPr>
                        <m:chr m:val="̂"/>
                        <m:ctrlPr>
                          <a:rPr lang="en-US" altLang="zh-CN" b="1" i="1" smtClean="0">
                            <a:latin typeface="Cambria Math" panose="02040503050406030204" pitchFamily="18" charset="0"/>
                            <a:ea typeface="微软雅黑" panose="020B0503020204020204" pitchFamily="34" charset="-122"/>
                          </a:rPr>
                        </m:ctrlPr>
                      </m:accPr>
                      <m:e>
                        <m:r>
                          <a:rPr lang="en-US" altLang="zh-CN" b="1" i="1" smtClean="0">
                            <a:latin typeface="Cambria Math" panose="02040503050406030204" pitchFamily="18" charset="0"/>
                            <a:ea typeface="微软雅黑" panose="020B0503020204020204" pitchFamily="34" charset="-122"/>
                          </a:rPr>
                          <m:t>𝑳</m:t>
                        </m:r>
                      </m:e>
                    </m:acc>
                  </m:oMath>
                </a14:m>
                <a:r>
                  <a:rPr lang="zh-CN" altLang="en-US" b="0" dirty="0" smtClean="0">
                    <a:latin typeface="微软雅黑" panose="020B0503020204020204" pitchFamily="34" charset="-122"/>
                    <a:ea typeface="微软雅黑" panose="020B0503020204020204" pitchFamily="34" charset="-122"/>
                  </a:rPr>
                  <a:t>满足本征值方程</a:t>
                </a:r>
                <a:endParaRPr lang="en-US" altLang="zh-CN" b="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altLang="zh-CN" b="0" i="1" dirty="0" smtClean="0">
                              <a:latin typeface="Cambria Math" panose="02040503050406030204" pitchFamily="18" charset="0"/>
                              <a:ea typeface="微软雅黑" panose="020B0503020204020204" pitchFamily="34" charset="-122"/>
                            </a:rPr>
                          </m:ctrlPr>
                        </m:sSup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𝐿</m:t>
                              </m:r>
                            </m:e>
                          </m:acc>
                        </m:e>
                        <m:sup>
                          <m:r>
                            <a:rPr lang="en-US" altLang="zh-CN" b="0" i="1" dirty="0" smtClean="0">
                              <a:latin typeface="Cambria Math" panose="02040503050406030204" pitchFamily="18" charset="0"/>
                              <a:ea typeface="微软雅黑" panose="020B0503020204020204" pitchFamily="34" charset="-122"/>
                            </a:rPr>
                            <m:t>2</m:t>
                          </m:r>
                        </m:sup>
                      </m:sSup>
                      <m:d>
                        <m:dPr>
                          <m:begChr m:val="|"/>
                          <m:endChr m:val="⟩"/>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𝑙</m:t>
                          </m:r>
                          <m:r>
                            <a:rPr lang="en-US" altLang="zh-CN" b="0" i="1" dirty="0" smtClean="0">
                              <a:latin typeface="Cambria Math" panose="02040503050406030204" pitchFamily="18" charset="0"/>
                              <a:ea typeface="微软雅黑" panose="020B0503020204020204" pitchFamily="34" charset="-122"/>
                            </a:rPr>
                            <m:t>, </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𝑚</m:t>
                              </m:r>
                            </m:e>
                            <m:sub>
                              <m:r>
                                <a:rPr lang="en-US" altLang="zh-CN" b="0" i="1" dirty="0" smtClean="0">
                                  <a:latin typeface="Cambria Math" panose="02040503050406030204" pitchFamily="18" charset="0"/>
                                  <a:ea typeface="微软雅黑" panose="020B0503020204020204" pitchFamily="34" charset="-122"/>
                                </a:rPr>
                                <m:t>𝑙</m:t>
                              </m:r>
                            </m:sub>
                          </m:sSub>
                        </m:e>
                      </m:d>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𝑙</m:t>
                      </m:r>
                      <m:d>
                        <m:dPr>
                          <m:ctrlPr>
                            <a:rPr lang="en-US" altLang="zh-CN" b="0" i="1" dirty="0" smtClean="0">
                              <a:latin typeface="Cambria Math" panose="02040503050406030204" pitchFamily="18" charset="0"/>
                              <a:ea typeface="微软雅黑" panose="020B0503020204020204" pitchFamily="34" charset="-122"/>
                            </a:rPr>
                          </m:ctrlPr>
                        </m:dPr>
                        <m:e>
                          <m:r>
                            <a:rPr lang="en-US" altLang="zh-CN" b="0" i="1" dirty="0" smtClean="0">
                              <a:latin typeface="Cambria Math" panose="02040503050406030204" pitchFamily="18" charset="0"/>
                              <a:ea typeface="微软雅黑" panose="020B0503020204020204" pitchFamily="34" charset="-122"/>
                            </a:rPr>
                            <m:t>𝑙</m:t>
                          </m:r>
                          <m:r>
                            <a:rPr lang="en-US" altLang="zh-CN" b="0" i="1" dirty="0" smtClean="0">
                              <a:latin typeface="Cambria Math" panose="02040503050406030204" pitchFamily="18" charset="0"/>
                              <a:ea typeface="微软雅黑" panose="020B0503020204020204" pitchFamily="34" charset="-122"/>
                            </a:rPr>
                            <m:t>+1</m:t>
                          </m:r>
                        </m:e>
                      </m:d>
                      <m:sSup>
                        <m:sSupPr>
                          <m:ctrlPr>
                            <a:rPr lang="en-US" altLang="zh-CN" b="0" i="1" dirty="0" smtClean="0">
                              <a:latin typeface="Cambria Math" panose="02040503050406030204" pitchFamily="18" charset="0"/>
                              <a:ea typeface="微软雅黑" panose="020B0503020204020204" pitchFamily="34" charset="-122"/>
                            </a:rPr>
                          </m:ctrlPr>
                        </m:sSupPr>
                        <m:e>
                          <m:r>
                            <a:rPr lang="en-US" altLang="zh-CN" b="0" i="1" dirty="0" smtClean="0">
                              <a:latin typeface="Cambria Math" panose="02040503050406030204" pitchFamily="18" charset="0"/>
                              <a:ea typeface="微软雅黑" panose="020B0503020204020204" pitchFamily="34" charset="-122"/>
                            </a:rPr>
                            <m:t>ℏ</m:t>
                          </m:r>
                        </m:e>
                        <m:sup>
                          <m:r>
                            <a:rPr lang="en-US" altLang="zh-CN" b="0" i="1" dirty="0" smtClean="0">
                              <a:latin typeface="Cambria Math" panose="02040503050406030204" pitchFamily="18" charset="0"/>
                              <a:ea typeface="微软雅黑" panose="020B0503020204020204" pitchFamily="34" charset="-122"/>
                            </a:rPr>
                            <m:t>2</m:t>
                          </m:r>
                        </m:sup>
                      </m:sSup>
                      <m:r>
                        <a:rPr lang="en-US" altLang="zh-CN" b="0" i="1" dirty="0" smtClean="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𝑙</m:t>
                      </m:r>
                      <m:r>
                        <a:rPr lang="en-US" altLang="zh-CN" b="0" i="1" dirty="0" smtClean="0">
                          <a:latin typeface="Cambria Math" panose="02040503050406030204" pitchFamily="18" charset="0"/>
                          <a:ea typeface="微软雅黑" panose="020B0503020204020204" pitchFamily="34" charset="-122"/>
                        </a:rPr>
                        <m:t>, </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𝑚</m:t>
                          </m:r>
                        </m:e>
                        <m:sub>
                          <m:r>
                            <a:rPr lang="en-US" altLang="zh-CN" b="0" i="1" dirty="0" smtClean="0">
                              <a:latin typeface="Cambria Math" panose="02040503050406030204" pitchFamily="18" charset="0"/>
                              <a:ea typeface="微软雅黑" panose="020B0503020204020204" pitchFamily="34" charset="-122"/>
                            </a:rPr>
                            <m:t>𝑙</m:t>
                          </m:r>
                        </m:sub>
                      </m:sSub>
                      <m:r>
                        <a:rPr lang="en-US" altLang="zh-CN" b="0" i="1" dirty="0" smtClean="0">
                          <a:latin typeface="Cambria Math" panose="02040503050406030204" pitchFamily="18" charset="0"/>
                          <a:ea typeface="微软雅黑" panose="020B0503020204020204" pitchFamily="34" charset="-122"/>
                        </a:rPr>
                        <m:t>⟩</m:t>
                      </m:r>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𝐿</m:t>
                              </m:r>
                            </m:e>
                          </m:acc>
                        </m:e>
                        <m:sub>
                          <m:r>
                            <a:rPr lang="en-US" altLang="zh-CN" b="0" i="1" smtClean="0">
                              <a:latin typeface="Cambria Math" panose="02040503050406030204" pitchFamily="18" charset="0"/>
                              <a:ea typeface="微软雅黑" panose="020B0503020204020204" pitchFamily="34" charset="-122"/>
                            </a:rPr>
                            <m:t>𝑧</m:t>
                          </m:r>
                        </m:sub>
                      </m:sSub>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𝑙</m:t>
                          </m:r>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𝑙</m:t>
                              </m:r>
                            </m:sub>
                          </m:sSub>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𝑙</m:t>
                          </m:r>
                        </m:e>
                        <m:sub>
                          <m:r>
                            <a:rPr lang="en-US" altLang="zh-CN" b="0" i="1" smtClean="0">
                              <a:latin typeface="Cambria Math" panose="02040503050406030204" pitchFamily="18" charset="0"/>
                              <a:ea typeface="微软雅黑" panose="020B0503020204020204" pitchFamily="34" charset="-122"/>
                            </a:rPr>
                            <m:t>𝑧</m:t>
                          </m:r>
                        </m:sub>
                      </m:sSub>
                      <m:r>
                        <a:rPr lang="en-US" altLang="zh-CN" b="0" i="1" smtClean="0">
                          <a:latin typeface="Cambria Math" panose="02040503050406030204" pitchFamily="18" charset="0"/>
                          <a:ea typeface="微软雅黑" panose="020B0503020204020204" pitchFamily="34" charset="-122"/>
                        </a:rPr>
                        <m:t>ℏ|</m:t>
                      </m:r>
                      <m:r>
                        <a:rPr lang="en-US" altLang="zh-CN" b="0" i="1" smtClean="0">
                          <a:latin typeface="Cambria Math" panose="02040503050406030204" pitchFamily="18" charset="0"/>
                          <a:ea typeface="微软雅黑" panose="020B0503020204020204" pitchFamily="34" charset="-122"/>
                        </a:rPr>
                        <m:t>𝑙</m:t>
                      </m:r>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𝑙</m:t>
                          </m:r>
                        </m:sub>
                      </m:sSub>
                      <m:r>
                        <a:rPr lang="en-US" altLang="zh-CN" b="0" i="1" smtClean="0">
                          <a:latin typeface="Cambria Math" panose="02040503050406030204" pitchFamily="18" charset="0"/>
                          <a:ea typeface="微软雅黑" panose="020B0503020204020204" pitchFamily="34" charset="-122"/>
                        </a:rPr>
                        <m:t>⟩</m:t>
                      </m:r>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与一般角动量唯一不同的是</a:t>
                </a:r>
                <a14:m>
                  <m:oMath xmlns:m="http://schemas.openxmlformats.org/officeDocument/2006/math">
                    <m:r>
                      <a:rPr lang="en-US" altLang="zh-CN" i="1" dirty="0">
                        <a:latin typeface="Cambria Math" panose="02040503050406030204" pitchFamily="18" charset="0"/>
                        <a:ea typeface="微软雅黑" panose="020B0503020204020204" pitchFamily="34" charset="-122"/>
                      </a:rPr>
                      <m:t>𝑙</m:t>
                    </m:r>
                  </m:oMath>
                </a14:m>
                <a:r>
                  <a:rPr lang="zh-CN" altLang="en-US" b="0" dirty="0" smtClean="0">
                    <a:latin typeface="微软雅黑" panose="020B0503020204020204" pitchFamily="34" charset="-122"/>
                    <a:ea typeface="微软雅黑" panose="020B0503020204020204" pitchFamily="34" charset="-122"/>
                  </a:rPr>
                  <a:t>只能取整数</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b="0" dirty="0" smtClean="0">
                    <a:latin typeface="微软雅黑" panose="020B0503020204020204" pitchFamily="34" charset="-122"/>
                    <a:ea typeface="微软雅黑" panose="020B0503020204020204" pitchFamily="34" charset="-122"/>
                  </a:rPr>
                  <a:t>下面定义总角动量</a:t>
                </a:r>
                <a14:m>
                  <m:oMath xmlns:m="http://schemas.openxmlformats.org/officeDocument/2006/math">
                    <m:acc>
                      <m:accPr>
                        <m:chr m:val="̂"/>
                        <m:ctrlPr>
                          <a:rPr lang="en-US" altLang="zh-CN" b="1" i="1" smtClean="0">
                            <a:latin typeface="Cambria Math" panose="02040503050406030204" pitchFamily="18" charset="0"/>
                            <a:ea typeface="微软雅黑" panose="020B0503020204020204" pitchFamily="34" charset="-122"/>
                          </a:rPr>
                        </m:ctrlPr>
                      </m:accPr>
                      <m:e>
                        <m:r>
                          <a:rPr lang="en-US" altLang="zh-CN" b="1" i="1" smtClean="0">
                            <a:latin typeface="Cambria Math" panose="02040503050406030204" pitchFamily="18" charset="0"/>
                            <a:ea typeface="微软雅黑" panose="020B0503020204020204" pitchFamily="34" charset="-122"/>
                          </a:rPr>
                          <m:t>𝑱</m:t>
                        </m:r>
                      </m:e>
                    </m:acc>
                    <m:r>
                      <a:rPr lang="en-US" altLang="zh-CN" b="1" i="1" dirty="0" smtClean="0">
                        <a:latin typeface="Cambria Math" panose="02040503050406030204" pitchFamily="18" charset="0"/>
                        <a:ea typeface="微软雅黑" panose="020B0503020204020204" pitchFamily="34" charset="-122"/>
                      </a:rPr>
                      <m:t>=</m:t>
                    </m:r>
                    <m:acc>
                      <m:accPr>
                        <m:chr m:val="̂"/>
                        <m:ctrlPr>
                          <a:rPr lang="en-US" altLang="zh-CN" b="1" i="1" dirty="0" smtClean="0">
                            <a:latin typeface="Cambria Math" panose="02040503050406030204" pitchFamily="18" charset="0"/>
                            <a:ea typeface="微软雅黑" panose="020B0503020204020204" pitchFamily="34" charset="-122"/>
                          </a:rPr>
                        </m:ctrlPr>
                      </m:accPr>
                      <m:e>
                        <m:r>
                          <a:rPr lang="en-US" altLang="zh-CN" b="1" i="1" dirty="0" smtClean="0">
                            <a:latin typeface="Cambria Math" panose="02040503050406030204" pitchFamily="18" charset="0"/>
                            <a:ea typeface="微软雅黑" panose="020B0503020204020204" pitchFamily="34" charset="-122"/>
                          </a:rPr>
                          <m:t>𝑳</m:t>
                        </m:r>
                      </m:e>
                    </m:acc>
                    <m:r>
                      <a:rPr lang="en-US" altLang="zh-CN" b="1" i="1" dirty="0" smtClean="0">
                        <a:latin typeface="Cambria Math" panose="02040503050406030204" pitchFamily="18" charset="0"/>
                        <a:ea typeface="微软雅黑" panose="020B0503020204020204" pitchFamily="34" charset="-122"/>
                      </a:rPr>
                      <m:t>+</m:t>
                    </m:r>
                    <m:acc>
                      <m:accPr>
                        <m:chr m:val="̂"/>
                        <m:ctrlPr>
                          <a:rPr lang="en-US" altLang="zh-CN" b="1" i="1" dirty="0" smtClean="0">
                            <a:latin typeface="Cambria Math" panose="02040503050406030204" pitchFamily="18" charset="0"/>
                            <a:ea typeface="微软雅黑" panose="020B0503020204020204" pitchFamily="34" charset="-122"/>
                          </a:rPr>
                        </m:ctrlPr>
                      </m:accPr>
                      <m:e>
                        <m:r>
                          <a:rPr lang="en-US" altLang="zh-CN" b="1" i="1" dirty="0" smtClean="0">
                            <a:latin typeface="Cambria Math" panose="02040503050406030204" pitchFamily="18" charset="0"/>
                            <a:ea typeface="微软雅黑" panose="020B0503020204020204" pitchFamily="34" charset="-122"/>
                          </a:rPr>
                          <m:t>𝑺</m:t>
                        </m:r>
                      </m:e>
                    </m:acc>
                  </m:oMath>
                </a14:m>
                <a:endParaRPr lang="en-US" altLang="zh-CN" b="1" dirty="0" smtClean="0">
                  <a:latin typeface="微软雅黑" panose="020B0503020204020204" pitchFamily="34" charset="-122"/>
                  <a:ea typeface="微软雅黑" panose="020B0503020204020204" pitchFamily="34" charset="-122"/>
                </a:endParaRPr>
              </a:p>
              <a:p>
                <a:pPr>
                  <a:lnSpc>
                    <a:spcPct val="150000"/>
                  </a:lnSpc>
                </a:pPr>
                <a:r>
                  <a:rPr lang="zh-CN" altLang="en-US" b="0" dirty="0" smtClean="0">
                    <a:latin typeface="微软雅黑" panose="020B0503020204020204" pitchFamily="34" charset="-122"/>
                    <a:ea typeface="微软雅黑" panose="020B0503020204020204" pitchFamily="34" charset="-122"/>
                  </a:rPr>
                  <a:t>与前面一样，有</a:t>
                </a:r>
                <a:endParaRPr lang="en-US" altLang="zh-CN" b="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𝐽</m:t>
                              </m:r>
                            </m:e>
                            <m:sub>
                              <m:r>
                                <a:rPr lang="en-US" altLang="zh-CN" b="0" i="1" smtClean="0">
                                  <a:latin typeface="Cambria Math" panose="02040503050406030204" pitchFamily="18" charset="0"/>
                                  <a:ea typeface="微软雅黑" panose="020B0503020204020204" pitchFamily="34" charset="-122"/>
                                </a:rPr>
                                <m:t>𝑥</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𝐽</m:t>
                              </m:r>
                            </m:e>
                            <m:sub>
                              <m:r>
                                <a:rPr lang="en-US" altLang="zh-CN" b="0" i="1" smtClean="0">
                                  <a:latin typeface="Cambria Math" panose="02040503050406030204" pitchFamily="18" charset="0"/>
                                  <a:ea typeface="微软雅黑" panose="020B0503020204020204" pitchFamily="34" charset="-122"/>
                                </a:rPr>
                                <m:t>𝑦</m:t>
                              </m:r>
                            </m:sub>
                          </m:sSub>
                        </m:e>
                      </m:d>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𝑖</m:t>
                      </m:r>
                      <m:r>
                        <a:rPr lang="en-US" altLang="zh-CN" b="0" i="1" smtClean="0">
                          <a:latin typeface="Cambria Math" panose="02040503050406030204" pitchFamily="18" charset="0"/>
                          <a:ea typeface="微软雅黑" panose="020B0503020204020204" pitchFamily="34" charset="-122"/>
                        </a:rPr>
                        <m:t>ℏ</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𝐽</m:t>
                          </m:r>
                        </m:e>
                        <m:sub>
                          <m:r>
                            <a:rPr lang="en-US" altLang="zh-CN" b="0" i="1" smtClean="0">
                              <a:latin typeface="Cambria Math" panose="02040503050406030204" pitchFamily="18" charset="0"/>
                              <a:ea typeface="微软雅黑" panose="020B0503020204020204" pitchFamily="34" charset="-122"/>
                            </a:rPr>
                            <m:t>𝑧</m:t>
                          </m:r>
                        </m:sub>
                      </m:sSub>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𝐽</m:t>
                              </m:r>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 </m:t>
                          </m:r>
                          <m:r>
                            <a:rPr lang="en-US" altLang="zh-CN" b="1" i="1" smtClean="0">
                              <a:latin typeface="Cambria Math" panose="02040503050406030204" pitchFamily="18" charset="0"/>
                              <a:ea typeface="微软雅黑" panose="020B0503020204020204" pitchFamily="34" charset="-122"/>
                            </a:rPr>
                            <m:t>𝑱</m:t>
                          </m:r>
                        </m:e>
                      </m:d>
                      <m:r>
                        <a:rPr lang="en-US" altLang="zh-CN" b="0"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𝟎</m:t>
                      </m:r>
                    </m:oMath>
                  </m:oMathPara>
                </a14:m>
                <a:endParaRPr lang="en-US" altLang="zh-CN" b="1"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此外还有</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𝐽</m:t>
                              </m:r>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 </m:t>
                          </m:r>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𝐿</m:t>
                              </m:r>
                            </m:e>
                            <m:sup>
                              <m:r>
                                <a:rPr lang="en-US" altLang="zh-CN" b="0" i="1" smtClean="0">
                                  <a:latin typeface="Cambria Math" panose="02040503050406030204" pitchFamily="18" charset="0"/>
                                  <a:ea typeface="微软雅黑" panose="020B0503020204020204" pitchFamily="34" charset="-122"/>
                                </a:rPr>
                                <m:t>2</m:t>
                              </m:r>
                            </m:sup>
                          </m:sSup>
                        </m:e>
                      </m:d>
                      <m:r>
                        <a:rPr lang="en-US" altLang="zh-CN" b="0" i="1" smtClean="0">
                          <a:latin typeface="Cambria Math" panose="02040503050406030204" pitchFamily="18" charset="0"/>
                          <a:ea typeface="微软雅黑" panose="020B0503020204020204" pitchFamily="34" charset="-122"/>
                        </a:rPr>
                        <m:t>=0,  </m:t>
                      </m:r>
                      <m:d>
                        <m:dPr>
                          <m:begChr m:val="["/>
                          <m:endChr m:val="]"/>
                          <m:ctrlPr>
                            <a:rPr lang="en-US" altLang="zh-CN" i="1">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𝐽</m:t>
                              </m:r>
                            </m:e>
                            <m:sup>
                              <m:r>
                                <a:rPr lang="en-US" altLang="zh-CN" i="1">
                                  <a:latin typeface="Cambria Math" panose="02040503050406030204" pitchFamily="18" charset="0"/>
                                  <a:ea typeface="微软雅黑" panose="020B0503020204020204" pitchFamily="34" charset="-122"/>
                                </a:rPr>
                                <m:t>2</m:t>
                              </m:r>
                            </m:sup>
                          </m:sSup>
                          <m:r>
                            <a:rPr lang="en-US" altLang="zh-CN" i="1">
                              <a:latin typeface="Cambria Math" panose="02040503050406030204" pitchFamily="18" charset="0"/>
                              <a:ea typeface="微软雅黑" panose="020B0503020204020204" pitchFamily="34" charset="-122"/>
                            </a:rPr>
                            <m:t>, </m:t>
                          </m:r>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𝑆</m:t>
                              </m:r>
                            </m:e>
                            <m:sup>
                              <m:r>
                                <a:rPr lang="en-US" altLang="zh-CN" b="0" i="1" smtClean="0">
                                  <a:latin typeface="Cambria Math" panose="02040503050406030204" pitchFamily="18" charset="0"/>
                                  <a:ea typeface="微软雅黑" panose="020B0503020204020204" pitchFamily="34" charset="-122"/>
                                </a:rPr>
                                <m:t>2</m:t>
                              </m:r>
                            </m:sup>
                          </m:sSup>
                        </m:e>
                      </m:d>
                      <m:r>
                        <a:rPr lang="en-US" altLang="zh-CN" i="1">
                          <a:latin typeface="Cambria Math" panose="02040503050406030204" pitchFamily="18" charset="0"/>
                          <a:ea typeface="微软雅黑" panose="020B0503020204020204" pitchFamily="34" charset="-122"/>
                        </a:rPr>
                        <m:t>=0</m:t>
                      </m:r>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r>
                  <a:rPr lang="zh-CN" altLang="en-US" b="0" dirty="0" smtClean="0">
                    <a:latin typeface="微软雅黑" panose="020B0503020204020204" pitchFamily="34" charset="-122"/>
                    <a:ea typeface="微软雅黑" panose="020B0503020204020204" pitchFamily="34" charset="-122"/>
                  </a:rPr>
                  <a:t>因而可以取</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𝐽</m:t>
                        </m:r>
                      </m:e>
                      <m:sup>
                        <m:r>
                          <a:rPr lang="en-US" altLang="zh-CN" i="1">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𝐿</m:t>
                        </m:r>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sSup>
                      <m:sSupPr>
                        <m:ctrlPr>
                          <a:rPr lang="en-US" altLang="zh-CN" b="0"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𝑆</m:t>
                        </m:r>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𝐽</m:t>
                        </m:r>
                      </m:e>
                      <m:sub>
                        <m:r>
                          <a:rPr lang="en-US" altLang="zh-CN" b="0" i="1" smtClean="0">
                            <a:latin typeface="Cambria Math" panose="02040503050406030204" pitchFamily="18" charset="0"/>
                            <a:ea typeface="微软雅黑" panose="020B0503020204020204" pitchFamily="34" charset="-122"/>
                          </a:rPr>
                          <m:t>𝑧</m:t>
                        </m:r>
                      </m:sub>
                    </m:sSub>
                  </m:oMath>
                </a14:m>
                <a:r>
                  <a:rPr lang="zh-CN" altLang="en-US" b="0" dirty="0" smtClean="0">
                    <a:latin typeface="微软雅黑" panose="020B0503020204020204" pitchFamily="34" charset="-122"/>
                    <a:ea typeface="微软雅黑" panose="020B0503020204020204" pitchFamily="34" charset="-122"/>
                  </a:rPr>
                  <a:t>的共同本征态</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𝑙</m:t>
                    </m:r>
                    <m:r>
                      <a:rPr lang="en-US" altLang="zh-CN" b="0" i="1"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𝑗</m:t>
                    </m:r>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𝑗</m:t>
                        </m:r>
                      </m:sub>
                    </m:sSub>
                    <m:r>
                      <a:rPr lang="en-US" altLang="zh-CN" b="0" i="1" smtClean="0">
                        <a:latin typeface="Cambria Math" panose="02040503050406030204" pitchFamily="18" charset="0"/>
                        <a:ea typeface="微软雅黑" panose="020B0503020204020204" pitchFamily="34" charset="-122"/>
                      </a:rPr>
                      <m:t>⟩</m:t>
                    </m:r>
                  </m:oMath>
                </a14:m>
                <a:endParaRPr lang="en-US" altLang="zh-CN" b="0" dirty="0" smtClean="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18147" y="832373"/>
                <a:ext cx="11318949" cy="5603778"/>
              </a:xfrm>
              <a:prstGeom prst="rect">
                <a:avLst/>
              </a:prstGeom>
              <a:blipFill rotWithShape="0">
                <a:blip r:embed="rId5"/>
                <a:stretch>
                  <a:fillRect l="-485" b="-3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123644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Spin-orbital coupling</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4" name="文本框 3"/>
              <p:cNvSpPr txBox="1"/>
              <p:nvPr/>
            </p:nvSpPr>
            <p:spPr>
              <a:xfrm>
                <a:off x="425797" y="792563"/>
                <a:ext cx="11318949" cy="5730800"/>
              </a:xfrm>
              <a:prstGeom prst="rect">
                <a:avLst/>
              </a:prstGeom>
              <a:noFill/>
            </p:spPr>
            <p:txBody>
              <a:bodyPr wrap="square" rtlCol="0">
                <a:spAutoFit/>
              </a:bodyPr>
              <a:lstStyle/>
              <a:p>
                <a:pPr>
                  <a:lnSpc>
                    <a:spcPct val="150000"/>
                  </a:lnSpc>
                </a:pPr>
                <a:r>
                  <a:rPr lang="zh-CN" altLang="en-US" b="0" dirty="0" smtClean="0">
                    <a:latin typeface="微软雅黑" panose="020B0503020204020204" pitchFamily="34" charset="-122"/>
                    <a:ea typeface="微软雅黑" panose="020B0503020204020204" pitchFamily="34" charset="-122"/>
                  </a:rPr>
                  <a:t>同先前一样，用非耦合表象展开有</a:t>
                </a:r>
                <a:endParaRPr lang="en-US" altLang="zh-CN" b="0"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𝑙</m:t>
                          </m:r>
                          <m:r>
                            <a:rPr lang="en-US" altLang="zh-CN" i="1">
                              <a:latin typeface="Cambria Math" panose="02040503050406030204" pitchFamily="18" charset="0"/>
                              <a:ea typeface="微软雅黑" panose="020B0503020204020204" pitchFamily="34" charset="-122"/>
                            </a:rPr>
                            <m:t>, </m:t>
                          </m:r>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𝑗</m:t>
                          </m:r>
                          <m:r>
                            <a:rPr lang="en-US" altLang="zh-CN" i="1">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𝑗</m:t>
                              </m:r>
                            </m:sub>
                          </m:sSub>
                        </m:e>
                      </m:d>
                      <m:r>
                        <a:rPr lang="en-US" altLang="zh-CN" b="0" i="1" smtClean="0">
                          <a:latin typeface="Cambria Math" panose="02040503050406030204" pitchFamily="18" charset="0"/>
                          <a:ea typeface="微软雅黑" panose="020B0503020204020204" pitchFamily="34" charset="-122"/>
                        </a:rPr>
                        <m:t>=</m:t>
                      </m:r>
                      <m:nary>
                        <m:naryPr>
                          <m:chr m:val="∑"/>
                          <m:supHide m:val="on"/>
                          <m:ctrlPr>
                            <a:rPr lang="en-US" altLang="zh-CN" b="0" i="1" smtClean="0">
                              <a:latin typeface="Cambria Math" panose="02040503050406030204" pitchFamily="18" charset="0"/>
                              <a:ea typeface="微软雅黑" panose="020B0503020204020204" pitchFamily="34" charset="-122"/>
                            </a:rPr>
                          </m:ctrlPr>
                        </m:naryPr>
                        <m: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𝑙</m:t>
                              </m:r>
                            </m:sub>
                          </m:sSub>
                        </m:sub>
                        <m:sup/>
                        <m:e>
                          <m:nary>
                            <m:naryPr>
                              <m:chr m:val="∑"/>
                              <m:supHide m:val="on"/>
                              <m:ctrlPr>
                                <a:rPr lang="en-US" altLang="zh-CN" b="0" i="1" smtClean="0">
                                  <a:latin typeface="Cambria Math" panose="02040503050406030204" pitchFamily="18" charset="0"/>
                                  <a:ea typeface="微软雅黑" panose="020B0503020204020204" pitchFamily="34" charset="-122"/>
                                </a:rPr>
                              </m:ctrlPr>
                            </m:naryPr>
                            <m: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𝑠</m:t>
                                  </m:r>
                                </m:sub>
                              </m:sSub>
                            </m:sub>
                            <m:sup/>
                            <m:e>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𝑙</m:t>
                              </m:r>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𝑙</m:t>
                                  </m:r>
                                </m:sub>
                              </m:sSub>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𝑠</m:t>
                                  </m:r>
                                </m:sub>
                              </m:sSub>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𝑙</m:t>
                              </m:r>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𝑙</m:t>
                                  </m:r>
                                </m:sub>
                              </m:sSub>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𝑠</m:t>
                                  </m:r>
                                </m:sub>
                              </m:sSub>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𝑙</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𝑗</m:t>
                              </m:r>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𝑗</m:t>
                                  </m:r>
                                </m:sub>
                              </m:sSub>
                              <m:r>
                                <a:rPr lang="en-US" altLang="zh-CN" b="0" i="1" smtClean="0">
                                  <a:latin typeface="Cambria Math" panose="02040503050406030204" pitchFamily="18" charset="0"/>
                                  <a:ea typeface="微软雅黑" panose="020B0503020204020204" pitchFamily="34" charset="-122"/>
                                </a:rPr>
                                <m:t>⟩</m:t>
                              </m:r>
                            </m:e>
                          </m:nary>
                        </m:e>
                      </m:nary>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欲使展开系数</a:t>
                </a:r>
                <a14:m>
                  <m:oMath xmlns:m="http://schemas.openxmlformats.org/officeDocument/2006/math">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𝑙</m:t>
                    </m:r>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𝑚</m:t>
                        </m:r>
                      </m:e>
                      <m:sub>
                        <m:r>
                          <a:rPr lang="en-US" altLang="zh-CN" i="1">
                            <a:latin typeface="Cambria Math" panose="02040503050406030204" pitchFamily="18" charset="0"/>
                            <a:ea typeface="微软雅黑" panose="020B0503020204020204" pitchFamily="34" charset="-122"/>
                          </a:rPr>
                          <m:t>𝑙</m:t>
                        </m:r>
                      </m:sub>
                    </m:sSub>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𝑚</m:t>
                        </m:r>
                      </m:e>
                      <m:sub>
                        <m:r>
                          <a:rPr lang="en-US" altLang="zh-CN" i="1">
                            <a:latin typeface="Cambria Math" panose="02040503050406030204" pitchFamily="18" charset="0"/>
                            <a:ea typeface="微软雅黑" panose="020B0503020204020204" pitchFamily="34" charset="-122"/>
                          </a:rPr>
                          <m:t>𝑠</m:t>
                        </m:r>
                      </m:sub>
                    </m:sSub>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𝑙</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𝑗</m:t>
                    </m:r>
                    <m:r>
                      <a:rPr lang="en-US" altLang="zh-CN" i="1">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𝑗</m:t>
                        </m:r>
                      </m:sub>
                    </m:sSub>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不为</a:t>
                </a:r>
                <a:r>
                  <a:rPr lang="en-US" altLang="zh-CN" dirty="0" smtClean="0">
                    <a:latin typeface="微软雅黑" panose="020B0503020204020204" pitchFamily="34" charset="-122"/>
                    <a:ea typeface="微软雅黑" panose="020B0503020204020204" pitchFamily="34" charset="-122"/>
                  </a:rPr>
                  <a:t>0</a:t>
                </a:r>
                <a:r>
                  <a:rPr lang="zh-CN" altLang="en-US" dirty="0" smtClean="0">
                    <a:latin typeface="微软雅黑" panose="020B0503020204020204" pitchFamily="34" charset="-122"/>
                    <a:ea typeface="微软雅黑" panose="020B0503020204020204" pitchFamily="34" charset="-122"/>
                  </a:rPr>
                  <a:t>，同先前一样，要求</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𝑗</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𝑙</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r>
                            <a:rPr lang="en-US" altLang="zh-CN" b="0" i="1" smtClean="0">
                              <a:latin typeface="Cambria Math" panose="02040503050406030204" pitchFamily="18" charset="0"/>
                              <a:ea typeface="微软雅黑" panose="020B0503020204020204" pitchFamily="34" charset="-122"/>
                            </a:rPr>
                            <m:t>𝑠</m:t>
                          </m:r>
                        </m:sub>
                      </m:sSub>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和</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𝑗</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𝑙</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𝑙</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−1,…, |</m:t>
                      </m:r>
                      <m:r>
                        <a:rPr lang="en-US" altLang="zh-CN" b="0" i="1" smtClean="0">
                          <a:latin typeface="Cambria Math" panose="02040503050406030204" pitchFamily="18" charset="0"/>
                          <a:ea typeface="微软雅黑" panose="020B0503020204020204" pitchFamily="34" charset="-122"/>
                        </a:rPr>
                        <m:t>𝑙</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𝑠</m:t>
                      </m:r>
                      <m:r>
                        <a:rPr lang="en-US" altLang="zh-CN" b="0" i="1" smtClean="0">
                          <a:latin typeface="Cambria Math" panose="02040503050406030204" pitchFamily="18" charset="0"/>
                          <a:ea typeface="微软雅黑" panose="020B0503020204020204" pitchFamily="34" charset="-122"/>
                        </a:rPr>
                        <m:t>|</m:t>
                      </m:r>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即</a:t>
                </a:r>
                <a14:m>
                  <m:oMath xmlns:m="http://schemas.openxmlformats.org/officeDocument/2006/math">
                    <m:r>
                      <a:rPr lang="en-US" altLang="zh-CN" i="1">
                        <a:latin typeface="Cambria Math" panose="02040503050406030204" pitchFamily="18" charset="0"/>
                        <a:ea typeface="微软雅黑" panose="020B0503020204020204" pitchFamily="34" charset="-122"/>
                      </a:rPr>
                      <m:t>𝑗</m:t>
                    </m:r>
                  </m:oMath>
                </a14:m>
                <a:r>
                  <a:rPr lang="zh-CN" altLang="en-US" dirty="0" smtClean="0">
                    <a:latin typeface="微软雅黑" panose="020B0503020204020204" pitchFamily="34" charset="-122"/>
                    <a:ea typeface="微软雅黑" panose="020B0503020204020204" pitchFamily="34" charset="-122"/>
                  </a:rPr>
                  <a:t>可以取</a:t>
                </a:r>
                <a14:m>
                  <m:oMath xmlns:m="http://schemas.openxmlformats.org/officeDocument/2006/math">
                    <m:r>
                      <a:rPr lang="en-US" altLang="zh-CN" i="1">
                        <a:latin typeface="Cambria Math" panose="02040503050406030204" pitchFamily="18" charset="0"/>
                        <a:ea typeface="微软雅黑" panose="020B0503020204020204" pitchFamily="34" charset="-122"/>
                      </a:rPr>
                      <m:t>𝑙</m:t>
                    </m:r>
                    <m:r>
                      <a:rPr lang="en-US" altLang="zh-CN" i="1">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r>
                      <a:rPr lang="en-US" altLang="zh-CN" b="0" i="1" smtClean="0">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𝑙</m:t>
                    </m:r>
                    <m:r>
                      <a:rPr lang="en-US" altLang="zh-CN" i="1">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r>
                      <a:rPr lang="en-US" altLang="zh-CN" b="0" i="1" smtClean="0">
                        <a:latin typeface="Cambria Math" panose="02040503050406030204" pitchFamily="18" charset="0"/>
                        <a:ea typeface="微软雅黑" panose="020B0503020204020204" pitchFamily="34" charset="-122"/>
                      </a:rPr>
                      <m:t>|</m:t>
                    </m:r>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𝑙</m:t>
                    </m:r>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𝑚</m:t>
                        </m:r>
                      </m:e>
                      <m:sub>
                        <m:r>
                          <a:rPr lang="en-US" altLang="zh-CN" i="1">
                            <a:latin typeface="Cambria Math" panose="02040503050406030204" pitchFamily="18" charset="0"/>
                            <a:ea typeface="微软雅黑" panose="020B0503020204020204" pitchFamily="34" charset="-122"/>
                          </a:rPr>
                          <m:t>𝑙</m:t>
                        </m:r>
                      </m:sub>
                    </m:sSub>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𝑚</m:t>
                        </m:r>
                      </m:e>
                      <m:sub>
                        <m:r>
                          <a:rPr lang="en-US" altLang="zh-CN" i="1">
                            <a:latin typeface="Cambria Math" panose="02040503050406030204" pitchFamily="18" charset="0"/>
                            <a:ea typeface="微软雅黑" panose="020B0503020204020204" pitchFamily="34" charset="-122"/>
                          </a:rPr>
                          <m:t>𝑠</m:t>
                        </m:r>
                      </m:sub>
                    </m:sSub>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𝑙</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𝑠</m:t>
                    </m:r>
                    <m:r>
                      <a:rPr lang="en-US" altLang="zh-CN" i="1">
                        <a:latin typeface="Cambria Math" panose="02040503050406030204" pitchFamily="18" charset="0"/>
                        <a:ea typeface="微软雅黑" panose="020B0503020204020204" pitchFamily="34" charset="-122"/>
                      </a:rPr>
                      <m:t>;</m:t>
                    </m:r>
                    <m:r>
                      <a:rPr lang="en-US" altLang="zh-CN" i="1">
                        <a:latin typeface="Cambria Math" panose="02040503050406030204" pitchFamily="18" charset="0"/>
                        <a:ea typeface="微软雅黑" panose="020B0503020204020204" pitchFamily="34" charset="-122"/>
                      </a:rPr>
                      <m:t>𝑗</m:t>
                    </m:r>
                    <m:r>
                      <a:rPr lang="en-US" altLang="zh-CN" i="1">
                        <a:latin typeface="Cambria Math" panose="02040503050406030204" pitchFamily="18" charset="0"/>
                        <a:ea typeface="微软雅黑" panose="020B0503020204020204" pitchFamily="34" charset="-122"/>
                      </a:rPr>
                      <m:t>, </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𝑚</m:t>
                        </m:r>
                      </m:e>
                      <m:sub>
                        <m:r>
                          <a:rPr lang="en-US" altLang="zh-CN" i="1">
                            <a:latin typeface="Cambria Math" panose="02040503050406030204" pitchFamily="18" charset="0"/>
                            <a:ea typeface="微软雅黑" panose="020B0503020204020204" pitchFamily="34" charset="-122"/>
                          </a:rPr>
                          <m:t>𝑗</m:t>
                        </m:r>
                      </m:sub>
                    </m:sSub>
                    <m:r>
                      <a:rPr lang="en-US" altLang="zh-CN" i="1">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称为</a:t>
                </a:r>
                <a:r>
                  <a:rPr lang="en-US" altLang="zh-CN" dirty="0" err="1" smtClean="0"/>
                  <a:t>Clebsch</a:t>
                </a:r>
                <a:r>
                  <a:rPr lang="en-US" altLang="zh-CN" dirty="0" smtClean="0"/>
                  <a:t>–</a:t>
                </a:r>
                <a:r>
                  <a:rPr lang="en-US" altLang="zh-CN" dirty="0" err="1" smtClean="0"/>
                  <a:t>Gordan</a:t>
                </a:r>
                <a:r>
                  <a:rPr lang="zh-CN" altLang="en-US" dirty="0" smtClean="0">
                    <a:latin typeface="微软雅黑" panose="020B0503020204020204" pitchFamily="34" charset="-122"/>
                    <a:ea typeface="微软雅黑" panose="020B0503020204020204" pitchFamily="34" charset="-122"/>
                  </a:rPr>
                  <a:t>系数，简称</a:t>
                </a:r>
                <a:r>
                  <a:rPr lang="en-US" altLang="zh-CN" dirty="0" smtClean="0">
                    <a:solidFill>
                      <a:srgbClr val="FF0000"/>
                    </a:solidFill>
                    <a:latin typeface="微软雅黑" panose="020B0503020204020204" pitchFamily="34" charset="-122"/>
                    <a:ea typeface="微软雅黑" panose="020B0503020204020204" pitchFamily="34" charset="-122"/>
                  </a:rPr>
                  <a:t>CG</a:t>
                </a:r>
                <a:r>
                  <a:rPr lang="zh-CN" altLang="en-US" dirty="0" smtClean="0">
                    <a:solidFill>
                      <a:srgbClr val="FF0000"/>
                    </a:solidFill>
                    <a:latin typeface="微软雅黑" panose="020B0503020204020204" pitchFamily="34" charset="-122"/>
                    <a:ea typeface="微软雅黑" panose="020B0503020204020204" pitchFamily="34" charset="-122"/>
                  </a:rPr>
                  <a:t>系数</a:t>
                </a:r>
                <a:r>
                  <a:rPr lang="zh-CN" altLang="en-US" dirty="0" smtClean="0">
                    <a:latin typeface="微软雅黑" panose="020B0503020204020204" pitchFamily="34" charset="-122"/>
                    <a:ea typeface="微软雅黑" panose="020B0503020204020204" pitchFamily="34" charset="-122"/>
                  </a:rPr>
                  <a:t>，在量子多体物理中有至关重要的地位</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注意</a:t>
                </a:r>
                <a:r>
                  <a:rPr lang="zh-CN" altLang="en-US" dirty="0" smtClean="0">
                    <a:latin typeface="微软雅黑" panose="020B0503020204020204" pitchFamily="34" charset="-122"/>
                    <a:ea typeface="微软雅黑" panose="020B0503020204020204" pitchFamily="34" charset="-122"/>
                  </a:rPr>
                  <a:t>到在用非耦合表象基做展开时，耦合表象的基作为</a:t>
                </a:r>
                <a14:m>
                  <m:oMath xmlns:m="http://schemas.openxmlformats.org/officeDocument/2006/math">
                    <m:r>
                      <a:rPr lang="en-US" altLang="zh-CN" i="1">
                        <a:latin typeface="Cambria Math" panose="02040503050406030204" pitchFamily="18" charset="0"/>
                        <a:ea typeface="微软雅黑" panose="020B0503020204020204" pitchFamily="34" charset="-122"/>
                      </a:rPr>
                      <m:t>𝑗</m:t>
                    </m:r>
                  </m:oMath>
                </a14:m>
                <a:r>
                  <a:rPr lang="zh-CN" altLang="en-US" dirty="0" smtClean="0">
                    <a:latin typeface="微软雅黑" panose="020B0503020204020204" pitchFamily="34" charset="-122"/>
                    <a:ea typeface="微软雅黑" panose="020B0503020204020204" pitchFamily="34" charset="-122"/>
                  </a:rPr>
                  <a:t>不同的基拼接，将</a:t>
                </a:r>
                <a14:m>
                  <m:oMath xmlns:m="http://schemas.openxmlformats.org/officeDocument/2006/math">
                    <m:r>
                      <a:rPr lang="en-US" altLang="zh-CN" i="1">
                        <a:latin typeface="Cambria Math" panose="02040503050406030204" pitchFamily="18" charset="0"/>
                        <a:ea typeface="微软雅黑" panose="020B0503020204020204" pitchFamily="34" charset="-122"/>
                      </a:rPr>
                      <m:t>𝑗</m:t>
                    </m:r>
                  </m:oMath>
                </a14:m>
                <a:r>
                  <a:rPr lang="zh-CN" altLang="en-US" dirty="0" smtClean="0">
                    <a:latin typeface="微软雅黑" panose="020B0503020204020204" pitchFamily="34" charset="-122"/>
                    <a:ea typeface="微软雅黑" panose="020B0503020204020204" pitchFamily="34" charset="-122"/>
                  </a:rPr>
                  <a:t>相同的基放在一起张成一个子空间</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原</a:t>
                </a:r>
                <a:r>
                  <a:rPr lang="zh-CN" altLang="en-US" dirty="0" smtClean="0">
                    <a:latin typeface="微软雅黑" panose="020B0503020204020204" pitchFamily="34" charset="-122"/>
                    <a:ea typeface="微软雅黑" panose="020B0503020204020204" pitchFamily="34" charset="-122"/>
                  </a:rPr>
                  <a:t>空间是两个角动量空间的张量积：</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𝐿</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𝑆</m:t>
                        </m:r>
                      </m:sub>
                    </m:sSub>
                  </m:oMath>
                </a14:m>
                <a:r>
                  <a:rPr lang="zh-CN" altLang="en-US" dirty="0" smtClean="0">
                    <a:latin typeface="微软雅黑" panose="020B0503020204020204" pitchFamily="34" charset="-122"/>
                    <a:ea typeface="微软雅黑" panose="020B0503020204020204" pitchFamily="34" charset="-122"/>
                  </a:rPr>
                  <a:t>，而后者是多个本征子空间的直和：</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𝑙</m:t>
                        </m:r>
                        <m:r>
                          <a:rPr lang="en-US" altLang="zh-CN" b="0" i="1" smtClean="0">
                            <a:latin typeface="Cambria Math" panose="02040503050406030204" pitchFamily="18" charset="0"/>
                            <a:ea typeface="微软雅黑" panose="020B0503020204020204" pitchFamily="34" charset="-122"/>
                          </a:rPr>
                          <m:t>+</m:t>
                        </m:r>
                        <m:f>
                          <m:fPr>
                            <m:ctrlPr>
                              <a:rPr lang="en-US" altLang="zh-CN" b="0" i="1" smtClean="0">
                                <a:latin typeface="Cambria Math" panose="02040503050406030204" pitchFamily="18" charset="0"/>
                                <a:ea typeface="微软雅黑" panose="020B0503020204020204" pitchFamily="34" charset="-122"/>
                              </a:rPr>
                            </m:ctrlPr>
                          </m:fPr>
                          <m:num>
                            <m:r>
                              <a:rPr lang="en-US" altLang="zh-CN" b="0" i="1" smtClean="0">
                                <a:latin typeface="Cambria Math" panose="02040503050406030204" pitchFamily="18" charset="0"/>
                                <a:ea typeface="微软雅黑" panose="020B0503020204020204" pitchFamily="34" charset="-122"/>
                              </a:rPr>
                              <m:t>1</m:t>
                            </m:r>
                          </m:num>
                          <m:den>
                            <m:r>
                              <a:rPr lang="en-US" altLang="zh-CN" b="0" i="1" smtClean="0">
                                <a:latin typeface="Cambria Math" panose="02040503050406030204" pitchFamily="18" charset="0"/>
                                <a:ea typeface="微软雅黑" panose="020B0503020204020204" pitchFamily="34" charset="-122"/>
                              </a:rPr>
                              <m:t>2</m:t>
                            </m:r>
                          </m:den>
                        </m:f>
                      </m:sub>
                    </m:sSub>
                    <m:r>
                      <a:rPr lang="en-US" altLang="zh-CN" b="0" i="1" smtClean="0">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𝑙</m:t>
                            </m:r>
                            <m:r>
                              <a:rPr lang="en-US" altLang="zh-CN" b="0" i="1" smtClean="0">
                                <a:latin typeface="Cambria Math" panose="02040503050406030204" pitchFamily="18" charset="0"/>
                                <a:ea typeface="微软雅黑" panose="020B0503020204020204" pitchFamily="34" charset="-122"/>
                              </a:rPr>
                              <m:t>−</m:t>
                            </m:r>
                            <m:f>
                              <m:fPr>
                                <m:ctrlPr>
                                  <a:rPr lang="en-US" altLang="zh-CN" i="1">
                                    <a:latin typeface="Cambria Math" panose="02040503050406030204" pitchFamily="18" charset="0"/>
                                    <a:ea typeface="微软雅黑" panose="020B0503020204020204" pitchFamily="34" charset="-122"/>
                                  </a:rPr>
                                </m:ctrlPr>
                              </m:fPr>
                              <m:num>
                                <m:r>
                                  <a:rPr lang="en-US" altLang="zh-CN" i="1">
                                    <a:latin typeface="Cambria Math" panose="02040503050406030204" pitchFamily="18" charset="0"/>
                                    <a:ea typeface="微软雅黑" panose="020B0503020204020204" pitchFamily="34" charset="-122"/>
                                  </a:rPr>
                                  <m:t>1</m:t>
                                </m:r>
                              </m:num>
                              <m:den>
                                <m:r>
                                  <a:rPr lang="en-US" altLang="zh-CN" i="1">
                                    <a:latin typeface="Cambria Math" panose="02040503050406030204" pitchFamily="18" charset="0"/>
                                    <a:ea typeface="微软雅黑" panose="020B0503020204020204" pitchFamily="34" charset="-122"/>
                                  </a:rPr>
                                  <m:t>2</m:t>
                                </m:r>
                              </m:den>
                            </m:f>
                          </m:e>
                        </m:d>
                      </m:sub>
                    </m:sSub>
                  </m:oMath>
                </a14:m>
                <a:r>
                  <a:rPr lang="zh-CN" altLang="en-US"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即表象变换本质是对张量积空间做直和分解</a:t>
                </a:r>
                <a:endParaRPr lang="en-US" altLang="zh-CN" dirty="0">
                  <a:latin typeface="微软雅黑" panose="020B0503020204020204" pitchFamily="34" charset="-122"/>
                  <a:ea typeface="微软雅黑" panose="020B0503020204020204" pitchFamily="34"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425797" y="792563"/>
                <a:ext cx="11318949" cy="5730800"/>
              </a:xfrm>
              <a:prstGeom prst="rect">
                <a:avLst/>
              </a:prstGeom>
              <a:blipFill rotWithShape="0">
                <a:blip r:embed="rId5"/>
                <a:stretch>
                  <a:fillRect l="-485" r="-54" b="-7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08434244"/>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Identical particles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4" name="文本框 3"/>
          <p:cNvSpPr txBox="1"/>
          <p:nvPr/>
        </p:nvSpPr>
        <p:spPr>
          <a:xfrm>
            <a:off x="425797" y="792563"/>
            <a:ext cx="11318949" cy="458908"/>
          </a:xfrm>
          <a:prstGeom prst="rect">
            <a:avLst/>
          </a:prstGeom>
          <a:noFill/>
        </p:spPr>
        <p:txBody>
          <a:bodyPr wrap="square" rtlCol="0">
            <a:spAutoFit/>
          </a:bodyPr>
          <a:lstStyle/>
          <a:p>
            <a:pPr>
              <a:lnSpc>
                <a:spcPct val="150000"/>
              </a:lnSpc>
            </a:pPr>
            <a:endParaRPr lang="en-US" altLang="zh-CN"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2" name="文本框 1"/>
              <p:cNvSpPr txBox="1"/>
              <p:nvPr/>
            </p:nvSpPr>
            <p:spPr>
              <a:xfrm>
                <a:off x="80383" y="1020459"/>
                <a:ext cx="11534991" cy="5755871"/>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对于</a:t>
                </a:r>
                <a14:m>
                  <m:oMath xmlns:m="http://schemas.openxmlformats.org/officeDocument/2006/math">
                    <m:r>
                      <a:rPr lang="en-US" altLang="zh-CN" b="0" i="1" dirty="0" smtClean="0">
                        <a:latin typeface="Cambria Math" panose="02040503050406030204" pitchFamily="18" charset="0"/>
                        <a:ea typeface="微软雅黑" panose="020B0503020204020204" pitchFamily="34" charset="-122"/>
                      </a:rPr>
                      <m:t>𝑛</m:t>
                    </m:r>
                  </m:oMath>
                </a14:m>
                <a:r>
                  <a:rPr lang="zh-CN" altLang="en-US" dirty="0" smtClean="0">
                    <a:latin typeface="微软雅黑" panose="020B0503020204020204" pitchFamily="34" charset="-122"/>
                    <a:ea typeface="微软雅黑" panose="020B0503020204020204" pitchFamily="34" charset="-122"/>
                  </a:rPr>
                  <a:t>粒子系统，如果粒子之间没有相互作用（或者忽略相互作用），那么整个</a:t>
                </a:r>
                <a:r>
                  <a:rPr lang="en-US" altLang="zh-CN" dirty="0" smtClean="0">
                    <a:latin typeface="微软雅黑" panose="020B0503020204020204" pitchFamily="34" charset="-122"/>
                    <a:ea typeface="微软雅黑" panose="020B0503020204020204" pitchFamily="34" charset="-122"/>
                  </a:rPr>
                  <a:t>Hilbert</a:t>
                </a:r>
                <a:r>
                  <a:rPr lang="zh-CN" altLang="en-US" dirty="0" smtClean="0">
                    <a:latin typeface="微软雅黑" panose="020B0503020204020204" pitchFamily="34" charset="-122"/>
                    <a:ea typeface="微软雅黑" panose="020B0503020204020204" pitchFamily="34" charset="-122"/>
                  </a:rPr>
                  <a:t>空间可以写成各粒子</a:t>
                </a:r>
                <a:r>
                  <a:rPr lang="en-US" altLang="zh-CN" dirty="0" smtClean="0">
                    <a:latin typeface="微软雅黑" panose="020B0503020204020204" pitchFamily="34" charset="-122"/>
                    <a:ea typeface="微软雅黑" panose="020B0503020204020204" pitchFamily="34" charset="-122"/>
                  </a:rPr>
                  <a:t>Hilbert</a:t>
                </a:r>
                <a:r>
                  <a:rPr lang="zh-CN" altLang="en-US" dirty="0" smtClean="0">
                    <a:latin typeface="微软雅黑" panose="020B0503020204020204" pitchFamily="34" charset="-122"/>
                    <a:ea typeface="微软雅黑" panose="020B0503020204020204" pitchFamily="34" charset="-122"/>
                  </a:rPr>
                  <a:t>空间的张量积：</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微软雅黑" panose="020B0503020204020204" pitchFamily="34" charset="-122"/>
                        </a:rPr>
                        <m:t>𝐻</m:t>
                      </m:r>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r>
                            <a:rPr lang="en-US" altLang="zh-CN" b="0" i="1" smtClean="0">
                              <a:latin typeface="Cambria Math" panose="02040503050406030204" pitchFamily="18" charset="0"/>
                              <a:ea typeface="微软雅黑" panose="020B0503020204020204" pitchFamily="34" charset="-122"/>
                            </a:rPr>
                            <m:t>𝑛</m:t>
                          </m:r>
                        </m:sub>
                      </m:sSub>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对于这种情况我们会在量子化学里继续讨论，下面讨论最一般的情况，即</a:t>
                </a:r>
                <a14:m>
                  <m:oMath xmlns:m="http://schemas.openxmlformats.org/officeDocument/2006/math">
                    <m:r>
                      <a:rPr lang="en-US" altLang="zh-CN" i="1" dirty="0">
                        <a:latin typeface="Cambria Math" panose="02040503050406030204" pitchFamily="18" charset="0"/>
                        <a:ea typeface="微软雅黑" panose="020B0503020204020204" pitchFamily="34" charset="-122"/>
                      </a:rPr>
                      <m:t>𝑛</m:t>
                    </m:r>
                  </m:oMath>
                </a14:m>
                <a:r>
                  <a:rPr lang="zh-CN" altLang="en-US" dirty="0">
                    <a:latin typeface="微软雅黑" panose="020B0503020204020204" pitchFamily="34" charset="-122"/>
                    <a:ea typeface="微软雅黑" panose="020B0503020204020204" pitchFamily="34" charset="-122"/>
                  </a:rPr>
                  <a:t>粒子</a:t>
                </a:r>
                <a:r>
                  <a:rPr lang="zh-CN" altLang="en-US" dirty="0" smtClean="0">
                    <a:latin typeface="微软雅黑" panose="020B0503020204020204" pitchFamily="34" charset="-122"/>
                    <a:ea typeface="微软雅黑" panose="020B0503020204020204" pitchFamily="34" charset="-122"/>
                  </a:rPr>
                  <a:t>系统的态由一个不可分解的量子态构成：</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b="1" i="0" smtClean="0">
                          <a:latin typeface="Cambria Math" panose="02040503050406030204" pitchFamily="18" charset="0"/>
                          <a:ea typeface="微软雅黑" panose="020B0503020204020204" pitchFamily="34" charset="-122"/>
                        </a:rPr>
                        <m:t>|</m:t>
                      </m:r>
                      <m:sSub>
                        <m:sSubPr>
                          <m:ctrlPr>
                            <a:rPr lang="en-US" altLang="zh-CN" b="1" smtClean="0">
                              <a:latin typeface="Cambria Math" panose="02040503050406030204" pitchFamily="18" charset="0"/>
                              <a:ea typeface="微软雅黑" panose="020B0503020204020204" pitchFamily="34" charset="-122"/>
                            </a:rPr>
                          </m:ctrlPr>
                        </m:sSubPr>
                        <m:e>
                          <m:r>
                            <a:rPr lang="en-US" altLang="zh-CN" b="1" i="0" smtClean="0">
                              <a:latin typeface="Cambria Math" panose="02040503050406030204" pitchFamily="18" charset="0"/>
                              <a:ea typeface="微软雅黑" panose="020B0503020204020204" pitchFamily="34" charset="-122"/>
                            </a:rPr>
                            <m:t>𝐱</m:t>
                          </m:r>
                        </m:e>
                        <m:sub>
                          <m:r>
                            <a:rPr lang="en-US" altLang="zh-CN" b="1" i="0" smtClean="0">
                              <a:latin typeface="Cambria Math" panose="02040503050406030204" pitchFamily="18" charset="0"/>
                              <a:ea typeface="微软雅黑" panose="020B0503020204020204" pitchFamily="34" charset="-122"/>
                            </a:rPr>
                            <m:t>𝟏</m:t>
                          </m:r>
                        </m:sub>
                      </m:sSub>
                      <m:r>
                        <a:rPr lang="en-US" altLang="zh-CN" b="1" i="0" smtClean="0">
                          <a:latin typeface="Cambria Math" panose="02040503050406030204" pitchFamily="18" charset="0"/>
                          <a:ea typeface="微软雅黑" panose="020B0503020204020204" pitchFamily="34" charset="-122"/>
                        </a:rPr>
                        <m:t>, </m:t>
                      </m:r>
                      <m:sSub>
                        <m:sSubPr>
                          <m:ctrlPr>
                            <a:rPr lang="en-US" altLang="zh-CN" b="1" smtClean="0">
                              <a:latin typeface="Cambria Math" panose="02040503050406030204" pitchFamily="18" charset="0"/>
                              <a:ea typeface="微软雅黑" panose="020B0503020204020204" pitchFamily="34" charset="-122"/>
                            </a:rPr>
                          </m:ctrlPr>
                        </m:sSubPr>
                        <m:e>
                          <m:r>
                            <a:rPr lang="en-US" altLang="zh-CN" b="1" i="0" smtClean="0">
                              <a:latin typeface="Cambria Math" panose="02040503050406030204" pitchFamily="18" charset="0"/>
                              <a:ea typeface="微软雅黑" panose="020B0503020204020204" pitchFamily="34" charset="-122"/>
                            </a:rPr>
                            <m:t>𝐱</m:t>
                          </m:r>
                        </m:e>
                        <m:sub>
                          <m:r>
                            <a:rPr lang="en-US" altLang="zh-CN" b="1" i="0" smtClean="0">
                              <a:latin typeface="Cambria Math" panose="02040503050406030204" pitchFamily="18" charset="0"/>
                              <a:ea typeface="微软雅黑" panose="020B0503020204020204" pitchFamily="34" charset="-122"/>
                            </a:rPr>
                            <m:t>𝟐</m:t>
                          </m:r>
                        </m:sub>
                      </m:sSub>
                      <m:r>
                        <a:rPr lang="en-US" altLang="zh-CN" b="1" i="0" smtClean="0">
                          <a:latin typeface="Cambria Math" panose="02040503050406030204" pitchFamily="18" charset="0"/>
                          <a:ea typeface="微软雅黑" panose="020B0503020204020204" pitchFamily="34" charset="-122"/>
                        </a:rPr>
                        <m:t>,…,</m:t>
                      </m:r>
                      <m:sSub>
                        <m:sSubPr>
                          <m:ctrlPr>
                            <a:rPr lang="en-US" altLang="zh-CN" b="1" smtClean="0">
                              <a:latin typeface="Cambria Math" panose="02040503050406030204" pitchFamily="18" charset="0"/>
                              <a:ea typeface="微软雅黑" panose="020B0503020204020204" pitchFamily="34" charset="-122"/>
                            </a:rPr>
                          </m:ctrlPr>
                        </m:sSubPr>
                        <m:e>
                          <m:r>
                            <a:rPr lang="en-US" altLang="zh-CN" b="1" i="0" smtClean="0">
                              <a:latin typeface="Cambria Math" panose="02040503050406030204" pitchFamily="18" charset="0"/>
                              <a:ea typeface="微软雅黑" panose="020B0503020204020204" pitchFamily="34" charset="-122"/>
                            </a:rPr>
                            <m:t>𝐱</m:t>
                          </m:r>
                        </m:e>
                        <m:sub>
                          <m:r>
                            <a:rPr lang="en-US" altLang="zh-CN" b="1" i="0" smtClean="0">
                              <a:latin typeface="Cambria Math" panose="02040503050406030204" pitchFamily="18" charset="0"/>
                              <a:ea typeface="微软雅黑" panose="020B0503020204020204" pitchFamily="34" charset="-122"/>
                            </a:rPr>
                            <m:t>𝐧</m:t>
                          </m:r>
                        </m:sub>
                      </m:sSub>
                      <m:r>
                        <a:rPr lang="en-US" altLang="zh-CN" b="0" i="1" smtClean="0">
                          <a:latin typeface="Cambria Math" panose="02040503050406030204" pitchFamily="18" charset="0"/>
                          <a:ea typeface="微软雅黑" panose="020B0503020204020204" pitchFamily="34" charset="-122"/>
                        </a:rPr>
                        <m:t>⟩</m:t>
                      </m:r>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𝒊</m:t>
                        </m:r>
                      </m:sub>
                    </m:sSub>
                  </m:oMath>
                </a14:m>
                <a:r>
                  <a:rPr lang="zh-CN" altLang="en-US" dirty="0" smtClean="0">
                    <a:latin typeface="微软雅黑" panose="020B0503020204020204" pitchFamily="34" charset="-122"/>
                    <a:ea typeface="微软雅黑" panose="020B0503020204020204" pitchFamily="34" charset="-122"/>
                  </a:rPr>
                  <a:t>包含了粒子的空间坐标和自旋坐标：</a:t>
                </a:r>
                <a14:m>
                  <m:oMath xmlns:m="http://schemas.openxmlformats.org/officeDocument/2006/math">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𝒊</m:t>
                        </m:r>
                      </m:sub>
                    </m:sSub>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𝑥</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𝑦</m:t>
                    </m:r>
                    <m:r>
                      <a:rPr lang="en-US" altLang="zh-CN" b="0" i="1" smtClean="0">
                        <a:latin typeface="Cambria Math" panose="02040503050406030204" pitchFamily="18" charset="0"/>
                        <a:ea typeface="微软雅黑" panose="020B0503020204020204" pitchFamily="34" charset="-122"/>
                      </a:rPr>
                      <m:t>,</m:t>
                    </m:r>
                    <m:r>
                      <a:rPr lang="en-US" altLang="zh-CN" b="0" i="1" smtClean="0">
                        <a:latin typeface="Cambria Math" panose="02040503050406030204" pitchFamily="18" charset="0"/>
                        <a:ea typeface="微软雅黑" panose="020B0503020204020204" pitchFamily="34" charset="-122"/>
                      </a:rPr>
                      <m:t>𝑧</m:t>
                    </m:r>
                    <m:r>
                      <a:rPr lang="en-US" altLang="zh-CN" b="0" i="1" smtClean="0">
                        <a:latin typeface="Cambria Math" panose="02040503050406030204" pitchFamily="18" charset="0"/>
                        <a:ea typeface="微软雅黑" panose="020B0503020204020204" pitchFamily="34" charset="-122"/>
                      </a:rPr>
                      <m:t>, </m:t>
                    </m:r>
                    <m:r>
                      <a:rPr lang="en-US" altLang="zh-CN" b="0" i="1" smtClean="0">
                        <a:latin typeface="Cambria Math" panose="02040503050406030204" pitchFamily="18" charset="0"/>
                        <a:ea typeface="微软雅黑" panose="020B0503020204020204" pitchFamily="34" charset="-122"/>
                      </a:rPr>
                      <m:t>𝜎</m:t>
                    </m:r>
                    <m:r>
                      <a:rPr lang="en-US" altLang="zh-CN" b="0" i="1" smtClean="0">
                        <a:latin typeface="Cambria Math" panose="02040503050406030204" pitchFamily="18" charset="0"/>
                        <a:ea typeface="微软雅黑" panose="020B0503020204020204" pitchFamily="34" charset="-122"/>
                      </a:rPr>
                      <m:t>)</m:t>
                    </m:r>
                  </m:oMath>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定义置换算符</a:t>
                </a:r>
                <a14:m>
                  <m:oMath xmlns:m="http://schemas.openxmlformats.org/officeDocument/2006/math">
                    <m:sSub>
                      <m:sSubPr>
                        <m:ctrlPr>
                          <a:rPr lang="en-US" altLang="zh-CN" b="0" i="1" dirty="0"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𝑃</m:t>
                            </m:r>
                          </m:e>
                        </m:acc>
                      </m:e>
                      <m:sub>
                        <m:r>
                          <a:rPr lang="en-US" altLang="zh-CN" b="0" i="1" dirty="0" smtClean="0">
                            <a:latin typeface="Cambria Math" panose="02040503050406030204" pitchFamily="18" charset="0"/>
                            <a:ea typeface="微软雅黑" panose="020B0503020204020204" pitchFamily="34" charset="-122"/>
                          </a:rPr>
                          <m:t>𝑖𝑗</m:t>
                        </m:r>
                      </m:sub>
                    </m:sSub>
                  </m:oMath>
                </a14:m>
                <a:r>
                  <a:rPr lang="zh-CN" altLang="en-US" dirty="0" smtClean="0">
                    <a:latin typeface="微软雅黑" panose="020B0503020204020204" pitchFamily="34" charset="-122"/>
                    <a:ea typeface="微软雅黑" panose="020B0503020204020204" pitchFamily="34" charset="-122"/>
                  </a:rPr>
                  <a:t>满足</a:t>
                </a:r>
                <a:endParaRPr lang="en-US" altLang="zh-CN"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𝑃</m:t>
                              </m:r>
                            </m:e>
                          </m:acc>
                        </m:e>
                        <m:sub>
                          <m:r>
                            <a:rPr lang="en-US" altLang="zh-CN" i="1" dirty="0">
                              <a:latin typeface="Cambria Math" panose="02040503050406030204" pitchFamily="18" charset="0"/>
                              <a:ea typeface="微软雅黑" panose="020B0503020204020204" pitchFamily="34" charset="-122"/>
                            </a:rPr>
                            <m:t>𝑖𝑗</m:t>
                          </m:r>
                        </m:sub>
                      </m:sSub>
                      <m:d>
                        <m:dPr>
                          <m:begChr m:val="|"/>
                          <m:endChr m:val="⟩"/>
                          <m:ctrlPr>
                            <a:rPr lang="en-US" altLang="zh-CN" b="1">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smtClean="0">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sSub>
                            <m:sSubPr>
                              <m:ctrlPr>
                                <a:rPr lang="en-US" altLang="zh-CN" b="1" i="0" smtClean="0">
                                  <a:latin typeface="Cambria Math" panose="02040503050406030204" pitchFamily="18" charset="0"/>
                                  <a:ea typeface="微软雅黑" panose="020B0503020204020204" pitchFamily="34" charset="-122"/>
                                </a:rPr>
                              </m:ctrlPr>
                            </m:sSubPr>
                            <m:e>
                              <m:r>
                                <a:rPr lang="en-US" altLang="zh-CN" b="1" i="0" smtClean="0">
                                  <a:latin typeface="Cambria Math" panose="02040503050406030204" pitchFamily="18" charset="0"/>
                                  <a:ea typeface="微软雅黑" panose="020B0503020204020204" pitchFamily="34" charset="-122"/>
                                </a:rPr>
                                <m:t>𝐱</m:t>
                              </m:r>
                            </m:e>
                            <m:sub>
                              <m:r>
                                <a:rPr lang="en-US" altLang="zh-CN" b="1" i="0" smtClean="0">
                                  <a:latin typeface="Cambria Math" panose="02040503050406030204" pitchFamily="18" charset="0"/>
                                  <a:ea typeface="微软雅黑" panose="020B0503020204020204" pitchFamily="34" charset="-122"/>
                                </a:rPr>
                                <m:t>𝐣</m:t>
                              </m:r>
                            </m:sub>
                          </m:sSub>
                          <m:r>
                            <a:rPr lang="en-US" altLang="zh-CN" b="1" i="0"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r>
                        <a:rPr lang="en-US" altLang="zh-CN" b="1" i="1" smtClean="0">
                          <a:latin typeface="Cambria Math" panose="02040503050406030204" pitchFamily="18" charset="0"/>
                          <a:ea typeface="微软雅黑" panose="020B0503020204020204" pitchFamily="34" charset="-122"/>
                        </a:rPr>
                        <m:t>=</m:t>
                      </m:r>
                      <m:d>
                        <m:dPr>
                          <m:begChr m:val="|"/>
                          <m:endChr m:val="⟩"/>
                          <m:ctrlPr>
                            <a:rPr lang="en-US" altLang="zh-CN" b="1" i="1" smtClean="0">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𝒋</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在</a:t>
                </a:r>
                <a:r>
                  <a:rPr lang="zh-CN" altLang="en-US" dirty="0" smtClean="0">
                    <a:latin typeface="微软雅黑" panose="020B0503020204020204" pitchFamily="34" charset="-122"/>
                    <a:ea typeface="微软雅黑" panose="020B0503020204020204" pitchFamily="34" charset="-122"/>
                  </a:rPr>
                  <a:t>物理上，现在要求</a:t>
                </a:r>
                <a14:m>
                  <m:oMath xmlns:m="http://schemas.openxmlformats.org/officeDocument/2006/math">
                    <m:r>
                      <a:rPr lang="en-US" altLang="zh-CN" i="1" dirty="0">
                        <a:latin typeface="Cambria Math" panose="02040503050406030204" pitchFamily="18" charset="0"/>
                        <a:ea typeface="微软雅黑" panose="020B0503020204020204" pitchFamily="34" charset="-122"/>
                      </a:rPr>
                      <m:t>𝑛</m:t>
                    </m:r>
                  </m:oMath>
                </a14:m>
                <a:r>
                  <a:rPr lang="zh-CN" altLang="en-US" dirty="0" smtClean="0">
                    <a:latin typeface="微软雅黑" panose="020B0503020204020204" pitchFamily="34" charset="-122"/>
                    <a:ea typeface="微软雅黑" panose="020B0503020204020204" pitchFamily="34" charset="-122"/>
                  </a:rPr>
                  <a:t>个粒子的物理性质完全相同，在微观层面完全不可分</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用量子力学语言描述，即对任意可观测量</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oMath>
                </a14:m>
                <a:r>
                  <a:rPr lang="zh-CN" altLang="en-US" dirty="0" smtClean="0">
                    <a:latin typeface="微软雅黑" panose="020B0503020204020204" pitchFamily="34" charset="-122"/>
                    <a:ea typeface="微软雅黑" panose="020B0503020204020204" pitchFamily="34" charset="-122"/>
                  </a:rPr>
                  <a:t>，要求</a:t>
                </a:r>
                <a:endParaRPr lang="en-US" altLang="zh-CN"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𝐣</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d>
                            <m:dPr>
                              <m:begChr m:val="|"/>
                              <m:endChr m:val="|"/>
                              <m:ctrlPr>
                                <a:rPr lang="en-US" altLang="zh-CN" b="0" i="1" smtClean="0">
                                  <a:latin typeface="Cambria Math" panose="02040503050406030204" pitchFamily="18" charset="0"/>
                                  <a:ea typeface="微软雅黑" panose="020B0503020204020204" pitchFamily="34" charset="-122"/>
                                </a:rPr>
                              </m:ctrlPr>
                            </m:dPr>
                            <m:e>
                              <m:acc>
                                <m:accPr>
                                  <m:chr m:val="̂"/>
                                  <m:ctrlPr>
                                    <a:rPr lang="en-US" altLang="zh-CN"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𝐴</m:t>
                                  </m:r>
                                </m:e>
                              </m:acc>
                            </m:e>
                          </m:d>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𝐣</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r>
                        <a:rPr lang="en-US" altLang="zh-CN" b="1" i="1" smtClean="0">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𝒋</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d>
                            <m:dPr>
                              <m:begChr m:val="|"/>
                              <m:endChr m:val="|"/>
                              <m:ctrlPr>
                                <a:rPr lang="en-US" altLang="zh-CN" i="1">
                                  <a:latin typeface="Cambria Math" panose="02040503050406030204" pitchFamily="18" charset="0"/>
                                  <a:ea typeface="微软雅黑" panose="020B0503020204020204" pitchFamily="34" charset="-122"/>
                                </a:rPr>
                              </m:ctrlPr>
                            </m:d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𝐴</m:t>
                                  </m:r>
                                </m:e>
                              </m:acc>
                            </m:e>
                          </m:d>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𝒋</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对</a:t>
                </a:r>
                <a14:m>
                  <m:oMath xmlns:m="http://schemas.openxmlformats.org/officeDocument/2006/math">
                    <m:d>
                      <m:dPr>
                        <m:begChr m:val="|"/>
                        <m:endChr m:val="⟩"/>
                        <m:ctrlPr>
                          <a:rPr lang="en-US" altLang="zh-CN" b="1" i="1">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𝒋</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oMath>
                </a14:m>
                <a:r>
                  <a:rPr lang="zh-CN" altLang="en-US" dirty="0" smtClean="0">
                    <a:latin typeface="微软雅黑" panose="020B0503020204020204" pitchFamily="34" charset="-122"/>
                    <a:ea typeface="微软雅黑" panose="020B0503020204020204" pitchFamily="34" charset="-122"/>
                  </a:rPr>
                  <a:t>连续作用两次</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𝑃</m:t>
                            </m:r>
                          </m:e>
                        </m:acc>
                      </m:e>
                      <m:sub>
                        <m:r>
                          <a:rPr lang="en-US" altLang="zh-CN" i="1" dirty="0">
                            <a:latin typeface="Cambria Math" panose="02040503050406030204" pitchFamily="18" charset="0"/>
                            <a:ea typeface="微软雅黑" panose="020B0503020204020204" pitchFamily="34" charset="-122"/>
                          </a:rPr>
                          <m:t>𝑖𝑗</m:t>
                        </m:r>
                      </m:sub>
                    </m:sSub>
                  </m:oMath>
                </a14:m>
                <a:r>
                  <a:rPr lang="zh-CN" altLang="en-US" dirty="0" smtClean="0">
                    <a:latin typeface="微软雅黑" panose="020B0503020204020204" pitchFamily="34" charset="-122"/>
                    <a:ea typeface="微软雅黑" panose="020B0503020204020204" pitchFamily="34" charset="-122"/>
                  </a:rPr>
                  <a:t>后还是原来的态，因而有</a:t>
                </a:r>
                <a14:m>
                  <m:oMath xmlns:m="http://schemas.openxmlformats.org/officeDocument/2006/math">
                    <m:sSubSup>
                      <m:sSubSupPr>
                        <m:ctrlPr>
                          <a:rPr lang="en-US" altLang="zh-CN" b="0" i="1" dirty="0" smtClean="0">
                            <a:latin typeface="Cambria Math" panose="02040503050406030204" pitchFamily="18" charset="0"/>
                            <a:ea typeface="微软雅黑" panose="020B0503020204020204" pitchFamily="34" charset="-122"/>
                          </a:rPr>
                        </m:ctrlPr>
                      </m:sSub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𝑃</m:t>
                            </m:r>
                          </m:e>
                        </m:acc>
                      </m:e>
                      <m:sub>
                        <m:r>
                          <a:rPr lang="en-US" altLang="zh-CN" i="1" dirty="0">
                            <a:latin typeface="Cambria Math" panose="02040503050406030204" pitchFamily="18" charset="0"/>
                            <a:ea typeface="微软雅黑" panose="020B0503020204020204" pitchFamily="34" charset="-122"/>
                          </a:rPr>
                          <m:t>𝑖𝑗</m:t>
                        </m:r>
                      </m:sub>
                      <m:sup>
                        <m:r>
                          <a:rPr lang="en-US" altLang="zh-CN" b="0" i="1" dirty="0" smtClean="0">
                            <a:latin typeface="Cambria Math" panose="02040503050406030204" pitchFamily="18" charset="0"/>
                            <a:ea typeface="微软雅黑" panose="020B0503020204020204" pitchFamily="34" charset="-122"/>
                          </a:rPr>
                          <m:t>2</m:t>
                        </m:r>
                      </m:sup>
                    </m:sSubSup>
                    <m:r>
                      <a:rPr lang="en-US" altLang="zh-CN" b="0" i="1" dirty="0" smtClean="0">
                        <a:latin typeface="Cambria Math" panose="02040503050406030204" pitchFamily="18" charset="0"/>
                        <a:ea typeface="微软雅黑" panose="020B0503020204020204" pitchFamily="34" charset="-122"/>
                      </a:rPr>
                      <m:t>=</m:t>
                    </m:r>
                    <m:acc>
                      <m:accPr>
                        <m:chr m:val="̂"/>
                        <m:ctrlPr>
                          <a:rPr lang="en-US" altLang="zh-CN" b="0" i="1" dirty="0" smtClean="0">
                            <a:latin typeface="Cambria Math" panose="02040503050406030204" pitchFamily="18" charset="0"/>
                            <a:ea typeface="微软雅黑" panose="020B0503020204020204" pitchFamily="34" charset="-122"/>
                          </a:rPr>
                        </m:ctrlPr>
                      </m:accPr>
                      <m:e>
                        <m:r>
                          <a:rPr lang="en-US" altLang="zh-CN" b="0" i="1" dirty="0" smtClean="0">
                            <a:latin typeface="Cambria Math" panose="02040503050406030204" pitchFamily="18" charset="0"/>
                            <a:ea typeface="微软雅黑" panose="020B0503020204020204" pitchFamily="34" charset="-122"/>
                          </a:rPr>
                          <m:t>𝐼</m:t>
                        </m:r>
                      </m:e>
                    </m:acc>
                  </m:oMath>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两式结合后可以得到</a:t>
                </a:r>
                <a:endParaRPr lang="en-US" altLang="zh-CN"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𝑃</m:t>
                                  </m:r>
                                </m:e>
                              </m:acc>
                            </m:e>
                            <m:sub>
                              <m:r>
                                <a:rPr lang="en-US" altLang="zh-CN" b="0" i="1" smtClean="0">
                                  <a:latin typeface="Cambria Math" panose="02040503050406030204" pitchFamily="18" charset="0"/>
                                  <a:ea typeface="微软雅黑" panose="020B0503020204020204" pitchFamily="34" charset="-122"/>
                                </a:rPr>
                                <m:t>𝑖𝑗</m:t>
                              </m:r>
                            </m:sub>
                          </m:sSub>
                          <m:r>
                            <a:rPr lang="en-US" altLang="zh-CN" b="0" i="1" smtClean="0">
                              <a:latin typeface="Cambria Math" panose="02040503050406030204" pitchFamily="18" charset="0"/>
                              <a:ea typeface="微软雅黑" panose="020B0503020204020204" pitchFamily="34" charset="-122"/>
                            </a:rPr>
                            <m:t>, </m:t>
                          </m:r>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𝐻</m:t>
                              </m:r>
                            </m:e>
                          </m:acc>
                        </m:e>
                      </m:d>
                      <m:r>
                        <a:rPr lang="en-US" altLang="zh-CN" b="0" i="1" smtClean="0">
                          <a:latin typeface="Cambria Math" panose="02040503050406030204" pitchFamily="18" charset="0"/>
                          <a:ea typeface="微软雅黑" panose="020B0503020204020204" pitchFamily="34" charset="-122"/>
                        </a:rPr>
                        <m:t>=0</m:t>
                      </m:r>
                    </m:oMath>
                  </m:oMathPara>
                </a14:m>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𝑃</m:t>
                            </m:r>
                          </m:e>
                        </m:acc>
                      </m:e>
                      <m:sub>
                        <m:r>
                          <a:rPr lang="en-US" altLang="zh-CN" i="1" dirty="0">
                            <a:latin typeface="Cambria Math" panose="02040503050406030204" pitchFamily="18" charset="0"/>
                            <a:ea typeface="微软雅黑" panose="020B0503020204020204" pitchFamily="34" charset="-122"/>
                          </a:rPr>
                          <m:t>𝑖𝑗</m:t>
                        </m:r>
                      </m:sub>
                    </m:sSub>
                  </m:oMath>
                </a14:m>
                <a:r>
                  <a:rPr lang="zh-CN" altLang="en-US" dirty="0" smtClean="0">
                    <a:latin typeface="微软雅黑" panose="020B0503020204020204" pitchFamily="34" charset="-122"/>
                    <a:ea typeface="微软雅黑" panose="020B0503020204020204" pitchFamily="34" charset="-122"/>
                  </a:rPr>
                  <a:t>的本征值为</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±1</m:t>
                    </m:r>
                  </m:oMath>
                </a14:m>
                <a:endParaRPr lang="en-US" altLang="zh-CN" dirty="0" smtClean="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80383" y="1020459"/>
                <a:ext cx="11534991" cy="5755871"/>
              </a:xfrm>
              <a:prstGeom prst="rect">
                <a:avLst/>
              </a:prstGeom>
              <a:blipFill rotWithShape="0">
                <a:blip r:embed="rId5"/>
                <a:stretch>
                  <a:fillRect l="-423" r="-476" b="-2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5341873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Identical particles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209755" y="777875"/>
                <a:ext cx="11534991" cy="5902963"/>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根据</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𝑃</m:t>
                            </m:r>
                          </m:e>
                        </m:acc>
                      </m:e>
                      <m:sub>
                        <m:r>
                          <a:rPr lang="en-US" altLang="zh-CN" i="1" dirty="0">
                            <a:latin typeface="Cambria Math" panose="02040503050406030204" pitchFamily="18" charset="0"/>
                            <a:ea typeface="微软雅黑" panose="020B0503020204020204" pitchFamily="34" charset="-122"/>
                          </a:rPr>
                          <m:t>𝑖𝑗</m:t>
                        </m:r>
                      </m:sub>
                    </m:sSub>
                  </m:oMath>
                </a14:m>
                <a:r>
                  <a:rPr lang="zh-CN" altLang="en-US" dirty="0">
                    <a:latin typeface="微软雅黑" panose="020B0503020204020204" pitchFamily="34" charset="-122"/>
                    <a:ea typeface="微软雅黑" panose="020B0503020204020204" pitchFamily="34" charset="-122"/>
                  </a:rPr>
                  <a:t>的</a:t>
                </a:r>
                <a:r>
                  <a:rPr lang="zh-CN" altLang="en-US" dirty="0" smtClean="0">
                    <a:latin typeface="微软雅黑" panose="020B0503020204020204" pitchFamily="34" charset="-122"/>
                    <a:ea typeface="微软雅黑" panose="020B0503020204020204" pitchFamily="34" charset="-122"/>
                  </a:rPr>
                  <a:t>本征值定义两类全同粒子：</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𝑃</m:t>
                              </m:r>
                            </m:e>
                          </m:acc>
                        </m:e>
                        <m:sub>
                          <m:r>
                            <a:rPr lang="en-US" altLang="zh-CN" i="1" dirty="0">
                              <a:latin typeface="Cambria Math" panose="02040503050406030204" pitchFamily="18" charset="0"/>
                              <a:ea typeface="微软雅黑" panose="020B0503020204020204" pitchFamily="34" charset="-122"/>
                            </a:rPr>
                            <m:t>𝑖𝑗</m:t>
                          </m:r>
                        </m:sub>
                      </m:sSub>
                      <m:d>
                        <m:dPr>
                          <m:begChr m:val="|"/>
                          <m:endChr m:val="⟩"/>
                          <m:ctrlPr>
                            <a:rPr lang="en-US" altLang="zh-CN" b="0" i="1" dirty="0" smtClean="0">
                              <a:latin typeface="Cambria Math" panose="02040503050406030204" pitchFamily="18" charset="0"/>
                              <a:ea typeface="微软雅黑" panose="020B0503020204020204" pitchFamily="34" charset="-122"/>
                            </a:rPr>
                          </m:ctrlPr>
                        </m:dPr>
                        <m:e>
                          <m:sSup>
                            <m:sSupPr>
                              <m:ctrlPr>
                                <a:rPr lang="en-US" altLang="zh-CN" b="0" i="1" dirty="0" smtClean="0">
                                  <a:latin typeface="Cambria Math" panose="02040503050406030204" pitchFamily="18" charset="0"/>
                                  <a:ea typeface="微软雅黑" panose="020B0503020204020204" pitchFamily="34" charset="-122"/>
                                </a:rPr>
                              </m:ctrlPr>
                            </m:sSupPr>
                            <m:e>
                              <m:r>
                                <m:rPr>
                                  <m:sty m:val="p"/>
                                </m:rPr>
                                <a:rPr lang="en-US" altLang="zh-CN" b="0" i="0" dirty="0" smtClean="0">
                                  <a:latin typeface="Cambria Math" panose="02040503050406030204" pitchFamily="18" charset="0"/>
                                  <a:ea typeface="微软雅黑" panose="020B0503020204020204" pitchFamily="34" charset="-122"/>
                                </a:rPr>
                                <m:t>Ψ</m:t>
                              </m:r>
                            </m:e>
                            <m:sup>
                              <m:r>
                                <a:rPr lang="en-US" altLang="zh-CN" b="0" i="1" dirty="0" smtClean="0">
                                  <a:latin typeface="Cambria Math" panose="02040503050406030204" pitchFamily="18" charset="0"/>
                                  <a:ea typeface="微软雅黑" panose="020B0503020204020204" pitchFamily="34" charset="-122"/>
                                </a:rPr>
                                <m:t>+</m:t>
                              </m:r>
                            </m:sup>
                          </m:sSup>
                        </m:e>
                      </m:d>
                      <m:r>
                        <a:rPr lang="en-US" altLang="zh-CN" b="0" i="1" dirty="0" smtClean="0">
                          <a:latin typeface="Cambria Math" panose="02040503050406030204" pitchFamily="18" charset="0"/>
                          <a:ea typeface="微软雅黑" panose="020B0503020204020204" pitchFamily="34" charset="-122"/>
                        </a:rPr>
                        <m:t>= +1|</m:t>
                      </m:r>
                      <m:sSup>
                        <m:sSupPr>
                          <m:ctrlPr>
                            <a:rPr lang="en-US" altLang="zh-CN" b="0" i="1" dirty="0" smtClean="0">
                              <a:latin typeface="Cambria Math" panose="02040503050406030204" pitchFamily="18" charset="0"/>
                              <a:ea typeface="微软雅黑" panose="020B0503020204020204" pitchFamily="34" charset="-122"/>
                            </a:rPr>
                          </m:ctrlPr>
                        </m:sSupPr>
                        <m:e>
                          <m:r>
                            <m:rPr>
                              <m:sty m:val="p"/>
                            </m:rPr>
                            <a:rPr lang="en-US" altLang="zh-CN" b="0" i="0" dirty="0" smtClean="0">
                              <a:latin typeface="Cambria Math" panose="02040503050406030204" pitchFamily="18" charset="0"/>
                              <a:ea typeface="微软雅黑" panose="020B0503020204020204" pitchFamily="34" charset="-122"/>
                            </a:rPr>
                            <m:t>Ψ</m:t>
                          </m:r>
                        </m:e>
                        <m:sup>
                          <m:r>
                            <a:rPr lang="en-US" altLang="zh-CN" b="0" i="1" dirty="0" smtClean="0">
                              <a:latin typeface="Cambria Math" panose="02040503050406030204" pitchFamily="18" charset="0"/>
                              <a:ea typeface="微软雅黑" panose="020B0503020204020204" pitchFamily="34" charset="-122"/>
                            </a:rPr>
                            <m:t>+</m:t>
                          </m:r>
                        </m:sup>
                      </m:sSup>
                      <m:r>
                        <a:rPr lang="en-US" altLang="zh-CN" b="0" i="1" dirty="0" smtClean="0">
                          <a:latin typeface="Cambria Math" panose="02040503050406030204" pitchFamily="18" charset="0"/>
                          <a:ea typeface="微软雅黑" panose="020B0503020204020204" pitchFamily="34" charset="-122"/>
                        </a:rPr>
                        <m:t>⟩</m:t>
                      </m:r>
                    </m:oMath>
                  </m:oMathPara>
                </a14:m>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𝑃</m:t>
                              </m:r>
                            </m:e>
                          </m:acc>
                        </m:e>
                        <m:sub>
                          <m:r>
                            <a:rPr lang="en-US" altLang="zh-CN" i="1" dirty="0">
                              <a:latin typeface="Cambria Math" panose="02040503050406030204" pitchFamily="18" charset="0"/>
                              <a:ea typeface="微软雅黑" panose="020B0503020204020204" pitchFamily="34" charset="-122"/>
                            </a:rPr>
                            <m:t>𝑖𝑗</m:t>
                          </m:r>
                        </m:sub>
                      </m:sSub>
                      <m:d>
                        <m:dPr>
                          <m:begChr m:val="|"/>
                          <m:endChr m:val="⟩"/>
                          <m:ctrlPr>
                            <a:rPr lang="en-US" altLang="zh-CN" i="1" dirty="0">
                              <a:latin typeface="Cambria Math" panose="02040503050406030204" pitchFamily="18" charset="0"/>
                              <a:ea typeface="微软雅黑" panose="020B0503020204020204" pitchFamily="34" charset="-122"/>
                            </a:rPr>
                          </m:ctrlPr>
                        </m:dPr>
                        <m:e>
                          <m:sSup>
                            <m:sSupPr>
                              <m:ctrlPr>
                                <a:rPr lang="en-US" altLang="zh-CN" i="1" dirty="0">
                                  <a:latin typeface="Cambria Math" panose="02040503050406030204" pitchFamily="18" charset="0"/>
                                  <a:ea typeface="微软雅黑" panose="020B0503020204020204" pitchFamily="34" charset="-122"/>
                                </a:rPr>
                              </m:ctrlPr>
                            </m:sSupPr>
                            <m:e>
                              <m:r>
                                <m:rPr>
                                  <m:sty m:val="p"/>
                                </m:rPr>
                                <a:rPr lang="en-US" altLang="zh-CN" dirty="0">
                                  <a:latin typeface="Cambria Math" panose="02040503050406030204" pitchFamily="18" charset="0"/>
                                  <a:ea typeface="微软雅黑" panose="020B0503020204020204" pitchFamily="34" charset="-122"/>
                                </a:rPr>
                                <m:t>Ψ</m:t>
                              </m:r>
                            </m:e>
                            <m:sup>
                              <m:r>
                                <a:rPr lang="en-US" altLang="zh-CN" b="0" i="1" dirty="0" smtClean="0">
                                  <a:latin typeface="Cambria Math" panose="02040503050406030204" pitchFamily="18" charset="0"/>
                                  <a:ea typeface="微软雅黑" panose="020B0503020204020204" pitchFamily="34" charset="-122"/>
                                </a:rPr>
                                <m:t>−</m:t>
                              </m:r>
                            </m:sup>
                          </m:sSup>
                        </m:e>
                      </m:d>
                      <m:r>
                        <a:rPr lang="en-US" altLang="zh-CN" i="1" dirty="0">
                          <a:latin typeface="Cambria Math" panose="02040503050406030204" pitchFamily="18" charset="0"/>
                          <a:ea typeface="微软雅黑" panose="020B0503020204020204" pitchFamily="34" charset="-122"/>
                        </a:rPr>
                        <m:t>=</m:t>
                      </m:r>
                      <m:r>
                        <a:rPr lang="en-US" altLang="zh-CN" b="0" i="1" dirty="0" smtClean="0">
                          <a:latin typeface="Cambria Math" panose="02040503050406030204" pitchFamily="18" charset="0"/>
                          <a:ea typeface="微软雅黑" panose="020B0503020204020204" pitchFamily="34" charset="-122"/>
                        </a:rPr>
                        <m:t>−</m:t>
                      </m:r>
                      <m:r>
                        <a:rPr lang="en-US" altLang="zh-CN" i="1" dirty="0">
                          <a:latin typeface="Cambria Math" panose="02040503050406030204" pitchFamily="18" charset="0"/>
                          <a:ea typeface="微软雅黑" panose="020B0503020204020204" pitchFamily="34" charset="-122"/>
                        </a:rPr>
                        <m:t>1|</m:t>
                      </m:r>
                      <m:sSup>
                        <m:sSupPr>
                          <m:ctrlPr>
                            <a:rPr lang="en-US" altLang="zh-CN" i="1" dirty="0">
                              <a:latin typeface="Cambria Math" panose="02040503050406030204" pitchFamily="18" charset="0"/>
                              <a:ea typeface="微软雅黑" panose="020B0503020204020204" pitchFamily="34" charset="-122"/>
                            </a:rPr>
                          </m:ctrlPr>
                        </m:sSupPr>
                        <m:e>
                          <m:r>
                            <m:rPr>
                              <m:sty m:val="p"/>
                            </m:rPr>
                            <a:rPr lang="en-US" altLang="zh-CN" dirty="0">
                              <a:latin typeface="Cambria Math" panose="02040503050406030204" pitchFamily="18" charset="0"/>
                              <a:ea typeface="微软雅黑" panose="020B0503020204020204" pitchFamily="34" charset="-122"/>
                            </a:rPr>
                            <m:t>Ψ</m:t>
                          </m:r>
                        </m:e>
                        <m:sup>
                          <m:r>
                            <a:rPr lang="en-US" altLang="zh-CN" b="0" i="1" dirty="0" smtClean="0">
                              <a:latin typeface="Cambria Math" panose="02040503050406030204" pitchFamily="18" charset="0"/>
                              <a:ea typeface="微软雅黑" panose="020B0503020204020204" pitchFamily="34" charset="-122"/>
                            </a:rPr>
                            <m:t>−</m:t>
                          </m:r>
                        </m:sup>
                      </m:sSup>
                      <m:r>
                        <a:rPr lang="en-US" altLang="zh-CN" i="1" dirty="0">
                          <a:latin typeface="Cambria Math" panose="02040503050406030204" pitchFamily="18" charset="0"/>
                          <a:ea typeface="微软雅黑" panose="020B0503020204020204" pitchFamily="34" charset="-122"/>
                        </a:rPr>
                        <m:t>⟩</m:t>
                      </m:r>
                    </m:oMath>
                  </m:oMathPara>
                </a14:m>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称</a:t>
                </a:r>
                <a14:m>
                  <m:oMath xmlns:m="http://schemas.openxmlformats.org/officeDocument/2006/math">
                    <m:d>
                      <m:dPr>
                        <m:begChr m:val="|"/>
                        <m:endChr m:val="⟩"/>
                        <m:ctrlPr>
                          <a:rPr lang="en-US" altLang="zh-CN" i="1" dirty="0">
                            <a:latin typeface="Cambria Math" panose="02040503050406030204" pitchFamily="18" charset="0"/>
                            <a:ea typeface="微软雅黑" panose="020B0503020204020204" pitchFamily="34" charset="-122"/>
                          </a:rPr>
                        </m:ctrlPr>
                      </m:dPr>
                      <m:e>
                        <m:sSup>
                          <m:sSupPr>
                            <m:ctrlPr>
                              <a:rPr lang="en-US" altLang="zh-CN" i="1" dirty="0">
                                <a:latin typeface="Cambria Math" panose="02040503050406030204" pitchFamily="18" charset="0"/>
                                <a:ea typeface="微软雅黑" panose="020B0503020204020204" pitchFamily="34" charset="-122"/>
                              </a:rPr>
                            </m:ctrlPr>
                          </m:sSupPr>
                          <m:e>
                            <m:r>
                              <m:rPr>
                                <m:sty m:val="p"/>
                              </m:rPr>
                              <a:rPr lang="en-US" altLang="zh-CN" dirty="0">
                                <a:latin typeface="Cambria Math" panose="02040503050406030204" pitchFamily="18" charset="0"/>
                                <a:ea typeface="微软雅黑" panose="020B0503020204020204" pitchFamily="34" charset="-122"/>
                              </a:rPr>
                              <m:t>Ψ</m:t>
                            </m:r>
                          </m:e>
                          <m:sup>
                            <m:r>
                              <a:rPr lang="en-US" altLang="zh-CN" i="1" dirty="0">
                                <a:latin typeface="Cambria Math" panose="02040503050406030204" pitchFamily="18" charset="0"/>
                                <a:ea typeface="微软雅黑" panose="020B0503020204020204" pitchFamily="34" charset="-122"/>
                              </a:rPr>
                              <m:t>+</m:t>
                            </m:r>
                          </m:sup>
                        </m:sSup>
                      </m:e>
                    </m:d>
                  </m:oMath>
                </a14:m>
                <a:r>
                  <a:rPr lang="zh-CN" altLang="en-US" dirty="0" smtClean="0">
                    <a:latin typeface="微软雅黑" panose="020B0503020204020204" pitchFamily="34" charset="-122"/>
                    <a:ea typeface="微软雅黑" panose="020B0503020204020204" pitchFamily="34" charset="-122"/>
                  </a:rPr>
                  <a:t>为玻色子，</a:t>
                </a:r>
                <a14:m>
                  <m:oMath xmlns:m="http://schemas.openxmlformats.org/officeDocument/2006/math">
                    <m:d>
                      <m:dPr>
                        <m:begChr m:val="|"/>
                        <m:endChr m:val="⟩"/>
                        <m:ctrlPr>
                          <a:rPr lang="en-US" altLang="zh-CN" i="1" dirty="0">
                            <a:latin typeface="Cambria Math" panose="02040503050406030204" pitchFamily="18" charset="0"/>
                            <a:ea typeface="微软雅黑" panose="020B0503020204020204" pitchFamily="34" charset="-122"/>
                          </a:rPr>
                        </m:ctrlPr>
                      </m:dPr>
                      <m:e>
                        <m:sSup>
                          <m:sSupPr>
                            <m:ctrlPr>
                              <a:rPr lang="en-US" altLang="zh-CN" i="1" dirty="0">
                                <a:latin typeface="Cambria Math" panose="02040503050406030204" pitchFamily="18" charset="0"/>
                                <a:ea typeface="微软雅黑" panose="020B0503020204020204" pitchFamily="34" charset="-122"/>
                              </a:rPr>
                            </m:ctrlPr>
                          </m:sSupPr>
                          <m:e>
                            <m:r>
                              <m:rPr>
                                <m:sty m:val="p"/>
                              </m:rPr>
                              <a:rPr lang="en-US" altLang="zh-CN" dirty="0">
                                <a:latin typeface="Cambria Math" panose="02040503050406030204" pitchFamily="18" charset="0"/>
                                <a:ea typeface="微软雅黑" panose="020B0503020204020204" pitchFamily="34" charset="-122"/>
                              </a:rPr>
                              <m:t>Ψ</m:t>
                            </m:r>
                          </m:e>
                          <m:sup>
                            <m:r>
                              <a:rPr lang="en-US" altLang="zh-CN" i="1" dirty="0">
                                <a:latin typeface="Cambria Math" panose="02040503050406030204" pitchFamily="18" charset="0"/>
                                <a:ea typeface="微软雅黑" panose="020B0503020204020204" pitchFamily="34" charset="-122"/>
                              </a:rPr>
                              <m:t>−</m:t>
                            </m:r>
                          </m:sup>
                        </m:sSup>
                      </m:e>
                    </m:d>
                  </m:oMath>
                </a14:m>
                <a:r>
                  <a:rPr lang="zh-CN" altLang="en-US" dirty="0" smtClean="0">
                    <a:latin typeface="微软雅黑" panose="020B0503020204020204" pitchFamily="34" charset="-122"/>
                    <a:ea typeface="微软雅黑" panose="020B0503020204020204" pitchFamily="34" charset="-122"/>
                  </a:rPr>
                  <a:t>为费米子</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玻色子和费米子与电子自旋之间具有密切关联，玻色子的自旋量子数</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𝑠</m:t>
                    </m:r>
                  </m:oMath>
                </a14:m>
                <a:r>
                  <a:rPr lang="zh-CN" altLang="en-US" dirty="0" smtClean="0">
                    <a:latin typeface="微软雅黑" panose="020B0503020204020204" pitchFamily="34" charset="-122"/>
                    <a:ea typeface="微软雅黑" panose="020B0503020204020204" pitchFamily="34" charset="-122"/>
                  </a:rPr>
                  <a:t>为整数，费米子的自旋量子数</a:t>
                </a:r>
                <a14:m>
                  <m:oMath xmlns:m="http://schemas.openxmlformats.org/officeDocument/2006/math">
                    <m:r>
                      <a:rPr lang="en-US" altLang="zh-CN" i="1">
                        <a:latin typeface="Cambria Math" panose="02040503050406030204" pitchFamily="18" charset="0"/>
                        <a:ea typeface="微软雅黑" panose="020B0503020204020204" pitchFamily="34" charset="-122"/>
                      </a:rPr>
                      <m:t>𝑠</m:t>
                    </m:r>
                  </m:oMath>
                </a14:m>
                <a:r>
                  <a:rPr lang="zh-CN" altLang="en-US" dirty="0" smtClean="0">
                    <a:latin typeface="微软雅黑" panose="020B0503020204020204" pitchFamily="34" charset="-122"/>
                    <a:ea typeface="微软雅黑" panose="020B0503020204020204" pitchFamily="34" charset="-122"/>
                  </a:rPr>
                  <a:t>为半奇数</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按</a:t>
                </a:r>
                <a:r>
                  <a:rPr lang="zh-CN" altLang="en-US" dirty="0" smtClean="0">
                    <a:latin typeface="微软雅黑" panose="020B0503020204020204" pitchFamily="34" charset="-122"/>
                    <a:ea typeface="微软雅黑" panose="020B0503020204020204" pitchFamily="34" charset="-122"/>
                  </a:rPr>
                  <a:t>此分类电子为费米子</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对于费米子而言，不可能有两个粒子的坐标是完全一样的。考虑态</a:t>
                </a:r>
                <a14:m>
                  <m:oMath xmlns:m="http://schemas.openxmlformats.org/officeDocument/2006/math">
                    <m:d>
                      <m:dPr>
                        <m:begChr m:val="|"/>
                        <m:endChr m:val="⟩"/>
                        <m:ctrlPr>
                          <a:rPr lang="en-US" altLang="zh-CN" b="1" i="1">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𝒋</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oMath>
                </a14:m>
                <a:r>
                  <a:rPr lang="zh-CN" altLang="en-US" dirty="0" smtClean="0">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𝒊</m:t>
                        </m:r>
                      </m:sub>
                    </m:sSub>
                    <m:r>
                      <a:rPr lang="en-US" altLang="zh-CN" b="1" i="1" smtClean="0">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𝒋</m:t>
                        </m:r>
                      </m:sub>
                    </m:sSub>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那么</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𝑃</m:t>
                            </m:r>
                          </m:e>
                        </m:acc>
                      </m:e>
                      <m:sub>
                        <m:r>
                          <a:rPr lang="en-US" altLang="zh-CN" i="1" dirty="0">
                            <a:latin typeface="Cambria Math" panose="02040503050406030204" pitchFamily="18" charset="0"/>
                            <a:ea typeface="微软雅黑" panose="020B0503020204020204" pitchFamily="34" charset="-122"/>
                          </a:rPr>
                          <m:t>𝑖𝑗</m:t>
                        </m:r>
                      </m:sub>
                    </m:sSub>
                    <m:d>
                      <m:dPr>
                        <m:begChr m:val="|"/>
                        <m:endChr m:val="⟩"/>
                        <m:ctrlPr>
                          <a:rPr lang="en-US" altLang="zh-CN" b="1" i="1">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𝒋</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r>
                      <a:rPr lang="en-US" altLang="zh-CN" b="1" i="1" smtClean="0">
                        <a:latin typeface="Cambria Math" panose="02040503050406030204" pitchFamily="18" charset="0"/>
                        <a:ea typeface="微软雅黑" panose="020B0503020204020204" pitchFamily="34" charset="-122"/>
                      </a:rPr>
                      <m:t>=</m:t>
                    </m:r>
                    <m:d>
                      <m:dPr>
                        <m:begChr m:val="|"/>
                        <m:endChr m:val="⟩"/>
                        <m:ctrlPr>
                          <a:rPr lang="en-US" altLang="zh-CN" b="1" i="1">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𝒋</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r>
                      <a:rPr lang="en-US" altLang="zh-CN" b="1" i="1" smtClean="0">
                        <a:latin typeface="Cambria Math" panose="02040503050406030204" pitchFamily="18" charset="0"/>
                        <a:ea typeface="微软雅黑" panose="020B0503020204020204" pitchFamily="34" charset="-122"/>
                      </a:rPr>
                      <m:t>=−</m:t>
                    </m:r>
                    <m:d>
                      <m:dPr>
                        <m:begChr m:val="|"/>
                        <m:endChr m:val="⟩"/>
                        <m:ctrlPr>
                          <a:rPr lang="en-US" altLang="zh-CN" b="1" i="1">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𝒋</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oMath>
                </a14:m>
                <a:endParaRPr lang="en-US" altLang="zh-CN" b="1"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而</a:t>
                </a:r>
                <a14:m>
                  <m:oMath xmlns:m="http://schemas.openxmlformats.org/officeDocument/2006/math">
                    <m:d>
                      <m:dPr>
                        <m:begChr m:val="|"/>
                        <m:endChr m:val="⟩"/>
                        <m:ctrlPr>
                          <a:rPr lang="en-US" altLang="zh-CN" b="1" i="1">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𝒋</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r>
                      <a:rPr lang="en-US" altLang="zh-CN" b="1" i="1" smtClean="0">
                        <a:latin typeface="Cambria Math" panose="02040503050406030204" pitchFamily="18" charset="0"/>
                        <a:ea typeface="微软雅黑" panose="020B0503020204020204" pitchFamily="34" charset="-122"/>
                      </a:rPr>
                      <m:t>=</m:t>
                    </m:r>
                    <m:d>
                      <m:dPr>
                        <m:begChr m:val="|"/>
                        <m:endChr m:val="⟩"/>
                        <m:ctrlPr>
                          <a:rPr lang="en-US" altLang="zh-CN" b="1" i="1">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smtClean="0">
                                <a:latin typeface="Cambria Math" panose="02040503050406030204" pitchFamily="18" charset="0"/>
                                <a:ea typeface="微软雅黑" panose="020B0503020204020204" pitchFamily="34" charset="-122"/>
                              </a:rPr>
                              <m:t>𝒋</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oMath>
                </a14:m>
                <a:r>
                  <a:rPr lang="zh-CN" altLang="en-US" dirty="0" smtClean="0">
                    <a:latin typeface="微软雅黑" panose="020B0503020204020204" pitchFamily="34" charset="-122"/>
                    <a:ea typeface="微软雅黑" panose="020B0503020204020204" pitchFamily="34" charset="-122"/>
                  </a:rPr>
                  <a:t>，得</a:t>
                </a:r>
                <a14:m>
                  <m:oMath xmlns:m="http://schemas.openxmlformats.org/officeDocument/2006/math">
                    <m:d>
                      <m:dPr>
                        <m:begChr m:val="|"/>
                        <m:endChr m:val="⟩"/>
                        <m:ctrlPr>
                          <a:rPr lang="en-US" altLang="zh-CN" b="1" i="1">
                            <a:latin typeface="Cambria Math" panose="02040503050406030204" pitchFamily="18" charset="0"/>
                            <a:ea typeface="微软雅黑" panose="020B0503020204020204" pitchFamily="34" charset="-122"/>
                          </a:rPr>
                        </m:ctrlPr>
                      </m:dPr>
                      <m:e>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𝟏</m:t>
                            </m:r>
                          </m:sub>
                        </m:sSub>
                        <m:r>
                          <a:rPr lang="en-US" altLang="zh-CN" b="1">
                            <a:latin typeface="Cambria Math" panose="02040503050406030204" pitchFamily="18" charset="0"/>
                            <a:ea typeface="微软雅黑" panose="020B0503020204020204" pitchFamily="34" charset="-122"/>
                          </a:rPr>
                          <m:t>, </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𝒊</m:t>
                            </m:r>
                          </m:sub>
                        </m:sSub>
                        <m:r>
                          <a:rPr lang="en-US" altLang="zh-CN" b="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𝒋</m:t>
                            </m:r>
                          </m:sub>
                        </m:sSub>
                        <m:r>
                          <a:rPr lang="en-US" altLang="zh-CN" b="1">
                            <a:latin typeface="Cambria Math" panose="02040503050406030204" pitchFamily="18" charset="0"/>
                            <a:ea typeface="微软雅黑" panose="020B0503020204020204" pitchFamily="34" charset="-122"/>
                          </a:rPr>
                          <m:t>,</m:t>
                        </m:r>
                        <m:r>
                          <a:rPr lang="en-US" altLang="zh-CN" b="1" i="1">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a:latin typeface="Cambria Math" panose="02040503050406030204" pitchFamily="18" charset="0"/>
                                <a:ea typeface="微软雅黑" panose="020B0503020204020204" pitchFamily="34" charset="-122"/>
                              </a:rPr>
                              <m:t>𝐧</m:t>
                            </m:r>
                          </m:sub>
                        </m:sSub>
                      </m:e>
                    </m:d>
                    <m:r>
                      <a:rPr lang="en-US" altLang="zh-CN"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𝟎</m:t>
                    </m:r>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𝒊</m:t>
                        </m:r>
                      </m:sub>
                    </m:sSub>
                    <m:r>
                      <a:rPr lang="en-US" altLang="zh-CN" b="1" i="1" smtClean="0">
                        <a:latin typeface="Cambria Math" panose="02040503050406030204" pitchFamily="18" charset="0"/>
                        <a:ea typeface="微软雅黑" panose="020B0503020204020204" pitchFamily="34" charset="-122"/>
                      </a:rPr>
                      <m:t>≠</m:t>
                    </m:r>
                    <m:sSub>
                      <m:sSubPr>
                        <m:ctrlPr>
                          <a:rPr lang="en-US" altLang="zh-CN" b="1" i="1">
                            <a:latin typeface="Cambria Math" panose="02040503050406030204" pitchFamily="18" charset="0"/>
                            <a:ea typeface="微软雅黑" panose="020B0503020204020204" pitchFamily="34" charset="-122"/>
                          </a:rPr>
                        </m:ctrlPr>
                      </m:sSubPr>
                      <m:e>
                        <m:r>
                          <a:rPr lang="en-US" altLang="zh-CN" b="1">
                            <a:latin typeface="Cambria Math" panose="02040503050406030204" pitchFamily="18" charset="0"/>
                            <a:ea typeface="微软雅黑" panose="020B0503020204020204" pitchFamily="34" charset="-122"/>
                          </a:rPr>
                          <m:t>𝐱</m:t>
                        </m:r>
                      </m:e>
                      <m:sub>
                        <m:r>
                          <a:rPr lang="en-US" altLang="zh-CN" b="1" i="1">
                            <a:latin typeface="Cambria Math" panose="02040503050406030204" pitchFamily="18" charset="0"/>
                            <a:ea typeface="微软雅黑" panose="020B0503020204020204" pitchFamily="34" charset="-122"/>
                          </a:rPr>
                          <m:t>𝒋</m:t>
                        </m:r>
                      </m:sub>
                    </m:sSub>
                  </m:oMath>
                </a14:m>
                <a:r>
                  <a:rPr lang="zh-CN" altLang="en-US" dirty="0" smtClean="0">
                    <a:latin typeface="微软雅黑" panose="020B0503020204020204" pitchFamily="34" charset="-122"/>
                    <a:ea typeface="微软雅黑" panose="020B0503020204020204" pitchFamily="34" charset="-122"/>
                  </a:rPr>
                  <a:t>中有两类特殊情况，一种是两费米子的空间坐标</a:t>
                </a:r>
                <a14:m>
                  <m:oMath xmlns:m="http://schemas.openxmlformats.org/officeDocument/2006/math">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𝑥</m:t>
                        </m:r>
                      </m:e>
                    </m:acc>
                  </m:oMath>
                </a14:m>
                <a:r>
                  <a:rPr lang="zh-CN" altLang="en-US" dirty="0" smtClean="0">
                    <a:latin typeface="微软雅黑" panose="020B0503020204020204" pitchFamily="34" charset="-122"/>
                    <a:ea typeface="微软雅黑" panose="020B0503020204020204" pitchFamily="34" charset="-122"/>
                  </a:rPr>
                  <a:t>相同，此时自旋必定相反，就是所谓的</a:t>
                </a:r>
                <a:r>
                  <a:rPr lang="en-US" altLang="zh-CN" dirty="0" smtClean="0">
                    <a:latin typeface="微软雅黑" panose="020B0503020204020204" pitchFamily="34" charset="-122"/>
                    <a:ea typeface="微软雅黑" panose="020B0503020204020204" pitchFamily="34" charset="-122"/>
                  </a:rPr>
                  <a:t>Pauli</a:t>
                </a:r>
                <a:r>
                  <a:rPr lang="zh-CN" altLang="en-US" dirty="0" smtClean="0">
                    <a:latin typeface="微软雅黑" panose="020B0503020204020204" pitchFamily="34" charset="-122"/>
                    <a:ea typeface="微软雅黑" panose="020B0503020204020204" pitchFamily="34" charset="-122"/>
                  </a:rPr>
                  <a:t>不相容原理</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另一</a:t>
                </a:r>
                <a:r>
                  <a:rPr lang="zh-CN" altLang="en-US" dirty="0" smtClean="0">
                    <a:latin typeface="微软雅黑" panose="020B0503020204020204" pitchFamily="34" charset="-122"/>
                    <a:ea typeface="微软雅黑" panose="020B0503020204020204" pitchFamily="34" charset="-122"/>
                  </a:rPr>
                  <a:t>种是自旋相同，则两者在空间上必然相互远离，产生一个“费米空穴”</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关于玻色子、费米子的形式构造不再赘述，后者会在量子化学部分给出</a:t>
                </a:r>
                <a:endParaRPr lang="en-US" altLang="zh-CN" dirty="0" smtClean="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209755" y="777875"/>
                <a:ext cx="11534991" cy="5902963"/>
              </a:xfrm>
              <a:prstGeom prst="rect">
                <a:avLst/>
              </a:prstGeom>
              <a:blipFill rotWithShape="0">
                <a:blip r:embed="rId5"/>
                <a:stretch>
                  <a:fillRect l="-4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36808915"/>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Reference and exercise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6" name="文本框 5"/>
          <p:cNvSpPr txBox="1"/>
          <p:nvPr/>
        </p:nvSpPr>
        <p:spPr>
          <a:xfrm>
            <a:off x="199551" y="1304746"/>
            <a:ext cx="11376230" cy="1705403"/>
          </a:xfrm>
          <a:prstGeom prst="rect">
            <a:avLst/>
          </a:prstGeom>
          <a:noFill/>
        </p:spPr>
        <p:txBody>
          <a:bodyPr wrap="square" rtlCol="0">
            <a:spAutoFit/>
          </a:bodyPr>
          <a:lstStyle/>
          <a:p>
            <a:pPr>
              <a:lnSpc>
                <a:spcPct val="150000"/>
              </a:lnSpc>
            </a:pPr>
            <a:r>
              <a:rPr lang="it-IT" altLang="zh-CN" dirty="0" smtClean="0"/>
              <a:t>J</a:t>
            </a:r>
            <a:r>
              <a:rPr lang="it-IT" altLang="zh-CN" dirty="0"/>
              <a:t>. J. Sakurai, J. Napolitano. </a:t>
            </a:r>
            <a:r>
              <a:rPr lang="it-IT" altLang="zh-CN" i="1" dirty="0"/>
              <a:t>Modern Quantum Mechanics</a:t>
            </a:r>
            <a:r>
              <a:rPr lang="it-IT" altLang="zh-CN" dirty="0"/>
              <a:t>, 2nd ed., </a:t>
            </a:r>
            <a:r>
              <a:rPr lang="it-IT" altLang="zh-CN" dirty="0" smtClean="0"/>
              <a:t>Cambridge </a:t>
            </a:r>
            <a:r>
              <a:rPr lang="en-US" altLang="zh-CN" dirty="0" smtClean="0"/>
              <a:t>University </a:t>
            </a:r>
            <a:r>
              <a:rPr lang="en-US" altLang="zh-CN" dirty="0"/>
              <a:t>Press, </a:t>
            </a:r>
            <a:r>
              <a:rPr lang="en-US" altLang="zh-CN" b="1" dirty="0"/>
              <a:t>2017</a:t>
            </a:r>
            <a:r>
              <a:rPr lang="en-US" altLang="zh-CN" dirty="0" smtClean="0"/>
              <a:t>.</a:t>
            </a:r>
          </a:p>
          <a:p>
            <a:pPr>
              <a:lnSpc>
                <a:spcPct val="150000"/>
              </a:lnSpc>
            </a:pPr>
            <a:r>
              <a:rPr lang="en-US" altLang="zh-CN" dirty="0"/>
              <a:t>D. J. Griffiths, D. F. </a:t>
            </a:r>
            <a:r>
              <a:rPr lang="en-US" altLang="zh-CN" dirty="0" err="1"/>
              <a:t>Schroeter</a:t>
            </a:r>
            <a:r>
              <a:rPr lang="en-US" altLang="zh-CN" dirty="0"/>
              <a:t>. </a:t>
            </a:r>
            <a:r>
              <a:rPr lang="en-US" altLang="zh-CN" i="1" dirty="0"/>
              <a:t>Introduction to Quantum Mechanics</a:t>
            </a:r>
            <a:r>
              <a:rPr lang="en-US" altLang="zh-CN" dirty="0"/>
              <a:t>, 3rd </a:t>
            </a:r>
            <a:r>
              <a:rPr lang="en-US" altLang="zh-CN" dirty="0" smtClean="0"/>
              <a:t>ed. Cambridge </a:t>
            </a:r>
            <a:r>
              <a:rPr lang="en-US" altLang="zh-CN" dirty="0"/>
              <a:t>University Press, </a:t>
            </a:r>
            <a:r>
              <a:rPr lang="en-US" altLang="zh-CN" b="1" dirty="0"/>
              <a:t>2018</a:t>
            </a:r>
            <a:r>
              <a:rPr lang="en-US" altLang="zh-CN" dirty="0" smtClean="0"/>
              <a:t>.</a:t>
            </a:r>
          </a:p>
          <a:p>
            <a:pPr>
              <a:lnSpc>
                <a:spcPct val="150000"/>
              </a:lnSpc>
            </a:pPr>
            <a:r>
              <a:rPr lang="en-US" altLang="zh-CN" dirty="0" smtClean="0"/>
              <a:t>W. </a:t>
            </a:r>
            <a:r>
              <a:rPr lang="en-US" altLang="zh-CN" dirty="0" err="1" smtClean="0"/>
              <a:t>Nolting</a:t>
            </a:r>
            <a:r>
              <a:rPr lang="en-US" altLang="zh-CN" dirty="0" smtClean="0"/>
              <a:t>. </a:t>
            </a:r>
            <a:r>
              <a:rPr lang="en-US" altLang="zh-CN" i="1" dirty="0" smtClean="0"/>
              <a:t>Fundamentals of Many-body Physics</a:t>
            </a:r>
            <a:r>
              <a:rPr lang="en-US" altLang="zh-CN" dirty="0" smtClean="0"/>
              <a:t>. Springer, </a:t>
            </a:r>
            <a:r>
              <a:rPr lang="en-US" altLang="zh-CN" b="1" dirty="0" smtClean="0"/>
              <a:t>2009</a:t>
            </a:r>
            <a:r>
              <a:rPr lang="en-US" altLang="zh-CN" dirty="0" smtClean="0"/>
              <a:t>.</a:t>
            </a:r>
          </a:p>
          <a:p>
            <a:pPr>
              <a:lnSpc>
                <a:spcPct val="150000"/>
              </a:lnSpc>
            </a:pPr>
            <a:r>
              <a:rPr lang="zh-CN" altLang="en-US" dirty="0">
                <a:latin typeface="微软雅黑" panose="020B0503020204020204" pitchFamily="34" charset="-122"/>
                <a:ea typeface="微软雅黑" panose="020B0503020204020204" pitchFamily="34" charset="-122"/>
              </a:rPr>
              <a:t>丘维</a:t>
            </a:r>
            <a:r>
              <a:rPr lang="zh-CN" altLang="en-US" dirty="0" smtClean="0">
                <a:latin typeface="微软雅黑" panose="020B0503020204020204" pitchFamily="34" charset="-122"/>
                <a:ea typeface="微软雅黑" panose="020B0503020204020204" pitchFamily="34" charset="-122"/>
              </a:rPr>
              <a:t>声</a:t>
            </a:r>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群表示论</a:t>
            </a:r>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北京：高等教育出版社</a:t>
            </a:r>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2011.</a:t>
            </a:r>
            <a:endParaRPr lang="en-US" altLang="zh-CN" dirty="0" smtClean="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7" name="文本框 6"/>
              <p:cNvSpPr txBox="1"/>
              <p:nvPr/>
            </p:nvSpPr>
            <p:spPr>
              <a:xfrm>
                <a:off x="199551" y="3224685"/>
                <a:ext cx="11885611" cy="2852769"/>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练习：</a:t>
                </a:r>
                <a:endParaRPr lang="en-US" altLang="zh-CN" sz="2000"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1. </a:t>
                </a:r>
                <a:r>
                  <a:rPr lang="zh-CN" altLang="en-US" dirty="0" smtClean="0">
                    <a:latin typeface="微软雅黑" panose="020B0503020204020204" pitchFamily="34" charset="-122"/>
                    <a:ea typeface="微软雅黑" panose="020B0503020204020204" pitchFamily="34" charset="-122"/>
                  </a:rPr>
                  <a:t>设</a:t>
                </a:r>
                <a14:m>
                  <m:oMath xmlns:m="http://schemas.openxmlformats.org/officeDocument/2006/math">
                    <m:acc>
                      <m:accPr>
                        <m:chr m:val="̂"/>
                        <m:ctrlPr>
                          <a:rPr lang="en-US" altLang="zh-CN" b="1" i="1">
                            <a:latin typeface="Cambria Math" panose="02040503050406030204" pitchFamily="18" charset="0"/>
                            <a:ea typeface="微软雅黑" panose="020B0503020204020204" pitchFamily="34" charset="-122"/>
                          </a:rPr>
                        </m:ctrlPr>
                      </m:accPr>
                      <m:e>
                        <m:r>
                          <a:rPr lang="en-US" altLang="zh-CN" b="1" i="1" smtClean="0">
                            <a:latin typeface="Cambria Math" panose="02040503050406030204" pitchFamily="18" charset="0"/>
                            <a:ea typeface="微软雅黑" panose="020B0503020204020204" pitchFamily="34" charset="-122"/>
                          </a:rPr>
                          <m:t>𝑱</m:t>
                        </m:r>
                      </m:e>
                    </m:acc>
                    <m:r>
                      <a:rPr lang="en-US" altLang="zh-CN" b="1" i="1" dirty="0">
                        <a:latin typeface="Cambria Math" panose="02040503050406030204" pitchFamily="18" charset="0"/>
                        <a:ea typeface="微软雅黑" panose="020B0503020204020204" pitchFamily="34" charset="-122"/>
                      </a:rPr>
                      <m:t>=</m:t>
                    </m:r>
                    <m:sSub>
                      <m:sSubPr>
                        <m:ctrlPr>
                          <a:rPr lang="en-US" altLang="zh-CN" b="1" i="1" dirty="0">
                            <a:latin typeface="Cambria Math" panose="02040503050406030204" pitchFamily="18" charset="0"/>
                            <a:ea typeface="微软雅黑" panose="020B0503020204020204" pitchFamily="34" charset="-122"/>
                          </a:rPr>
                        </m:ctrlPr>
                      </m:sSubPr>
                      <m:e>
                        <m:acc>
                          <m:accPr>
                            <m:chr m:val="̂"/>
                            <m:ctrlPr>
                              <a:rPr lang="en-US" altLang="zh-CN" b="1" i="1" dirty="0">
                                <a:latin typeface="Cambria Math" panose="02040503050406030204" pitchFamily="18" charset="0"/>
                                <a:ea typeface="微软雅黑" panose="020B0503020204020204" pitchFamily="34" charset="-122"/>
                              </a:rPr>
                            </m:ctrlPr>
                          </m:accPr>
                          <m:e>
                            <m:r>
                              <a:rPr lang="en-US" altLang="zh-CN" b="1" i="1" dirty="0" smtClean="0">
                                <a:latin typeface="Cambria Math" panose="02040503050406030204" pitchFamily="18" charset="0"/>
                                <a:ea typeface="微软雅黑" panose="020B0503020204020204" pitchFamily="34" charset="-122"/>
                              </a:rPr>
                              <m:t>𝑱</m:t>
                            </m:r>
                          </m:e>
                        </m:acc>
                      </m:e>
                      <m:sub>
                        <m:r>
                          <a:rPr lang="en-US" altLang="zh-CN" b="1" i="1" dirty="0">
                            <a:latin typeface="Cambria Math" panose="02040503050406030204" pitchFamily="18" charset="0"/>
                            <a:ea typeface="微软雅黑" panose="020B0503020204020204" pitchFamily="34" charset="-122"/>
                          </a:rPr>
                          <m:t>𝟏</m:t>
                        </m:r>
                      </m:sub>
                    </m:sSub>
                    <m:r>
                      <a:rPr lang="en-US" altLang="zh-CN" b="1" i="1" dirty="0">
                        <a:latin typeface="Cambria Math" panose="02040503050406030204" pitchFamily="18" charset="0"/>
                        <a:ea typeface="微软雅黑" panose="020B0503020204020204" pitchFamily="34" charset="-122"/>
                      </a:rPr>
                      <m:t>+</m:t>
                    </m:r>
                    <m:sSub>
                      <m:sSubPr>
                        <m:ctrlPr>
                          <a:rPr lang="en-US" altLang="zh-CN" b="1" i="1" dirty="0">
                            <a:latin typeface="Cambria Math" panose="02040503050406030204" pitchFamily="18" charset="0"/>
                            <a:ea typeface="微软雅黑" panose="020B0503020204020204" pitchFamily="34" charset="-122"/>
                          </a:rPr>
                        </m:ctrlPr>
                      </m:sSubPr>
                      <m:e>
                        <m:acc>
                          <m:accPr>
                            <m:chr m:val="̂"/>
                            <m:ctrlPr>
                              <a:rPr lang="en-US" altLang="zh-CN" b="1" i="1" dirty="0">
                                <a:latin typeface="Cambria Math" panose="02040503050406030204" pitchFamily="18" charset="0"/>
                                <a:ea typeface="微软雅黑" panose="020B0503020204020204" pitchFamily="34" charset="-122"/>
                              </a:rPr>
                            </m:ctrlPr>
                          </m:accPr>
                          <m:e>
                            <m:r>
                              <a:rPr lang="en-US" altLang="zh-CN" b="1" i="1" dirty="0" smtClean="0">
                                <a:latin typeface="Cambria Math" panose="02040503050406030204" pitchFamily="18" charset="0"/>
                                <a:ea typeface="微软雅黑" panose="020B0503020204020204" pitchFamily="34" charset="-122"/>
                              </a:rPr>
                              <m:t>𝑱</m:t>
                            </m:r>
                          </m:e>
                        </m:acc>
                      </m:e>
                      <m:sub>
                        <m:r>
                          <a:rPr lang="en-US" altLang="zh-CN" b="1" i="1" dirty="0">
                            <a:latin typeface="Cambria Math" panose="02040503050406030204" pitchFamily="18" charset="0"/>
                            <a:ea typeface="微软雅黑" panose="020B0503020204020204" pitchFamily="34" charset="-122"/>
                          </a:rPr>
                          <m:t>𝟐</m:t>
                        </m:r>
                      </m:sub>
                    </m:sSub>
                  </m:oMath>
                </a14:m>
                <a:r>
                  <a:rPr lang="zh-CN" altLang="en-US" dirty="0" smtClean="0">
                    <a:latin typeface="微软雅黑" panose="020B0503020204020204" pitchFamily="34" charset="-122"/>
                    <a:ea typeface="微软雅黑" panose="020B0503020204020204" pitchFamily="34" charset="-122"/>
                  </a:rPr>
                  <a:t>，验证对易关系</a:t>
                </a:r>
                <a:endParaRPr lang="en-US" altLang="zh-CN" dirty="0" smtClean="0">
                  <a:latin typeface="微软雅黑" panose="020B0503020204020204" pitchFamily="34" charset="-122"/>
                  <a:ea typeface="微软雅黑" panose="020B0503020204020204" pitchFamily="34" charset="-122"/>
                </a:endParaRPr>
              </a:p>
              <a:p>
                <a14:m>
                  <m:oMathPara xmlns:m="http://schemas.openxmlformats.org/officeDocument/2006/math">
                    <m:oMathParaPr>
                      <m:jc m:val="centerGroup"/>
                    </m:oMathParaPr>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sSup>
                            <m:sSupPr>
                              <m:ctrlPr>
                                <a:rPr lang="en-US" altLang="zh-CN" b="0" i="1" smtClean="0">
                                  <a:latin typeface="Cambria Math" panose="02040503050406030204" pitchFamily="18" charset="0"/>
                                  <a:ea typeface="微软雅黑" panose="020B0503020204020204" pitchFamily="34" charset="-122"/>
                                </a:rPr>
                              </m:ctrlPr>
                            </m:sSup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𝐽</m:t>
                                  </m:r>
                                </m:e>
                              </m:acc>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acc>
                                <m:accPr>
                                  <m:chr m:val="̂"/>
                                  <m:ctrlPr>
                                    <a:rPr lang="en-US" altLang="zh-CN" b="0" i="1" smtClean="0">
                                      <a:latin typeface="Cambria Math" panose="02040503050406030204" pitchFamily="18" charset="0"/>
                                      <a:ea typeface="微软雅黑" panose="020B0503020204020204" pitchFamily="34" charset="-122"/>
                                    </a:rPr>
                                  </m:ctrlPr>
                                </m:accPr>
                                <m:e>
                                  <m:r>
                                    <a:rPr lang="en-US" altLang="zh-CN" b="0" i="1" smtClean="0">
                                      <a:latin typeface="Cambria Math" panose="02040503050406030204" pitchFamily="18" charset="0"/>
                                      <a:ea typeface="微软雅黑" panose="020B0503020204020204" pitchFamily="34" charset="-122"/>
                                    </a:rPr>
                                    <m:t>𝐽</m:t>
                                  </m:r>
                                </m:e>
                              </m:acc>
                            </m:e>
                            <m:sub>
                              <m:r>
                                <a:rPr lang="en-US" altLang="zh-CN" b="0" i="1" smtClean="0">
                                  <a:latin typeface="Cambria Math" panose="02040503050406030204" pitchFamily="18" charset="0"/>
                                  <a:ea typeface="微软雅黑" panose="020B0503020204020204" pitchFamily="34" charset="-122"/>
                                </a:rPr>
                                <m:t>𝑧</m:t>
                              </m:r>
                            </m:sub>
                          </m:sSub>
                        </m:e>
                      </m:d>
                      <m:r>
                        <a:rPr lang="en-US" altLang="zh-CN" b="0" i="1" smtClean="0">
                          <a:latin typeface="Cambria Math" panose="02040503050406030204" pitchFamily="18" charset="0"/>
                          <a:ea typeface="微软雅黑" panose="020B0503020204020204" pitchFamily="34" charset="-122"/>
                        </a:rPr>
                        <m:t>=0,  </m:t>
                      </m:r>
                      <m:d>
                        <m:dPr>
                          <m:begChr m:val="["/>
                          <m:endChr m:val="]"/>
                          <m:ctrlPr>
                            <a:rPr lang="en-US" altLang="zh-CN" b="0" i="1" smtClean="0">
                              <a:latin typeface="Cambria Math" panose="02040503050406030204" pitchFamily="18" charset="0"/>
                              <a:ea typeface="微软雅黑" panose="020B0503020204020204" pitchFamily="34" charset="-122"/>
                            </a:rPr>
                          </m:ctrlPr>
                        </m:dPr>
                        <m:e>
                          <m:sSup>
                            <m:sSupPr>
                              <m:ctrlPr>
                                <a:rPr lang="en-US" altLang="zh-CN" i="1">
                                  <a:latin typeface="Cambria Math" panose="02040503050406030204" pitchFamily="18" charset="0"/>
                                  <a:ea typeface="微软雅黑" panose="020B0503020204020204" pitchFamily="34" charset="-122"/>
                                </a:rPr>
                              </m:ctrlPr>
                            </m:sSupPr>
                            <m:e>
                              <m:acc>
                                <m:accPr>
                                  <m:chr m:val="̂"/>
                                  <m:ctrlPr>
                                    <a:rPr lang="en-US" altLang="zh-CN" i="1">
                                      <a:latin typeface="Cambria Math" panose="02040503050406030204" pitchFamily="18" charset="0"/>
                                      <a:ea typeface="微软雅黑" panose="020B0503020204020204" pitchFamily="34" charset="-122"/>
                                    </a:rPr>
                                  </m:ctrlPr>
                                </m:accPr>
                                <m:e>
                                  <m:r>
                                    <a:rPr lang="en-US" altLang="zh-CN" i="1">
                                      <a:latin typeface="Cambria Math" panose="02040503050406030204" pitchFamily="18" charset="0"/>
                                      <a:ea typeface="微软雅黑" panose="020B0503020204020204" pitchFamily="34" charset="-122"/>
                                    </a:rPr>
                                    <m:t>𝐽</m:t>
                                  </m:r>
                                </m:e>
                              </m:acc>
                            </m:e>
                            <m:sup>
                              <m:r>
                                <a:rPr lang="en-US" altLang="zh-CN" i="1">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 </m:t>
                          </m:r>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𝐽</m:t>
                              </m:r>
                            </m:e>
                            <m:sub>
                              <m:r>
                                <a:rPr lang="en-US" altLang="zh-CN" b="0" i="1" smtClean="0">
                                  <a:latin typeface="Cambria Math" panose="02040503050406030204" pitchFamily="18" charset="0"/>
                                  <a:ea typeface="微软雅黑" panose="020B0503020204020204" pitchFamily="34" charset="-122"/>
                                </a:rPr>
                                <m:t>1</m:t>
                              </m:r>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2</m:t>
                                  </m:r>
                                </m:e>
                              </m:d>
                            </m:sub>
                            <m:sup>
                              <m:r>
                                <a:rPr lang="en-US" altLang="zh-CN" b="0" i="1" smtClean="0">
                                  <a:latin typeface="Cambria Math" panose="02040503050406030204" pitchFamily="18" charset="0"/>
                                  <a:ea typeface="微软雅黑" panose="020B0503020204020204" pitchFamily="34" charset="-122"/>
                                </a:rPr>
                                <m:t>2</m:t>
                              </m:r>
                            </m:sup>
                          </m:sSubSup>
                        </m:e>
                      </m:d>
                      <m:r>
                        <a:rPr lang="en-US" altLang="zh-CN" b="0" i="1" smtClean="0">
                          <a:latin typeface="Cambria Math" panose="02040503050406030204" pitchFamily="18" charset="0"/>
                          <a:ea typeface="微软雅黑" panose="020B0503020204020204" pitchFamily="34" charset="-122"/>
                        </a:rPr>
                        <m:t>=0</m:t>
                      </m:r>
                    </m:oMath>
                  </m:oMathPara>
                </a14:m>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2</a:t>
                </a:r>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证明</a:t>
                </a:r>
                <a14:m>
                  <m:oMath xmlns:m="http://schemas.openxmlformats.org/officeDocument/2006/math">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r>
                      <a:rPr lang="en-US" altLang="zh-CN" i="1">
                        <a:latin typeface="Cambria Math" panose="02040503050406030204" pitchFamily="18" charset="0"/>
                        <a:ea typeface="微软雅黑" panose="020B0503020204020204" pitchFamily="34" charset="-122"/>
                      </a:rPr>
                      <m:t>+</m:t>
                    </m:r>
                    <m:d>
                      <m:dPr>
                        <m:begChr m:val="|"/>
                        <m:endChr m:val="⟩"/>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m:t>
                        </m:r>
                      </m:e>
                    </m:d>
                  </m:oMath>
                </a14:m>
                <a:r>
                  <a:rPr lang="zh-CN" altLang="en-US" dirty="0" smtClean="0">
                    <a:latin typeface="微软雅黑" panose="020B0503020204020204" pitchFamily="34" charset="-122"/>
                    <a:ea typeface="微软雅黑" panose="020B0503020204020204" pitchFamily="34" charset="-122"/>
                  </a:rPr>
                  <a:t>不能写成直积态</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（提示：可以用反证法，设</a:t>
                </a:r>
                <a14:m>
                  <m:oMath xmlns:m="http://schemas.openxmlformats.org/officeDocument/2006/math">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1</m:t>
                        </m:r>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11</m:t>
                        </m:r>
                      </m:sub>
                    </m:sSub>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12</m:t>
                        </m:r>
                      </m:sub>
                    </m:sSub>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 </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2</m:t>
                        </m:r>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21</m:t>
                        </m:r>
                      </m:sub>
                    </m:sSub>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m:t>
                        </m:r>
                      </m:e>
                    </m:d>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𝑐</m:t>
                        </m:r>
                      </m:e>
                      <m:sub>
                        <m:r>
                          <a:rPr lang="en-US" altLang="zh-CN" b="0" i="1" smtClean="0">
                            <a:latin typeface="Cambria Math" panose="02040503050406030204" pitchFamily="18" charset="0"/>
                            <a:ea typeface="微软雅黑" panose="020B0503020204020204" pitchFamily="34" charset="-122"/>
                          </a:rPr>
                          <m:t>22</m:t>
                        </m:r>
                      </m:sub>
                    </m:sSub>
                    <m:r>
                      <a:rPr lang="en-US" altLang="zh-CN" b="0" i="1" smtClean="0">
                        <a:latin typeface="Cambria Math" panose="02040503050406030204" pitchFamily="18" charset="0"/>
                        <a:ea typeface="微软雅黑" panose="020B0503020204020204" pitchFamily="34" charset="-122"/>
                      </a:rPr>
                      <m:t>|−⟩</m:t>
                    </m:r>
                  </m:oMath>
                </a14:m>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3. </a:t>
                </a:r>
                <a:r>
                  <a:rPr lang="zh-CN" altLang="en-US" dirty="0" smtClean="0">
                    <a:latin typeface="微软雅黑" panose="020B0503020204020204" pitchFamily="34" charset="-122"/>
                    <a:ea typeface="微软雅黑" panose="020B0503020204020204" pitchFamily="34" charset="-122"/>
                  </a:rPr>
                  <a:t>根据克罗内克积定义，计算</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𝜎</m:t>
                        </m:r>
                      </m:e>
                      <m:sub>
                        <m:r>
                          <a:rPr lang="en-US" altLang="zh-CN" b="0" i="1" smtClean="0">
                            <a:latin typeface="Cambria Math" panose="02040503050406030204" pitchFamily="18" charset="0"/>
                            <a:ea typeface="微软雅黑" panose="020B0503020204020204" pitchFamily="34" charset="-122"/>
                          </a:rPr>
                          <m:t>𝑥</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𝜎</m:t>
                        </m:r>
                      </m:e>
                      <m:sub>
                        <m:r>
                          <a:rPr lang="en-US" altLang="zh-CN" b="0" i="1" smtClean="0">
                            <a:latin typeface="Cambria Math" panose="02040503050406030204" pitchFamily="18" charset="0"/>
                            <a:ea typeface="微软雅黑" panose="020B0503020204020204" pitchFamily="34" charset="-122"/>
                          </a:rPr>
                          <m:t>𝑥</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𝜎</m:t>
                        </m:r>
                      </m:e>
                      <m:sub>
                        <m:r>
                          <a:rPr lang="en-US" altLang="zh-CN" b="0" i="1" smtClean="0">
                            <a:latin typeface="Cambria Math" panose="02040503050406030204" pitchFamily="18" charset="0"/>
                            <a:ea typeface="微软雅黑" panose="020B0503020204020204" pitchFamily="34" charset="-122"/>
                          </a:rPr>
                          <m:t>𝑦</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𝜎</m:t>
                        </m:r>
                      </m:e>
                      <m:sub>
                        <m:r>
                          <a:rPr lang="en-US" altLang="zh-CN" b="0" i="1" smtClean="0">
                            <a:latin typeface="Cambria Math" panose="02040503050406030204" pitchFamily="18" charset="0"/>
                            <a:ea typeface="微软雅黑" panose="020B0503020204020204" pitchFamily="34" charset="-122"/>
                          </a:rPr>
                          <m:t>𝑦</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𝜎</m:t>
                        </m:r>
                      </m:e>
                      <m:sub>
                        <m:r>
                          <a:rPr lang="en-US" altLang="zh-CN" b="0" i="1" smtClean="0">
                            <a:latin typeface="Cambria Math" panose="02040503050406030204" pitchFamily="18" charset="0"/>
                            <a:ea typeface="微软雅黑" panose="020B0503020204020204" pitchFamily="34" charset="-122"/>
                          </a:rPr>
                          <m:t>𝑧</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𝜎</m:t>
                        </m:r>
                      </m:e>
                      <m:sub>
                        <m:r>
                          <a:rPr lang="en-US" altLang="zh-CN" b="0" i="1" smtClean="0">
                            <a:latin typeface="Cambria Math" panose="02040503050406030204" pitchFamily="18" charset="0"/>
                            <a:ea typeface="微软雅黑" panose="020B0503020204020204" pitchFamily="34" charset="-122"/>
                          </a:rPr>
                          <m:t>𝑧</m:t>
                        </m:r>
                      </m:sub>
                    </m:sSub>
                  </m:oMath>
                </a14:m>
                <a:endParaRPr lang="en-US" altLang="zh-CN" dirty="0" smtClean="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*4. </a:t>
                </a:r>
                <a:r>
                  <a:rPr lang="zh-CN" altLang="en-US" dirty="0" smtClean="0">
                    <a:latin typeface="微软雅黑" panose="020B0503020204020204" pitchFamily="34" charset="-122"/>
                    <a:ea typeface="微软雅黑" panose="020B0503020204020204" pitchFamily="34" charset="-122"/>
                  </a:rPr>
                  <a:t>证明</a:t>
                </a:r>
                <a14:m>
                  <m:oMath xmlns:m="http://schemas.openxmlformats.org/officeDocument/2006/math">
                    <m:sSup>
                      <m:sSupPr>
                        <m:ctrlPr>
                          <a:rPr lang="en-US" altLang="zh-CN" b="1" i="1" smtClean="0">
                            <a:latin typeface="Cambria Math" panose="02040503050406030204" pitchFamily="18" charset="0"/>
                            <a:ea typeface="微软雅黑" panose="020B0503020204020204" pitchFamily="34" charset="-122"/>
                          </a:rPr>
                        </m:ctrlPr>
                      </m:sSupPr>
                      <m:e>
                        <m:acc>
                          <m:accPr>
                            <m:chr m:val="̂"/>
                            <m:ctrlPr>
                              <a:rPr lang="en-US" altLang="zh-CN" b="1" i="1">
                                <a:latin typeface="Cambria Math" panose="02040503050406030204" pitchFamily="18" charset="0"/>
                                <a:ea typeface="微软雅黑" panose="020B0503020204020204" pitchFamily="34" charset="-122"/>
                              </a:rPr>
                            </m:ctrlPr>
                          </m:accPr>
                          <m:e>
                            <m:r>
                              <a:rPr lang="en-US" altLang="zh-CN" b="1" i="1">
                                <a:latin typeface="Cambria Math" panose="02040503050406030204" pitchFamily="18" charset="0"/>
                                <a:ea typeface="微软雅黑" panose="020B0503020204020204" pitchFamily="34" charset="-122"/>
                              </a:rPr>
                              <m:t>𝑱</m:t>
                            </m:r>
                          </m:e>
                        </m:acc>
                      </m:e>
                      <m:sup>
                        <m:r>
                          <a:rPr lang="en-US" altLang="zh-CN" b="1" i="1" smtClean="0">
                            <a:latin typeface="Cambria Math" panose="02040503050406030204" pitchFamily="18" charset="0"/>
                            <a:ea typeface="微软雅黑" panose="020B0503020204020204" pitchFamily="34" charset="-122"/>
                          </a:rPr>
                          <m:t>𝟐</m:t>
                        </m:r>
                      </m:sup>
                    </m:sSup>
                  </m:oMath>
                </a14:m>
                <a:r>
                  <a:rPr lang="zh-CN" altLang="en-US" dirty="0" smtClean="0">
                    <a:latin typeface="微软雅黑" panose="020B0503020204020204" pitchFamily="34" charset="-122"/>
                    <a:ea typeface="微软雅黑" panose="020B0503020204020204" pitchFamily="34" charset="-122"/>
                  </a:rPr>
                  <a:t>角动量量子数</a:t>
                </a:r>
                <a14:m>
                  <m:oMath xmlns:m="http://schemas.openxmlformats.org/officeDocument/2006/math">
                    <m:r>
                      <a:rPr lang="en-US" altLang="zh-CN" b="0" i="1" dirty="0" smtClean="0">
                        <a:latin typeface="Cambria Math" panose="02040503050406030204" pitchFamily="18" charset="0"/>
                        <a:ea typeface="微软雅黑" panose="020B0503020204020204" pitchFamily="34" charset="-122"/>
                      </a:rPr>
                      <m:t>𝑗</m:t>
                    </m:r>
                  </m:oMath>
                </a14:m>
                <a:r>
                  <a:rPr lang="zh-CN" altLang="en-US" dirty="0" smtClean="0">
                    <a:latin typeface="微软雅黑" panose="020B0503020204020204" pitchFamily="34" charset="-122"/>
                    <a:ea typeface="微软雅黑" panose="020B0503020204020204" pitchFamily="34" charset="-122"/>
                  </a:rPr>
                  <a:t>取值只能取</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𝑗</m:t>
                    </m:r>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 </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−1, …,</m:t>
                    </m:r>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e>
                    </m:d>
                  </m:oMath>
                </a14:m>
                <a:endParaRPr lang="en-US" altLang="zh-CN" dirty="0">
                  <a:latin typeface="微软雅黑" panose="020B0503020204020204" pitchFamily="34" charset="-122"/>
                  <a:ea typeface="微软雅黑" panose="020B0503020204020204" pitchFamily="34"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199551" y="3224685"/>
                <a:ext cx="11885611" cy="2852769"/>
              </a:xfrm>
              <a:prstGeom prst="rect">
                <a:avLst/>
              </a:prstGeom>
              <a:blipFill rotWithShape="0">
                <a:blip r:embed="rId5"/>
                <a:stretch>
                  <a:fillRect l="-564" b="-27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58316030"/>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cs typeface="等线" panose="02010600030101010101" charset="-122"/>
                <a:sym typeface="+mn-ea"/>
              </a:rPr>
              <a:t>Conclusion</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3" name="文本框 2"/>
          <p:cNvSpPr txBox="1"/>
          <p:nvPr/>
        </p:nvSpPr>
        <p:spPr>
          <a:xfrm>
            <a:off x="240469" y="1072661"/>
            <a:ext cx="11433884" cy="5324535"/>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量子力学部分到此完结，尽管已经介绍了相当多的内容，也还只是量子世界里的冰山一角</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我们着重讨论了量子力学的数学基础，自旋以及角动量相关理论，主要是熟悉量子力学语言，以及了解量子力学与经典力学没有去求解薛定谔方程，也没有在这一部分里对连续谱和位置表象下的波函数做讨论，这一部分在量子化学部分里会频繁出现</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还有两个我认为比较重要但与后续内容关系不那么大的内容。一个是从含时薛定谔方程出发，讨论传播子形式，薛定谔绘景、海森堡绘景以及相互作用绘景。这是讨论量子动力学，以及含时微扰理论的基础；另一个是从对称性的角度出发重构量子力学语言。这实际上就是前面所假定的一些对易关系（如角动量对易关系，正则对易关系）的等价表述，但对称性所包含的内容显然要更加深刻丰富。深刻理解对称性群论和群表示论是必须掌握的数学语言。</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还有一个部分我们有提及但没有深入讨论，即量子测量与量子计算，这实际上是量子力学发展过程中一个非常关键且在历史上有过激烈争论的领域。目前量子计算也是一个热门的研究方向。</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最后，如果对量子力学的其余内容还有兴趣，可以参阅提供的参考文献，旁听量子力学课程，包括但不限于物理开设的量子力学</a:t>
            </a:r>
            <a:r>
              <a:rPr lang="en-US" altLang="zh-CN" sz="2000" dirty="0" smtClean="0">
                <a:latin typeface="微软雅黑" panose="020B0503020204020204" pitchFamily="34" charset="-122"/>
                <a:ea typeface="微软雅黑" panose="020B0503020204020204" pitchFamily="34" charset="-122"/>
              </a:rPr>
              <a:t>I</a:t>
            </a:r>
            <a:r>
              <a:rPr lang="zh-CN" altLang="en-US" sz="2000" dirty="0" smtClean="0">
                <a:latin typeface="微软雅黑" panose="020B0503020204020204" pitchFamily="34" charset="-122"/>
                <a:ea typeface="微软雅黑" panose="020B0503020204020204" pitchFamily="34" charset="-122"/>
              </a:rPr>
              <a:t>和</a:t>
            </a:r>
            <a:r>
              <a:rPr lang="en-US" altLang="zh-CN" sz="2000" dirty="0" smtClean="0">
                <a:latin typeface="微软雅黑" panose="020B0503020204020204" pitchFamily="34" charset="-122"/>
                <a:ea typeface="微软雅黑" panose="020B0503020204020204" pitchFamily="34" charset="-122"/>
              </a:rPr>
              <a:t>II</a:t>
            </a:r>
            <a:r>
              <a:rPr lang="zh-CN" altLang="en-US" sz="2000" dirty="0" smtClean="0">
                <a:latin typeface="微软雅黑" panose="020B0503020204020204" pitchFamily="34" charset="-122"/>
                <a:ea typeface="微软雅黑" panose="020B0503020204020204" pitchFamily="34" charset="-122"/>
              </a:rPr>
              <a:t>，以及学院在大三秋期开设的选修课</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中级物理化学</a:t>
            </a:r>
            <a:r>
              <a:rPr lang="en-US" altLang="zh-CN" sz="2000" dirty="0" smtClean="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249737881"/>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787414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Complement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mc:AlternateContent xmlns:mc="http://schemas.openxmlformats.org/markup-compatibility/2006">
        <mc:Choice xmlns:a14="http://schemas.microsoft.com/office/drawing/2010/main" Requires="a14">
          <p:sp>
            <p:nvSpPr>
              <p:cNvPr id="2" name="文本框 1"/>
              <p:cNvSpPr txBox="1"/>
              <p:nvPr/>
            </p:nvSpPr>
            <p:spPr>
              <a:xfrm>
                <a:off x="540385" y="1084939"/>
                <a:ext cx="11882097" cy="5398978"/>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对总角动量量子数</a:t>
                </a:r>
                <a14:m>
                  <m:oMath xmlns:m="http://schemas.openxmlformats.org/officeDocument/2006/math">
                    <m:r>
                      <a:rPr lang="en-US" altLang="zh-CN" b="0" i="1" smtClean="0">
                        <a:latin typeface="Cambria Math" panose="02040503050406030204" pitchFamily="18" charset="0"/>
                      </a:rPr>
                      <m:t>𝑗</m:t>
                    </m:r>
                  </m:oMath>
                </a14:m>
                <a:r>
                  <a:rPr lang="zh-CN" altLang="en-US" dirty="0" smtClean="0">
                    <a:latin typeface="微软雅黑" panose="020B0503020204020204" pitchFamily="34" charset="-122"/>
                    <a:ea typeface="微软雅黑" panose="020B0503020204020204" pitchFamily="34" charset="-122"/>
                  </a:rPr>
                  <a:t>，在前面已提到过最大只能取到</a:t>
                </a:r>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𝑗</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𝑗</m:t>
                        </m:r>
                      </m:e>
                      <m:sub>
                        <m:r>
                          <a:rPr lang="en-US" altLang="zh-CN" b="0" i="1" smtClean="0">
                            <a:latin typeface="Cambria Math" panose="02040503050406030204" pitchFamily="18" charset="0"/>
                          </a:rPr>
                          <m:t>2</m:t>
                        </m:r>
                      </m:sub>
                    </m:sSub>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在张量积空间</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𝐻</m:t>
                        </m:r>
                      </m:e>
                      <m: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sub>
                    </m:sSub>
                  </m:oMath>
                </a14:m>
                <a:r>
                  <a:rPr lang="zh-CN" altLang="en-US" dirty="0" smtClean="0">
                    <a:latin typeface="微软雅黑" panose="020B0503020204020204" pitchFamily="34" charset="-122"/>
                    <a:ea typeface="微软雅黑" panose="020B0503020204020204" pitchFamily="34" charset="-122"/>
                  </a:rPr>
                  <a:t>中，</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a:rPr lang="en-US" altLang="zh-CN" i="1">
                                <a:latin typeface="Cambria Math" panose="02040503050406030204" pitchFamily="18" charset="0"/>
                                <a:ea typeface="微软雅黑" panose="020B0503020204020204" pitchFamily="34" charset="-122"/>
                              </a:rPr>
                              <m:t>1</m:t>
                            </m:r>
                          </m:sub>
                        </m:sSub>
                      </m:sub>
                    </m:sSub>
                  </m:oMath>
                </a14:m>
                <a:r>
                  <a:rPr lang="zh-CN" altLang="en-US" dirty="0" smtClean="0">
                    <a:latin typeface="微软雅黑" panose="020B0503020204020204" pitchFamily="34" charset="-122"/>
                    <a:ea typeface="微软雅黑" panose="020B0503020204020204" pitchFamily="34" charset="-122"/>
                  </a:rPr>
                  <a:t>一共有</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2</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+1</m:t>
                    </m:r>
                  </m:oMath>
                </a14:m>
                <a:r>
                  <a:rPr lang="zh-CN" altLang="en-US" dirty="0" smtClean="0">
                    <a:latin typeface="微软雅黑" panose="020B0503020204020204" pitchFamily="34" charset="-122"/>
                    <a:ea typeface="微软雅黑" panose="020B0503020204020204" pitchFamily="34" charset="-122"/>
                  </a:rPr>
                  <a:t>个基（</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𝑚</m:t>
                        </m:r>
                      </m:e>
                      <m: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sub>
                    </m:sSub>
                  </m:oMath>
                </a14:m>
                <a:r>
                  <a:rPr lang="zh-CN" altLang="en-US" dirty="0" smtClean="0">
                    <a:latin typeface="微软雅黑" panose="020B0503020204020204" pitchFamily="34" charset="-122"/>
                    <a:ea typeface="微软雅黑" panose="020B0503020204020204" pitchFamily="34" charset="-122"/>
                  </a:rPr>
                  <a:t>从</a:t>
                </a:r>
                <a14:m>
                  <m:oMath xmlns:m="http://schemas.openxmlformats.org/officeDocument/2006/math">
                    <m:r>
                      <a:rPr lang="en-US" altLang="zh-CN" b="0" i="1" dirty="0" smtClean="0">
                        <a:latin typeface="Cambria Math" panose="02040503050406030204" pitchFamily="18" charset="0"/>
                        <a:ea typeface="微软雅黑" panose="020B0503020204020204" pitchFamily="34" charset="-122"/>
                      </a:rPr>
                      <m:t>−</m:t>
                    </m:r>
                    <m:sSub>
                      <m:sSubPr>
                        <m:ctrlPr>
                          <a:rPr lang="en-US" altLang="zh-CN" b="0"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𝑗</m:t>
                        </m:r>
                      </m:e>
                      <m:sub>
                        <m:r>
                          <a:rPr lang="en-US" altLang="zh-CN" b="0" i="1" dirty="0" smtClean="0">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取到</a:t>
                </a:r>
                <a14:m>
                  <m:oMath xmlns:m="http://schemas.openxmlformats.org/officeDocument/2006/math">
                    <m:sSub>
                      <m:sSubPr>
                        <m:ctrlPr>
                          <a:rPr lang="en-US" altLang="zh-CN" i="1" dirty="0">
                            <a:latin typeface="Cambria Math" panose="02040503050406030204" pitchFamily="18" charset="0"/>
                            <a:ea typeface="微软雅黑" panose="020B0503020204020204" pitchFamily="34" charset="-122"/>
                          </a:rPr>
                        </m:ctrlPr>
                      </m:sSubPr>
                      <m:e>
                        <m:r>
                          <a:rPr lang="en-US" altLang="zh-CN" i="1" dirty="0">
                            <a:latin typeface="Cambria Math" panose="02040503050406030204" pitchFamily="18" charset="0"/>
                            <a:ea typeface="微软雅黑" panose="020B0503020204020204" pitchFamily="34" charset="-122"/>
                          </a:rPr>
                          <m:t>𝑗</m:t>
                        </m:r>
                      </m:e>
                      <m:sub>
                        <m:r>
                          <a:rPr lang="en-US" altLang="zh-CN" i="1" dirty="0">
                            <a:latin typeface="Cambria Math" panose="02040503050406030204" pitchFamily="18" charset="0"/>
                            <a:ea typeface="微软雅黑" panose="020B0503020204020204" pitchFamily="34" charset="-122"/>
                          </a:rPr>
                          <m:t>1</m:t>
                        </m:r>
                      </m:sub>
                    </m:sSub>
                  </m:oMath>
                </a14:m>
                <a:r>
                  <a:rPr lang="zh-CN" altLang="en-US" dirty="0" smtClean="0">
                    <a:latin typeface="微软雅黑" panose="020B0503020204020204" pitchFamily="34" charset="-122"/>
                    <a:ea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rPr>
                  <a:t>,</a:t>
                </a:r>
                <a:r>
                  <a:rPr lang="en-US" altLang="zh-CN" dirty="0">
                    <a:ea typeface="微软雅黑" panose="020B0503020204020204" pitchFamily="34" charset="-122"/>
                  </a:rPr>
                  <a:t> </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sub>
                    </m:sSub>
                  </m:oMath>
                </a14:m>
                <a:r>
                  <a:rPr lang="zh-CN" altLang="en-US" dirty="0">
                    <a:latin typeface="微软雅黑" panose="020B0503020204020204" pitchFamily="34" charset="-122"/>
                    <a:ea typeface="微软雅黑" panose="020B0503020204020204" pitchFamily="34" charset="-122"/>
                  </a:rPr>
                  <a:t>一共有</a:t>
                </a:r>
                <a14:m>
                  <m:oMath xmlns:m="http://schemas.openxmlformats.org/officeDocument/2006/math">
                    <m:r>
                      <a:rPr lang="en-US" altLang="zh-CN" i="1">
                        <a:latin typeface="Cambria Math" panose="02040503050406030204" pitchFamily="18" charset="0"/>
                        <a:ea typeface="微软雅黑" panose="020B0503020204020204" pitchFamily="34" charset="-122"/>
                      </a:rPr>
                      <m:t>2</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r>
                      <a:rPr lang="en-US" altLang="zh-CN" i="1">
                        <a:latin typeface="Cambria Math" panose="02040503050406030204" pitchFamily="18" charset="0"/>
                        <a:ea typeface="微软雅黑" panose="020B0503020204020204" pitchFamily="34" charset="-122"/>
                      </a:rPr>
                      <m:t>+1</m:t>
                    </m:r>
                  </m:oMath>
                </a14:m>
                <a:r>
                  <a:rPr lang="zh-CN" altLang="en-US" dirty="0">
                    <a:latin typeface="微软雅黑" panose="020B0503020204020204" pitchFamily="34" charset="-122"/>
                    <a:ea typeface="微软雅黑" panose="020B0503020204020204" pitchFamily="34" charset="-122"/>
                  </a:rPr>
                  <a:t>个</a:t>
                </a:r>
                <a:r>
                  <a:rPr lang="zh-CN" altLang="en-US" dirty="0" smtClean="0">
                    <a:latin typeface="微软雅黑" panose="020B0503020204020204" pitchFamily="34" charset="-122"/>
                    <a:ea typeface="微软雅黑" panose="020B0503020204020204" pitchFamily="34" charset="-122"/>
                  </a:rPr>
                  <a:t>基</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a:rPr lang="en-US" altLang="zh-CN" i="1">
                                <a:latin typeface="Cambria Math" panose="02040503050406030204" pitchFamily="18" charset="0"/>
                                <a:ea typeface="微软雅黑" panose="020B0503020204020204" pitchFamily="34" charset="-122"/>
                              </a:rPr>
                              <m:t>1</m:t>
                            </m:r>
                          </m:sub>
                        </m:sSub>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𝐻</m:t>
                        </m:r>
                      </m:e>
                      <m:sub>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a:rPr lang="en-US" altLang="zh-CN" i="1">
                                <a:latin typeface="Cambria Math" panose="02040503050406030204" pitchFamily="18" charset="0"/>
                                <a:ea typeface="微软雅黑" panose="020B0503020204020204" pitchFamily="34" charset="-122"/>
                              </a:rPr>
                              <m:t>2</m:t>
                            </m:r>
                          </m:sub>
                        </m:sSub>
                      </m:sub>
                    </m:sSub>
                  </m:oMath>
                </a14:m>
                <a:r>
                  <a:rPr lang="zh-CN" altLang="en-US" dirty="0" smtClean="0">
                    <a:latin typeface="微软雅黑" panose="020B0503020204020204" pitchFamily="34" charset="-122"/>
                    <a:ea typeface="微软雅黑" panose="020B0503020204020204" pitchFamily="34" charset="-122"/>
                  </a:rPr>
                  <a:t>一共有</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(2</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+1)(2</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+1)</m:t>
                    </m:r>
                  </m:oMath>
                </a14:m>
                <a:r>
                  <a:rPr lang="zh-CN" altLang="en-US" dirty="0" smtClean="0">
                    <a:latin typeface="微软雅黑" panose="020B0503020204020204" pitchFamily="34" charset="-122"/>
                    <a:ea typeface="微软雅黑" panose="020B0503020204020204" pitchFamily="34" charset="-122"/>
                  </a:rPr>
                  <a:t>个基</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换</a:t>
                </a:r>
                <a:r>
                  <a:rPr lang="zh-CN" altLang="en-US" dirty="0" smtClean="0">
                    <a:latin typeface="微软雅黑" panose="020B0503020204020204" pitchFamily="34" charset="-122"/>
                    <a:ea typeface="微软雅黑" panose="020B0503020204020204" pitchFamily="34" charset="-122"/>
                  </a:rPr>
                  <a:t>到耦合表象下，设</a:t>
                </a:r>
                <a14:m>
                  <m:oMath xmlns:m="http://schemas.openxmlformats.org/officeDocument/2006/math">
                    <m:r>
                      <a:rPr lang="en-US" altLang="zh-CN" i="1">
                        <a:latin typeface="Cambria Math" panose="02040503050406030204" pitchFamily="18" charset="0"/>
                      </a:rPr>
                      <m:t>𝑗</m:t>
                    </m:r>
                  </m:oMath>
                </a14:m>
                <a:r>
                  <a:rPr lang="zh-CN" altLang="en-US" dirty="0" smtClean="0">
                    <a:latin typeface="微软雅黑" panose="020B0503020204020204" pitchFamily="34" charset="-122"/>
                    <a:ea typeface="微软雅黑" panose="020B0503020204020204" pitchFamily="34" charset="-122"/>
                  </a:rPr>
                  <a:t>最小取</a:t>
                </a:r>
                <a14:m>
                  <m:oMath xmlns:m="http://schemas.openxmlformats.org/officeDocument/2006/math">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m:rPr>
                            <m:sty m:val="p"/>
                          </m:rPr>
                          <a:rPr lang="en-US" altLang="zh-CN" i="0">
                            <a:latin typeface="Cambria Math" panose="02040503050406030204" pitchFamily="18" charset="0"/>
                            <a:ea typeface="微软雅黑" panose="020B0503020204020204" pitchFamily="34" charset="-122"/>
                          </a:rPr>
                          <m:t>min</m:t>
                        </m:r>
                      </m:sub>
                    </m:sSub>
                  </m:oMath>
                </a14:m>
                <a:r>
                  <a:rPr lang="zh-CN" altLang="en-US" dirty="0" smtClean="0">
                    <a:latin typeface="微软雅黑" panose="020B0503020204020204" pitchFamily="34" charset="-122"/>
                    <a:ea typeface="微软雅黑" panose="020B0503020204020204" pitchFamily="34" charset="-122"/>
                  </a:rPr>
                  <a:t>，对每个</a:t>
                </a:r>
                <a14:m>
                  <m:oMath xmlns:m="http://schemas.openxmlformats.org/officeDocument/2006/math">
                    <m:r>
                      <a:rPr lang="en-US" altLang="zh-CN" i="1">
                        <a:latin typeface="Cambria Math" panose="02040503050406030204" pitchFamily="18" charset="0"/>
                      </a:rPr>
                      <m:t>𝑗</m:t>
                    </m:r>
                  </m:oMath>
                </a14:m>
                <a:r>
                  <a:rPr lang="zh-CN" altLang="en-US" dirty="0" smtClean="0">
                    <a:latin typeface="微软雅黑" panose="020B0503020204020204" pitchFamily="34" charset="-122"/>
                    <a:ea typeface="微软雅黑" panose="020B0503020204020204" pitchFamily="34" charset="-122"/>
                  </a:rPr>
                  <a:t>，基的取值都有</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(2</m:t>
                    </m:r>
                    <m:r>
                      <a:rPr lang="en-US" altLang="zh-CN" b="0" i="1" smtClean="0">
                        <a:latin typeface="Cambria Math" panose="02040503050406030204" pitchFamily="18" charset="0"/>
                        <a:ea typeface="微软雅黑" panose="020B0503020204020204" pitchFamily="34" charset="-122"/>
                      </a:rPr>
                      <m:t>𝑗</m:t>
                    </m:r>
                    <m:r>
                      <a:rPr lang="en-US" altLang="zh-CN" b="0" i="1" smtClean="0">
                        <a:latin typeface="Cambria Math" panose="02040503050406030204" pitchFamily="18" charset="0"/>
                        <a:ea typeface="微软雅黑" panose="020B0503020204020204" pitchFamily="34" charset="-122"/>
                      </a:rPr>
                      <m:t>+1)</m:t>
                    </m:r>
                  </m:oMath>
                </a14:m>
                <a:r>
                  <a:rPr lang="zh-CN" altLang="en-US" dirty="0" smtClean="0">
                    <a:latin typeface="微软雅黑" panose="020B0503020204020204" pitchFamily="34" charset="-122"/>
                    <a:ea typeface="微软雅黑" panose="020B0503020204020204" pitchFamily="34" charset="-122"/>
                  </a:rPr>
                  <a:t>个</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一共有</a:t>
                </a:r>
                <a14:m>
                  <m:oMath xmlns:m="http://schemas.openxmlformats.org/officeDocument/2006/math">
                    <m:d>
                      <m:dPr>
                        <m:begChr m:val="["/>
                        <m:endChr m:val="]"/>
                        <m:ctrlPr>
                          <a:rPr lang="en-US" altLang="zh-CN" b="0" i="0"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2</m:t>
                        </m:r>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𝑗</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𝑗</m:t>
                                </m:r>
                              </m:e>
                              <m:sub>
                                <m:r>
                                  <a:rPr lang="en-US" altLang="zh-CN" i="1">
                                    <a:latin typeface="Cambria Math" panose="02040503050406030204" pitchFamily="18" charset="0"/>
                                  </a:rPr>
                                  <m:t>2</m:t>
                                </m:r>
                              </m:sub>
                            </m:sSub>
                          </m:e>
                        </m:d>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2</m:t>
                        </m:r>
                        <m:d>
                          <m:dPr>
                            <m:ctrlPr>
                              <a:rPr lang="en-US" altLang="zh-CN" i="1">
                                <a:latin typeface="Cambria Math" panose="02040503050406030204" pitchFamily="18" charset="0"/>
                                <a:ea typeface="微软雅黑" panose="020B0503020204020204" pitchFamily="34" charset="-122"/>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𝑗</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𝑗</m:t>
                                </m:r>
                              </m:e>
                              <m:sub>
                                <m:r>
                                  <a:rPr lang="en-US" altLang="zh-CN" i="1">
                                    <a:latin typeface="Cambria Math" panose="02040503050406030204" pitchFamily="18" charset="0"/>
                                  </a:rPr>
                                  <m:t>2</m:t>
                                </m:r>
                              </m:sub>
                            </m:sSub>
                            <m:r>
                              <a:rPr lang="en-US" altLang="zh-CN" b="0" i="1" smtClean="0">
                                <a:latin typeface="Cambria Math" panose="02040503050406030204" pitchFamily="18" charset="0"/>
                              </a:rPr>
                              <m:t>−1</m:t>
                            </m:r>
                          </m:e>
                        </m:d>
                        <m:r>
                          <a:rPr lang="en-US" altLang="zh-CN" i="1">
                            <a:latin typeface="Cambria Math" panose="02040503050406030204" pitchFamily="18" charset="0"/>
                          </a:rPr>
                          <m:t>+1</m:t>
                        </m:r>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m:rPr>
                                <m:sty m:val="p"/>
                              </m:rPr>
                              <a:rPr lang="en-US" altLang="zh-CN">
                                <a:latin typeface="Cambria Math" panose="02040503050406030204" pitchFamily="18" charset="0"/>
                                <a:ea typeface="微软雅黑" panose="020B0503020204020204" pitchFamily="34" charset="-122"/>
                              </a:rPr>
                              <m:t>min</m:t>
                            </m:r>
                          </m:sub>
                        </m:sSub>
                        <m:r>
                          <a:rPr lang="en-US" altLang="zh-CN" b="0" i="1" smtClean="0">
                            <a:latin typeface="Cambria Math" panose="02040503050406030204" pitchFamily="18" charset="0"/>
                            <a:ea typeface="微软雅黑" panose="020B0503020204020204" pitchFamily="34" charset="-122"/>
                          </a:rPr>
                          <m:t>+1</m:t>
                        </m:r>
                      </m:e>
                    </m:d>
                    <m:r>
                      <a:rPr lang="en-US" altLang="zh-CN" b="0" i="1" smtClean="0">
                        <a:latin typeface="Cambria Math" panose="02040503050406030204" pitchFamily="18" charset="0"/>
                        <a:ea typeface="微软雅黑" panose="020B0503020204020204" pitchFamily="34" charset="-122"/>
                      </a:rPr>
                      <m:t>=</m:t>
                    </m:r>
                    <m:nary>
                      <m:naryPr>
                        <m:chr m:val="∑"/>
                        <m:ctrlPr>
                          <a:rPr lang="en-US" altLang="zh-CN" b="0" i="1" smtClean="0">
                            <a:latin typeface="Cambria Math" panose="02040503050406030204" pitchFamily="18" charset="0"/>
                            <a:ea typeface="微软雅黑" panose="020B0503020204020204" pitchFamily="34" charset="-122"/>
                          </a:rPr>
                        </m:ctrlPr>
                      </m:naryPr>
                      <m:sub>
                        <m:r>
                          <a:rPr lang="en-US" altLang="zh-CN" b="0" i="1" smtClean="0">
                            <a:latin typeface="Cambria Math" panose="02040503050406030204" pitchFamily="18" charset="0"/>
                            <a:ea typeface="微软雅黑" panose="020B0503020204020204" pitchFamily="34" charset="-122"/>
                          </a:rPr>
                          <m:t>𝑗</m:t>
                        </m:r>
                        <m:r>
                          <a:rPr lang="en-US" altLang="zh-CN" b="0" i="1" smtClean="0">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m:rPr>
                                <m:sty m:val="p"/>
                              </m:rPr>
                              <a:rPr lang="en-US" altLang="zh-CN">
                                <a:latin typeface="Cambria Math" panose="02040503050406030204" pitchFamily="18" charset="0"/>
                                <a:ea typeface="微软雅黑" panose="020B0503020204020204" pitchFamily="34" charset="-122"/>
                              </a:rPr>
                              <m:t>min</m:t>
                            </m:r>
                          </m:sub>
                        </m:sSub>
                      </m:sub>
                      <m:sup>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sup>
                      <m:e>
                        <m:r>
                          <a:rPr lang="en-US" altLang="zh-CN" b="0" i="1" smtClean="0">
                            <a:latin typeface="Cambria Math" panose="02040503050406030204" pitchFamily="18" charset="0"/>
                            <a:ea typeface="微软雅黑" panose="020B0503020204020204" pitchFamily="34" charset="-122"/>
                          </a:rPr>
                          <m:t>2</m:t>
                        </m:r>
                        <m:r>
                          <a:rPr lang="en-US" altLang="zh-CN" b="0" i="1" smtClean="0">
                            <a:latin typeface="Cambria Math" panose="02040503050406030204" pitchFamily="18" charset="0"/>
                            <a:ea typeface="微软雅黑" panose="020B0503020204020204" pitchFamily="34" charset="-122"/>
                          </a:rPr>
                          <m:t>𝑗</m:t>
                        </m:r>
                        <m:r>
                          <a:rPr lang="en-US" altLang="zh-CN" b="0" i="1" smtClean="0">
                            <a:latin typeface="Cambria Math" panose="02040503050406030204" pitchFamily="18" charset="0"/>
                            <a:ea typeface="微软雅黑" panose="020B0503020204020204" pitchFamily="34" charset="-122"/>
                          </a:rPr>
                          <m:t>+1</m:t>
                        </m:r>
                      </m:e>
                    </m:nary>
                  </m:oMath>
                </a14:m>
                <a:r>
                  <a:rPr lang="zh-CN" altLang="en-US" dirty="0" smtClean="0">
                    <a:latin typeface="微软雅黑" panose="020B0503020204020204" pitchFamily="34" charset="-122"/>
                    <a:ea typeface="微软雅黑" panose="020B0503020204020204" pitchFamily="34" charset="-122"/>
                  </a:rPr>
                  <a:t>个基</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两个表象的基数目应该相同，于是有</a:t>
                </a:r>
                <a:endParaRPr lang="en-US" altLang="zh-CN" dirty="0" smtClean="0">
                  <a:latin typeface="微软雅黑" panose="020B0503020204020204" pitchFamily="34" charset="-122"/>
                  <a:ea typeface="微软雅黑" panose="020B0503020204020204" pitchFamily="34" charset="-122"/>
                </a:endParaRPr>
              </a:p>
              <a:p>
                <a:pPr>
                  <a:lnSpc>
                    <a:spcPct val="150000"/>
                  </a:lnSpc>
                </a:pPr>
                <a14:m>
                  <m:oMathPara xmlns:m="http://schemas.openxmlformats.org/officeDocument/2006/math">
                    <m:oMathParaPr>
                      <m:jc m:val="centerGroup"/>
                    </m:oMathParaPr>
                    <m:oMath xmlns:m="http://schemas.openxmlformats.org/officeDocument/2006/math">
                      <m:nary>
                        <m:naryPr>
                          <m:chr m:val="∑"/>
                          <m:ctrlPr>
                            <a:rPr lang="en-US" altLang="zh-CN" i="1">
                              <a:latin typeface="Cambria Math" panose="02040503050406030204" pitchFamily="18" charset="0"/>
                              <a:ea typeface="微软雅黑" panose="020B0503020204020204" pitchFamily="34" charset="-122"/>
                            </a:rPr>
                          </m:ctrlPr>
                        </m:naryPr>
                        <m:sub>
                          <m:r>
                            <a:rPr lang="en-US" altLang="zh-CN" i="1">
                              <a:latin typeface="Cambria Math" panose="02040503050406030204" pitchFamily="18" charset="0"/>
                              <a:ea typeface="微软雅黑" panose="020B0503020204020204" pitchFamily="34" charset="-122"/>
                            </a:rPr>
                            <m:t>𝑗</m:t>
                          </m:r>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m:rPr>
                                  <m:sty m:val="p"/>
                                </m:rPr>
                                <a:rPr lang="en-US" altLang="zh-CN">
                                  <a:latin typeface="Cambria Math" panose="02040503050406030204" pitchFamily="18" charset="0"/>
                                  <a:ea typeface="微软雅黑" panose="020B0503020204020204" pitchFamily="34" charset="-122"/>
                                </a:rPr>
                                <m:t>min</m:t>
                              </m:r>
                            </m:sub>
                          </m:sSub>
                        </m:sub>
                        <m: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a:rPr lang="en-US" altLang="zh-CN" i="1">
                                  <a:latin typeface="Cambria Math" panose="02040503050406030204" pitchFamily="18" charset="0"/>
                                  <a:ea typeface="微软雅黑" panose="020B0503020204020204" pitchFamily="34" charset="-122"/>
                                </a:rPr>
                                <m:t>2</m:t>
                              </m:r>
                            </m:sub>
                          </m:sSub>
                        </m:sup>
                        <m:e>
                          <m:d>
                            <m:dPr>
                              <m:ctrlPr>
                                <a:rPr lang="en-US" altLang="zh-CN" b="0" i="1" smtClean="0">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2</m:t>
                              </m:r>
                              <m:r>
                                <a:rPr lang="en-US" altLang="zh-CN" i="1">
                                  <a:latin typeface="Cambria Math" panose="02040503050406030204" pitchFamily="18" charset="0"/>
                                  <a:ea typeface="微软雅黑" panose="020B0503020204020204" pitchFamily="34" charset="-122"/>
                                </a:rPr>
                                <m:t>𝑗</m:t>
                              </m:r>
                              <m:r>
                                <a:rPr lang="en-US" altLang="zh-CN" i="1">
                                  <a:latin typeface="Cambria Math" panose="02040503050406030204" pitchFamily="18" charset="0"/>
                                  <a:ea typeface="微软雅黑" panose="020B0503020204020204" pitchFamily="34" charset="-122"/>
                                </a:rPr>
                                <m:t>+1</m:t>
                              </m:r>
                            </m:e>
                          </m:d>
                        </m:e>
                      </m:nary>
                      <m:r>
                        <a:rPr lang="en-US" altLang="zh-CN" b="0" i="1" smtClean="0">
                          <a:latin typeface="Cambria Math" panose="02040503050406030204" pitchFamily="18" charset="0"/>
                          <a:ea typeface="微软雅黑" panose="020B0503020204020204" pitchFamily="34" charset="-122"/>
                        </a:rPr>
                        <m:t>=</m:t>
                      </m:r>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2</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+1</m:t>
                          </m:r>
                        </m:e>
                      </m:d>
                      <m:d>
                        <m:dPr>
                          <m:ctrlPr>
                            <a:rPr lang="en-US" altLang="zh-CN" b="0" i="1" smtClean="0">
                              <a:latin typeface="Cambria Math" panose="02040503050406030204" pitchFamily="18" charset="0"/>
                              <a:ea typeface="微软雅黑" panose="020B0503020204020204" pitchFamily="34" charset="-122"/>
                            </a:rPr>
                          </m:ctrlPr>
                        </m:dPr>
                        <m:e>
                          <m:r>
                            <a:rPr lang="en-US" altLang="zh-CN" b="0" i="1" smtClean="0">
                              <a:latin typeface="Cambria Math" panose="02040503050406030204" pitchFamily="18" charset="0"/>
                              <a:ea typeface="微软雅黑" panose="020B0503020204020204" pitchFamily="34" charset="-122"/>
                            </a:rPr>
                            <m:t>2</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+1</m:t>
                          </m:r>
                        </m:e>
                      </m:d>
                    </m:oMath>
                  </m:oMathPara>
                </a14:m>
                <a:endParaRPr lang="en-US" altLang="zh-CN" b="0"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左端为</a:t>
                </a:r>
                <a14:m>
                  <m:oMath xmlns:m="http://schemas.openxmlformats.org/officeDocument/2006/math">
                    <m:nary>
                      <m:naryPr>
                        <m:chr m:val="∑"/>
                        <m:ctrlPr>
                          <a:rPr lang="en-US" altLang="zh-CN" i="1">
                            <a:latin typeface="Cambria Math" panose="02040503050406030204" pitchFamily="18" charset="0"/>
                            <a:ea typeface="微软雅黑" panose="020B0503020204020204" pitchFamily="34" charset="-122"/>
                          </a:rPr>
                        </m:ctrlPr>
                      </m:naryPr>
                      <m:sub>
                        <m:r>
                          <a:rPr lang="en-US" altLang="zh-CN" i="1">
                            <a:latin typeface="Cambria Math" panose="02040503050406030204" pitchFamily="18" charset="0"/>
                            <a:ea typeface="微软雅黑" panose="020B0503020204020204" pitchFamily="34" charset="-122"/>
                          </a:rPr>
                          <m:t>𝑗</m:t>
                        </m:r>
                        <m:r>
                          <a:rPr lang="en-US" altLang="zh-CN" i="1">
                            <a:latin typeface="Cambria Math" panose="02040503050406030204" pitchFamily="18" charset="0"/>
                            <a:ea typeface="微软雅黑" panose="020B0503020204020204" pitchFamily="34" charset="-122"/>
                          </a:rPr>
                          <m:t>=0</m:t>
                        </m:r>
                      </m:sub>
                      <m: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a:rPr lang="en-US" altLang="zh-CN" i="1">
                                <a:latin typeface="Cambria Math" panose="02040503050406030204" pitchFamily="18" charset="0"/>
                                <a:ea typeface="微软雅黑" panose="020B0503020204020204" pitchFamily="34" charset="-122"/>
                              </a:rPr>
                              <m:t>1</m:t>
                            </m:r>
                          </m:sub>
                        </m:sSub>
                        <m:r>
                          <a:rPr lang="en-US" altLang="zh-CN" i="1">
                            <a:latin typeface="Cambria Math" panose="02040503050406030204" pitchFamily="18" charset="0"/>
                            <a:ea typeface="微软雅黑" panose="020B0503020204020204" pitchFamily="34" charset="-122"/>
                          </a:rPr>
                          <m:t>+</m:t>
                        </m:r>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a:rPr lang="en-US" altLang="zh-CN" i="1">
                                <a:latin typeface="Cambria Math" panose="02040503050406030204" pitchFamily="18" charset="0"/>
                                <a:ea typeface="微软雅黑" panose="020B0503020204020204" pitchFamily="34" charset="-122"/>
                              </a:rPr>
                              <m:t>2</m:t>
                            </m:r>
                          </m:sub>
                        </m:sSub>
                      </m:sup>
                      <m:e>
                        <m:d>
                          <m:dPr>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2</m:t>
                            </m:r>
                            <m:r>
                              <a:rPr lang="en-US" altLang="zh-CN" i="1">
                                <a:latin typeface="Cambria Math" panose="02040503050406030204" pitchFamily="18" charset="0"/>
                                <a:ea typeface="微软雅黑" panose="020B0503020204020204" pitchFamily="34" charset="-122"/>
                              </a:rPr>
                              <m:t>𝑗</m:t>
                            </m:r>
                            <m:r>
                              <a:rPr lang="en-US" altLang="zh-CN" i="1">
                                <a:latin typeface="Cambria Math" panose="02040503050406030204" pitchFamily="18" charset="0"/>
                                <a:ea typeface="微软雅黑" panose="020B0503020204020204" pitchFamily="34" charset="-122"/>
                              </a:rPr>
                              <m:t>+1</m:t>
                            </m:r>
                          </m:e>
                        </m:d>
                      </m:e>
                    </m:nary>
                    <m:r>
                      <a:rPr lang="en-US" altLang="zh-CN" b="0" i="1" smtClean="0">
                        <a:latin typeface="Cambria Math" panose="02040503050406030204" pitchFamily="18" charset="0"/>
                        <a:ea typeface="微软雅黑" panose="020B0503020204020204" pitchFamily="34" charset="-122"/>
                      </a:rPr>
                      <m:t>−</m:t>
                    </m:r>
                    <m:nary>
                      <m:naryPr>
                        <m:chr m:val="∑"/>
                        <m:ctrlPr>
                          <a:rPr lang="en-US" altLang="zh-CN" i="1">
                            <a:latin typeface="Cambria Math" panose="02040503050406030204" pitchFamily="18" charset="0"/>
                            <a:ea typeface="微软雅黑" panose="020B0503020204020204" pitchFamily="34" charset="-122"/>
                          </a:rPr>
                        </m:ctrlPr>
                      </m:naryPr>
                      <m:sub>
                        <m:r>
                          <a:rPr lang="en-US" altLang="zh-CN" i="1">
                            <a:latin typeface="Cambria Math" panose="02040503050406030204" pitchFamily="18" charset="0"/>
                            <a:ea typeface="微软雅黑" panose="020B0503020204020204" pitchFamily="34" charset="-122"/>
                          </a:rPr>
                          <m:t>𝑗</m:t>
                        </m:r>
                        <m:r>
                          <a:rPr lang="en-US" altLang="zh-CN" i="1">
                            <a:latin typeface="Cambria Math" panose="02040503050406030204" pitchFamily="18" charset="0"/>
                            <a:ea typeface="微软雅黑" panose="020B0503020204020204" pitchFamily="34" charset="-122"/>
                          </a:rPr>
                          <m:t>=0</m:t>
                        </m:r>
                      </m:sub>
                      <m:sup>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m:rPr>
                                <m:sty m:val="p"/>
                              </m:rPr>
                              <a:rPr lang="en-US" altLang="zh-CN">
                                <a:latin typeface="Cambria Math" panose="02040503050406030204" pitchFamily="18" charset="0"/>
                                <a:ea typeface="微软雅黑" panose="020B0503020204020204" pitchFamily="34" charset="-122"/>
                              </a:rPr>
                              <m:t>min</m:t>
                            </m:r>
                          </m:sub>
                        </m:sSub>
                        <m:r>
                          <a:rPr lang="en-US" altLang="zh-CN" b="0" i="1" smtClean="0">
                            <a:latin typeface="Cambria Math" panose="02040503050406030204" pitchFamily="18" charset="0"/>
                            <a:ea typeface="微软雅黑" panose="020B0503020204020204" pitchFamily="34" charset="-122"/>
                          </a:rPr>
                          <m:t>−1</m:t>
                        </m:r>
                      </m:sup>
                      <m:e>
                        <m:d>
                          <m:dPr>
                            <m:ctrlPr>
                              <a:rPr lang="en-US" altLang="zh-CN" i="1">
                                <a:latin typeface="Cambria Math" panose="02040503050406030204" pitchFamily="18" charset="0"/>
                                <a:ea typeface="微软雅黑" panose="020B0503020204020204" pitchFamily="34" charset="-122"/>
                              </a:rPr>
                            </m:ctrlPr>
                          </m:dPr>
                          <m:e>
                            <m:r>
                              <a:rPr lang="en-US" altLang="zh-CN" i="1">
                                <a:latin typeface="Cambria Math" panose="02040503050406030204" pitchFamily="18" charset="0"/>
                                <a:ea typeface="微软雅黑" panose="020B0503020204020204" pitchFamily="34" charset="-122"/>
                              </a:rPr>
                              <m:t>2</m:t>
                            </m:r>
                            <m:r>
                              <a:rPr lang="en-US" altLang="zh-CN" i="1">
                                <a:latin typeface="Cambria Math" panose="02040503050406030204" pitchFamily="18" charset="0"/>
                                <a:ea typeface="微软雅黑" panose="020B0503020204020204" pitchFamily="34" charset="-122"/>
                              </a:rPr>
                              <m:t>𝑗</m:t>
                            </m:r>
                            <m:r>
                              <a:rPr lang="en-US" altLang="zh-CN" i="1">
                                <a:latin typeface="Cambria Math" panose="02040503050406030204" pitchFamily="18" charset="0"/>
                                <a:ea typeface="微软雅黑" panose="020B0503020204020204" pitchFamily="34" charset="-122"/>
                              </a:rPr>
                              <m:t>+1</m:t>
                            </m:r>
                          </m:e>
                        </m:d>
                      </m:e>
                    </m:nary>
                    <m:r>
                      <a:rPr lang="en-US" altLang="zh-CN" b="0" i="1" smtClean="0">
                        <a:latin typeface="Cambria Math" panose="02040503050406030204" pitchFamily="18" charset="0"/>
                        <a:ea typeface="微软雅黑" panose="020B0503020204020204" pitchFamily="34" charset="-122"/>
                      </a:rPr>
                      <m:t>=</m:t>
                    </m:r>
                    <m:sSup>
                      <m:sSupPr>
                        <m:ctrlPr>
                          <a:rPr lang="en-US" altLang="zh-CN" b="0" i="1" smtClean="0">
                            <a:latin typeface="Cambria Math" panose="02040503050406030204" pitchFamily="18" charset="0"/>
                            <a:ea typeface="微软雅黑" panose="020B0503020204020204" pitchFamily="34" charset="-122"/>
                          </a:rPr>
                        </m:ctrlPr>
                      </m:sSupPr>
                      <m:e>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+1</m:t>
                            </m:r>
                          </m:e>
                        </m:d>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sSup>
                      <m:sSupPr>
                        <m:ctrlPr>
                          <a:rPr lang="en-US" altLang="zh-CN" b="0" i="1" smtClean="0">
                            <a:latin typeface="Cambria Math" panose="02040503050406030204" pitchFamily="18" charset="0"/>
                            <a:ea typeface="微软雅黑" panose="020B0503020204020204" pitchFamily="34" charset="-122"/>
                          </a:rPr>
                        </m:ctrlPr>
                      </m:sSup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m:rPr>
                                <m:sty m:val="p"/>
                              </m:rPr>
                              <a:rPr lang="en-US" altLang="zh-CN">
                                <a:latin typeface="Cambria Math" panose="02040503050406030204" pitchFamily="18" charset="0"/>
                                <a:ea typeface="微软雅黑" panose="020B0503020204020204" pitchFamily="34" charset="-122"/>
                              </a:rPr>
                              <m:t>min</m:t>
                            </m:r>
                          </m:sub>
                        </m:sSub>
                      </m:e>
                      <m:sup>
                        <m:r>
                          <a:rPr lang="en-US" altLang="zh-CN" b="0" i="1" smtClean="0">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up>
                        <m:r>
                          <a:rPr lang="en-US" altLang="zh-CN" b="0" i="1" smtClean="0">
                            <a:latin typeface="Cambria Math" panose="02040503050406030204" pitchFamily="18" charset="0"/>
                            <a:ea typeface="微软雅黑" panose="020B0503020204020204" pitchFamily="34" charset="-122"/>
                          </a:rPr>
                          <m:t>2</m:t>
                        </m:r>
                      </m:sup>
                    </m:sSubSup>
                    <m:r>
                      <a:rPr lang="en-US" altLang="zh-CN" b="0" i="1" smtClean="0">
                        <a:latin typeface="Cambria Math" panose="02040503050406030204" pitchFamily="18" charset="0"/>
                        <a:ea typeface="微软雅黑" panose="020B0503020204020204" pitchFamily="34" charset="-122"/>
                      </a:rPr>
                      <m:t>+</m:t>
                    </m:r>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up>
                        <m:r>
                          <a:rPr lang="en-US" altLang="zh-CN" b="0" i="1" smtClean="0">
                            <a:latin typeface="Cambria Math" panose="02040503050406030204" pitchFamily="18" charset="0"/>
                            <a:ea typeface="微软雅黑" panose="020B0503020204020204" pitchFamily="34" charset="-122"/>
                          </a:rPr>
                          <m:t>2</m:t>
                        </m:r>
                      </m:sup>
                    </m:sSubSup>
                    <m:r>
                      <a:rPr lang="en-US" altLang="zh-CN" b="0" i="1" smtClean="0">
                        <a:latin typeface="Cambria Math" panose="02040503050406030204" pitchFamily="18" charset="0"/>
                        <a:ea typeface="微软雅黑" panose="020B0503020204020204" pitchFamily="34" charset="-122"/>
                      </a:rPr>
                      <m:t>+2</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+2</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+2</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+1 −</m:t>
                    </m:r>
                    <m:sSubSup>
                      <m:sSubSupPr>
                        <m:ctrlPr>
                          <a:rPr lang="en-US" altLang="zh-CN" b="0" i="1" smtClean="0">
                            <a:latin typeface="Cambria Math" panose="02040503050406030204" pitchFamily="18" charset="0"/>
                            <a:ea typeface="微软雅黑" panose="020B0503020204020204" pitchFamily="34" charset="-122"/>
                          </a:rPr>
                        </m:ctrlPr>
                      </m:sSubSupPr>
                      <m:e>
                        <m:r>
                          <a:rPr lang="en-US" altLang="zh-CN" i="1">
                            <a:latin typeface="Cambria Math" panose="02040503050406030204" pitchFamily="18" charset="0"/>
                            <a:ea typeface="微软雅黑" panose="020B0503020204020204" pitchFamily="34" charset="-122"/>
                          </a:rPr>
                          <m:t>𝑗</m:t>
                        </m:r>
                      </m:e>
                      <m:sub>
                        <m:r>
                          <m:rPr>
                            <m:sty m:val="p"/>
                          </m:rPr>
                          <a:rPr lang="en-US" altLang="zh-CN">
                            <a:latin typeface="Cambria Math" panose="02040503050406030204" pitchFamily="18" charset="0"/>
                            <a:ea typeface="微软雅黑" panose="020B0503020204020204" pitchFamily="34" charset="-122"/>
                          </a:rPr>
                          <m:t>min</m:t>
                        </m:r>
                      </m:sub>
                      <m:sup>
                        <m:r>
                          <a:rPr lang="en-US" altLang="zh-CN" b="0" i="1" smtClean="0">
                            <a:latin typeface="Cambria Math" panose="02040503050406030204" pitchFamily="18" charset="0"/>
                            <a:ea typeface="微软雅黑" panose="020B0503020204020204" pitchFamily="34" charset="-122"/>
                          </a:rPr>
                          <m:t>2</m:t>
                        </m:r>
                      </m:sup>
                    </m:sSubSup>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右</a:t>
                </a:r>
                <a:r>
                  <a:rPr lang="zh-CN" altLang="en-US" dirty="0" smtClean="0">
                    <a:latin typeface="微软雅黑" panose="020B0503020204020204" pitchFamily="34" charset="-122"/>
                    <a:ea typeface="微软雅黑" panose="020B0503020204020204" pitchFamily="34" charset="-122"/>
                  </a:rPr>
                  <a:t>端为</a:t>
                </a:r>
                <a14:m>
                  <m:oMath xmlns:m="http://schemas.openxmlformats.org/officeDocument/2006/math">
                    <m:r>
                      <a:rPr lang="en-US" altLang="zh-CN" b="0" i="1" smtClean="0">
                        <a:latin typeface="Cambria Math" panose="02040503050406030204" pitchFamily="18" charset="0"/>
                        <a:ea typeface="微软雅黑" panose="020B0503020204020204" pitchFamily="34" charset="-122"/>
                      </a:rPr>
                      <m:t>4</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+2</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+2</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r>
                      <a:rPr lang="en-US" altLang="zh-CN" b="0" i="1" smtClean="0">
                        <a:latin typeface="Cambria Math" panose="02040503050406030204" pitchFamily="18" charset="0"/>
                        <a:ea typeface="微软雅黑" panose="020B0503020204020204" pitchFamily="34" charset="-122"/>
                      </a:rPr>
                      <m:t>+1</m:t>
                    </m:r>
                  </m:oMath>
                </a14:m>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合并后有</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m:rPr>
                                <m:sty m:val="p"/>
                              </m:rPr>
                              <a:rPr lang="en-US" altLang="zh-CN">
                                <a:latin typeface="Cambria Math" panose="02040503050406030204" pitchFamily="18" charset="0"/>
                                <a:ea typeface="微软雅黑" panose="020B0503020204020204" pitchFamily="34" charset="-122"/>
                              </a:rPr>
                              <m:t>min</m:t>
                            </m:r>
                          </m:sub>
                        </m:sSub>
                      </m:e>
                      <m:sup>
                        <m:r>
                          <a:rPr lang="en-US" altLang="zh-CN" i="1">
                            <a:latin typeface="Cambria Math" panose="02040503050406030204" pitchFamily="18" charset="0"/>
                            <a:ea typeface="微软雅黑" panose="020B0503020204020204" pitchFamily="34" charset="-122"/>
                          </a:rPr>
                          <m:t>2</m:t>
                        </m:r>
                      </m:sup>
                    </m:sSup>
                    <m:r>
                      <a:rPr lang="en-US" altLang="zh-CN" b="0" i="1" smtClean="0">
                        <a:latin typeface="Cambria Math" panose="02040503050406030204" pitchFamily="18" charset="0"/>
                        <a:ea typeface="微软雅黑" panose="020B0503020204020204" pitchFamily="34" charset="-122"/>
                      </a:rPr>
                      <m:t>=</m:t>
                    </m:r>
                    <m:sSup>
                      <m:sSupPr>
                        <m:ctrlPr>
                          <a:rPr lang="en-US" altLang="zh-CN" b="0" i="1" smtClean="0">
                            <a:latin typeface="Cambria Math" panose="02040503050406030204" pitchFamily="18" charset="0"/>
                            <a:ea typeface="微软雅黑" panose="020B0503020204020204" pitchFamily="34" charset="-122"/>
                          </a:rPr>
                        </m:ctrlPr>
                      </m:sSupPr>
                      <m:e>
                        <m:d>
                          <m:dPr>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e>
                        </m:d>
                      </m:e>
                      <m:sup>
                        <m:r>
                          <a:rPr lang="en-US" altLang="zh-CN" b="0" i="1" smtClean="0">
                            <a:latin typeface="Cambria Math" panose="02040503050406030204" pitchFamily="18" charset="0"/>
                            <a:ea typeface="微软雅黑" panose="020B0503020204020204" pitchFamily="34" charset="-122"/>
                          </a:rPr>
                          <m:t>2</m:t>
                        </m:r>
                      </m:sup>
                    </m:sSup>
                  </m:oMath>
                </a14:m>
                <a:r>
                  <a:rPr lang="zh-CN" altLang="en-US" dirty="0" smtClean="0">
                    <a:latin typeface="微软雅黑" panose="020B0503020204020204" pitchFamily="34" charset="-122"/>
                    <a:ea typeface="微软雅黑" panose="020B0503020204020204" pitchFamily="34" charset="-122"/>
                  </a:rPr>
                  <a:t>，且</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m:rPr>
                            <m:sty m:val="p"/>
                          </m:rPr>
                          <a:rPr lang="en-US" altLang="zh-CN">
                            <a:latin typeface="Cambria Math" panose="02040503050406030204" pitchFamily="18" charset="0"/>
                            <a:ea typeface="微软雅黑" panose="020B0503020204020204" pitchFamily="34" charset="-122"/>
                          </a:rPr>
                          <m:t>min</m:t>
                        </m:r>
                      </m:sub>
                    </m:sSub>
                  </m:oMath>
                </a14:m>
                <a:r>
                  <a:rPr lang="zh-CN" altLang="en-US" dirty="0" smtClean="0">
                    <a:latin typeface="微软雅黑" panose="020B0503020204020204" pitchFamily="34" charset="-122"/>
                    <a:ea typeface="微软雅黑" panose="020B0503020204020204" pitchFamily="34" charset="-122"/>
                  </a:rPr>
                  <a:t>非负，则</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i="1">
                            <a:latin typeface="Cambria Math" panose="02040503050406030204" pitchFamily="18" charset="0"/>
                            <a:ea typeface="微软雅黑" panose="020B0503020204020204" pitchFamily="34" charset="-122"/>
                          </a:rPr>
                          <m:t>𝑗</m:t>
                        </m:r>
                      </m:e>
                      <m:sub>
                        <m:r>
                          <m:rPr>
                            <m:sty m:val="p"/>
                          </m:rPr>
                          <a:rPr lang="en-US" altLang="zh-CN">
                            <a:latin typeface="Cambria Math" panose="02040503050406030204" pitchFamily="18" charset="0"/>
                            <a:ea typeface="微软雅黑" panose="020B0503020204020204" pitchFamily="34" charset="-122"/>
                          </a:rPr>
                          <m:t>min</m:t>
                        </m:r>
                      </m:sub>
                    </m:sSub>
                    <m:r>
                      <a:rPr lang="en-US" altLang="zh-CN" b="0" i="1" smtClean="0">
                        <a:latin typeface="Cambria Math" panose="02040503050406030204" pitchFamily="18" charset="0"/>
                        <a:ea typeface="微软雅黑" panose="020B0503020204020204" pitchFamily="34" charset="-122"/>
                      </a:rPr>
                      <m:t>=</m:t>
                    </m:r>
                    <m:d>
                      <m:dPr>
                        <m:begChr m:val="|"/>
                        <m:endChr m:val="|"/>
                        <m:ctrlPr>
                          <a:rPr lang="en-US" altLang="zh-CN" b="0" i="1" smtClean="0">
                            <a:latin typeface="Cambria Math" panose="02040503050406030204" pitchFamily="18" charset="0"/>
                            <a:ea typeface="微软雅黑" panose="020B0503020204020204" pitchFamily="34" charset="-122"/>
                          </a:rPr>
                        </m:ctrlPr>
                      </m:dPr>
                      <m:e>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1</m:t>
                            </m:r>
                          </m:sub>
                        </m:sSub>
                        <m:r>
                          <a:rPr lang="en-US" altLang="zh-CN" b="0" i="1" smtClean="0">
                            <a:latin typeface="Cambria Math" panose="02040503050406030204" pitchFamily="18" charset="0"/>
                            <a:ea typeface="微软雅黑" panose="020B0503020204020204" pitchFamily="34" charset="-122"/>
                          </a:rPr>
                          <m:t>−</m:t>
                        </m:r>
                        <m:sSub>
                          <m:sSubPr>
                            <m:ctrlPr>
                              <a:rPr lang="en-US" altLang="zh-CN" b="0" i="1" smtClean="0">
                                <a:latin typeface="Cambria Math" panose="02040503050406030204" pitchFamily="18" charset="0"/>
                                <a:ea typeface="微软雅黑" panose="020B0503020204020204" pitchFamily="34" charset="-122"/>
                              </a:rPr>
                            </m:ctrlPr>
                          </m:sSubPr>
                          <m:e>
                            <m:r>
                              <a:rPr lang="en-US" altLang="zh-CN" b="0" i="1" smtClean="0">
                                <a:latin typeface="Cambria Math" panose="02040503050406030204" pitchFamily="18" charset="0"/>
                                <a:ea typeface="微软雅黑" panose="020B0503020204020204" pitchFamily="34" charset="-122"/>
                              </a:rPr>
                              <m:t>𝑗</m:t>
                            </m:r>
                          </m:e>
                          <m:sub>
                            <m:r>
                              <a:rPr lang="en-US" altLang="zh-CN" b="0" i="1" smtClean="0">
                                <a:latin typeface="Cambria Math" panose="02040503050406030204" pitchFamily="18" charset="0"/>
                                <a:ea typeface="微软雅黑" panose="020B0503020204020204" pitchFamily="34" charset="-122"/>
                              </a:rPr>
                              <m:t>2</m:t>
                            </m:r>
                          </m:sub>
                        </m:sSub>
                      </m:e>
                    </m:d>
                  </m:oMath>
                </a14:m>
                <a:endParaRPr lang="en-US" altLang="zh-CN" dirty="0" smtClean="0">
                  <a:latin typeface="微软雅黑" panose="020B0503020204020204" pitchFamily="34" charset="-122"/>
                  <a:ea typeface="微软雅黑" panose="020B0503020204020204" pitchFamily="34"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540385" y="1084939"/>
                <a:ext cx="11882097" cy="5398978"/>
              </a:xfrm>
              <a:prstGeom prst="rect">
                <a:avLst/>
              </a:prstGeom>
              <a:blipFill rotWithShape="0">
                <a:blip r:embed="rId5"/>
                <a:stretch>
                  <a:fillRect l="-462" b="-11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9099066"/>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12635</TotalTime>
  <Words>630</Words>
  <Application>Microsoft Office PowerPoint</Application>
  <PresentationFormat>宽屏</PresentationFormat>
  <Paragraphs>228</Paragraphs>
  <Slides>17</Slides>
  <Notes>17</Notes>
  <HiddenSlides>1</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 Unicode MS</vt:lpstr>
      <vt:lpstr>等线</vt:lpstr>
      <vt:lpstr>宋体</vt:lpstr>
      <vt:lpstr>微软雅黑</vt:lpstr>
      <vt:lpstr>Arial</vt:lpstr>
      <vt:lpstr>Calibri</vt:lpstr>
      <vt:lpstr>Calibri Light</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652</cp:revision>
  <dcterms:created xsi:type="dcterms:W3CDTF">2026-04-13T12:58:51Z</dcterms:created>
  <dcterms:modified xsi:type="dcterms:W3CDTF">2026-07-07T10:32:57Z</dcterms:modified>
</cp:coreProperties>
</file>