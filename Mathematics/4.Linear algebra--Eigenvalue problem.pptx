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337" r:id="rId3"/>
    <p:sldId id="258" r:id="rId4"/>
    <p:sldId id="338" r:id="rId5"/>
    <p:sldId id="339" r:id="rId6"/>
    <p:sldId id="340" r:id="rId7"/>
    <p:sldId id="341" r:id="rId8"/>
    <p:sldId id="342" r:id="rId9"/>
    <p:sldId id="345" r:id="rId10"/>
    <p:sldId id="343" r:id="rId11"/>
    <p:sldId id="346" r:id="rId12"/>
    <p:sldId id="347" r:id="rId13"/>
    <p:sldId id="349" r:id="rId14"/>
    <p:sldId id="348" r:id="rId15"/>
    <p:sldId id="350" r:id="rId16"/>
    <p:sldId id="309" r:id="rId17"/>
    <p:sldId id="308" r:id="rId18"/>
    <p:sldId id="351" r:id="rId19"/>
    <p:sldId id="352" r:id="rId20"/>
    <p:sldId id="334" r:id="rId21"/>
    <p:sldId id="354" r:id="rId22"/>
    <p:sldId id="353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37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005" autoAdjust="0"/>
  </p:normalViewPr>
  <p:slideViewPr>
    <p:cSldViewPr snapToGrid="0">
      <p:cViewPr varScale="1">
        <p:scale>
          <a:sx n="87" d="100"/>
          <a:sy n="87" d="100"/>
        </p:scale>
        <p:origin x="52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CD0B4-0D93-4925-9AE5-BE338DE0EB77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1C58D-F6D9-4444-8C6C-9BE396A37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509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719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102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319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456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398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754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283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833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2265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4940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51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256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9877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7692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952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5774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9932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7916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1032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2562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0168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31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4F24E-D5DB-4E44-B9C1-1C9F966D9DE0}" type="datetime1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42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644C8-A75A-4271-B806-197E7CBB3043}" type="datetime1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428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AEB6-6817-4662-A1D3-3BC44BA693B7}" type="datetime1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73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12959-142D-4B7D-99C2-885C08D89CC3}" type="datetime1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982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02A6-6B27-4F12-88C3-26F3AADB1B4A}" type="datetime1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445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A87C-D3D9-4098-8262-38F46DBFE130}" type="datetime1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01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05D1-58D2-499A-8919-5CFDC4F042E9}" type="datetime1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771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647B-B16E-4175-BFE9-E10D077C5782}" type="datetime1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63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3D96-C799-489A-9DE7-F5DBBF900548}" type="datetime1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454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7679-E711-45F2-B537-122BD96A4634}" type="datetime1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93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60A1E-7A35-43E8-B9E2-C715633E112E}" type="datetime1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59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EBADF-EE84-4603-B97B-F3FFE6AB9912}" type="datetime1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57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microsoft.com/office/2007/relationships/hdphoto" Target="../media/hdphoto1.wdp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microsoft.com/office/2007/relationships/hdphoto" Target="../media/hdphoto1.wdp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6035010B-2434-47C2-8100-5A5F5450E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7034" y="484388"/>
            <a:ext cx="1617921" cy="1617921"/>
          </a:xfrm>
          <a:prstGeom prst="rect">
            <a:avLst/>
          </a:prstGeom>
        </p:spPr>
      </p:pic>
      <p:sp>
        <p:nvSpPr>
          <p:cNvPr id="3" name="矩形 12"/>
          <p:cNvSpPr/>
          <p:nvPr/>
        </p:nvSpPr>
        <p:spPr>
          <a:xfrm>
            <a:off x="2889789" y="4196487"/>
            <a:ext cx="6412417" cy="81708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 eaLnBrk="1" hangingPunct="1"/>
            <a:endParaRPr lang="zh-CN" altLang="en-US" sz="2400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6657" y="2377744"/>
            <a:ext cx="995867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Introduction to Quantum Chemistry</a:t>
            </a: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——Linear Algebra 3</a:t>
            </a:r>
            <a:endParaRPr lang="zh-CN" altLang="en-US" sz="4000" b="1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54370" y="4553630"/>
            <a:ext cx="4883252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张冀鹏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北京师范大学化学学院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2026. 7. 13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865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55"/>
    </mc:Choice>
    <mc:Fallback xmlns="">
      <p:transition spd="slow" advTm="8855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Eigenvalue problem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99110" y="716329"/>
                <a:ext cx="10308126" cy="6093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给定线性空间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上一个线性变换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，讨论一组特殊的向量，满足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𝝃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𝜆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𝝃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求解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𝜆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的称为本征值问题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𝜆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分别是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本征向量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本征值</a:t>
                </a:r>
                <a:endParaRPr lang="en-US" altLang="zh-CN" sz="20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再给定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上一组基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𝝃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可以被展开成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𝝃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+…+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𝐱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下有矩阵表示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这样本征值方程变成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𝐱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𝜆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𝐱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𝐀𝐱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𝜆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𝐱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716329"/>
                <a:ext cx="10308126" cy="6093976"/>
              </a:xfrm>
              <a:prstGeom prst="rect">
                <a:avLst/>
              </a:prstGeom>
              <a:blipFill rotWithShape="0">
                <a:blip r:embed="rId5"/>
                <a:stretch>
                  <a:fillRect l="-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97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Eigenvalue problem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99110" y="1410921"/>
                <a:ext cx="11124034" cy="414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𝐀𝐱</m:t>
                    </m:r>
                    <m:r>
                      <a:rPr lang="en-US" altLang="zh-CN" sz="24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𝜆</m:t>
                    </m:r>
                    <m:r>
                      <a:rPr lang="en-US" altLang="zh-CN" sz="24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𝐱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有解的条件：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𝐀𝐱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𝜆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𝐱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⇔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𝐈</m:t>
                          </m:r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</m:d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𝐱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𝟎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齐次线性方程组有非零解的充要条件：</a:t>
                </a:r>
                <a:r>
                  <a:rPr lang="en-US" altLang="zh-CN" sz="20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𝐈</m:t>
                        </m:r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</m:d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𝐈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按行列式的运算规则，其中一项取对角元乘积后，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𝜆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次数最高为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𝐈</m:t>
                        </m:r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是一元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次多项式：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𝐈</m:t>
                        </m:r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𝜆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+…+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（本征多项式）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求解该多项式后得到某个本征值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，再代入到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𝐈</m:t>
                        </m:r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</m:d>
                    <m:r>
                      <a:rPr lang="en-US" altLang="zh-CN" sz="20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𝐱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中解方程，可以得到特征向量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𝐱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的解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1410921"/>
                <a:ext cx="11124034" cy="4141583"/>
              </a:xfrm>
              <a:prstGeom prst="rect">
                <a:avLst/>
              </a:prstGeom>
              <a:blipFill rotWithShape="0">
                <a:blip r:embed="rId5"/>
                <a:stretch>
                  <a:fillRect l="-603" b="-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907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Eigenvalue problem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99110" y="904636"/>
            <a:ext cx="5163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先看一个求本征值和本征向量的例子：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910858" y="1273204"/>
                <a:ext cx="9173919" cy="551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第一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步：求解本征多项式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𝐈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−7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+4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−4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+6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−4=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+2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en-US" altLang="zh-CN" i="1" dirty="0" smtClean="0"/>
              </a:p>
              <a:p>
                <a:endParaRPr lang="en-US" altLang="zh-CN" i="1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分两种情况：实数域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=2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，复数域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第二步：代入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𝐈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</m:d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𝐱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实数域下代入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=2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方程得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=−2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是自由未知数，换成任意数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，解为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𝐱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858" y="1273204"/>
                <a:ext cx="9173919" cy="5512984"/>
              </a:xfrm>
              <a:prstGeom prst="rect">
                <a:avLst/>
              </a:prstGeom>
              <a:blipFill rotWithShape="0">
                <a:blip r:embed="rId5"/>
                <a:stretch>
                  <a:fillRect l="-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1780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Eigenvalue problem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99110" y="904636"/>
            <a:ext cx="5163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先看一个求本征值和本征向量的例子：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910858" y="1273204"/>
                <a:ext cx="10738950" cy="5159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复数域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第二步：代入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𝐈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</m:d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𝐱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复数域下代入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方程得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+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是自由未知数，换成任意数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，解为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𝐱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同理有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𝐱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在这个例子中，在复数域上可以得到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个本征值和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类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本征向量（用某个基表出），实数域上只能得到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858" y="1273204"/>
                <a:ext cx="10738950" cy="5159041"/>
              </a:xfrm>
              <a:prstGeom prst="rect">
                <a:avLst/>
              </a:prstGeom>
              <a:blipFill rotWithShape="0">
                <a:blip r:embed="rId5"/>
                <a:stretch>
                  <a:fillRect l="-454" b="-9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264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Eigenvalue problem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99110" y="904636"/>
            <a:ext cx="5163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先看一个求本征值和本征向量的例子：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49469" y="1304746"/>
                <a:ext cx="11772900" cy="5488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最后看一下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之间的关系：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1+2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1−2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1+2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−1+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−1−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−2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−2 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算行列式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1−2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1+2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≠0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，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，说明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线性无关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如果取矩阵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 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1−2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1+2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则有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𝚲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𝚲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𝐏</m:t>
                        </m:r>
                      </m:e>
                      <m:sup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</m:sSup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𝐀𝐏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矩阵实现了对角化！而对角阵的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对角元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恰好是三个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本征值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，相似变换矩阵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恰好是三个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本征向量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的拼接！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69" y="1304746"/>
                <a:ext cx="11772900" cy="5488618"/>
              </a:xfrm>
              <a:prstGeom prst="rect">
                <a:avLst/>
              </a:prstGeom>
              <a:blipFill rotWithShape="0">
                <a:blip r:embed="rId5"/>
                <a:stretch>
                  <a:fillRect l="-466" b="-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6231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8498400" cy="1077218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Relations between eigenvalue problem and matrix diagonalization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540383" y="1556238"/>
                <a:ext cx="103444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从前面的讨论可以看到，本征向量线性无关很重要，干脆在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中取一组基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，使它们满足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83" y="1556238"/>
                <a:ext cx="103444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530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499339" y="2022363"/>
                <a:ext cx="36663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339" y="2022363"/>
                <a:ext cx="3666393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540383" y="2519267"/>
                <a:ext cx="9561979" cy="1763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那么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</m:d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𝐀𝐏</m:t>
                    </m:r>
                  </m:oMath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𝚲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b="1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𝚲</m:t>
                    </m:r>
                  </m:oMath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那么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𝐀𝐏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𝚲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𝚲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𝐏</m:t>
                        </m:r>
                      </m:e>
                      <m:sup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</m:sSup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𝐀𝐏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是由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列向量坐标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拼成的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83" y="2519267"/>
                <a:ext cx="9561979" cy="1763688"/>
              </a:xfrm>
              <a:prstGeom prst="rect">
                <a:avLst/>
              </a:prstGeom>
              <a:blipFill rotWithShape="0">
                <a:blip r:embed="rId7"/>
                <a:stretch>
                  <a:fillRect l="-574" b="-17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圆角矩形 7"/>
          <p:cNvSpPr/>
          <p:nvPr/>
        </p:nvSpPr>
        <p:spPr>
          <a:xfrm>
            <a:off x="430823" y="4476542"/>
            <a:ext cx="8150469" cy="104502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499110" y="4476542"/>
                <a:ext cx="7923921" cy="961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即矩阵可对角化的充要条件是：能够找到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个线性无关的特征向量（或者说特征向量能构成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的一组基）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4476542"/>
                <a:ext cx="7923921" cy="961289"/>
              </a:xfrm>
              <a:prstGeom prst="rect">
                <a:avLst/>
              </a:prstGeom>
              <a:blipFill rotWithShape="0">
                <a:blip r:embed="rId8"/>
                <a:stretch>
                  <a:fillRect l="-846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337185" y="5715156"/>
            <a:ext cx="110048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实数域下求解本征多项式方程有可能找不到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个本征值，从而找不到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个线性无关本征向量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在复数域下一定可以通过因式分解得到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个本征值，但一定可以找到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个线性无关本征向量吗？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3188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8498400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Degeneracy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18147" y="777875"/>
                <a:ext cx="11215907" cy="5946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考虑矩阵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的对角化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𝐈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𝜆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𝜆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=3,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=3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，此时出现重根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时代入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𝐈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</m:d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𝐱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，解得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，写成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  <m:sub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=3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𝐈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</m:d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𝐱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，解得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+0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写成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  <m:sub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此时相似变换矩阵可以写成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 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，得到的对角阵为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可以发现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=3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的解由两个线性无关的向量线性组合给出，对角阵中也出现了两次，称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简并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" y="777875"/>
                <a:ext cx="11215907" cy="5946243"/>
              </a:xfrm>
              <a:prstGeom prst="rect">
                <a:avLst/>
              </a:prstGeom>
              <a:blipFill rotWithShape="0">
                <a:blip r:embed="rId5"/>
                <a:stretch>
                  <a:fillRect l="-489" b="-7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2551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8498400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Degeneracy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80755" y="1304746"/>
                <a:ext cx="11917460" cy="5321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可以预想，如果某个本征值是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本征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多项式的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重根，只要求出来解可以像上一个例子一样，被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个线性无关向量表出，矩阵依旧可以对角化，但不是任何时候都能找到合适的线性无关向量，比如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𝐈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𝜆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=2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，解方程有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𝐱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</m:oMath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此时本征值有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两个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，基础解系只有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一个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，无法实现对角化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幸运的是，我们在量子力学中处理的矩阵具有特殊性（幺正矩阵），上述情况不会发生，也就是说复数域下矩阵一定可以实现对角化，但简并的情况是存在的，在量子力学中甚至是一个非常棘手的问题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关于矩阵是否可以对角化的判定放在本节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complement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55" y="1304746"/>
                <a:ext cx="11917460" cy="5321841"/>
              </a:xfrm>
              <a:prstGeom prst="rect">
                <a:avLst/>
              </a:prstGeom>
              <a:blipFill rotWithShape="0">
                <a:blip r:embed="rId5"/>
                <a:stretch>
                  <a:fillRect l="-4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46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8498400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Characteristic subspace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8147" y="1040423"/>
            <a:ext cx="10755337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为研究本征值出现重根的解的性质，以及不同本征值的本征向量间的关系，下研究特征子空间和不变子空间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18147" y="1985169"/>
                <a:ext cx="11134945" cy="4709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某个本征值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，其本征向量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𝝃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𝝃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根据前面的讨论知道，求解本征值方程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𝐈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</m:d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𝐱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后可以得到一系列基础解系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（坐标）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从而可以得到一系列线性无关的向量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，满足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线性表出：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+⋯+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</m:oMath>
                </a14:m>
                <a:endParaRPr lang="en-US" altLang="zh-CN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如果定义一个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的子空间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+⋯+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𝐑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或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)}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那么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+⋯+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+⋯+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+⋯+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</m:oMath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∀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称线性空间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={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</m:d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}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本征值为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本征子空间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" y="1985169"/>
                <a:ext cx="11134945" cy="4709174"/>
              </a:xfrm>
              <a:prstGeom prst="rect">
                <a:avLst/>
              </a:prstGeom>
              <a:blipFill rotWithShape="0">
                <a:blip r:embed="rId5"/>
                <a:stretch>
                  <a:fillRect l="-602" b="-6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5207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8498400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Invariant subspace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337185" y="1290646"/>
            <a:ext cx="11368454" cy="150530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53939" y="1385230"/>
                <a:ext cx="11134945" cy="1339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如果定义一个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的子空间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+⋯+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𝐑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或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)}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那么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+⋯+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+⋯+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+⋯+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</m:oMath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∀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39" y="1385230"/>
                <a:ext cx="11134945" cy="1339021"/>
              </a:xfrm>
              <a:prstGeom prst="rect">
                <a:avLst/>
              </a:prstGeom>
              <a:blipFill rotWithShape="0">
                <a:blip r:embed="rId5"/>
                <a:stretch>
                  <a:fillRect l="-438" b="-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37185" y="2848009"/>
                <a:ext cx="101902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特征子空间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的一个显著特点：对于线性变换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，原本在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内的向量经变换后还在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2848009"/>
                <a:ext cx="10190286" cy="400110"/>
              </a:xfrm>
              <a:prstGeom prst="rect">
                <a:avLst/>
              </a:prstGeom>
              <a:blipFill rotWithShape="0">
                <a:blip r:embed="rId6"/>
                <a:stretch>
                  <a:fillRect l="-478" t="-1515" b="-21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圆角矩形 11"/>
          <p:cNvSpPr/>
          <p:nvPr/>
        </p:nvSpPr>
        <p:spPr>
          <a:xfrm>
            <a:off x="337185" y="3248119"/>
            <a:ext cx="10190286" cy="5765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37185" y="3362418"/>
                <a:ext cx="11590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的一个子空间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，如果对于线性变换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，满足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∀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 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</m:d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上一个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不变子空间</a:t>
                </a:r>
                <a:endPara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3362418"/>
                <a:ext cx="11590606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21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37185" y="3843909"/>
                <a:ext cx="11075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取不变子空间后，线性变换的结构将得到简化，如果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是不变子空间里的一组基</a:t>
                </a:r>
                <a:endParaRPr lang="en-US" altLang="zh-CN" b="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3843909"/>
                <a:ext cx="1107523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40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4623" y="4164186"/>
                <a:ext cx="6635115" cy="2693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11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21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+0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</m:t>
                          </m:r>
                          <m: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+⋯+0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</m:oMath>
                  </m:oMathPara>
                </a14:m>
                <a:endParaRPr lang="en-US" altLang="zh-CN" sz="1600" dirty="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12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22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+0</m:t>
                      </m:r>
                      <m:sSub>
                        <m:sSubPr>
                          <m:ctrlP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</m:t>
                          </m:r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+⋯+0</m:t>
                      </m:r>
                      <m:sSub>
                        <m:sSubPr>
                          <m:ctrlP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altLang="zh-CN" sz="16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s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𝑠𝑠</m:t>
                          </m:r>
                        </m:sub>
                      </m:sSub>
                      <m:r>
                        <a:rPr lang="en-US" altLang="zh-CN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+0</m:t>
                      </m:r>
                      <m:sSub>
                        <m:sSubPr>
                          <m:ctrlP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</m:t>
                          </m:r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+⋯+0</m:t>
                      </m:r>
                      <m:sSub>
                        <m:sSubPr>
                          <m:ctrlP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altLang="zh-CN" b="1" dirty="0" smtClean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s</m:t>
                              </m:r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𝑠𝑠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</m:t>
                          </m:r>
                          <m:r>
                            <a:rPr lang="en-US" altLang="zh-CN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+1,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altLang="zh-CN" sz="1600" dirty="0" smtClean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altLang="zh-CN" sz="16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</m:t>
                          </m:r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3" y="4164186"/>
                <a:ext cx="6635115" cy="2693814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6315533" y="4224764"/>
                <a:ext cx="5612258" cy="1956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𝑠𝑠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+1,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+1,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,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533" y="4224764"/>
                <a:ext cx="5612258" cy="19566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6603023" y="6317064"/>
            <a:ext cx="2382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出现分块结构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896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8498400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Invariant subspace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97143" y="1089021"/>
                <a:ext cx="11075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+2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另一个</a:t>
                </a:r>
                <a:r>
                  <a:rPr lang="zh-CN" altLang="en-US" b="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不变子空间里的一组基</a:t>
                </a:r>
                <a:endParaRPr lang="en-US" altLang="zh-CN" b="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43" y="1089021"/>
                <a:ext cx="1107523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440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-250728" y="1768864"/>
                <a:ext cx="6635115" cy="23406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11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21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+0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</m:t>
                          </m:r>
                          <m: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+⋯+0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</m:oMath>
                  </m:oMathPara>
                </a14:m>
                <a:endParaRPr lang="en-US" altLang="zh-CN" sz="16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s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𝑠𝑠</m:t>
                          </m:r>
                        </m:sub>
                      </m:sSub>
                      <m:r>
                        <a:rPr lang="en-US" altLang="zh-CN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+0</m:t>
                      </m:r>
                      <m:sSub>
                        <m:sSubPr>
                          <m:ctrlP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</m:t>
                          </m:r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+⋯+0</m:t>
                      </m:r>
                      <m:sSub>
                        <m:sSubPr>
                          <m:ctrlP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altLang="zh-CN" b="1" dirty="0" smtClean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s</m:t>
                              </m:r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  <m:r>
                            <a:rPr lang="en-US" altLang="zh-CN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16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r>
                        <a:rPr lang="en-US" altLang="zh-CN" sz="16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</m:t>
                      </m:r>
                      <m:sSub>
                        <m:sSubPr>
                          <m:ctrlPr>
                            <a:rPr lang="en-US" altLang="zh-CN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</m:sub>
                      </m:sSub>
                      <m:r>
                        <a:rPr lang="en-US" altLang="zh-CN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</m:t>
                          </m:r>
                          <m:r>
                            <a:rPr lang="en-US" altLang="zh-CN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+1,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altLang="zh-CN" sz="1600" dirty="0" smtClean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altLang="zh-CN" sz="16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  <m:r>
                            <a:rPr lang="en-US" altLang="zh-CN" sz="16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+0</m:t>
                      </m:r>
                      <m:sSub>
                        <m:sSubPr>
                          <m:ctrlPr>
                            <a:rPr lang="en-US" altLang="zh-CN" sz="16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+⋯+0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</m:t>
                          </m:r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0728" y="1768864"/>
                <a:ext cx="6635115" cy="234064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5811716" y="1954637"/>
                <a:ext cx="6128874" cy="1549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6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6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6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6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6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16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6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+1,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+1,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6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6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6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6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,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𝑠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716" y="1954637"/>
                <a:ext cx="6128874" cy="154984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8417285" y="3496627"/>
            <a:ext cx="2382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矩阵对角分块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37185" y="4312387"/>
                <a:ext cx="10670784" cy="687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可以预见，如果线性空间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分别是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𝑟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个不变子空间的基：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,…,</m:t>
                      </m:r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 </m:t>
                      </m:r>
                      <m:sSubSup>
                        <m:sSub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,…,</m:t>
                      </m:r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 …          ,</m:t>
                      </m:r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,…</m:t>
                      </m:r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sub>
                          </m:sSub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4312387"/>
                <a:ext cx="10670784" cy="687048"/>
              </a:xfrm>
              <a:prstGeom prst="rect">
                <a:avLst/>
              </a:prstGeom>
              <a:blipFill rotWithShape="0">
                <a:blip r:embed="rId8"/>
                <a:stretch>
                  <a:fillRect l="-457" t="-44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右大括号 5"/>
          <p:cNvSpPr/>
          <p:nvPr/>
        </p:nvSpPr>
        <p:spPr>
          <a:xfrm rot="5400000">
            <a:off x="3767028" y="4604258"/>
            <a:ext cx="257392" cy="1047748"/>
          </a:xfrm>
          <a:prstGeom prst="rightBrace">
            <a:avLst>
              <a:gd name="adj1" fmla="val 8333"/>
              <a:gd name="adj2" fmla="val 4816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右大括号 16"/>
          <p:cNvSpPr/>
          <p:nvPr/>
        </p:nvSpPr>
        <p:spPr>
          <a:xfrm rot="5400000">
            <a:off x="7508797" y="4748687"/>
            <a:ext cx="223870" cy="725366"/>
          </a:xfrm>
          <a:prstGeom prst="rightBrace">
            <a:avLst>
              <a:gd name="adj1" fmla="val 8333"/>
              <a:gd name="adj2" fmla="val 4816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右大括号 17"/>
          <p:cNvSpPr/>
          <p:nvPr/>
        </p:nvSpPr>
        <p:spPr>
          <a:xfrm rot="5400000">
            <a:off x="5296232" y="4723760"/>
            <a:ext cx="245928" cy="820203"/>
          </a:xfrm>
          <a:prstGeom prst="rightBrace">
            <a:avLst>
              <a:gd name="adj1" fmla="val 8333"/>
              <a:gd name="adj2" fmla="val 4816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3448050" y="5353050"/>
                <a:ext cx="10572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050" y="5353050"/>
                <a:ext cx="1057275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4890558" y="5353050"/>
                <a:ext cx="10572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558" y="5353050"/>
                <a:ext cx="1057275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7092094" y="5353050"/>
                <a:ext cx="10572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094" y="5353050"/>
                <a:ext cx="1057275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350856" y="5807337"/>
            <a:ext cx="4658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线性变换的矩阵表示变成分块对角阵：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7378944" y="5512509"/>
                <a:ext cx="3629025" cy="1149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𝐀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𝐀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𝐀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944" y="5512509"/>
                <a:ext cx="3629025" cy="114961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700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8498400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Characteristic subspace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18147" y="1442244"/>
                <a:ext cx="11134945" cy="961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本征子空间是特殊的不变子空间，如果将所有本征子空间的基拼成线性空间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的一组基，那么矩阵就可以实现分块对角化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" y="1442244"/>
                <a:ext cx="11134945" cy="961289"/>
              </a:xfrm>
              <a:prstGeom prst="rect">
                <a:avLst/>
              </a:prstGeom>
              <a:blipFill rotWithShape="0">
                <a:blip r:embed="rId5"/>
                <a:stretch>
                  <a:fillRect l="-602" b="-10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337185" y="2772628"/>
            <a:ext cx="9232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定理：属于不同本征子空间的基线性无关（不同本征值之间的本征向量线性无关）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37185" y="3800474"/>
            <a:ext cx="10616565" cy="12192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18147" y="3982152"/>
            <a:ext cx="10300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只要每个本征子空间里基的个数（本征子空间维数）和对应本征值个数一样，矩阵就可以按本征子空间进行分块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8146" y="5286375"/>
            <a:ext cx="10116503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尽管选取本征子空间作为不变子空间，矩阵是严格对角化的，但在量子力学中会处理一些与简并有关的特殊矩阵元，此时考虑整个分块是更简便的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882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8498400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Characteristic subspace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7185" y="1047774"/>
            <a:ext cx="9232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定理：属于不同本征子空间的基线性无关（不同本征值之间的本征向量线性无关）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15" y="1579739"/>
            <a:ext cx="7623888" cy="252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15" y="4231594"/>
            <a:ext cx="6421739" cy="2520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151688" y="4533900"/>
            <a:ext cx="504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用数学归纳法可以推广到多个不同本征值的情况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519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8498400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Block diagonalization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99110" y="1181100"/>
            <a:ext cx="9187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最后讨论一种特殊的对角化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分块矩阵的对角化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99109" y="1889216"/>
                <a:ext cx="5749291" cy="4485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例如：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41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44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策略一：对整个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4×4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矩阵求本征值方程后做对角化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策略二：分块对角化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把这个线性变换展开有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CN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23</m:t>
                          </m:r>
                        </m:sub>
                      </m:sSub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+0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+0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41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+0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+0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44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09" y="1889216"/>
                <a:ext cx="5749291" cy="4485010"/>
              </a:xfrm>
              <a:prstGeom prst="rect">
                <a:avLst/>
              </a:prstGeom>
              <a:blipFill rotWithShape="0">
                <a:blip r:embed="rId5"/>
                <a:stretch>
                  <a:fillRect l="-9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6248400" y="1660634"/>
                <a:ext cx="470535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实际上，把四组变换交换一下顺序就变成了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923799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923799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923799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923799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923799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923799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923799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14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+0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+0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41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923799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923799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44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+0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+0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b="1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+0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22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+0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32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1660634"/>
                <a:ext cx="4705350" cy="2031325"/>
              </a:xfrm>
              <a:prstGeom prst="rect">
                <a:avLst/>
              </a:prstGeom>
              <a:blipFill rotWithShape="0">
                <a:blip r:embed="rId6"/>
                <a:stretch>
                  <a:fillRect l="-1036" t="-14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5519738" y="3999965"/>
                <a:ext cx="6067425" cy="2220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重新整合后有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923799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92379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92379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923799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92379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92379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923799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92379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92379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923799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92379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92379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44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矩阵被重新分成两个分块对角矩阵，对每个块可以分别做对角化，变成求解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矩阵的本征值方程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738" y="3999965"/>
                <a:ext cx="6067425" cy="2220095"/>
              </a:xfrm>
              <a:prstGeom prst="rect">
                <a:avLst/>
              </a:prstGeom>
              <a:blipFill rotWithShape="0">
                <a:blip r:embed="rId7"/>
                <a:stretch>
                  <a:fillRect l="-803" t="-1374"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198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Reference and exercise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68517" y="777875"/>
            <a:ext cx="11376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丘维声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高等代数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第二版，上、下册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北京：清华大学出版社，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2018.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丘维声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高等代数学习指导书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第二版，上、下册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北京：清华大学出版社，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2018</a:t>
            </a: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204789" y="1578863"/>
                <a:ext cx="11571290" cy="5279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练习：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 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对于矩阵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buAutoNum type="arabicParenBoth"/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直接求解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5</m:t>
                        </m:r>
                      </m:sup>
                    </m:sSup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buAutoNum type="arabicParenBoth"/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做对角化，求出对角阵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𝚲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和相似变换矩阵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buAutoNum type="arabicParenBoth"/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利用对角矩阵的性质求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b="1" i="0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sup>
                    </m:sSup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考虑一个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4×4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arenBoth"/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直接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对角化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𝚲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arenBoth"/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尝试分块对角化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，并求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𝚲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</m:oMath>
                </a14:m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考虑线性空间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上一组基，是由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𝑟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一般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不变子空间的基拼接组成，对于一个一般的矩阵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，能否找到相似矩阵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，使矩阵分块对角化（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结论放在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complement</a:t>
                </a:r>
                <a:r>
                  <a:rPr lang="zh-CN" altLang="en-US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部分</a:t>
                </a:r>
                <a:r>
                  <a:rPr lang="en-US" altLang="zh-CN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89" y="1578863"/>
                <a:ext cx="11571290" cy="5279137"/>
              </a:xfrm>
              <a:prstGeom prst="rect">
                <a:avLst/>
              </a:prstGeom>
              <a:blipFill rotWithShape="0">
                <a:blip r:embed="rId5"/>
                <a:stretch>
                  <a:fillRect l="-580" r="-24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030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Complement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05608" y="1011115"/>
                <a:ext cx="890660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在前面已经讨论过，线性空间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的基可以由它的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个不变子空间的基拼接而成，现在用子空间直和的语言重新描述子空间与线性空间基的关系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608" y="1011115"/>
                <a:ext cx="8906607" cy="1015663"/>
              </a:xfrm>
              <a:prstGeom prst="rect">
                <a:avLst/>
              </a:prstGeom>
              <a:blipFill rotWithShape="0">
                <a:blip r:embed="rId5"/>
                <a:stretch>
                  <a:fillRect l="-753" r="-205" b="-48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圆角矩形 6"/>
          <p:cNvSpPr/>
          <p:nvPr/>
        </p:nvSpPr>
        <p:spPr>
          <a:xfrm>
            <a:off x="905608" y="2303585"/>
            <a:ext cx="8387861" cy="167933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914400" y="2400299"/>
                <a:ext cx="8968154" cy="3618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子空间的和：设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是线性空间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个子空间，记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≔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V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V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V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≔{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|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∈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V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=1,2,…,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𝑟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}</m:t>
                      </m:r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b="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endParaRPr lang="en-US" altLang="zh-CN" b="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易验证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+⋯+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还是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的子空间：取</a:t>
                </a:r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 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    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∈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V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=1,2,…,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𝑟</m:t>
                      </m:r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∈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V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V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V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𝑘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𝑘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𝑘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𝑘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∈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V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V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V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400299"/>
                <a:ext cx="8968154" cy="3618555"/>
              </a:xfrm>
              <a:prstGeom prst="rect">
                <a:avLst/>
              </a:prstGeom>
              <a:blipFill rotWithShape="0">
                <a:blip r:embed="rId6"/>
                <a:stretch>
                  <a:fillRect l="-5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011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Complement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975948" y="1093731"/>
                <a:ext cx="8968154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为例，若取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中一组基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中一组基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⋯+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𝜸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⋯+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𝜸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𝒍</m:t>
                          </m:r>
                        </m:sub>
                      </m:sSub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中一个向量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可以表示成</a:t>
                </a:r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𝜸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𝜸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𝒍</m:t>
                          </m:r>
                        </m:sub>
                      </m:sSub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倘若换一组向量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⋯+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𝜸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⋯+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𝜸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𝒍</m:t>
                          </m:r>
                        </m:sub>
                      </m:sSub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</m:oMath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那么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可以分别由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</a:t>
                </a:r>
                <a:r>
                  <a:rPr lang="zh-CN" altLang="en-US" b="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不同的向量表示</a:t>
                </a:r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，性质不够好</a:t>
                </a:r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根源出在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中出现了</a:t>
                </a:r>
                <a:r>
                  <a:rPr lang="zh-CN" altLang="en-US" b="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相同的基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（或线性相关的基）</a:t>
                </a:r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可以合理猜测如果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中的基都线性无关，那么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的表出方式应该是唯一的</a:t>
                </a:r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948" y="1093731"/>
                <a:ext cx="8968154" cy="5078313"/>
              </a:xfrm>
              <a:prstGeom prst="rect">
                <a:avLst/>
              </a:prstGeom>
              <a:blipFill rotWithShape="0">
                <a:blip r:embed="rId5"/>
                <a:stretch>
                  <a:fillRect l="-5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524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Complement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814023" y="832373"/>
                <a:ext cx="9824052" cy="2169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下面定义一种条件更强的子空间：直和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是线性空间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子空间，若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中的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每个</a:t>
                </a:r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向量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</a:t>
                </a:r>
                <a:r>
                  <a:rPr lang="zh-CN" altLang="en-US" b="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唯一地表示</a:t>
                </a:r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        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∈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V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=1,2,…,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𝑟</m:t>
                      </m:r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+…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为直和，记为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⊕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⊕</m:t>
                    </m:r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⊕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sub>
                    </m:sSub>
                  </m:oMath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下面不加证明地给出定理：</a:t>
                </a:r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23" y="832373"/>
                <a:ext cx="9824052" cy="2169825"/>
              </a:xfrm>
              <a:prstGeom prst="rect">
                <a:avLst/>
              </a:prstGeom>
              <a:blipFill rotWithShape="0">
                <a:blip r:embed="rId5"/>
                <a:stretch>
                  <a:fillRect l="-559" b="-16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440" y="2886660"/>
            <a:ext cx="8237686" cy="19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20712" y="4796689"/>
                <a:ext cx="10706101" cy="18422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这一定理表明：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的基由它的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个不变子空间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下的基拼接而成，可以重新表述为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可以分解为其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个不变子空间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的直和（</a:t>
                </a:r>
                <a:r>
                  <a:rPr lang="en-US" altLang="zh-CN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  <m: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⊕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sz="16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⊕</m:t>
                    </m:r>
                    <m:r>
                      <a:rPr lang="en-US" altLang="zh-CN" sz="16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…</m:t>
                    </m:r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⊕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特别地，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可以分解为其所有不相等本征值的本征子空间的直和：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V</m:t>
                      </m:r>
                      <m:r>
                        <a:rPr lang="en-US" altLang="zh-CN" sz="2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V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⊕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V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⊕</m:t>
                      </m:r>
                      <m:r>
                        <a:rPr lang="en-US" altLang="zh-C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…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⊕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V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712" y="4796689"/>
                <a:ext cx="10706101" cy="1842236"/>
              </a:xfrm>
              <a:prstGeom prst="rect">
                <a:avLst/>
              </a:prstGeom>
              <a:blipFill rotWithShape="0">
                <a:blip r:embed="rId7"/>
                <a:stretch>
                  <a:fillRect l="-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331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Complement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8147" y="1037493"/>
            <a:ext cx="35345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下面讨论如何分块对角化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314104" y="1602002"/>
                <a:ext cx="11877896" cy="4043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在线性空间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中取一组基：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上一个线性变换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在这组基下的矩阵表示为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</m:oMath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中能找到另外一组基：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Sup>
                      <m:sSub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p>
                    </m:sSubSup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Sup>
                      <m:sSub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bSup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Sup>
                      <m:sSub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bSup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Sup>
                      <m:sSub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p>
                    </m:sSubSup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Sup>
                      <m:sSub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p>
                    </m:sSubSup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Sup>
                      <m:sSub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sup>
                    </m:sSubSup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Sup>
                      <m:sSub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</m:sub>
                        </m:sSub>
                      </m:sub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sup>
                    </m:sSubSup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Sup>
                      <m:sSub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中第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个不变子空间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的基，即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⊕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⊕</m:t>
                    </m:r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…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⊕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sub>
                    </m:sSub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那么对每个不变子空间的基满足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p>
                        </m:sSubSup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p>
                        </m:sSubSup>
                      </m:e>
                    </m:d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根据之前的讨论有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…,</m:t>
                        </m:r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</m:sup>
                        </m:sSubSup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𝑟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</m:sup>
                        </m:sSubSup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…,</m:t>
                        </m:r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</m:sup>
                        </m:sSubSup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𝑟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</m:sup>
                        </m:sSubSup>
                      </m:e>
                    </m:d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0" smtClean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下面的问题是讨论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Sup>
                      <m:sSub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基变换的矩阵结构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04" y="1602002"/>
                <a:ext cx="11877896" cy="4043928"/>
              </a:xfrm>
              <a:prstGeom prst="rect">
                <a:avLst/>
              </a:prstGeom>
              <a:blipFill rotWithShape="0">
                <a:blip r:embed="rId5"/>
                <a:stretch>
                  <a:fillRect l="-462" t="-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208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Complement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835782" y="1521069"/>
                <a:ext cx="9776533" cy="4673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下面的问题是讨论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Sup>
                      <m:sSub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基变换的矩阵结构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Sup>
                      <m:sSub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表出的矩阵为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𝐏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…,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  <m:sSubSup>
                        <m:sSub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𝐱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bSup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bSup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bSup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…,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  <m:sSubSup>
                        <m:sSub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𝐱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⋯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bSup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bSup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bSup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…,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  <m:sSubSup>
                        <m:sSub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𝐱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p>
                          </m:sSub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…,</m:t>
                          </m:r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p>
                              </m:sSub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 …,</m:t>
                              </m:r>
                              <m:sSubSup>
                                <m:sSubSup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𝐱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sup>
                          </m:sSub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𝑟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sup>
                          </m:sSubSup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sup>
                          </m:sSub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𝑟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sup>
                          </m:sSubSup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,…,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即变换矩阵</a:t>
                </a:r>
                <a14:m>
                  <m:oMath xmlns:m="http://schemas.openxmlformats.org/officeDocument/2006/math">
                    <m:r>
                      <a:rPr lang="en-US" altLang="zh-CN" b="1" i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𝑟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个变换矩阵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按行拼接而成：</a:t>
                </a:r>
                <a:r>
                  <a:rPr lang="en-US" altLang="zh-CN" b="1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82" y="1521069"/>
                <a:ext cx="9776533" cy="4673011"/>
              </a:xfrm>
              <a:prstGeom prst="rect">
                <a:avLst/>
              </a:prstGeom>
              <a:blipFill rotWithShape="0">
                <a:blip r:embed="rId5"/>
                <a:stretch>
                  <a:fillRect l="-499" b="-1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55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Complement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18147" y="873094"/>
                <a:ext cx="10594730" cy="4754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…,</m:t>
                          </m:r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sup>
                          </m:sSub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𝑟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sup>
                          </m:sSubSup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…,</m:t>
                          </m:r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sup>
                          </m:sSub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𝑟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sup>
                          </m:sSubSup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对照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后可发现各个分块满足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𝐏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p>
                    </m:sSubSup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𝐏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替换后分块对角阵变成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1" i="0" smtClean="0"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altLang="zh-CN" b="1" i="0" smtClean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1" i="0" smtClean="0"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 i="0" smtClean="0"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0" smtClean="0"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𝒓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p>
                    </m:sSup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𝒓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𝐏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p>
                    </m:sSup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𝐀𝐏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" y="873094"/>
                <a:ext cx="10594730" cy="4754187"/>
              </a:xfrm>
              <a:prstGeom prst="rect">
                <a:avLst/>
              </a:prstGeom>
              <a:blipFill rotWithShape="0">
                <a:blip r:embed="rId5"/>
                <a:stretch>
                  <a:fillRect l="-5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18147" y="5627281"/>
            <a:ext cx="10000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这样我们就找到了合适的分块对角阵和变换矩阵，整个矩阵做相似变换的同时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各个分块也做相似变换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32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7660</TotalTime>
  <Words>767</Words>
  <Application>Microsoft Office PowerPoint</Application>
  <PresentationFormat>宽屏</PresentationFormat>
  <Paragraphs>253</Paragraphs>
  <Slides>22</Slides>
  <Notes>22</Notes>
  <HiddenSlides>6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 Unicode MS</vt:lpstr>
      <vt:lpstr>等线</vt:lpstr>
      <vt:lpstr>宋体</vt:lpstr>
      <vt:lpstr>微软雅黑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388</cp:revision>
  <dcterms:created xsi:type="dcterms:W3CDTF">2026-04-13T12:58:51Z</dcterms:created>
  <dcterms:modified xsi:type="dcterms:W3CDTF">2026-06-11T13:34:52Z</dcterms:modified>
</cp:coreProperties>
</file>