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337" r:id="rId3"/>
    <p:sldId id="355" r:id="rId4"/>
    <p:sldId id="356" r:id="rId5"/>
    <p:sldId id="357" r:id="rId6"/>
    <p:sldId id="358" r:id="rId7"/>
    <p:sldId id="359" r:id="rId8"/>
    <p:sldId id="258" r:id="rId9"/>
    <p:sldId id="360" r:id="rId10"/>
    <p:sldId id="361" r:id="rId11"/>
    <p:sldId id="363" r:id="rId12"/>
    <p:sldId id="362" r:id="rId13"/>
    <p:sldId id="365" r:id="rId14"/>
    <p:sldId id="366" r:id="rId15"/>
    <p:sldId id="364" r:id="rId16"/>
    <p:sldId id="367" r:id="rId17"/>
    <p:sldId id="368" r:id="rId18"/>
    <p:sldId id="370" r:id="rId19"/>
    <p:sldId id="369" r:id="rId20"/>
    <p:sldId id="371" r:id="rId21"/>
    <p:sldId id="372" r:id="rId22"/>
    <p:sldId id="373"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37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2005" autoAdjust="0"/>
  </p:normalViewPr>
  <p:slideViewPr>
    <p:cSldViewPr snapToGrid="0">
      <p:cViewPr varScale="1">
        <p:scale>
          <a:sx n="80" d="100"/>
          <a:sy n="80" d="100"/>
        </p:scale>
        <p:origin x="58" y="2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6CD0B4-0D93-4925-9AE5-BE338DE0EB77}" type="datetimeFigureOut">
              <a:rPr lang="zh-CN" altLang="en-US" smtClean="0"/>
              <a:t>2026/6/27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91C58D-F6D9-4444-8C6C-9BE396A37525}" type="slidenum">
              <a:rPr lang="zh-CN" altLang="en-US" smtClean="0"/>
              <a:t>‹#›</a:t>
            </a:fld>
            <a:endParaRPr lang="zh-CN" altLang="en-US"/>
          </a:p>
        </p:txBody>
      </p:sp>
    </p:spTree>
    <p:extLst>
      <p:ext uri="{BB962C8B-B14F-4D97-AF65-F5344CB8AC3E}">
        <p14:creationId xmlns:p14="http://schemas.microsoft.com/office/powerpoint/2010/main" val="2989509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a:t>
            </a:fld>
            <a:endParaRPr lang="zh-CN" altLang="en-US"/>
          </a:p>
        </p:txBody>
      </p:sp>
    </p:spTree>
    <p:extLst>
      <p:ext uri="{BB962C8B-B14F-4D97-AF65-F5344CB8AC3E}">
        <p14:creationId xmlns:p14="http://schemas.microsoft.com/office/powerpoint/2010/main" val="766719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2</a:t>
            </a:fld>
            <a:endParaRPr lang="zh-CN" altLang="en-US"/>
          </a:p>
        </p:txBody>
      </p:sp>
    </p:spTree>
    <p:extLst>
      <p:ext uri="{BB962C8B-B14F-4D97-AF65-F5344CB8AC3E}">
        <p14:creationId xmlns:p14="http://schemas.microsoft.com/office/powerpoint/2010/main" val="2601102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3</a:t>
            </a:fld>
            <a:endParaRPr lang="zh-CN" altLang="en-US"/>
          </a:p>
        </p:txBody>
      </p:sp>
    </p:spTree>
    <p:extLst>
      <p:ext uri="{BB962C8B-B14F-4D97-AF65-F5344CB8AC3E}">
        <p14:creationId xmlns:p14="http://schemas.microsoft.com/office/powerpoint/2010/main" val="39968236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4</a:t>
            </a:fld>
            <a:endParaRPr lang="zh-CN" altLang="en-US"/>
          </a:p>
        </p:txBody>
      </p:sp>
    </p:spTree>
    <p:extLst>
      <p:ext uri="{BB962C8B-B14F-4D97-AF65-F5344CB8AC3E}">
        <p14:creationId xmlns:p14="http://schemas.microsoft.com/office/powerpoint/2010/main" val="5754417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5</a:t>
            </a:fld>
            <a:endParaRPr lang="zh-CN" altLang="en-US"/>
          </a:p>
        </p:txBody>
      </p:sp>
    </p:spTree>
    <p:extLst>
      <p:ext uri="{BB962C8B-B14F-4D97-AF65-F5344CB8AC3E}">
        <p14:creationId xmlns:p14="http://schemas.microsoft.com/office/powerpoint/2010/main" val="10420383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6</a:t>
            </a:fld>
            <a:endParaRPr lang="zh-CN" altLang="en-US"/>
          </a:p>
        </p:txBody>
      </p:sp>
    </p:spTree>
    <p:extLst>
      <p:ext uri="{BB962C8B-B14F-4D97-AF65-F5344CB8AC3E}">
        <p14:creationId xmlns:p14="http://schemas.microsoft.com/office/powerpoint/2010/main" val="747180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7</a:t>
            </a:fld>
            <a:endParaRPr lang="zh-CN" altLang="en-US"/>
          </a:p>
        </p:txBody>
      </p:sp>
    </p:spTree>
    <p:extLst>
      <p:ext uri="{BB962C8B-B14F-4D97-AF65-F5344CB8AC3E}">
        <p14:creationId xmlns:p14="http://schemas.microsoft.com/office/powerpoint/2010/main" val="16594075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8</a:t>
            </a:fld>
            <a:endParaRPr lang="zh-CN" altLang="en-US"/>
          </a:p>
        </p:txBody>
      </p:sp>
    </p:spTree>
    <p:extLst>
      <p:ext uri="{BB962C8B-B14F-4D97-AF65-F5344CB8AC3E}">
        <p14:creationId xmlns:p14="http://schemas.microsoft.com/office/powerpoint/2010/main" val="4893199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9</a:t>
            </a:fld>
            <a:endParaRPr lang="zh-CN" altLang="en-US"/>
          </a:p>
        </p:txBody>
      </p:sp>
    </p:spTree>
    <p:extLst>
      <p:ext uri="{BB962C8B-B14F-4D97-AF65-F5344CB8AC3E}">
        <p14:creationId xmlns:p14="http://schemas.microsoft.com/office/powerpoint/2010/main" val="3162108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10</a:t>
            </a:fld>
            <a:endParaRPr lang="zh-CN" altLang="en-US"/>
          </a:p>
        </p:txBody>
      </p:sp>
    </p:spTree>
    <p:extLst>
      <p:ext uri="{BB962C8B-B14F-4D97-AF65-F5344CB8AC3E}">
        <p14:creationId xmlns:p14="http://schemas.microsoft.com/office/powerpoint/2010/main" val="42046579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11</a:t>
            </a:fld>
            <a:endParaRPr lang="zh-CN" altLang="en-US"/>
          </a:p>
        </p:txBody>
      </p:sp>
    </p:spTree>
    <p:extLst>
      <p:ext uri="{BB962C8B-B14F-4D97-AF65-F5344CB8AC3E}">
        <p14:creationId xmlns:p14="http://schemas.microsoft.com/office/powerpoint/2010/main" val="5555289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12</a:t>
            </a:fld>
            <a:endParaRPr lang="zh-CN" altLang="en-US"/>
          </a:p>
        </p:txBody>
      </p:sp>
    </p:spTree>
    <p:extLst>
      <p:ext uri="{BB962C8B-B14F-4D97-AF65-F5344CB8AC3E}">
        <p14:creationId xmlns:p14="http://schemas.microsoft.com/office/powerpoint/2010/main" val="2076754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13</a:t>
            </a:fld>
            <a:endParaRPr lang="zh-CN" altLang="en-US"/>
          </a:p>
        </p:txBody>
      </p:sp>
    </p:spTree>
    <p:extLst>
      <p:ext uri="{BB962C8B-B14F-4D97-AF65-F5344CB8AC3E}">
        <p14:creationId xmlns:p14="http://schemas.microsoft.com/office/powerpoint/2010/main" val="30577960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14</a:t>
            </a:fld>
            <a:endParaRPr lang="zh-CN" altLang="en-US"/>
          </a:p>
        </p:txBody>
      </p:sp>
    </p:spTree>
    <p:extLst>
      <p:ext uri="{BB962C8B-B14F-4D97-AF65-F5344CB8AC3E}">
        <p14:creationId xmlns:p14="http://schemas.microsoft.com/office/powerpoint/2010/main" val="19668199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15</a:t>
            </a:fld>
            <a:endParaRPr lang="zh-CN" altLang="en-US"/>
          </a:p>
        </p:txBody>
      </p:sp>
    </p:spTree>
    <p:extLst>
      <p:ext uri="{BB962C8B-B14F-4D97-AF65-F5344CB8AC3E}">
        <p14:creationId xmlns:p14="http://schemas.microsoft.com/office/powerpoint/2010/main" val="15339047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16</a:t>
            </a:fld>
            <a:endParaRPr lang="zh-CN" altLang="en-US"/>
          </a:p>
        </p:txBody>
      </p:sp>
    </p:spTree>
    <p:extLst>
      <p:ext uri="{BB962C8B-B14F-4D97-AF65-F5344CB8AC3E}">
        <p14:creationId xmlns:p14="http://schemas.microsoft.com/office/powerpoint/2010/main" val="38469780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17</a:t>
            </a:fld>
            <a:endParaRPr lang="zh-CN" altLang="en-US"/>
          </a:p>
        </p:txBody>
      </p:sp>
    </p:spTree>
    <p:extLst>
      <p:ext uri="{BB962C8B-B14F-4D97-AF65-F5344CB8AC3E}">
        <p14:creationId xmlns:p14="http://schemas.microsoft.com/office/powerpoint/2010/main" val="6908895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18</a:t>
            </a:fld>
            <a:endParaRPr lang="zh-CN" altLang="en-US"/>
          </a:p>
        </p:txBody>
      </p:sp>
    </p:spTree>
    <p:extLst>
      <p:ext uri="{BB962C8B-B14F-4D97-AF65-F5344CB8AC3E}">
        <p14:creationId xmlns:p14="http://schemas.microsoft.com/office/powerpoint/2010/main" val="6597851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19</a:t>
            </a:fld>
            <a:endParaRPr lang="zh-CN" altLang="en-US"/>
          </a:p>
        </p:txBody>
      </p:sp>
    </p:spTree>
    <p:extLst>
      <p:ext uri="{BB962C8B-B14F-4D97-AF65-F5344CB8AC3E}">
        <p14:creationId xmlns:p14="http://schemas.microsoft.com/office/powerpoint/2010/main" val="329107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20</a:t>
            </a:fld>
            <a:endParaRPr lang="zh-CN" altLang="en-US"/>
          </a:p>
        </p:txBody>
      </p:sp>
    </p:spTree>
    <p:extLst>
      <p:ext uri="{BB962C8B-B14F-4D97-AF65-F5344CB8AC3E}">
        <p14:creationId xmlns:p14="http://schemas.microsoft.com/office/powerpoint/2010/main" val="2124279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21</a:t>
            </a:fld>
            <a:endParaRPr lang="zh-CN" altLang="en-US"/>
          </a:p>
        </p:txBody>
      </p:sp>
    </p:spTree>
    <p:extLst>
      <p:ext uri="{BB962C8B-B14F-4D97-AF65-F5344CB8AC3E}">
        <p14:creationId xmlns:p14="http://schemas.microsoft.com/office/powerpoint/2010/main" val="25605991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22</a:t>
            </a:fld>
            <a:endParaRPr lang="zh-CN" altLang="en-US"/>
          </a:p>
        </p:txBody>
      </p:sp>
    </p:spTree>
    <p:extLst>
      <p:ext uri="{BB962C8B-B14F-4D97-AF65-F5344CB8AC3E}">
        <p14:creationId xmlns:p14="http://schemas.microsoft.com/office/powerpoint/2010/main" val="41891075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9D04F24E-D5DB-4E44-B9C1-1C9F966D9DE0}" type="datetime1">
              <a:rPr lang="zh-CN" altLang="en-US" smtClean="0"/>
              <a:t>2026/6/27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3080427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AC644C8-A75A-4271-B806-197E7CBB3043}" type="datetime1">
              <a:rPr lang="zh-CN" altLang="en-US" smtClean="0"/>
              <a:t>2026/6/27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1637428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7E0EAEB6-6817-4662-A1D3-3BC44BA693B7}" type="datetime1">
              <a:rPr lang="zh-CN" altLang="en-US" smtClean="0"/>
              <a:t>2026/6/27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4259730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8712959-142D-4B7D-99C2-885C08D89CC3}" type="datetime1">
              <a:rPr lang="zh-CN" altLang="en-US" smtClean="0"/>
              <a:t>2026/6/27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4050982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B0402A6-6B27-4F12-88C3-26F3AADB1B4A}" type="datetime1">
              <a:rPr lang="zh-CN" altLang="en-US" smtClean="0"/>
              <a:t>2026/6/27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821445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A08A87C-D3D9-4098-8262-38F46DBFE130}" type="datetime1">
              <a:rPr lang="zh-CN" altLang="en-US" smtClean="0"/>
              <a:t>2026/6/27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1926015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AA405D1-58D2-499A-8919-5CFDC4F042E9}" type="datetime1">
              <a:rPr lang="zh-CN" altLang="en-US" smtClean="0"/>
              <a:t>2026/6/27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3247771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883647B-B16E-4175-BFE9-E10D077C5782}" type="datetime1">
              <a:rPr lang="zh-CN" altLang="en-US" smtClean="0"/>
              <a:t>2026/6/27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850631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06E63D96-C799-489A-9DE7-F5DBBF900548}" type="datetime1">
              <a:rPr lang="zh-CN" altLang="en-US" smtClean="0"/>
              <a:t>2026/6/27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826454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DC37679-E711-45F2-B537-122BD96A4634}" type="datetime1">
              <a:rPr lang="zh-CN" altLang="en-US" smtClean="0"/>
              <a:t>2026/6/27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2723931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260A1E-7A35-43E8-B9E2-C715633E112E}" type="datetime1">
              <a:rPr lang="zh-CN" altLang="en-US" smtClean="0"/>
              <a:t>2026/6/27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2331592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4EBADF-EE84-4603-B97B-F3FFE6AB9912}" type="datetime1">
              <a:rPr lang="zh-CN" altLang="en-US" smtClean="0"/>
              <a:t>2026/6/27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1674579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4.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5.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6.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7.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8.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9.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0.png"/><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1.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2.png"/><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3.png"/><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 xmlns:a16="http://schemas.microsoft.com/office/drawing/2014/main" id="{6035010B-2434-47C2-8100-5A5F5450EB77}"/>
              </a:ext>
            </a:extLst>
          </p:cNvPr>
          <p:cNvPicPr>
            <a:picLocks noChangeAspect="1"/>
          </p:cNvPicPr>
          <p:nvPr/>
        </p:nvPicPr>
        <p:blipFill>
          <a:blip r:embed="rId3"/>
          <a:stretch>
            <a:fillRect/>
          </a:stretch>
        </p:blipFill>
        <p:spPr>
          <a:xfrm>
            <a:off x="0" y="0"/>
            <a:ext cx="12192000" cy="6857999"/>
          </a:xfrm>
          <a:prstGeom prst="rect">
            <a:avLst/>
          </a:prstGeom>
        </p:spPr>
      </p:pic>
      <p:pic>
        <p:nvPicPr>
          <p:cNvPr id="2" name="图片 1">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287034" y="484388"/>
            <a:ext cx="1617921" cy="1617921"/>
          </a:xfrm>
          <a:prstGeom prst="rect">
            <a:avLst/>
          </a:prstGeom>
        </p:spPr>
      </p:pic>
      <p:sp>
        <p:nvSpPr>
          <p:cNvPr id="3" name="矩形 12"/>
          <p:cNvSpPr/>
          <p:nvPr/>
        </p:nvSpPr>
        <p:spPr>
          <a:xfrm>
            <a:off x="2889789" y="4196487"/>
            <a:ext cx="6412417" cy="81708"/>
          </a:xfrm>
          <a:prstGeom prst="rect">
            <a:avLst/>
          </a:prstGeom>
          <a:solidFill>
            <a:srgbClr val="002060"/>
          </a:solidFill>
          <a:ln w="9525">
            <a:noFill/>
          </a:ln>
        </p:spPr>
        <p:txBody>
          <a:bodyPr anchor="ctr"/>
          <a:lstStyle/>
          <a:p>
            <a:pPr algn="ctr" eaLnBrk="1" hangingPunct="1"/>
            <a:endParaRPr lang="zh-CN" altLang="en-US" sz="2400" dirty="0">
              <a:solidFill>
                <a:srgbClr val="0070C0"/>
              </a:solidFill>
              <a:latin typeface="等线" panose="02010600030101010101" pitchFamily="2" charset="-122"/>
              <a:ea typeface="等线" panose="02010600030101010101" pitchFamily="2" charset="-122"/>
            </a:endParaRPr>
          </a:p>
        </p:txBody>
      </p:sp>
      <p:sp>
        <p:nvSpPr>
          <p:cNvPr id="5" name="矩形 4"/>
          <p:cNvSpPr/>
          <p:nvPr/>
        </p:nvSpPr>
        <p:spPr>
          <a:xfrm>
            <a:off x="470405" y="2377744"/>
            <a:ext cx="11251177" cy="1692771"/>
          </a:xfrm>
          <a:prstGeom prst="rect">
            <a:avLst/>
          </a:prstGeom>
        </p:spPr>
        <p:txBody>
          <a:bodyPr wrap="square">
            <a:spAutoFit/>
          </a:bodyPr>
          <a:lstStyle/>
          <a:p>
            <a:pPr algn="ctr" fontAlgn="base">
              <a:spcBef>
                <a:spcPct val="0"/>
              </a:spcBef>
              <a:spcAft>
                <a:spcPct val="0"/>
              </a:spcAft>
            </a:pPr>
            <a:r>
              <a:rPr lang="en-US" altLang="zh-CN" sz="4400" b="1" dirty="0" smtClean="0">
                <a:latin typeface="Arial" panose="020B0604020202020204" pitchFamily="34" charset="0"/>
                <a:ea typeface="Arial Unicode MS" panose="020B0604020202020204" pitchFamily="34" charset="-122"/>
                <a:cs typeface="Arial" panose="020B0604020202020204" pitchFamily="34" charset="0"/>
              </a:rPr>
              <a:t>Introduction to Quantum Chemistry</a:t>
            </a:r>
          </a:p>
          <a:p>
            <a:pPr algn="ctr" fontAlgn="base">
              <a:lnSpc>
                <a:spcPct val="150000"/>
              </a:lnSpc>
              <a:spcBef>
                <a:spcPct val="0"/>
              </a:spcBef>
              <a:spcAft>
                <a:spcPct val="0"/>
              </a:spcAft>
            </a:pPr>
            <a:r>
              <a:rPr lang="en-US" altLang="zh-CN" sz="4000" b="1" dirty="0" smtClean="0">
                <a:latin typeface="Arial" panose="020B0604020202020204" pitchFamily="34" charset="0"/>
                <a:ea typeface="Arial Unicode MS" panose="020B0604020202020204" pitchFamily="34" charset="-122"/>
                <a:cs typeface="Arial" panose="020B0604020202020204" pitchFamily="34" charset="0"/>
              </a:rPr>
              <a:t>——Delta function &amp; Fourier transformation</a:t>
            </a:r>
            <a:endParaRPr lang="zh-CN" altLang="en-US" sz="4000" b="1" dirty="0">
              <a:latin typeface="Arial" panose="020B0604020202020204" pitchFamily="34" charset="0"/>
              <a:ea typeface="Arial Unicode MS" panose="020B0604020202020204" pitchFamily="34" charset="-122"/>
              <a:cs typeface="Arial" panose="020B0604020202020204" pitchFamily="34" charset="0"/>
            </a:endParaRPr>
          </a:p>
        </p:txBody>
      </p:sp>
      <p:sp>
        <p:nvSpPr>
          <p:cNvPr id="6" name="矩形 5"/>
          <p:cNvSpPr/>
          <p:nvPr/>
        </p:nvSpPr>
        <p:spPr>
          <a:xfrm>
            <a:off x="3654370" y="4553630"/>
            <a:ext cx="4883252" cy="1421928"/>
          </a:xfrm>
          <a:prstGeom prst="rect">
            <a:avLst/>
          </a:prstGeom>
        </p:spPr>
        <p:txBody>
          <a:bodyPr wrap="square">
            <a:spAutoFit/>
          </a:bodyPr>
          <a:lstStyle/>
          <a:p>
            <a:pPr algn="ctr">
              <a:lnSpc>
                <a:spcPct val="120000"/>
              </a:lnSpc>
            </a:pPr>
            <a:r>
              <a:rPr lang="zh-CN" altLang="en-US" sz="2400" dirty="0" smtClean="0">
                <a:latin typeface="微软雅黑" panose="020B0503020204020204" pitchFamily="34" charset="-122"/>
                <a:ea typeface="微软雅黑" panose="020B0503020204020204" pitchFamily="34" charset="-122"/>
                <a:sym typeface="微软雅黑" panose="020B0503020204020204" charset="-122"/>
              </a:rPr>
              <a:t>张冀鹏</a:t>
            </a:r>
            <a:endParaRPr lang="en-US" altLang="zh-CN" sz="2400" dirty="0" smtClean="0">
              <a:latin typeface="微软雅黑" panose="020B0503020204020204" pitchFamily="34" charset="-122"/>
              <a:ea typeface="微软雅黑" panose="020B0503020204020204" pitchFamily="34" charset="-122"/>
              <a:sym typeface="微软雅黑" panose="020B0503020204020204" charset="-122"/>
            </a:endParaRPr>
          </a:p>
          <a:p>
            <a:pPr algn="ctr">
              <a:lnSpc>
                <a:spcPct val="120000"/>
              </a:lnSpc>
            </a:pPr>
            <a:r>
              <a:rPr lang="zh-CN" altLang="en-US" sz="2400" dirty="0" smtClean="0">
                <a:latin typeface="微软雅黑" panose="020B0503020204020204" pitchFamily="34" charset="-122"/>
                <a:ea typeface="微软雅黑" panose="020B0503020204020204" pitchFamily="34" charset="-122"/>
                <a:sym typeface="微软雅黑" panose="020B0503020204020204" charset="-122"/>
              </a:rPr>
              <a:t>北京师范大学化学学院</a:t>
            </a:r>
            <a:endParaRPr lang="en-US" altLang="zh-CN" sz="2400" dirty="0" smtClean="0">
              <a:latin typeface="微软雅黑" panose="020B0503020204020204" pitchFamily="34" charset="-122"/>
              <a:ea typeface="微软雅黑" panose="020B0503020204020204" pitchFamily="34" charset="-122"/>
              <a:sym typeface="微软雅黑" panose="020B0503020204020204" charset="-122"/>
            </a:endParaRPr>
          </a:p>
          <a:p>
            <a:pPr algn="ctr">
              <a:lnSpc>
                <a:spcPct val="120000"/>
              </a:lnSpc>
            </a:pPr>
            <a:r>
              <a:rPr lang="en-US" altLang="zh-CN" sz="2400" dirty="0" smtClean="0">
                <a:latin typeface="微软雅黑" panose="020B0503020204020204" pitchFamily="34" charset="-122"/>
                <a:ea typeface="微软雅黑" panose="020B0503020204020204" pitchFamily="34" charset="-122"/>
                <a:sym typeface="微软雅黑" panose="020B0503020204020204" charset="-122"/>
              </a:rPr>
              <a:t>2026. 7. 13</a:t>
            </a:r>
            <a:endParaRPr lang="zh-CN" altLang="en-US" sz="2400" dirty="0">
              <a:latin typeface="微软雅黑" panose="020B0503020204020204" pitchFamily="34" charset="-122"/>
              <a:ea typeface="微软雅黑" panose="020B0503020204020204" pitchFamily="34" charset="-122"/>
              <a:sym typeface="微软雅黑" panose="020B0503020204020204" charset="-122"/>
            </a:endParaRPr>
          </a:p>
        </p:txBody>
      </p:sp>
    </p:spTree>
    <p:extLst>
      <p:ext uri="{BB962C8B-B14F-4D97-AF65-F5344CB8AC3E}">
        <p14:creationId xmlns:p14="http://schemas.microsoft.com/office/powerpoint/2010/main" val="3978655946"/>
      </p:ext>
    </p:extLst>
  </p:cSld>
  <p:clrMapOvr>
    <a:masterClrMapping/>
  </p:clrMapOvr>
  <mc:AlternateContent xmlns:mc="http://schemas.openxmlformats.org/markup-compatibility/2006" xmlns:p14="http://schemas.microsoft.com/office/powerpoint/2010/main">
    <mc:Choice Requires="p14">
      <p:transition spd="slow" p14:dur="2000" advTm="8855"/>
    </mc:Choice>
    <mc:Fallback xmlns="">
      <p:transition spd="slow" advTm="8855"/>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Review</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a16="http://schemas.microsoft.com/office/drawing/2014/main" xmlns=""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499109" y="1054934"/>
                <a:ext cx="11133114" cy="3404715"/>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在有限维线性空间的内积中，提到了正交归一基的概念：</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ea typeface="微软雅黑" panose="020B0503020204020204" pitchFamily="34" charset="-122"/>
                            </a:rPr>
                          </m:ctrlPr>
                        </m:sSubPr>
                        <m:e>
                          <m:r>
                            <a:rPr lang="en-US" altLang="zh-CN" sz="2000" b="1" i="1" smtClean="0">
                              <a:latin typeface="Cambria Math" panose="02040503050406030204" pitchFamily="18" charset="0"/>
                              <a:ea typeface="微软雅黑" panose="020B0503020204020204" pitchFamily="34" charset="-122"/>
                            </a:rPr>
                            <m:t>𝜺</m:t>
                          </m:r>
                        </m:e>
                        <m:sub>
                          <m:r>
                            <a:rPr lang="en-US" altLang="zh-CN" sz="2000" b="1" i="1" smtClean="0">
                              <a:latin typeface="Cambria Math" panose="02040503050406030204" pitchFamily="18" charset="0"/>
                              <a:ea typeface="微软雅黑" panose="020B0503020204020204" pitchFamily="34" charset="-122"/>
                            </a:rPr>
                            <m:t>𝒊</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1" i="1" smtClean="0">
                              <a:latin typeface="Cambria Math" panose="02040503050406030204" pitchFamily="18" charset="0"/>
                              <a:ea typeface="微软雅黑" panose="020B0503020204020204" pitchFamily="34" charset="-122"/>
                            </a:rPr>
                          </m:ctrlPr>
                        </m:sSubPr>
                        <m:e>
                          <m:r>
                            <a:rPr lang="en-US" altLang="zh-CN" sz="2000" b="1" i="1" smtClean="0">
                              <a:latin typeface="Cambria Math" panose="02040503050406030204" pitchFamily="18" charset="0"/>
                              <a:ea typeface="微软雅黑" panose="020B0503020204020204" pitchFamily="34" charset="-122"/>
                            </a:rPr>
                            <m:t>𝜺</m:t>
                          </m:r>
                        </m:e>
                        <m:sub>
                          <m:r>
                            <a:rPr lang="en-US" altLang="zh-CN" sz="2000" b="1" i="1" smtClean="0">
                              <a:latin typeface="Cambria Math" panose="02040503050406030204" pitchFamily="18" charset="0"/>
                              <a:ea typeface="微软雅黑" panose="020B0503020204020204" pitchFamily="34" charset="-122"/>
                            </a:rPr>
                            <m:t>𝒋</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𝛿</m:t>
                          </m:r>
                        </m:e>
                        <m:sub>
                          <m:r>
                            <a:rPr lang="en-US" altLang="zh-CN" sz="2000" b="0" i="1" smtClean="0">
                              <a:latin typeface="Cambria Math" panose="02040503050406030204" pitchFamily="18" charset="0"/>
                              <a:ea typeface="微软雅黑" panose="020B0503020204020204" pitchFamily="34" charset="-122"/>
                            </a:rPr>
                            <m:t>𝑖𝑗</m:t>
                          </m:r>
                        </m:sub>
                      </m:sSub>
                    </m:oMath>
                  </m:oMathPara>
                </a14:m>
                <a:endParaRPr lang="en-US" altLang="zh-CN" sz="2000"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𝛿</m:t>
                        </m:r>
                      </m:e>
                      <m:sub>
                        <m:r>
                          <a:rPr lang="en-US" altLang="zh-CN" sz="2000" i="1">
                            <a:latin typeface="Cambria Math" panose="02040503050406030204" pitchFamily="18" charset="0"/>
                            <a:ea typeface="微软雅黑" panose="020B0503020204020204" pitchFamily="34" charset="-122"/>
                          </a:rPr>
                          <m:t>𝑖𝑗</m:t>
                        </m:r>
                      </m:sub>
                    </m:sSub>
                  </m:oMath>
                </a14:m>
                <a:r>
                  <a:rPr lang="zh-CN" altLang="en-US" sz="2000" dirty="0" smtClean="0">
                    <a:latin typeface="微软雅黑" panose="020B0503020204020204" pitchFamily="34" charset="-122"/>
                    <a:ea typeface="微软雅黑" panose="020B0503020204020204" pitchFamily="34" charset="-122"/>
                  </a:rPr>
                  <a:t>最显著的特点为，只有</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𝑖</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𝑗</m:t>
                    </m:r>
                  </m:oMath>
                </a14:m>
                <a:r>
                  <a:rPr lang="zh-CN" altLang="en-US" sz="2000" dirty="0" smtClean="0">
                    <a:latin typeface="微软雅黑" panose="020B0503020204020204" pitchFamily="34" charset="-122"/>
                    <a:ea typeface="微软雅黑" panose="020B0503020204020204" pitchFamily="34" charset="-122"/>
                  </a:rPr>
                  <a:t>时，才有</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𝛿</m:t>
                        </m:r>
                      </m:e>
                      <m:sub>
                        <m:r>
                          <a:rPr lang="en-US" altLang="zh-CN" sz="2000" i="1">
                            <a:latin typeface="Cambria Math" panose="02040503050406030204" pitchFamily="18" charset="0"/>
                            <a:ea typeface="微软雅黑" panose="020B0503020204020204" pitchFamily="34" charset="-122"/>
                          </a:rPr>
                          <m:t>𝑖</m:t>
                        </m:r>
                        <m:r>
                          <a:rPr lang="en-US" altLang="zh-CN" sz="2000" b="0" i="1" smtClean="0">
                            <a:latin typeface="Cambria Math" panose="02040503050406030204" pitchFamily="18" charset="0"/>
                            <a:ea typeface="微软雅黑" panose="020B0503020204020204" pitchFamily="34" charset="-122"/>
                          </a:rPr>
                          <m:t>𝑗</m:t>
                        </m:r>
                      </m:sub>
                    </m:sSub>
                    <m:r>
                      <a:rPr lang="en-US" altLang="zh-CN" sz="2000" b="0" i="1" smtClean="0">
                        <a:latin typeface="Cambria Math" panose="02040503050406030204" pitchFamily="18" charset="0"/>
                        <a:ea typeface="微软雅黑" panose="020B0503020204020204" pitchFamily="34" charset="-122"/>
                      </a:rPr>
                      <m:t>=1</m:t>
                    </m:r>
                  </m:oMath>
                </a14:m>
                <a:r>
                  <a:rPr lang="zh-CN" altLang="en-US" sz="2000" dirty="0" smtClean="0">
                    <a:latin typeface="微软雅黑" panose="020B0503020204020204" pitchFamily="34" charset="-122"/>
                    <a:ea typeface="微软雅黑" panose="020B0503020204020204" pitchFamily="34" charset="-122"/>
                  </a:rPr>
                  <a:t>，绝大多数情况均为</a:t>
                </a:r>
                <a:r>
                  <a:rPr lang="en-US" altLang="zh-CN" sz="2000" dirty="0" smtClean="0">
                    <a:latin typeface="微软雅黑" panose="020B0503020204020204" pitchFamily="34" charset="-122"/>
                    <a:ea typeface="微软雅黑" panose="020B0503020204020204" pitchFamily="34" charset="-122"/>
                  </a:rPr>
                  <a:t>0</a:t>
                </a:r>
              </a:p>
              <a:p>
                <a:pPr>
                  <a:lnSpc>
                    <a:spcPct val="150000"/>
                  </a:lnSpc>
                </a:pP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现在把所有正交归一基构成的线性空间看成一个真实的空间，里面不同的向量视为一个态</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现在在空间中只有一个态</a:t>
                </a:r>
                <a14:m>
                  <m:oMath xmlns:m="http://schemas.openxmlformats.org/officeDocument/2006/math">
                    <m:r>
                      <a:rPr lang="en-US" altLang="zh-CN" sz="2000" i="1">
                        <a:latin typeface="Cambria Math" panose="02040503050406030204" pitchFamily="18" charset="0"/>
                        <a:ea typeface="微软雅黑" panose="020B0503020204020204" pitchFamily="34" charset="-122"/>
                      </a:rPr>
                      <m:t>𝑗</m:t>
                    </m:r>
                  </m:oMath>
                </a14:m>
                <a:r>
                  <a:rPr lang="zh-CN" altLang="en-US" sz="2000" dirty="0" smtClean="0">
                    <a:latin typeface="微软雅黑" panose="020B0503020204020204" pitchFamily="34" charset="-122"/>
                    <a:ea typeface="微软雅黑" panose="020B0503020204020204" pitchFamily="34" charset="-122"/>
                  </a:rPr>
                  <a:t>，有一个信号源向全空间发射信号，那么空间里只有态</a:t>
                </a:r>
                <a14:m>
                  <m:oMath xmlns:m="http://schemas.openxmlformats.org/officeDocument/2006/math">
                    <m:r>
                      <a:rPr lang="en-US" altLang="zh-CN" sz="2000" i="1">
                        <a:latin typeface="Cambria Math" panose="02040503050406030204" pitchFamily="18" charset="0"/>
                        <a:ea typeface="微软雅黑" panose="020B0503020204020204" pitchFamily="34" charset="-122"/>
                      </a:rPr>
                      <m:t>𝑗</m:t>
                    </m:r>
                  </m:oMath>
                </a14:m>
                <a:r>
                  <a:rPr lang="zh-CN" altLang="en-US" sz="2000" dirty="0" smtClean="0">
                    <a:latin typeface="微软雅黑" panose="020B0503020204020204" pitchFamily="34" charset="-122"/>
                    <a:ea typeface="微软雅黑" panose="020B0503020204020204" pitchFamily="34" charset="-122"/>
                  </a:rPr>
                  <a:t>能接收到信号，图像表现为一串为</a:t>
                </a:r>
                <a:r>
                  <a:rPr lang="en-US" altLang="zh-CN" sz="2000" dirty="0" smtClean="0">
                    <a:latin typeface="微软雅黑" panose="020B0503020204020204" pitchFamily="34" charset="-122"/>
                    <a:ea typeface="微软雅黑" panose="020B0503020204020204" pitchFamily="34" charset="-122"/>
                  </a:rPr>
                  <a:t>0</a:t>
                </a:r>
                <a:r>
                  <a:rPr lang="zh-CN" altLang="en-US" sz="2000" dirty="0" smtClean="0">
                    <a:latin typeface="微软雅黑" panose="020B0503020204020204" pitchFamily="34" charset="-122"/>
                    <a:ea typeface="微软雅黑" panose="020B0503020204020204" pitchFamily="34" charset="-122"/>
                  </a:rPr>
                  <a:t>的离散点中夹杂一个为</a:t>
                </a:r>
                <a:r>
                  <a:rPr lang="en-US" altLang="zh-CN" sz="2000" dirty="0" smtClean="0">
                    <a:latin typeface="微软雅黑" panose="020B0503020204020204" pitchFamily="34" charset="-122"/>
                    <a:ea typeface="微软雅黑" panose="020B0503020204020204" pitchFamily="34" charset="-122"/>
                  </a:rPr>
                  <a:t>1</a:t>
                </a:r>
                <a:r>
                  <a:rPr lang="zh-CN" altLang="en-US" sz="2000" dirty="0" smtClean="0">
                    <a:latin typeface="微软雅黑" panose="020B0503020204020204" pitchFamily="34" charset="-122"/>
                    <a:ea typeface="微软雅黑" panose="020B0503020204020204" pitchFamily="34" charset="-122"/>
                  </a:rPr>
                  <a:t>的点</a:t>
                </a:r>
                <a:endParaRPr lang="en-US" altLang="zh-CN" sz="2000" dirty="0" smtClean="0">
                  <a:latin typeface="微软雅黑" panose="020B0503020204020204" pitchFamily="34" charset="-122"/>
                  <a:ea typeface="微软雅黑" panose="020B0503020204020204" pitchFamily="34"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499109" y="1054934"/>
                <a:ext cx="11133114" cy="3404715"/>
              </a:xfrm>
              <a:prstGeom prst="rect">
                <a:avLst/>
              </a:prstGeom>
              <a:blipFill rotWithShape="0">
                <a:blip r:embed="rId5"/>
                <a:stretch>
                  <a:fillRect l="-602" b="-537"/>
                </a:stretch>
              </a:blipFill>
            </p:spPr>
            <p:txBody>
              <a:bodyPr/>
              <a:lstStyle/>
              <a:p>
                <a:r>
                  <a:rPr lang="zh-CN" altLang="en-US">
                    <a:noFill/>
                  </a:rPr>
                  <a:t> </a:t>
                </a:r>
              </a:p>
            </p:txBody>
          </p:sp>
        </mc:Fallback>
      </mc:AlternateContent>
      <p:sp>
        <p:nvSpPr>
          <p:cNvPr id="3" name="椭圆 2"/>
          <p:cNvSpPr>
            <a:spLocks noChangeAspect="1"/>
          </p:cNvSpPr>
          <p:nvPr/>
        </p:nvSpPr>
        <p:spPr>
          <a:xfrm>
            <a:off x="2365131" y="5222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a:spLocks noChangeAspect="1"/>
          </p:cNvSpPr>
          <p:nvPr/>
        </p:nvSpPr>
        <p:spPr>
          <a:xfrm>
            <a:off x="2565156" y="5222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a:spLocks noChangeAspect="1"/>
          </p:cNvSpPr>
          <p:nvPr/>
        </p:nvSpPr>
        <p:spPr>
          <a:xfrm>
            <a:off x="2765181" y="5222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a:spLocks noChangeAspect="1"/>
          </p:cNvSpPr>
          <p:nvPr/>
        </p:nvSpPr>
        <p:spPr>
          <a:xfrm>
            <a:off x="2965206" y="5222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a:spLocks noChangeAspect="1"/>
          </p:cNvSpPr>
          <p:nvPr/>
        </p:nvSpPr>
        <p:spPr>
          <a:xfrm>
            <a:off x="3165231" y="5222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a:spLocks noChangeAspect="1"/>
          </p:cNvSpPr>
          <p:nvPr/>
        </p:nvSpPr>
        <p:spPr>
          <a:xfrm>
            <a:off x="3365256" y="5222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a:spLocks noChangeAspect="1"/>
          </p:cNvSpPr>
          <p:nvPr/>
        </p:nvSpPr>
        <p:spPr>
          <a:xfrm>
            <a:off x="3565281" y="5222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a:spLocks noChangeAspect="1"/>
          </p:cNvSpPr>
          <p:nvPr/>
        </p:nvSpPr>
        <p:spPr>
          <a:xfrm>
            <a:off x="3774537" y="4736073"/>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a:spLocks noChangeAspect="1"/>
          </p:cNvSpPr>
          <p:nvPr/>
        </p:nvSpPr>
        <p:spPr>
          <a:xfrm>
            <a:off x="3965331" y="5222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a:spLocks noChangeAspect="1"/>
          </p:cNvSpPr>
          <p:nvPr/>
        </p:nvSpPr>
        <p:spPr>
          <a:xfrm>
            <a:off x="4165356" y="5222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a:spLocks noChangeAspect="1"/>
          </p:cNvSpPr>
          <p:nvPr/>
        </p:nvSpPr>
        <p:spPr>
          <a:xfrm>
            <a:off x="4365381" y="5222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a:spLocks noChangeAspect="1"/>
          </p:cNvSpPr>
          <p:nvPr/>
        </p:nvSpPr>
        <p:spPr>
          <a:xfrm>
            <a:off x="4565406" y="5222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a:spLocks noChangeAspect="1"/>
          </p:cNvSpPr>
          <p:nvPr/>
        </p:nvSpPr>
        <p:spPr>
          <a:xfrm>
            <a:off x="4765431" y="5222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a:spLocks noChangeAspect="1"/>
          </p:cNvSpPr>
          <p:nvPr/>
        </p:nvSpPr>
        <p:spPr>
          <a:xfrm>
            <a:off x="4965456" y="5222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a:spLocks noChangeAspect="1"/>
          </p:cNvSpPr>
          <p:nvPr/>
        </p:nvSpPr>
        <p:spPr>
          <a:xfrm>
            <a:off x="5165481" y="5222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5"/>
          <p:cNvSpPr/>
          <p:nvPr/>
        </p:nvSpPr>
        <p:spPr>
          <a:xfrm>
            <a:off x="1707906" y="4991100"/>
            <a:ext cx="2457450" cy="1333500"/>
          </a:xfrm>
          <a:custGeom>
            <a:avLst/>
            <a:gdLst>
              <a:gd name="connsiteX0" fmla="*/ 0 w 2457450"/>
              <a:gd name="connsiteY0" fmla="*/ 1333500 h 1333500"/>
              <a:gd name="connsiteX1" fmla="*/ 933450 w 2457450"/>
              <a:gd name="connsiteY1" fmla="*/ 1190625 h 1333500"/>
              <a:gd name="connsiteX2" fmla="*/ 552450 w 2457450"/>
              <a:gd name="connsiteY2" fmla="*/ 762000 h 1333500"/>
              <a:gd name="connsiteX3" fmla="*/ 1276350 w 2457450"/>
              <a:gd name="connsiteY3" fmla="*/ 666750 h 1333500"/>
              <a:gd name="connsiteX4" fmla="*/ 1209675 w 2457450"/>
              <a:gd name="connsiteY4" fmla="*/ 390525 h 1333500"/>
              <a:gd name="connsiteX5" fmla="*/ 2019300 w 2457450"/>
              <a:gd name="connsiteY5" fmla="*/ 361950 h 1333500"/>
              <a:gd name="connsiteX6" fmla="*/ 2457450 w 2457450"/>
              <a:gd name="connsiteY6" fmla="*/ 0 h 133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7450" h="1333500">
                <a:moveTo>
                  <a:pt x="0" y="1333500"/>
                </a:moveTo>
                <a:cubicBezTo>
                  <a:pt x="420687" y="1309687"/>
                  <a:pt x="841375" y="1285875"/>
                  <a:pt x="933450" y="1190625"/>
                </a:cubicBezTo>
                <a:cubicBezTo>
                  <a:pt x="1025525" y="1095375"/>
                  <a:pt x="495300" y="849312"/>
                  <a:pt x="552450" y="762000"/>
                </a:cubicBezTo>
                <a:cubicBezTo>
                  <a:pt x="609600" y="674688"/>
                  <a:pt x="1166813" y="728662"/>
                  <a:pt x="1276350" y="666750"/>
                </a:cubicBezTo>
                <a:cubicBezTo>
                  <a:pt x="1385887" y="604838"/>
                  <a:pt x="1085850" y="441325"/>
                  <a:pt x="1209675" y="390525"/>
                </a:cubicBezTo>
                <a:cubicBezTo>
                  <a:pt x="1333500" y="339725"/>
                  <a:pt x="1811338" y="427037"/>
                  <a:pt x="2019300" y="361950"/>
                </a:cubicBezTo>
                <a:cubicBezTo>
                  <a:pt x="2227262" y="296863"/>
                  <a:pt x="2308225" y="74612"/>
                  <a:pt x="2457450" y="0"/>
                </a:cubicBez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右箭头 6"/>
          <p:cNvSpPr/>
          <p:nvPr/>
        </p:nvSpPr>
        <p:spPr>
          <a:xfrm>
            <a:off x="5686425" y="4736073"/>
            <a:ext cx="1085850" cy="5429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a:spLocks noChangeAspect="1"/>
          </p:cNvSpPr>
          <p:nvPr/>
        </p:nvSpPr>
        <p:spPr>
          <a:xfrm>
            <a:off x="7394550" y="5168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a:spLocks noChangeAspect="1"/>
          </p:cNvSpPr>
          <p:nvPr/>
        </p:nvSpPr>
        <p:spPr>
          <a:xfrm>
            <a:off x="7594575" y="5168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a:spLocks noChangeAspect="1"/>
          </p:cNvSpPr>
          <p:nvPr/>
        </p:nvSpPr>
        <p:spPr>
          <a:xfrm>
            <a:off x="7794600" y="5168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a:spLocks noChangeAspect="1"/>
          </p:cNvSpPr>
          <p:nvPr/>
        </p:nvSpPr>
        <p:spPr>
          <a:xfrm>
            <a:off x="7994625" y="5168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a:spLocks noChangeAspect="1"/>
          </p:cNvSpPr>
          <p:nvPr/>
        </p:nvSpPr>
        <p:spPr>
          <a:xfrm>
            <a:off x="8194650" y="5168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a:spLocks noChangeAspect="1"/>
          </p:cNvSpPr>
          <p:nvPr/>
        </p:nvSpPr>
        <p:spPr>
          <a:xfrm>
            <a:off x="8394675" y="5168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8594700" y="5168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a:spLocks noChangeAspect="1"/>
          </p:cNvSpPr>
          <p:nvPr/>
        </p:nvSpPr>
        <p:spPr>
          <a:xfrm>
            <a:off x="8803956" y="4682073"/>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a:spLocks noChangeAspect="1"/>
          </p:cNvSpPr>
          <p:nvPr/>
        </p:nvSpPr>
        <p:spPr>
          <a:xfrm>
            <a:off x="8994750" y="5168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a:spLocks noChangeAspect="1"/>
          </p:cNvSpPr>
          <p:nvPr/>
        </p:nvSpPr>
        <p:spPr>
          <a:xfrm>
            <a:off x="9194775" y="5168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a:spLocks noChangeAspect="1"/>
          </p:cNvSpPr>
          <p:nvPr/>
        </p:nvSpPr>
        <p:spPr>
          <a:xfrm>
            <a:off x="9394800" y="5168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a:spLocks noChangeAspect="1"/>
          </p:cNvSpPr>
          <p:nvPr/>
        </p:nvSpPr>
        <p:spPr>
          <a:xfrm>
            <a:off x="9594825" y="5168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a:spLocks noChangeAspect="1"/>
          </p:cNvSpPr>
          <p:nvPr/>
        </p:nvSpPr>
        <p:spPr>
          <a:xfrm>
            <a:off x="9794850" y="5168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a:spLocks noChangeAspect="1"/>
          </p:cNvSpPr>
          <p:nvPr/>
        </p:nvSpPr>
        <p:spPr>
          <a:xfrm>
            <a:off x="9994875" y="5168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a:spLocks noChangeAspect="1"/>
          </p:cNvSpPr>
          <p:nvPr/>
        </p:nvSpPr>
        <p:spPr>
          <a:xfrm>
            <a:off x="10194900" y="5168631"/>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箭头连接符 23"/>
          <p:cNvCxnSpPr/>
          <p:nvPr/>
        </p:nvCxnSpPr>
        <p:spPr>
          <a:xfrm>
            <a:off x="7064250" y="5224779"/>
            <a:ext cx="361478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flipV="1">
            <a:off x="8856000" y="4010025"/>
            <a:ext cx="0" cy="121260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a:off x="8552325" y="5181087"/>
            <a:ext cx="254025" cy="369332"/>
          </a:xfrm>
          <a:prstGeom prst="rect">
            <a:avLst/>
          </a:prstGeom>
          <a:noFill/>
        </p:spPr>
        <p:txBody>
          <a:bodyPr wrap="square" rtlCol="0">
            <a:spAutoFit/>
          </a:bodyPr>
          <a:lstStyle/>
          <a:p>
            <a:r>
              <a:rPr lang="en-US" altLang="zh-CN" dirty="0" smtClean="0"/>
              <a:t>0</a:t>
            </a:r>
            <a:endParaRPr lang="zh-CN" altLang="en-US" dirty="0"/>
          </a:p>
        </p:txBody>
      </p:sp>
      <p:sp>
        <p:nvSpPr>
          <p:cNvPr id="46" name="文本框 45"/>
          <p:cNvSpPr txBox="1"/>
          <p:nvPr/>
        </p:nvSpPr>
        <p:spPr>
          <a:xfrm>
            <a:off x="8474697" y="4567680"/>
            <a:ext cx="348006" cy="369332"/>
          </a:xfrm>
          <a:prstGeom prst="rect">
            <a:avLst/>
          </a:prstGeom>
          <a:noFill/>
        </p:spPr>
        <p:txBody>
          <a:bodyPr wrap="square" rtlCol="0">
            <a:spAutoFit/>
          </a:bodyPr>
          <a:lstStyle/>
          <a:p>
            <a:r>
              <a:rPr lang="en-US" altLang="zh-CN" dirty="0"/>
              <a:t>1</a:t>
            </a:r>
            <a:endParaRPr lang="zh-CN" altLang="en-US" dirty="0"/>
          </a:p>
        </p:txBody>
      </p:sp>
      <p:sp>
        <p:nvSpPr>
          <p:cNvPr id="47" name="文本框 46"/>
          <p:cNvSpPr txBox="1"/>
          <p:nvPr/>
        </p:nvSpPr>
        <p:spPr>
          <a:xfrm>
            <a:off x="8888346" y="4771225"/>
            <a:ext cx="412380" cy="369332"/>
          </a:xfrm>
          <a:prstGeom prst="rect">
            <a:avLst/>
          </a:prstGeom>
          <a:noFill/>
        </p:spPr>
        <p:txBody>
          <a:bodyPr wrap="square" rtlCol="0">
            <a:spAutoFit/>
          </a:bodyPr>
          <a:lstStyle/>
          <a:p>
            <a:r>
              <a:rPr lang="en-US" altLang="zh-CN" dirty="0" smtClean="0"/>
              <a:t>j</a:t>
            </a:r>
            <a:endParaRPr lang="zh-CN" altLang="en-US" dirty="0"/>
          </a:p>
        </p:txBody>
      </p:sp>
    </p:spTree>
    <p:extLst>
      <p:ext uri="{BB962C8B-B14F-4D97-AF65-F5344CB8AC3E}">
        <p14:creationId xmlns:p14="http://schemas.microsoft.com/office/powerpoint/2010/main" val="2980970506"/>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Why Delta function?</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a16="http://schemas.microsoft.com/office/drawing/2014/main" xmlns=""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4" name="文本框 3"/>
          <p:cNvSpPr txBox="1"/>
          <p:nvPr/>
        </p:nvSpPr>
        <p:spPr>
          <a:xfrm>
            <a:off x="139259" y="677150"/>
            <a:ext cx="11133114" cy="581057"/>
          </a:xfrm>
          <a:prstGeom prst="rect">
            <a:avLst/>
          </a:prstGeom>
          <a:noFill/>
        </p:spPr>
        <p:txBody>
          <a:bodyPr wrap="square" rtlCol="0">
            <a:spAutoFit/>
          </a:bodyPr>
          <a:lstStyle/>
          <a:p>
            <a:pPr>
              <a:lnSpc>
                <a:spcPct val="150000"/>
              </a:lnSpc>
            </a:pPr>
            <a:r>
              <a:rPr lang="zh-CN" altLang="en-US" sz="2400" dirty="0" smtClean="0">
                <a:latin typeface="微软雅黑" panose="020B0503020204020204" pitchFamily="34" charset="-122"/>
                <a:ea typeface="微软雅黑" panose="020B0503020204020204" pitchFamily="34" charset="-122"/>
              </a:rPr>
              <a:t>考虑如下场景：</a:t>
            </a:r>
            <a:endParaRPr lang="en-US" altLang="zh-CN" sz="2400" dirty="0" smtClean="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2" name="文本框 1"/>
              <p:cNvSpPr txBox="1"/>
              <p:nvPr/>
            </p:nvSpPr>
            <p:spPr>
              <a:xfrm>
                <a:off x="139259" y="1180338"/>
                <a:ext cx="11947966" cy="5620641"/>
              </a:xfrm>
              <a:prstGeom prst="rect">
                <a:avLst/>
              </a:prstGeom>
              <a:noFill/>
            </p:spPr>
            <p:txBody>
              <a:bodyPr wrap="square" rtlCol="0">
                <a:spAutoFit/>
              </a:bodyPr>
              <a:lstStyle/>
              <a:p>
                <a:pPr>
                  <a:lnSpc>
                    <a:spcPct val="150000"/>
                  </a:lnSpc>
                </a:pPr>
                <a:r>
                  <a:rPr lang="en-US" altLang="zh-CN" dirty="0" smtClean="0">
                    <a:latin typeface="微软雅黑" panose="020B0503020204020204" pitchFamily="34" charset="-122"/>
                    <a:ea typeface="微软雅黑" panose="020B0503020204020204" pitchFamily="34" charset="-122"/>
                  </a:rPr>
                  <a:t>1. </a:t>
                </a:r>
                <a:r>
                  <a:rPr lang="zh-CN" altLang="en-US" dirty="0" smtClean="0">
                    <a:latin typeface="微软雅黑" panose="020B0503020204020204" pitchFamily="34" charset="-122"/>
                    <a:ea typeface="微软雅黑" panose="020B0503020204020204" pitchFamily="34" charset="-122"/>
                  </a:rPr>
                  <a:t>对于有连续电荷分布的导体或者刚体，通常用电荷密度或质量密度来刻画某一物理量在空间中的分布：</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微软雅黑" panose="020B0503020204020204" pitchFamily="34" charset="-122"/>
                        </a:rPr>
                        <m:t>𝜌</m:t>
                      </m:r>
                      <m:r>
                        <a:rPr lang="en-US" altLang="zh-CN" b="0" i="1" smtClean="0">
                          <a:latin typeface="Cambria Math" panose="02040503050406030204" pitchFamily="18" charset="0"/>
                          <a:ea typeface="微软雅黑" panose="020B0503020204020204" pitchFamily="34" charset="-122"/>
                        </a:rPr>
                        <m:t>=</m:t>
                      </m:r>
                      <m:func>
                        <m:funcPr>
                          <m:ctrlPr>
                            <a:rPr lang="en-US" altLang="zh-CN" b="0" i="1" smtClean="0">
                              <a:latin typeface="Cambria Math" panose="02040503050406030204" pitchFamily="18" charset="0"/>
                              <a:ea typeface="微软雅黑" panose="020B0503020204020204" pitchFamily="34" charset="-122"/>
                            </a:rPr>
                          </m:ctrlPr>
                        </m:funcPr>
                        <m:fName>
                          <m:limLow>
                            <m:limLowPr>
                              <m:ctrlPr>
                                <a:rPr lang="en-US" altLang="zh-CN" b="0" i="1" smtClean="0">
                                  <a:latin typeface="Cambria Math" panose="02040503050406030204" pitchFamily="18" charset="0"/>
                                  <a:ea typeface="微软雅黑" panose="020B0503020204020204" pitchFamily="34" charset="-122"/>
                                </a:rPr>
                              </m:ctrlPr>
                            </m:limLowPr>
                            <m:e>
                              <m:r>
                                <m:rPr>
                                  <m:sty m:val="p"/>
                                </m:rPr>
                                <a:rPr lang="en-US" altLang="zh-CN" b="0" i="0" smtClean="0">
                                  <a:latin typeface="Cambria Math" panose="02040503050406030204" pitchFamily="18" charset="0"/>
                                  <a:ea typeface="微软雅黑" panose="020B0503020204020204" pitchFamily="34" charset="-122"/>
                                </a:rPr>
                                <m:t>lim</m:t>
                              </m:r>
                            </m:e>
                            <m:lim>
                              <m:r>
                                <m:rPr>
                                  <m:sty m:val="p"/>
                                </m:rPr>
                                <a:rPr lang="en-US" altLang="zh-CN" b="0" i="0" smtClean="0">
                                  <a:latin typeface="Cambria Math" panose="02040503050406030204" pitchFamily="18" charset="0"/>
                                  <a:ea typeface="微软雅黑" panose="020B0503020204020204" pitchFamily="34" charset="-122"/>
                                </a:rPr>
                                <m:t>Δ</m:t>
                              </m:r>
                              <m:r>
                                <a:rPr lang="en-US" altLang="zh-CN" b="0" i="1" smtClean="0">
                                  <a:latin typeface="Cambria Math" panose="02040503050406030204" pitchFamily="18" charset="0"/>
                                  <a:ea typeface="微软雅黑" panose="020B0503020204020204" pitchFamily="34" charset="-122"/>
                                </a:rPr>
                                <m:t>𝑉</m:t>
                              </m:r>
                              <m:r>
                                <a:rPr lang="en-US" altLang="zh-CN" b="0" i="1" smtClean="0">
                                  <a:latin typeface="Cambria Math" panose="02040503050406030204" pitchFamily="18" charset="0"/>
                                  <a:ea typeface="微软雅黑" panose="020B0503020204020204" pitchFamily="34" charset="-122"/>
                                </a:rPr>
                                <m:t>→0</m:t>
                              </m:r>
                            </m:lim>
                          </m:limLow>
                        </m:fName>
                        <m:e>
                          <m:f>
                            <m:fPr>
                              <m:ctrlPr>
                                <a:rPr lang="en-US" altLang="zh-CN" b="0" i="1" smtClean="0">
                                  <a:latin typeface="Cambria Math" panose="02040503050406030204" pitchFamily="18" charset="0"/>
                                  <a:ea typeface="微软雅黑" panose="020B0503020204020204" pitchFamily="34" charset="-122"/>
                                </a:rPr>
                              </m:ctrlPr>
                            </m:fPr>
                            <m:num>
                              <m:r>
                                <m:rPr>
                                  <m:sty m:val="p"/>
                                </m:rPr>
                                <a:rPr lang="en-US" altLang="zh-CN" b="0" i="0" smtClean="0">
                                  <a:latin typeface="Cambria Math" panose="02040503050406030204" pitchFamily="18" charset="0"/>
                                  <a:ea typeface="微软雅黑" panose="020B0503020204020204" pitchFamily="34" charset="-122"/>
                                </a:rPr>
                                <m:t>Δ</m:t>
                              </m:r>
                              <m:r>
                                <a:rPr lang="en-US" altLang="zh-CN" b="0" i="1" smtClean="0">
                                  <a:latin typeface="Cambria Math" panose="02040503050406030204" pitchFamily="18" charset="0"/>
                                  <a:ea typeface="微软雅黑" panose="020B0503020204020204" pitchFamily="34" charset="-122"/>
                                </a:rPr>
                                <m:t>𝑄</m:t>
                              </m:r>
                              <m:r>
                                <a:rPr lang="en-US" altLang="zh-CN" b="0" i="1" smtClean="0">
                                  <a:latin typeface="Cambria Math" panose="02040503050406030204" pitchFamily="18" charset="0"/>
                                  <a:ea typeface="微软雅黑" panose="020B0503020204020204" pitchFamily="34" charset="-122"/>
                                </a:rPr>
                                <m:t>(</m:t>
                              </m:r>
                              <m:r>
                                <m:rPr>
                                  <m:sty m:val="p"/>
                                </m:rPr>
                                <a:rPr lang="en-US" altLang="zh-CN" b="0" i="0" smtClean="0">
                                  <a:latin typeface="Cambria Math" panose="02040503050406030204" pitchFamily="18" charset="0"/>
                                  <a:ea typeface="微软雅黑" panose="020B0503020204020204" pitchFamily="34" charset="-122"/>
                                </a:rPr>
                                <m:t>Δ</m:t>
                              </m:r>
                              <m:r>
                                <a:rPr lang="en-US" altLang="zh-CN" b="0" i="1" smtClean="0">
                                  <a:latin typeface="Cambria Math" panose="02040503050406030204" pitchFamily="18" charset="0"/>
                                  <a:ea typeface="微软雅黑" panose="020B0503020204020204" pitchFamily="34" charset="-122"/>
                                </a:rPr>
                                <m:t>𝑀</m:t>
                              </m:r>
                              <m:r>
                                <a:rPr lang="en-US" altLang="zh-CN" b="0" i="1" smtClean="0">
                                  <a:latin typeface="Cambria Math" panose="02040503050406030204" pitchFamily="18" charset="0"/>
                                  <a:ea typeface="微软雅黑" panose="020B0503020204020204" pitchFamily="34" charset="-122"/>
                                </a:rPr>
                                <m:t>)</m:t>
                              </m:r>
                            </m:num>
                            <m:den>
                              <m:r>
                                <m:rPr>
                                  <m:sty m:val="p"/>
                                </m:rPr>
                                <a:rPr lang="en-US" altLang="zh-CN" b="0" i="0" smtClean="0">
                                  <a:latin typeface="Cambria Math" panose="02040503050406030204" pitchFamily="18" charset="0"/>
                                  <a:ea typeface="微软雅黑" panose="020B0503020204020204" pitchFamily="34" charset="-122"/>
                                </a:rPr>
                                <m:t>Δ</m:t>
                              </m:r>
                              <m:r>
                                <a:rPr lang="en-US" altLang="zh-CN" b="0" i="1" smtClean="0">
                                  <a:latin typeface="Cambria Math" panose="02040503050406030204" pitchFamily="18" charset="0"/>
                                  <a:ea typeface="微软雅黑" panose="020B0503020204020204" pitchFamily="34" charset="-122"/>
                                </a:rPr>
                                <m:t>𝑉</m:t>
                              </m:r>
                            </m:den>
                          </m:f>
                        </m:e>
                      </m:func>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那么，对于体积元真的为</a:t>
                </a:r>
                <a:r>
                  <a:rPr lang="en-US" altLang="zh-CN" dirty="0" smtClean="0">
                    <a:latin typeface="微软雅黑" panose="020B0503020204020204" pitchFamily="34" charset="-122"/>
                    <a:ea typeface="微软雅黑" panose="020B0503020204020204" pitchFamily="34" charset="-122"/>
                  </a:rPr>
                  <a:t>0</a:t>
                </a:r>
                <a:r>
                  <a:rPr lang="zh-CN" altLang="en-US" dirty="0" smtClean="0">
                    <a:latin typeface="微软雅黑" panose="020B0503020204020204" pitchFamily="34" charset="-122"/>
                    <a:ea typeface="微软雅黑" panose="020B0503020204020204" pitchFamily="34" charset="-122"/>
                  </a:rPr>
                  <a:t>的点电荷（质点），密度这一概念还有效吗？如果无效，如何刻画其电荷（质量）分布？</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en-US" altLang="zh-CN" dirty="0" smtClean="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一</a:t>
                </a:r>
                <a:r>
                  <a:rPr lang="zh-CN" altLang="en-US" dirty="0" smtClean="0">
                    <a:latin typeface="微软雅黑" panose="020B0503020204020204" pitchFamily="34" charset="-122"/>
                    <a:ea typeface="微软雅黑" panose="020B0503020204020204" pitchFamily="34" charset="-122"/>
                  </a:rPr>
                  <a:t>个信号源发射正弦波，其传播函数为</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微软雅黑" panose="020B0503020204020204" pitchFamily="34" charset="-122"/>
                        </a:rPr>
                        <m:t>𝑓</m:t>
                      </m:r>
                      <m:d>
                        <m:dPr>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𝑥</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𝑡</m:t>
                          </m:r>
                        </m:e>
                      </m:d>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𝐴</m:t>
                      </m:r>
                      <m:r>
                        <m:rPr>
                          <m:sty m:val="p"/>
                        </m:rPr>
                        <a:rPr lang="en-US" altLang="zh-CN" b="0" i="0" smtClean="0">
                          <a:latin typeface="Cambria Math" panose="02040503050406030204" pitchFamily="18" charset="0"/>
                          <a:ea typeface="微软雅黑" panose="020B0503020204020204" pitchFamily="34" charset="-122"/>
                        </a:rPr>
                        <m:t>cos</m:t>
                      </m:r>
                      <m:d>
                        <m:dPr>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𝑘𝑥</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𝜔</m:t>
                          </m:r>
                          <m:r>
                            <a:rPr lang="en-US" altLang="zh-CN" b="0" i="1" smtClean="0">
                              <a:latin typeface="Cambria Math" panose="02040503050406030204" pitchFamily="18" charset="0"/>
                              <a:ea typeface="微软雅黑" panose="020B0503020204020204" pitchFamily="34" charset="-122"/>
                            </a:rPr>
                            <m:t>𝑡</m:t>
                          </m:r>
                        </m:e>
                      </m:d>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波形呈三角函数曲线状</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现在想刻画一个脉冲波，传播函数表现为只在位置空间中的某一个点有信号，而在其它位置没有信号，这样的传播函数如何刻画？</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en-US" altLang="zh-CN" dirty="0" smtClean="0">
                    <a:latin typeface="微软雅黑" panose="020B0503020204020204" pitchFamily="34" charset="-122"/>
                    <a:ea typeface="微软雅黑" panose="020B0503020204020204" pitchFamily="34" charset="-122"/>
                  </a:rPr>
                  <a:t>3. </a:t>
                </a:r>
                <a:r>
                  <a:rPr lang="zh-CN" altLang="en-US" dirty="0" smtClean="0">
                    <a:latin typeface="微软雅黑" panose="020B0503020204020204" pitchFamily="34" charset="-122"/>
                    <a:ea typeface="微软雅黑" panose="020B0503020204020204" pitchFamily="34" charset="-122"/>
                  </a:rPr>
                  <a:t>在有限维空间中向量的正交归一基间仍然可以用离散的下标表示</a:t>
                </a:r>
                <a14:m>
                  <m:oMath xmlns:m="http://schemas.openxmlformats.org/officeDocument/2006/math">
                    <m:r>
                      <a:rPr lang="en-US" altLang="zh-CN" b="1" i="1" dirty="0" smtClean="0">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i="1">
                            <a:latin typeface="Cambria Math" panose="02040503050406030204" pitchFamily="18" charset="0"/>
                            <a:ea typeface="微软雅黑" panose="020B0503020204020204" pitchFamily="34" charset="-122"/>
                          </a:rPr>
                          <m:t>𝜺</m:t>
                        </m:r>
                      </m:e>
                      <m:sub>
                        <m:r>
                          <a:rPr lang="en-US" altLang="zh-CN" b="1" i="1" smtClean="0">
                            <a:solidFill>
                              <a:srgbClr val="FF0000"/>
                            </a:solidFill>
                            <a:latin typeface="Cambria Math" panose="02040503050406030204" pitchFamily="18" charset="0"/>
                            <a:ea typeface="微软雅黑" panose="020B0503020204020204" pitchFamily="34" charset="-122"/>
                          </a:rPr>
                          <m:t>𝒊</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1" i="1">
                            <a:latin typeface="Cambria Math" panose="02040503050406030204" pitchFamily="18" charset="0"/>
                            <a:ea typeface="微软雅黑" panose="020B0503020204020204" pitchFamily="34" charset="-122"/>
                          </a:rPr>
                        </m:ctrlPr>
                      </m:sSubPr>
                      <m:e>
                        <m:r>
                          <a:rPr lang="en-US" altLang="zh-CN" b="1" i="1">
                            <a:latin typeface="Cambria Math" panose="02040503050406030204" pitchFamily="18" charset="0"/>
                            <a:ea typeface="微软雅黑" panose="020B0503020204020204" pitchFamily="34" charset="-122"/>
                          </a:rPr>
                          <m:t>𝜺</m:t>
                        </m:r>
                      </m:e>
                      <m:sub>
                        <m:r>
                          <a:rPr lang="en-US" altLang="zh-CN" b="1" i="1" smtClean="0">
                            <a:solidFill>
                              <a:srgbClr val="FF0000"/>
                            </a:solidFill>
                            <a:latin typeface="Cambria Math" panose="02040503050406030204" pitchFamily="18" charset="0"/>
                            <a:ea typeface="微软雅黑" panose="020B0503020204020204" pitchFamily="34" charset="-122"/>
                          </a:rPr>
                          <m:t>𝒋</m:t>
                        </m:r>
                      </m:sub>
                    </m:sSub>
                    <m:r>
                      <a:rPr lang="zh-CN" altLang="en-US" b="1" i="1" smtClean="0">
                        <a:latin typeface="Cambria Math" panose="02040503050406030204" pitchFamily="18" charset="0"/>
                        <a:ea typeface="微软雅黑" panose="020B0503020204020204" pitchFamily="34" charset="-122"/>
                      </a:rPr>
                      <m:t>等</m:t>
                    </m:r>
                    <m:r>
                      <a:rPr lang="en-US" altLang="zh-CN" b="1" i="1" smtClean="0">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，如果现在考虑一个连续的空间，向量用</a:t>
                </a:r>
                <a14:m>
                  <m:oMath xmlns:m="http://schemas.openxmlformats.org/officeDocument/2006/math">
                    <m:r>
                      <a:rPr lang="en-US" altLang="zh-CN" b="1" i="1" smtClean="0">
                        <a:latin typeface="Cambria Math" panose="02040503050406030204" pitchFamily="18" charset="0"/>
                        <a:ea typeface="微软雅黑" panose="020B0503020204020204" pitchFamily="34" charset="-122"/>
                      </a:rPr>
                      <m:t>𝜺</m:t>
                    </m:r>
                    <m:d>
                      <m:dPr>
                        <m:ctrlPr>
                          <a:rPr lang="en-US" altLang="zh-CN" b="0" i="1" smtClean="0">
                            <a:latin typeface="Cambria Math" panose="02040503050406030204" pitchFamily="18" charset="0"/>
                            <a:ea typeface="微软雅黑" panose="020B0503020204020204" pitchFamily="34" charset="-122"/>
                          </a:rPr>
                        </m:ctrlPr>
                      </m:dPr>
                      <m:e>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𝑥</m:t>
                            </m:r>
                          </m:e>
                          <m:sup>
                            <m:r>
                              <a:rPr lang="en-US" altLang="zh-CN" b="0" i="1" smtClean="0">
                                <a:latin typeface="Cambria Math" panose="02040503050406030204" pitchFamily="18" charset="0"/>
                                <a:ea typeface="微软雅黑" panose="020B0503020204020204" pitchFamily="34" charset="-122"/>
                              </a:rPr>
                              <m:t>′</m:t>
                            </m:r>
                          </m:sup>
                        </m:sSup>
                      </m:e>
                    </m:d>
                    <m:r>
                      <a:rPr lang="en-US" altLang="zh-CN" b="0" i="1" smtClean="0">
                        <a:latin typeface="Cambria Math" panose="02040503050406030204" pitchFamily="18" charset="0"/>
                        <a:ea typeface="微软雅黑" panose="020B0503020204020204" pitchFamily="34" charset="-122"/>
                      </a:rPr>
                      <m:t>, </m:t>
                    </m:r>
                    <m:r>
                      <a:rPr lang="en-US" altLang="zh-CN" b="1" i="1" smtClean="0">
                        <a:latin typeface="Cambria Math" panose="02040503050406030204" pitchFamily="18" charset="0"/>
                        <a:ea typeface="微软雅黑" panose="020B0503020204020204" pitchFamily="34" charset="-122"/>
                      </a:rPr>
                      <m:t>𝜺</m:t>
                    </m:r>
                    <m:r>
                      <a:rPr lang="en-US" altLang="zh-CN" b="0" i="1" smtClean="0">
                        <a:latin typeface="Cambria Math" panose="02040503050406030204" pitchFamily="18" charset="0"/>
                        <a:ea typeface="微软雅黑" panose="020B0503020204020204" pitchFamily="34" charset="-122"/>
                      </a:rPr>
                      <m:t>(</m:t>
                    </m:r>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𝑥</m:t>
                        </m:r>
                      </m:e>
                      <m:sup>
                        <m:r>
                          <a:rPr lang="en-US" altLang="zh-CN" b="0" i="1" smtClean="0">
                            <a:latin typeface="Cambria Math" panose="02040503050406030204" pitchFamily="18" charset="0"/>
                            <a:ea typeface="微软雅黑" panose="020B0503020204020204" pitchFamily="34" charset="-122"/>
                          </a:rPr>
                          <m:t>′′</m:t>
                        </m:r>
                      </m:sup>
                    </m:sSup>
                    <m:r>
                      <a:rPr lang="en-US" altLang="zh-CN" b="0" i="1" smtClean="0">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等表示，其中</a:t>
                </a:r>
                <a14:m>
                  <m:oMath xmlns:m="http://schemas.openxmlformats.org/officeDocument/2006/math">
                    <m:sSup>
                      <m:sSupPr>
                        <m:ctrlPr>
                          <a:rPr lang="en-US" altLang="zh-CN" i="1">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𝑥</m:t>
                        </m:r>
                      </m:e>
                      <m:sup>
                        <m:r>
                          <a:rPr lang="en-US" altLang="zh-CN" i="1">
                            <a:latin typeface="Cambria Math" panose="02040503050406030204" pitchFamily="18" charset="0"/>
                            <a:ea typeface="微软雅黑" panose="020B0503020204020204" pitchFamily="34" charset="-122"/>
                          </a:rPr>
                          <m:t>′</m:t>
                        </m:r>
                      </m:sup>
                    </m:sSup>
                  </m:oMath>
                </a14:m>
                <a:r>
                  <a:rPr lang="zh-CN" altLang="en-US" dirty="0" smtClean="0">
                    <a:latin typeface="微软雅黑" panose="020B0503020204020204" pitchFamily="34" charset="-122"/>
                    <a:ea typeface="微软雅黑" panose="020B0503020204020204" pitchFamily="34" charset="-122"/>
                  </a:rPr>
                  <a:t>和</a:t>
                </a:r>
                <a14:m>
                  <m:oMath xmlns:m="http://schemas.openxmlformats.org/officeDocument/2006/math">
                    <m:sSup>
                      <m:sSupPr>
                        <m:ctrlPr>
                          <a:rPr lang="en-US" altLang="zh-CN" i="1">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𝑥</m:t>
                        </m:r>
                      </m:e>
                      <m:sup>
                        <m:r>
                          <a:rPr lang="en-US" altLang="zh-CN" i="1">
                            <a:latin typeface="Cambria Math" panose="02040503050406030204" pitchFamily="18" charset="0"/>
                            <a:ea typeface="微软雅黑" panose="020B0503020204020204" pitchFamily="34" charset="-122"/>
                          </a:rPr>
                          <m:t>′′</m:t>
                        </m:r>
                      </m:sup>
                    </m:sSup>
                  </m:oMath>
                </a14:m>
                <a:r>
                  <a:rPr lang="zh-CN" altLang="en-US" dirty="0" smtClean="0">
                    <a:latin typeface="微软雅黑" panose="020B0503020204020204" pitchFamily="34" charset="-122"/>
                    <a:ea typeface="微软雅黑" panose="020B0503020204020204" pitchFamily="34" charset="-122"/>
                  </a:rPr>
                  <a:t>都是连续的空间坐标，我们期望这两个属于不同本征值的向量依旧满足彼此正交。</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此时如果依旧使用旧定义</a:t>
                </a:r>
                <a14:m>
                  <m:oMath xmlns:m="http://schemas.openxmlformats.org/officeDocument/2006/math">
                    <m:r>
                      <a:rPr lang="en-US" altLang="zh-CN" b="1" i="1">
                        <a:latin typeface="Cambria Math" panose="02040503050406030204" pitchFamily="18" charset="0"/>
                        <a:ea typeface="微软雅黑" panose="020B0503020204020204" pitchFamily="34" charset="-122"/>
                      </a:rPr>
                      <m:t>𝜺</m:t>
                    </m:r>
                    <m:d>
                      <m:dPr>
                        <m:ctrlPr>
                          <a:rPr lang="en-US" altLang="zh-CN" i="1">
                            <a:latin typeface="Cambria Math" panose="02040503050406030204" pitchFamily="18" charset="0"/>
                            <a:ea typeface="微软雅黑" panose="020B0503020204020204" pitchFamily="34" charset="-122"/>
                          </a:rPr>
                        </m:ctrlPr>
                      </m:dPr>
                      <m:e>
                        <m:sSup>
                          <m:sSupPr>
                            <m:ctrlPr>
                              <a:rPr lang="en-US" altLang="zh-CN" i="1">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𝑥</m:t>
                            </m:r>
                          </m:e>
                          <m:sup>
                            <m:r>
                              <a:rPr lang="en-US" altLang="zh-CN" i="1">
                                <a:latin typeface="Cambria Math" panose="02040503050406030204" pitchFamily="18" charset="0"/>
                                <a:ea typeface="微软雅黑" panose="020B0503020204020204" pitchFamily="34" charset="-122"/>
                              </a:rPr>
                              <m:t>′</m:t>
                            </m:r>
                          </m:sup>
                        </m:sSup>
                      </m:e>
                    </m:d>
                    <m:r>
                      <a:rPr lang="en-US" altLang="zh-CN" b="1" i="1" smtClean="0">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𝜺</m:t>
                    </m:r>
                    <m:d>
                      <m:dPr>
                        <m:ctrlPr>
                          <a:rPr lang="en-US" altLang="zh-CN" b="1" i="1">
                            <a:latin typeface="Cambria Math" panose="02040503050406030204" pitchFamily="18" charset="0"/>
                            <a:ea typeface="微软雅黑" panose="020B0503020204020204" pitchFamily="34" charset="-122"/>
                          </a:rPr>
                        </m:ctrlPr>
                      </m:dPr>
                      <m:e>
                        <m:sSup>
                          <m:sSupPr>
                            <m:ctrlPr>
                              <a:rPr lang="en-US" altLang="zh-CN" i="1">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𝑥</m:t>
                            </m:r>
                          </m:e>
                          <m:sup>
                            <m:r>
                              <a:rPr lang="en-US" altLang="zh-CN" i="1">
                                <a:latin typeface="Cambria Math" panose="02040503050406030204" pitchFamily="18" charset="0"/>
                                <a:ea typeface="微软雅黑" panose="020B0503020204020204" pitchFamily="34" charset="-122"/>
                              </a:rPr>
                              <m:t>′′</m:t>
                            </m:r>
                          </m:sup>
                        </m:sSup>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𝛿</m:t>
                        </m:r>
                      </m:e>
                      <m:sub>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𝑥</m:t>
                            </m:r>
                          </m:e>
                          <m:sup>
                            <m:r>
                              <a:rPr lang="en-US" altLang="zh-CN" b="0" i="1" smtClean="0">
                                <a:latin typeface="Cambria Math" panose="02040503050406030204" pitchFamily="18" charset="0"/>
                                <a:ea typeface="微软雅黑" panose="020B0503020204020204" pitchFamily="34" charset="-122"/>
                              </a:rPr>
                              <m:t>′</m:t>
                            </m:r>
                          </m:sup>
                        </m:sSup>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𝑥</m:t>
                            </m:r>
                          </m:e>
                          <m:sup>
                            <m:r>
                              <a:rPr lang="en-US" altLang="zh-CN" b="0" i="1" smtClean="0">
                                <a:latin typeface="Cambria Math" panose="02040503050406030204" pitchFamily="18" charset="0"/>
                                <a:ea typeface="微软雅黑" panose="020B0503020204020204" pitchFamily="34" charset="-122"/>
                              </a:rPr>
                              <m:t>′′</m:t>
                            </m:r>
                          </m:sup>
                        </m:sSup>
                      </m:sub>
                    </m:sSub>
                  </m:oMath>
                </a14:m>
                <a:r>
                  <a:rPr lang="zh-CN" altLang="en-US" dirty="0" smtClean="0">
                    <a:latin typeface="微软雅黑" panose="020B0503020204020204" pitchFamily="34" charset="-122"/>
                    <a:ea typeface="微软雅黑" panose="020B0503020204020204" pitchFamily="34" charset="-122"/>
                  </a:rPr>
                  <a:t>，按连续函数的内积定义将会有</a:t>
                </a:r>
                <a:endParaRPr lang="en-US" altLang="zh-CN" b="1" i="1" dirty="0" smtClean="0">
                  <a:latin typeface="Cambria Math" panose="02040503050406030204" pitchFamily="18" charset="0"/>
                  <a:ea typeface="微软雅黑" panose="020B0503020204020204" pitchFamily="34" charset="-122"/>
                </a:endParaRPr>
              </a:p>
              <a:p>
                <a:pPr>
                  <a:lnSpc>
                    <a:spcPct val="150000"/>
                  </a:lnSpc>
                </a:pPr>
                <a14:m>
                  <m:oMath xmlns:m="http://schemas.openxmlformats.org/officeDocument/2006/math">
                    <m:r>
                      <a:rPr lang="en-US" altLang="zh-CN" b="1" i="1">
                        <a:latin typeface="Cambria Math" panose="02040503050406030204" pitchFamily="18" charset="0"/>
                        <a:ea typeface="微软雅黑" panose="020B0503020204020204" pitchFamily="34" charset="-122"/>
                      </a:rPr>
                      <m:t>𝜺</m:t>
                    </m:r>
                    <m:d>
                      <m:dPr>
                        <m:ctrlPr>
                          <a:rPr lang="en-US" altLang="zh-CN" i="1">
                            <a:latin typeface="Cambria Math" panose="02040503050406030204" pitchFamily="18" charset="0"/>
                            <a:ea typeface="微软雅黑" panose="020B0503020204020204" pitchFamily="34" charset="-122"/>
                          </a:rPr>
                        </m:ctrlPr>
                      </m:dPr>
                      <m:e>
                        <m:sSup>
                          <m:sSupPr>
                            <m:ctrlPr>
                              <a:rPr lang="en-US" altLang="zh-CN" i="1">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𝑥</m:t>
                            </m:r>
                          </m:e>
                          <m:sup>
                            <m:r>
                              <a:rPr lang="en-US" altLang="zh-CN" i="1">
                                <a:latin typeface="Cambria Math" panose="02040503050406030204" pitchFamily="18" charset="0"/>
                                <a:ea typeface="微软雅黑" panose="020B0503020204020204" pitchFamily="34" charset="-122"/>
                              </a:rPr>
                              <m:t>′</m:t>
                            </m:r>
                          </m:sup>
                        </m:sSup>
                      </m:e>
                    </m:d>
                    <m:r>
                      <a:rPr lang="en-US" altLang="zh-CN" b="1" i="1">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𝜺</m:t>
                    </m:r>
                    <m:d>
                      <m:dPr>
                        <m:ctrlPr>
                          <a:rPr lang="en-US" altLang="zh-CN" b="1" i="1">
                            <a:latin typeface="Cambria Math" panose="02040503050406030204" pitchFamily="18" charset="0"/>
                            <a:ea typeface="微软雅黑" panose="020B0503020204020204" pitchFamily="34" charset="-122"/>
                          </a:rPr>
                        </m:ctrlPr>
                      </m:dPr>
                      <m:e>
                        <m:sSup>
                          <m:sSupPr>
                            <m:ctrlPr>
                              <a:rPr lang="en-US" altLang="zh-CN" i="1">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𝑥</m:t>
                            </m:r>
                          </m:e>
                          <m:sup>
                            <m:r>
                              <a:rPr lang="en-US" altLang="zh-CN" i="1">
                                <a:latin typeface="Cambria Math" panose="02040503050406030204" pitchFamily="18" charset="0"/>
                                <a:ea typeface="微软雅黑" panose="020B0503020204020204" pitchFamily="34" charset="-122"/>
                              </a:rPr>
                              <m:t>′</m:t>
                            </m:r>
                          </m:sup>
                        </m:sSup>
                      </m:e>
                    </m:d>
                    <m:r>
                      <a:rPr lang="en-US" altLang="zh-CN" b="1" i="1">
                        <a:latin typeface="Cambria Math" panose="02040503050406030204" pitchFamily="18" charset="0"/>
                        <a:ea typeface="微软雅黑" panose="020B0503020204020204" pitchFamily="34" charset="-122"/>
                      </a:rPr>
                      <m:t>=</m:t>
                    </m:r>
                    <m:nary>
                      <m:naryPr>
                        <m:ctrlPr>
                          <a:rPr lang="en-US" altLang="zh-CN" b="1" i="1">
                            <a:latin typeface="Cambria Math" panose="02040503050406030204" pitchFamily="18" charset="0"/>
                            <a:ea typeface="微软雅黑" panose="020B0503020204020204" pitchFamily="34" charset="-122"/>
                          </a:rPr>
                        </m:ctrlPr>
                      </m:naryPr>
                      <m:sub>
                        <m:r>
                          <m:rPr>
                            <m:brk m:alnAt="23"/>
                          </m:rPr>
                          <a:rPr lang="en-US" altLang="zh-CN" b="1" i="1">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m:t>
                        </m:r>
                      </m:sub>
                      <m:sup>
                        <m:r>
                          <a:rPr lang="en-US" altLang="zh-CN" b="1" i="1">
                            <a:latin typeface="Cambria Math" panose="02040503050406030204" pitchFamily="18" charset="0"/>
                            <a:ea typeface="微软雅黑" panose="020B0503020204020204" pitchFamily="34" charset="-122"/>
                          </a:rPr>
                          <m:t>∞</m:t>
                        </m:r>
                      </m:sup>
                      <m:e>
                        <m:sSup>
                          <m:sSupPr>
                            <m:ctrlPr>
                              <a:rPr lang="en-US" altLang="zh-CN" b="1" i="1">
                                <a:latin typeface="Cambria Math" panose="02040503050406030204" pitchFamily="18" charset="0"/>
                                <a:ea typeface="微软雅黑" panose="020B0503020204020204" pitchFamily="34" charset="-122"/>
                              </a:rPr>
                            </m:ctrlPr>
                          </m:sSupPr>
                          <m:e>
                            <m:r>
                              <a:rPr lang="en-US" altLang="zh-CN" b="1" i="1">
                                <a:latin typeface="Cambria Math" panose="02040503050406030204" pitchFamily="18" charset="0"/>
                                <a:ea typeface="微软雅黑" panose="020B0503020204020204" pitchFamily="34" charset="-122"/>
                              </a:rPr>
                              <m:t>𝜺</m:t>
                            </m:r>
                          </m:e>
                          <m:sup>
                            <m:r>
                              <a:rPr lang="en-US" altLang="zh-CN" b="1" i="1">
                                <a:latin typeface="Cambria Math" panose="02040503050406030204" pitchFamily="18" charset="0"/>
                                <a:ea typeface="微软雅黑" panose="020B0503020204020204" pitchFamily="34" charset="-122"/>
                              </a:rPr>
                              <m:t>∗</m:t>
                            </m:r>
                          </m:sup>
                        </m:sSup>
                        <m:d>
                          <m:dPr>
                            <m:ctrlPr>
                              <a:rPr lang="en-US" altLang="zh-CN" i="1">
                                <a:latin typeface="Cambria Math" panose="02040503050406030204" pitchFamily="18" charset="0"/>
                                <a:ea typeface="微软雅黑" panose="020B0503020204020204" pitchFamily="34" charset="-122"/>
                              </a:rPr>
                            </m:ctrlPr>
                          </m:dPr>
                          <m:e>
                            <m:sSup>
                              <m:sSupPr>
                                <m:ctrlPr>
                                  <a:rPr lang="en-US" altLang="zh-CN" i="1">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𝑥</m:t>
                                </m:r>
                              </m:e>
                              <m:sup>
                                <m:r>
                                  <a:rPr lang="en-US" altLang="zh-CN" i="1">
                                    <a:latin typeface="Cambria Math" panose="02040503050406030204" pitchFamily="18" charset="0"/>
                                    <a:ea typeface="微软雅黑" panose="020B0503020204020204" pitchFamily="34" charset="-122"/>
                                  </a:rPr>
                                  <m:t>′</m:t>
                                </m:r>
                              </m:sup>
                            </m:sSup>
                          </m:e>
                        </m:d>
                      </m:e>
                    </m:nary>
                    <m:r>
                      <a:rPr lang="en-US" altLang="zh-CN" b="1" i="1">
                        <a:latin typeface="Cambria Math" panose="02040503050406030204" pitchFamily="18" charset="0"/>
                        <a:ea typeface="微软雅黑" panose="020B0503020204020204" pitchFamily="34" charset="-122"/>
                      </a:rPr>
                      <m:t>𝜺</m:t>
                    </m:r>
                    <m:d>
                      <m:dPr>
                        <m:ctrlPr>
                          <a:rPr lang="en-US" altLang="zh-CN" b="1" i="1">
                            <a:latin typeface="Cambria Math" panose="02040503050406030204" pitchFamily="18" charset="0"/>
                            <a:ea typeface="微软雅黑" panose="020B0503020204020204" pitchFamily="34" charset="-122"/>
                          </a:rPr>
                        </m:ctrlPr>
                      </m:dPr>
                      <m:e>
                        <m:sSup>
                          <m:sSupPr>
                            <m:ctrlPr>
                              <a:rPr lang="en-US" altLang="zh-CN" i="1">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𝑥</m:t>
                            </m:r>
                          </m:e>
                          <m:sup>
                            <m:r>
                              <a:rPr lang="en-US" altLang="zh-CN" i="1">
                                <a:latin typeface="Cambria Math" panose="02040503050406030204" pitchFamily="18" charset="0"/>
                                <a:ea typeface="微软雅黑" panose="020B0503020204020204" pitchFamily="34" charset="-122"/>
                              </a:rPr>
                              <m:t>′</m:t>
                            </m:r>
                          </m:sup>
                        </m:sSup>
                      </m:e>
                    </m:d>
                    <m:r>
                      <m:rPr>
                        <m:sty m:val="p"/>
                      </m:rPr>
                      <a:rPr lang="en-US" altLang="zh-CN">
                        <a:latin typeface="Cambria Math" panose="02040503050406030204" pitchFamily="18" charset="0"/>
                        <a:ea typeface="微软雅黑" panose="020B0503020204020204" pitchFamily="34" charset="-122"/>
                      </a:rPr>
                      <m:t>d</m:t>
                    </m:r>
                    <m:sSup>
                      <m:sSupPr>
                        <m:ctrlPr>
                          <a:rPr lang="en-US" altLang="zh-CN" i="1">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𝑥</m:t>
                        </m:r>
                      </m:e>
                      <m:sup>
                        <m:r>
                          <a:rPr lang="en-US" altLang="zh-CN" i="1">
                            <a:latin typeface="Cambria Math" panose="02040503050406030204" pitchFamily="18" charset="0"/>
                            <a:ea typeface="微软雅黑" panose="020B0503020204020204" pitchFamily="34" charset="-122"/>
                          </a:rPr>
                          <m:t>′</m:t>
                        </m:r>
                      </m:sup>
                    </m:sSup>
                    <m:r>
                      <a:rPr lang="en-US" altLang="zh-CN" i="1">
                        <a:latin typeface="Cambria Math" panose="02040503050406030204" pitchFamily="18" charset="0"/>
                        <a:ea typeface="微软雅黑" panose="020B0503020204020204" pitchFamily="34" charset="-122"/>
                      </a:rPr>
                      <m:t>=</m:t>
                    </m:r>
                    <m:nary>
                      <m:naryPr>
                        <m:subHide m:val="on"/>
                        <m:supHide m:val="on"/>
                        <m:ctrlPr>
                          <a:rPr lang="en-US" altLang="zh-CN" i="1">
                            <a:latin typeface="Cambria Math" panose="02040503050406030204" pitchFamily="18" charset="0"/>
                            <a:ea typeface="微软雅黑" panose="020B0503020204020204" pitchFamily="34" charset="-122"/>
                          </a:rPr>
                        </m:ctrlPr>
                      </m:naryPr>
                      <m:sub/>
                      <m:sup/>
                      <m:e>
                        <m:r>
                          <a:rPr lang="en-US" altLang="zh-CN" b="0" i="1" smtClean="0">
                            <a:latin typeface="Cambria Math" panose="02040503050406030204" pitchFamily="18" charset="0"/>
                            <a:ea typeface="微软雅黑" panose="020B0503020204020204" pitchFamily="34" charset="-122"/>
                          </a:rPr>
                          <m:t>1</m:t>
                        </m:r>
                        <m:r>
                          <m:rPr>
                            <m:sty m:val="p"/>
                          </m:rPr>
                          <a:rPr lang="en-US" altLang="zh-CN">
                            <a:latin typeface="Cambria Math" panose="02040503050406030204" pitchFamily="18" charset="0"/>
                            <a:ea typeface="微软雅黑" panose="020B0503020204020204" pitchFamily="34" charset="-122"/>
                          </a:rPr>
                          <m:t>d</m:t>
                        </m:r>
                        <m:sSup>
                          <m:sSupPr>
                            <m:ctrlPr>
                              <a:rPr lang="en-US" altLang="zh-CN" i="1">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𝑥</m:t>
                            </m:r>
                          </m:e>
                          <m:sup>
                            <m:r>
                              <a:rPr lang="en-US" altLang="zh-CN" i="1">
                                <a:latin typeface="Cambria Math" panose="02040503050406030204" pitchFamily="18" charset="0"/>
                                <a:ea typeface="微软雅黑" panose="020B0503020204020204" pitchFamily="34" charset="-122"/>
                              </a:rPr>
                              <m:t>′</m:t>
                            </m:r>
                          </m:sup>
                        </m:sSup>
                      </m:e>
                    </m:nary>
                  </m:oMath>
                </a14:m>
                <a:r>
                  <a:rPr lang="zh-CN" altLang="en-US" dirty="0" smtClean="0">
                    <a:latin typeface="微软雅黑" panose="020B0503020204020204" pitchFamily="34" charset="-122"/>
                    <a:ea typeface="微软雅黑" panose="020B0503020204020204" pitchFamily="34" charset="-122"/>
                  </a:rPr>
                  <a:t>，结果是发散的而不是</a:t>
                </a:r>
                <a:r>
                  <a:rPr lang="en-US" altLang="zh-CN" dirty="0" smtClean="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怎么样定义这两个向量间的内积呢？</a:t>
                </a:r>
                <a:endParaRPr lang="en-US" altLang="zh-CN" dirty="0" smtClean="0">
                  <a:latin typeface="微软雅黑" panose="020B0503020204020204" pitchFamily="34" charset="-122"/>
                  <a:ea typeface="微软雅黑" panose="020B0503020204020204" pitchFamily="34"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139259" y="1180338"/>
                <a:ext cx="11947966" cy="5620641"/>
              </a:xfrm>
              <a:prstGeom prst="rect">
                <a:avLst/>
              </a:prstGeom>
              <a:blipFill rotWithShape="0">
                <a:blip r:embed="rId5"/>
                <a:stretch>
                  <a:fillRect l="-459" b="-125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18431003"/>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Why Delta function?</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a16="http://schemas.microsoft.com/office/drawing/2014/main" xmlns=""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337185" y="1191500"/>
                <a:ext cx="11133114" cy="2012795"/>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上述场景都指向了同一个函数，具有如下特征：</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en-US" altLang="zh-CN" sz="2000" dirty="0" smtClean="0">
                    <a:latin typeface="微软雅黑" panose="020B0503020204020204" pitchFamily="34" charset="-122"/>
                    <a:ea typeface="微软雅黑" panose="020B0503020204020204" pitchFamily="34" charset="-122"/>
                  </a:rPr>
                  <a:t>1. </a:t>
                </a:r>
                <a:r>
                  <a:rPr lang="zh-CN" altLang="en-US" sz="2000" dirty="0" smtClean="0">
                    <a:latin typeface="微软雅黑" panose="020B0503020204020204" pitchFamily="34" charset="-122"/>
                    <a:ea typeface="微软雅黑" panose="020B0503020204020204" pitchFamily="34" charset="-122"/>
                  </a:rPr>
                  <a:t>在除了</a:t>
                </a:r>
                <a14:m>
                  <m:oMath xmlns:m="http://schemas.openxmlformats.org/officeDocument/2006/math">
                    <m:r>
                      <a:rPr lang="en-US" altLang="zh-CN" sz="2000" b="1" i="1" smtClean="0">
                        <a:latin typeface="Cambria Math" panose="02040503050406030204" pitchFamily="18" charset="0"/>
                        <a:ea typeface="微软雅黑" panose="020B0503020204020204" pitchFamily="34" charset="-122"/>
                      </a:rPr>
                      <m:t>𝒙</m:t>
                    </m:r>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1" i="1" smtClean="0">
                            <a:latin typeface="Cambria Math" panose="02040503050406030204" pitchFamily="18" charset="0"/>
                            <a:ea typeface="微软雅黑" panose="020B0503020204020204" pitchFamily="34" charset="-122"/>
                          </a:rPr>
                          <m:t>𝒙</m:t>
                        </m:r>
                      </m:e>
                      <m:sub>
                        <m:r>
                          <a:rPr lang="en-US" altLang="zh-CN" sz="2000" b="0" i="1" smtClean="0">
                            <a:latin typeface="Cambria Math" panose="02040503050406030204" pitchFamily="18" charset="0"/>
                            <a:ea typeface="微软雅黑" panose="020B0503020204020204" pitchFamily="34" charset="-122"/>
                          </a:rPr>
                          <m:t>0</m:t>
                        </m:r>
                      </m:sub>
                    </m:sSub>
                  </m:oMath>
                </a14:m>
                <a:r>
                  <a:rPr lang="zh-CN" altLang="en-US" sz="2000" dirty="0" smtClean="0">
                    <a:latin typeface="微软雅黑" panose="020B0503020204020204" pitchFamily="34" charset="-122"/>
                    <a:ea typeface="微软雅黑" panose="020B0503020204020204" pitchFamily="34" charset="-122"/>
                  </a:rPr>
                  <a:t>的点外，都满足</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𝑓</m:t>
                    </m:r>
                    <m:d>
                      <m:dPr>
                        <m:ctrlPr>
                          <a:rPr lang="en-US" altLang="zh-CN" sz="2000" b="0" i="1" smtClean="0">
                            <a:latin typeface="Cambria Math" panose="02040503050406030204" pitchFamily="18" charset="0"/>
                            <a:ea typeface="微软雅黑" panose="020B0503020204020204" pitchFamily="34" charset="-122"/>
                          </a:rPr>
                        </m:ctrlPr>
                      </m:dPr>
                      <m:e>
                        <m:r>
                          <a:rPr lang="en-US" altLang="zh-CN" sz="2000" b="1" i="1" smtClean="0">
                            <a:latin typeface="Cambria Math" panose="02040503050406030204" pitchFamily="18" charset="0"/>
                            <a:ea typeface="微软雅黑" panose="020B0503020204020204" pitchFamily="34" charset="-122"/>
                          </a:rPr>
                          <m:t>𝒙</m:t>
                        </m:r>
                      </m:e>
                    </m:d>
                    <m:r>
                      <a:rPr lang="en-US" altLang="zh-CN" sz="2000" b="0" i="1" smtClean="0">
                        <a:latin typeface="Cambria Math" panose="02040503050406030204" pitchFamily="18" charset="0"/>
                        <a:ea typeface="微软雅黑" panose="020B0503020204020204" pitchFamily="34" charset="-122"/>
                      </a:rPr>
                      <m:t>=0</m:t>
                    </m:r>
                  </m:oMath>
                </a14:m>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en-US" altLang="zh-CN" sz="2000" dirty="0" smtClean="0">
                    <a:latin typeface="微软雅黑" panose="020B0503020204020204" pitchFamily="34" charset="-122"/>
                    <a:ea typeface="微软雅黑" panose="020B0503020204020204" pitchFamily="34" charset="-122"/>
                  </a:rPr>
                  <a:t>2. </a:t>
                </a:r>
                <a:r>
                  <a:rPr lang="zh-CN" altLang="en-US" sz="2000" dirty="0" smtClean="0">
                    <a:latin typeface="微软雅黑" panose="020B0503020204020204" pitchFamily="34" charset="-122"/>
                    <a:ea typeface="微软雅黑" panose="020B0503020204020204" pitchFamily="34" charset="-122"/>
                  </a:rPr>
                  <a:t>和一般分布函数一样，在全空间的积分有限：</a:t>
                </a:r>
                <a14:m>
                  <m:oMath xmlns:m="http://schemas.openxmlformats.org/officeDocument/2006/math">
                    <m:nary>
                      <m:naryPr>
                        <m:chr m:val="∭"/>
                        <m:supHide m:val="on"/>
                        <m:ctrlPr>
                          <a:rPr lang="en-US" altLang="zh-CN" sz="2000" b="0" i="1" smtClean="0">
                            <a:latin typeface="Cambria Math" panose="02040503050406030204" pitchFamily="18" charset="0"/>
                            <a:ea typeface="微软雅黑" panose="020B0503020204020204" pitchFamily="34" charset="-122"/>
                          </a:rPr>
                        </m:ctrlPr>
                      </m:naryPr>
                      <m:sub>
                        <m:r>
                          <m:rPr>
                            <m:sty m:val="p"/>
                          </m:rPr>
                          <a:rPr lang="en-US" altLang="zh-CN" sz="2000" b="0" i="0" smtClean="0">
                            <a:latin typeface="Cambria Math" panose="02040503050406030204" pitchFamily="18" charset="0"/>
                            <a:ea typeface="微软雅黑" panose="020B0503020204020204" pitchFamily="34" charset="-122"/>
                          </a:rPr>
                          <m:t>V</m:t>
                        </m:r>
                      </m:sub>
                      <m:sup/>
                      <m:e>
                        <m:r>
                          <a:rPr lang="en-US" altLang="zh-CN" sz="2000" b="0" i="1" smtClean="0">
                            <a:latin typeface="Cambria Math" panose="02040503050406030204" pitchFamily="18" charset="0"/>
                            <a:ea typeface="微软雅黑" panose="020B0503020204020204" pitchFamily="34" charset="-122"/>
                          </a:rPr>
                          <m:t>𝑓</m:t>
                        </m:r>
                        <m:d>
                          <m:dPr>
                            <m:ctrlPr>
                              <a:rPr lang="en-US" altLang="zh-CN" sz="2000" b="0" i="1" smtClean="0">
                                <a:latin typeface="Cambria Math" panose="02040503050406030204" pitchFamily="18" charset="0"/>
                                <a:ea typeface="微软雅黑" panose="020B0503020204020204" pitchFamily="34" charset="-122"/>
                              </a:rPr>
                            </m:ctrlPr>
                          </m:dPr>
                          <m:e>
                            <m:r>
                              <a:rPr lang="en-US" altLang="zh-CN" sz="2000" b="1" i="1" smtClean="0">
                                <a:latin typeface="Cambria Math" panose="02040503050406030204" pitchFamily="18" charset="0"/>
                                <a:ea typeface="微软雅黑" panose="020B0503020204020204" pitchFamily="34" charset="-122"/>
                              </a:rPr>
                              <m:t>𝒙</m:t>
                            </m:r>
                          </m:e>
                        </m:d>
                        <m:r>
                          <m:rPr>
                            <m:sty m:val="p"/>
                          </m:rPr>
                          <a:rPr lang="en-US" altLang="zh-CN" sz="2000" b="0" i="0" smtClean="0">
                            <a:latin typeface="Cambria Math" panose="02040503050406030204" pitchFamily="18" charset="0"/>
                            <a:ea typeface="微软雅黑" panose="020B0503020204020204" pitchFamily="34" charset="-122"/>
                          </a:rPr>
                          <m:t>d</m:t>
                        </m:r>
                        <m:r>
                          <a:rPr lang="en-US" altLang="zh-CN" sz="2000" b="1" i="1" smtClean="0">
                            <a:latin typeface="Cambria Math" panose="02040503050406030204" pitchFamily="18" charset="0"/>
                            <a:ea typeface="微软雅黑" panose="020B0503020204020204" pitchFamily="34" charset="-122"/>
                          </a:rPr>
                          <m:t>𝒙</m:t>
                        </m:r>
                      </m:e>
                    </m:nary>
                    <m:r>
                      <a:rPr lang="en-US" altLang="zh-CN" sz="2000" b="0" i="1" smtClean="0">
                        <a:latin typeface="Cambria Math" panose="02040503050406030204" pitchFamily="18" charset="0"/>
                        <a:ea typeface="微软雅黑" panose="020B0503020204020204" pitchFamily="34" charset="-122"/>
                      </a:rPr>
                      <m:t>=</m:t>
                    </m:r>
                    <m:r>
                      <m:rPr>
                        <m:sty m:val="p"/>
                      </m:rPr>
                      <a:rPr lang="en-US" altLang="zh-CN" sz="2000" b="0" i="0" smtClean="0">
                        <a:latin typeface="Cambria Math" panose="02040503050406030204" pitchFamily="18" charset="0"/>
                        <a:ea typeface="微软雅黑" panose="020B0503020204020204" pitchFamily="34" charset="-122"/>
                      </a:rPr>
                      <m:t>const</m:t>
                    </m:r>
                  </m:oMath>
                </a14:m>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效果如下图所示：</a:t>
                </a:r>
                <a:endParaRPr lang="en-US" altLang="zh-CN" sz="2000" dirty="0" smtClean="0">
                  <a:latin typeface="微软雅黑" panose="020B0503020204020204" pitchFamily="34" charset="-122"/>
                  <a:ea typeface="微软雅黑" panose="020B0503020204020204" pitchFamily="34"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337185" y="1191500"/>
                <a:ext cx="11133114" cy="2012795"/>
              </a:xfrm>
              <a:prstGeom prst="rect">
                <a:avLst/>
              </a:prstGeom>
              <a:blipFill rotWithShape="0">
                <a:blip r:embed="rId5"/>
                <a:stretch>
                  <a:fillRect l="-547" b="-18127"/>
                </a:stretch>
              </a:blipFill>
            </p:spPr>
            <p:txBody>
              <a:bodyPr/>
              <a:lstStyle/>
              <a:p>
                <a:r>
                  <a:rPr lang="zh-CN" altLang="en-US">
                    <a:noFill/>
                  </a:rPr>
                  <a:t> </a:t>
                </a:r>
              </a:p>
            </p:txBody>
          </p:sp>
        </mc:Fallback>
      </mc:AlternateContent>
      <p:pic>
        <p:nvPicPr>
          <p:cNvPr id="3" name="图片 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59001" y="2750347"/>
            <a:ext cx="5048522" cy="3960000"/>
          </a:xfrm>
          <a:prstGeom prst="rect">
            <a:avLst/>
          </a:prstGeom>
        </p:spPr>
      </p:pic>
      <p:pic>
        <p:nvPicPr>
          <p:cNvPr id="6" name="图片 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42315" y="3258000"/>
            <a:ext cx="5456787" cy="3600000"/>
          </a:xfrm>
          <a:prstGeom prst="rect">
            <a:avLst/>
          </a:prstGeom>
        </p:spPr>
      </p:pic>
    </p:spTree>
    <p:extLst>
      <p:ext uri="{BB962C8B-B14F-4D97-AF65-F5344CB8AC3E}">
        <p14:creationId xmlns:p14="http://schemas.microsoft.com/office/powerpoint/2010/main" val="1474392677"/>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Dirac </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Delta function</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a16="http://schemas.microsoft.com/office/drawing/2014/main" xmlns=""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mc:Choice xmlns:a14="http://schemas.microsoft.com/office/drawing/2010/main" Requires="a14">
          <p:sp>
            <p:nvSpPr>
              <p:cNvPr id="2" name="文本框 1"/>
              <p:cNvSpPr txBox="1"/>
              <p:nvPr/>
            </p:nvSpPr>
            <p:spPr>
              <a:xfrm>
                <a:off x="847724" y="1457325"/>
                <a:ext cx="11039475" cy="4139018"/>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定义这样一种函数</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𝛿</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m:t>
                    </m:r>
                  </m:oMath>
                </a14:m>
                <a:r>
                  <a:rPr lang="zh-CN" altLang="en-US" sz="2000" dirty="0" smtClean="0">
                    <a:latin typeface="微软雅黑" panose="020B0503020204020204" pitchFamily="34" charset="-122"/>
                    <a:ea typeface="微软雅黑" panose="020B0503020204020204" pitchFamily="34" charset="-122"/>
                  </a:rPr>
                  <a:t>，满足：</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smtClean="0"/>
                  <a:t>1. </a:t>
                </a:r>
                <a14:m>
                  <m:oMath xmlns:m="http://schemas.openxmlformats.org/officeDocument/2006/math">
                    <m:r>
                      <a:rPr lang="en-US" altLang="zh-CN" sz="2000" i="1">
                        <a:latin typeface="Cambria Math" panose="02040503050406030204" pitchFamily="18" charset="0"/>
                        <a:ea typeface="微软雅黑" panose="020B0503020204020204" pitchFamily="34" charset="-122"/>
                      </a:rPr>
                      <m:t>𝛿</m:t>
                    </m:r>
                    <m:d>
                      <m:dPr>
                        <m:ctrlPr>
                          <a:rPr lang="en-US" altLang="zh-CN" sz="2000" i="1">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𝑥</m:t>
                        </m:r>
                      </m:e>
                    </m:d>
                    <m:r>
                      <a:rPr lang="en-US" altLang="zh-CN" sz="2000" b="1" i="1" smtClean="0">
                        <a:latin typeface="Cambria Math" panose="02040503050406030204" pitchFamily="18" charset="0"/>
                        <a:ea typeface="微软雅黑" panose="020B0503020204020204" pitchFamily="34" charset="-122"/>
                      </a:rPr>
                      <m:t>= </m:t>
                    </m:r>
                    <m:d>
                      <m:dPr>
                        <m:begChr m:val="{"/>
                        <m:endChr m:val=""/>
                        <m:ctrlPr>
                          <a:rPr lang="en-US" altLang="zh-CN" sz="2000" b="1" i="1" smtClean="0">
                            <a:latin typeface="Cambria Math" panose="02040503050406030204" pitchFamily="18" charset="0"/>
                            <a:ea typeface="微软雅黑" panose="020B0503020204020204" pitchFamily="34" charset="-122"/>
                          </a:rPr>
                        </m:ctrlPr>
                      </m:dPr>
                      <m:e>
                        <m:eqArr>
                          <m:eqArrPr>
                            <m:ctrlPr>
                              <a:rPr lang="en-US" altLang="zh-CN" sz="2000" i="1" smtClean="0">
                                <a:latin typeface="Cambria Math" panose="02040503050406030204" pitchFamily="18" charset="0"/>
                                <a:ea typeface="微软雅黑" panose="020B0503020204020204" pitchFamily="34" charset="-122"/>
                              </a:rPr>
                            </m:ctrlPr>
                          </m:eqArrPr>
                          <m:e>
                            <m:r>
                              <a:rPr lang="en-US" altLang="zh-CN" sz="2000" b="0" i="1" smtClean="0">
                                <a:latin typeface="Cambria Math" panose="02040503050406030204" pitchFamily="18" charset="0"/>
                                <a:ea typeface="微软雅黑" panose="020B0503020204020204" pitchFamily="34" charset="-122"/>
                              </a:rPr>
                              <m:t>∞,        </m:t>
                            </m:r>
                            <m:r>
                              <a:rPr lang="en-US" altLang="zh-CN" sz="2000" b="0" i="1" smtClean="0">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=0</m:t>
                            </m:r>
                          </m:e>
                          <m:e>
                            <m:r>
                              <a:rPr lang="en-US" altLang="zh-CN" sz="2000" b="0" i="1" smtClean="0">
                                <a:latin typeface="Cambria Math" panose="02040503050406030204" pitchFamily="18" charset="0"/>
                                <a:ea typeface="微软雅黑" panose="020B0503020204020204" pitchFamily="34" charset="-122"/>
                              </a:rPr>
                              <m:t>0,         </m:t>
                            </m:r>
                            <m:r>
                              <a:rPr lang="en-US" altLang="zh-CN" sz="2000" b="0" i="1" smtClean="0">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≠0</m:t>
                            </m:r>
                          </m:e>
                        </m:eqArr>
                      </m:e>
                    </m:d>
                  </m:oMath>
                </a14:m>
                <a:endParaRPr lang="en-US" altLang="zh-CN" sz="2000" dirty="0" smtClean="0"/>
              </a:p>
              <a:p>
                <a:pPr>
                  <a:lnSpc>
                    <a:spcPct val="150000"/>
                  </a:lnSpc>
                </a:pPr>
                <a:r>
                  <a:rPr lang="en-US" altLang="zh-CN" sz="2000" dirty="0" smtClean="0"/>
                  <a:t>2. </a:t>
                </a:r>
                <a14:m>
                  <m:oMath xmlns:m="http://schemas.openxmlformats.org/officeDocument/2006/math">
                    <m:nary>
                      <m:naryPr>
                        <m:ctrlPr>
                          <a:rPr lang="en-US" altLang="zh-CN" sz="2000" b="0" i="1" smtClean="0">
                            <a:latin typeface="Cambria Math" panose="02040503050406030204" pitchFamily="18" charset="0"/>
                            <a:ea typeface="微软雅黑" panose="020B0503020204020204" pitchFamily="34" charset="-122"/>
                          </a:rPr>
                        </m:ctrlPr>
                      </m:naryPr>
                      <m:sub>
                        <m:r>
                          <m:rPr>
                            <m:brk m:alnAt="23"/>
                          </m:rP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m:t>
                        </m:r>
                      </m:sub>
                      <m:sup>
                        <m:r>
                          <a:rPr lang="en-US" altLang="zh-CN" sz="2000" b="0" i="1" smtClean="0">
                            <a:latin typeface="Cambria Math" panose="02040503050406030204" pitchFamily="18" charset="0"/>
                            <a:ea typeface="微软雅黑" panose="020B0503020204020204" pitchFamily="34" charset="-122"/>
                          </a:rPr>
                          <m:t>∞</m:t>
                        </m:r>
                      </m:sup>
                      <m:e>
                        <m:r>
                          <a:rPr lang="en-US" altLang="zh-CN" sz="2000" i="1">
                            <a:latin typeface="Cambria Math" panose="02040503050406030204" pitchFamily="18" charset="0"/>
                            <a:ea typeface="微软雅黑" panose="020B0503020204020204" pitchFamily="34" charset="-122"/>
                          </a:rPr>
                          <m:t>𝛿</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r>
                          <m:rPr>
                            <m:sty m:val="p"/>
                          </m:rPr>
                          <a:rPr lang="en-US" altLang="zh-CN" sz="2000" b="0" i="0" smtClean="0">
                            <a:latin typeface="Cambria Math" panose="02040503050406030204" pitchFamily="18" charset="0"/>
                            <a:ea typeface="微软雅黑" panose="020B0503020204020204" pitchFamily="34" charset="-122"/>
                          </a:rPr>
                          <m:t>d</m:t>
                        </m:r>
                        <m:r>
                          <a:rPr lang="en-US" altLang="zh-CN" sz="2000" b="0" i="1" smtClean="0">
                            <a:latin typeface="Cambria Math" panose="02040503050406030204" pitchFamily="18" charset="0"/>
                            <a:ea typeface="微软雅黑" panose="020B0503020204020204" pitchFamily="34" charset="-122"/>
                          </a:rPr>
                          <m:t>𝑥</m:t>
                        </m:r>
                      </m:e>
                    </m:nary>
                    <m:r>
                      <a:rPr lang="en-US" altLang="zh-CN" sz="2000" b="0" i="1" smtClean="0">
                        <a:latin typeface="Cambria Math" panose="02040503050406030204" pitchFamily="18" charset="0"/>
                        <a:ea typeface="微软雅黑" panose="020B0503020204020204" pitchFamily="34" charset="-122"/>
                      </a:rPr>
                      <m:t>=1</m:t>
                    </m:r>
                  </m:oMath>
                </a14:m>
                <a:endParaRPr lang="en-US" altLang="zh-CN" sz="2000" dirty="0" smtClean="0"/>
              </a:p>
              <a:p>
                <a:pPr>
                  <a:lnSpc>
                    <a:spcPct val="150000"/>
                  </a:lnSpc>
                </a:pPr>
                <a:r>
                  <a:rPr lang="zh-CN" altLang="en-US" sz="2000" dirty="0" smtClean="0">
                    <a:latin typeface="Arial" panose="020B0604020202020204" pitchFamily="34" charset="0"/>
                    <a:ea typeface="微软雅黑" panose="020B0503020204020204" pitchFamily="34" charset="-122"/>
                    <a:cs typeface="Arial" panose="020B0604020202020204" pitchFamily="34" charset="0"/>
                  </a:rPr>
                  <a:t>最先由</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Dirac</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提出，称为</a:t>
                </a:r>
                <a:r>
                  <a:rPr lang="en-US" altLang="zh-CN" sz="2000" dirty="0" smtClean="0">
                    <a:solidFill>
                      <a:srgbClr val="FF0000"/>
                    </a:solidFill>
                    <a:latin typeface="Arial" panose="020B0604020202020204" pitchFamily="34" charset="0"/>
                    <a:ea typeface="微软雅黑" panose="020B0503020204020204" pitchFamily="34" charset="-122"/>
                    <a:cs typeface="Arial" panose="020B0604020202020204" pitchFamily="34" charset="0"/>
                  </a:rPr>
                  <a:t>Dirac delta</a:t>
                </a:r>
                <a:r>
                  <a:rPr lang="zh-CN" altLang="en-US" sz="2000" dirty="0" smtClean="0">
                    <a:solidFill>
                      <a:srgbClr val="FF0000"/>
                    </a:solidFill>
                    <a:latin typeface="Arial" panose="020B0604020202020204" pitchFamily="34" charset="0"/>
                    <a:ea typeface="微软雅黑" panose="020B0503020204020204" pitchFamily="34" charset="-122"/>
                    <a:cs typeface="Arial" panose="020B0604020202020204" pitchFamily="34" charset="0"/>
                  </a:rPr>
                  <a:t>函数</a:t>
                </a:r>
                <a:endParaRPr lang="en-US" altLang="zh-CN" sz="2000" dirty="0" smtClean="0">
                  <a:solidFill>
                    <a:srgbClr val="FF0000"/>
                  </a:solidFill>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zh-CN" altLang="en-US" sz="2000" dirty="0">
                    <a:latin typeface="微软雅黑" panose="020B0503020204020204" pitchFamily="34" charset="-122"/>
                    <a:ea typeface="微软雅黑" panose="020B0503020204020204" pitchFamily="34" charset="-122"/>
                  </a:rPr>
                  <a:t>这</a:t>
                </a:r>
                <a:r>
                  <a:rPr lang="zh-CN" altLang="en-US" sz="2000" dirty="0" smtClean="0">
                    <a:latin typeface="微软雅黑" panose="020B0503020204020204" pitchFamily="34" charset="-122"/>
                    <a:ea typeface="微软雅黑" panose="020B0503020204020204" pitchFamily="34" charset="-122"/>
                  </a:rPr>
                  <a:t>一函数显然不满足函数的常规定义，是一个广义函数</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相较于函数在定义域上的函数值，函数的积分定义更为重要，正是由于保证函数在全空间积分是有限值，才需要函数在</a:t>
                </a:r>
                <a14:m>
                  <m:oMath xmlns:m="http://schemas.openxmlformats.org/officeDocument/2006/math">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=0</m:t>
                    </m:r>
                  </m:oMath>
                </a14:m>
                <a:r>
                  <a:rPr lang="zh-CN" altLang="en-US" sz="2000" dirty="0" smtClean="0">
                    <a:latin typeface="微软雅黑" panose="020B0503020204020204" pitchFamily="34" charset="-122"/>
                    <a:ea typeface="微软雅黑" panose="020B0503020204020204" pitchFamily="34" charset="-122"/>
                  </a:rPr>
                  <a:t>处必须为无穷大，否则按照积分的定义</a:t>
                </a:r>
                <a:r>
                  <a:rPr lang="zh-CN" altLang="en-US" sz="2000" dirty="0" smtClean="0"/>
                  <a:t>，</a:t>
                </a:r>
                <a14:m>
                  <m:oMath xmlns:m="http://schemas.openxmlformats.org/officeDocument/2006/math">
                    <m:nary>
                      <m:naryPr>
                        <m:ctrlPr>
                          <a:rPr lang="en-US" altLang="zh-CN" sz="2000" i="1">
                            <a:latin typeface="Cambria Math" panose="02040503050406030204" pitchFamily="18" charset="0"/>
                            <a:ea typeface="微软雅黑" panose="020B0503020204020204" pitchFamily="34" charset="-122"/>
                          </a:rPr>
                        </m:ctrlPr>
                      </m:naryPr>
                      <m:sub>
                        <m:r>
                          <m:rPr>
                            <m:brk m:alnAt="23"/>
                          </m:rP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m:t>
                        </m:r>
                      </m:sub>
                      <m:sup>
                        <m:r>
                          <a:rPr lang="en-US" altLang="zh-CN" sz="2000" i="1">
                            <a:latin typeface="Cambria Math" panose="02040503050406030204" pitchFamily="18" charset="0"/>
                            <a:ea typeface="微软雅黑" panose="020B0503020204020204" pitchFamily="34" charset="-122"/>
                          </a:rPr>
                          <m:t>∞</m:t>
                        </m:r>
                      </m:sup>
                      <m:e>
                        <m:r>
                          <a:rPr lang="en-US" altLang="zh-CN" sz="2000" i="1">
                            <a:latin typeface="Cambria Math" panose="02040503050406030204" pitchFamily="18" charset="0"/>
                            <a:ea typeface="微软雅黑" panose="020B0503020204020204" pitchFamily="34" charset="-122"/>
                          </a:rPr>
                          <m:t>𝛿</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e>
                    </m:nary>
                    <m:r>
                      <a:rPr lang="en-US" altLang="zh-CN" sz="2000" i="1">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0</m:t>
                    </m:r>
                  </m:oMath>
                </a14:m>
                <a:endParaRPr lang="en-US" altLang="zh-CN" sz="2000" dirty="0"/>
              </a:p>
            </p:txBody>
          </p:sp>
        </mc:Choice>
        <mc:Fallback>
          <p:sp>
            <p:nvSpPr>
              <p:cNvPr id="2" name="文本框 1"/>
              <p:cNvSpPr txBox="1">
                <a:spLocks noRot="1" noChangeAspect="1" noMove="1" noResize="1" noEditPoints="1" noAdjustHandles="1" noChangeArrowheads="1" noChangeShapeType="1" noTextEdit="1"/>
              </p:cNvSpPr>
              <p:nvPr/>
            </p:nvSpPr>
            <p:spPr>
              <a:xfrm>
                <a:off x="847724" y="1457325"/>
                <a:ext cx="11039475" cy="4139018"/>
              </a:xfrm>
              <a:prstGeom prst="rect">
                <a:avLst/>
              </a:prstGeom>
              <a:blipFill rotWithShape="0">
                <a:blip r:embed="rId5"/>
                <a:stretch>
                  <a:fillRect l="-1988" b="-1944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98621943"/>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Dirac </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Delta function</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a16="http://schemas.microsoft.com/office/drawing/2014/main" xmlns=""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mc:Choice xmlns:a14="http://schemas.microsoft.com/office/drawing/2010/main" Requires="a14">
          <p:sp>
            <p:nvSpPr>
              <p:cNvPr id="2" name="文本框 1"/>
              <p:cNvSpPr txBox="1"/>
              <p:nvPr/>
            </p:nvSpPr>
            <p:spPr>
              <a:xfrm>
                <a:off x="270510" y="746125"/>
                <a:ext cx="7815727" cy="3747949"/>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几个重要的性质：</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en-US" altLang="zh-CN" sz="2000" dirty="0" smtClean="0">
                    <a:latin typeface="微软雅黑" panose="020B0503020204020204" pitchFamily="34" charset="-122"/>
                    <a:ea typeface="微软雅黑" panose="020B0503020204020204" pitchFamily="34" charset="-122"/>
                  </a:rPr>
                  <a:t>1. </a:t>
                </a:r>
                <a:r>
                  <a:rPr lang="zh-CN" altLang="en-US" sz="2000" dirty="0" smtClean="0">
                    <a:latin typeface="微软雅黑" panose="020B0503020204020204" pitchFamily="34" charset="-122"/>
                    <a:ea typeface="微软雅黑" panose="020B0503020204020204" pitchFamily="34" charset="-122"/>
                  </a:rPr>
                  <a:t>筛选性质：</a:t>
                </a:r>
                <a14:m>
                  <m:oMath xmlns:m="http://schemas.openxmlformats.org/officeDocument/2006/math">
                    <m:nary>
                      <m:naryPr>
                        <m:ctrlPr>
                          <a:rPr lang="en-US" altLang="zh-CN" sz="2000" b="0" i="1" smtClean="0">
                            <a:latin typeface="Cambria Math" panose="02040503050406030204" pitchFamily="18" charset="0"/>
                            <a:ea typeface="微软雅黑" panose="020B0503020204020204" pitchFamily="34" charset="-122"/>
                          </a:rPr>
                        </m:ctrlPr>
                      </m:naryPr>
                      <m:sub>
                        <m:r>
                          <m:rPr>
                            <m:brk m:alnAt="23"/>
                          </m:rP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m:t>
                        </m:r>
                      </m:sub>
                      <m:sup>
                        <m:r>
                          <a:rPr lang="en-US" altLang="zh-CN" sz="2000" b="0" i="1" smtClean="0">
                            <a:latin typeface="Cambria Math" panose="02040503050406030204" pitchFamily="18" charset="0"/>
                            <a:ea typeface="微软雅黑" panose="020B0503020204020204" pitchFamily="34" charset="-122"/>
                          </a:rPr>
                          <m:t>∞</m:t>
                        </m:r>
                      </m:sup>
                      <m:e>
                        <m:r>
                          <a:rPr lang="en-US" altLang="zh-CN" sz="2000" i="1">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r>
                          <a:rPr lang="en-US" altLang="zh-CN" sz="2000" b="0" i="1" smtClean="0">
                            <a:latin typeface="Cambria Math" panose="02040503050406030204" pitchFamily="18" charset="0"/>
                            <a:ea typeface="微软雅黑" panose="020B0503020204020204" pitchFamily="34" charset="-122"/>
                          </a:rPr>
                          <m:t>𝛿</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𝑥</m:t>
                            </m:r>
                          </m:e>
                          <m:sub>
                            <m:r>
                              <a:rPr lang="en-US" altLang="zh-CN" sz="2000" b="0" i="1" smtClean="0">
                                <a:latin typeface="Cambria Math" panose="02040503050406030204" pitchFamily="18" charset="0"/>
                                <a:ea typeface="微软雅黑" panose="020B0503020204020204" pitchFamily="34" charset="-122"/>
                              </a:rPr>
                              <m:t>0</m:t>
                            </m:r>
                          </m:sub>
                        </m:sSub>
                        <m:r>
                          <a:rPr lang="en-US" altLang="zh-CN" sz="2000" b="0" i="1" smtClean="0">
                            <a:latin typeface="Cambria Math" panose="02040503050406030204" pitchFamily="18" charset="0"/>
                            <a:ea typeface="微软雅黑" panose="020B0503020204020204" pitchFamily="34" charset="-122"/>
                          </a:rPr>
                          <m:t>)</m:t>
                        </m:r>
                      </m:e>
                    </m:nary>
                    <m:r>
                      <m:rPr>
                        <m:sty m:val="p"/>
                      </m:rPr>
                      <a:rPr lang="en-US" altLang="zh-CN" sz="2000" b="0" i="0" smtClean="0">
                        <a:latin typeface="Cambria Math" panose="02040503050406030204" pitchFamily="18" charset="0"/>
                        <a:ea typeface="微软雅黑" panose="020B0503020204020204" pitchFamily="34" charset="-122"/>
                      </a:rPr>
                      <m:t>d</m:t>
                    </m:r>
                    <m:r>
                      <a:rPr lang="en-US" altLang="zh-CN" sz="2000" b="0" i="1" smtClean="0">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𝑓</m:t>
                    </m:r>
                    <m:d>
                      <m:dPr>
                        <m:ctrlPr>
                          <a:rPr lang="en-US" altLang="zh-CN" sz="2000" b="0" i="1" smtClean="0">
                            <a:latin typeface="Cambria Math" panose="02040503050406030204" pitchFamily="18" charset="0"/>
                            <a:ea typeface="微软雅黑" panose="020B0503020204020204" pitchFamily="34" charset="-122"/>
                          </a:rPr>
                        </m:ctrlPr>
                      </m:dPr>
                      <m:e>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𝑥</m:t>
                            </m:r>
                          </m:e>
                          <m:sub>
                            <m:r>
                              <a:rPr lang="en-US" altLang="zh-CN" sz="2000" b="0" i="1" smtClean="0">
                                <a:latin typeface="Cambria Math" panose="02040503050406030204" pitchFamily="18" charset="0"/>
                                <a:ea typeface="微软雅黑" panose="020B0503020204020204" pitchFamily="34" charset="-122"/>
                              </a:rPr>
                              <m:t>0</m:t>
                            </m:r>
                          </m:sub>
                        </m:sSub>
                      </m:e>
                    </m:d>
                  </m:oMath>
                </a14:m>
                <a:endParaRPr lang="en-US" altLang="zh-CN" sz="2000" dirty="0" smtClean="0"/>
              </a:p>
              <a:p>
                <a:pPr>
                  <a:lnSpc>
                    <a:spcPct val="150000"/>
                  </a:lnSpc>
                </a:pPr>
                <a:endParaRPr lang="en-US" altLang="zh-CN" sz="2000" dirty="0" smtClean="0"/>
              </a:p>
              <a:p>
                <a:pPr>
                  <a:lnSpc>
                    <a:spcPct val="150000"/>
                  </a:lnSpc>
                </a:pPr>
                <a:r>
                  <a:rPr lang="zh-CN" altLang="en-US" sz="1600" dirty="0" smtClean="0">
                    <a:latin typeface="微软雅黑" panose="020B0503020204020204" pitchFamily="34" charset="-122"/>
                    <a:ea typeface="微软雅黑" panose="020B0503020204020204" pitchFamily="34" charset="-122"/>
                  </a:rPr>
                  <a:t>证明：</a:t>
                </a:r>
                <a14:m>
                  <m:oMath xmlns:m="http://schemas.openxmlformats.org/officeDocument/2006/math">
                    <m:r>
                      <a:rPr lang="en-US" altLang="zh-CN" sz="1600" i="1">
                        <a:latin typeface="Cambria Math" panose="02040503050406030204" pitchFamily="18" charset="0"/>
                        <a:ea typeface="微软雅黑" panose="020B0503020204020204" pitchFamily="34" charset="-122"/>
                      </a:rPr>
                      <m:t>𝑥</m:t>
                    </m:r>
                    <m:r>
                      <a:rPr lang="en-US" altLang="zh-CN" sz="1600" b="0" i="1" smtClean="0">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0</m:t>
                        </m:r>
                      </m:sub>
                    </m:sSub>
                  </m:oMath>
                </a14:m>
                <a:r>
                  <a:rPr lang="zh-CN" altLang="en-US" sz="1600" dirty="0" smtClean="0">
                    <a:latin typeface="微软雅黑" panose="020B0503020204020204" pitchFamily="34" charset="-122"/>
                    <a:ea typeface="微软雅黑" panose="020B0503020204020204" pitchFamily="34" charset="-122"/>
                  </a:rPr>
                  <a:t>时</a:t>
                </a:r>
                <a14:m>
                  <m:oMath xmlns:m="http://schemas.openxmlformats.org/officeDocument/2006/math">
                    <m:r>
                      <a:rPr lang="en-US" altLang="zh-CN" sz="1600" i="1">
                        <a:latin typeface="Cambria Math" panose="02040503050406030204" pitchFamily="18" charset="0"/>
                        <a:ea typeface="微软雅黑" panose="020B0503020204020204" pitchFamily="34" charset="-122"/>
                      </a:rPr>
                      <m:t>𝛿</m:t>
                    </m:r>
                    <m:d>
                      <m:dPr>
                        <m:ctrlPr>
                          <a:rPr lang="en-US" altLang="zh-CN" sz="1600" i="1">
                            <a:latin typeface="Cambria Math" panose="02040503050406030204" pitchFamily="18" charset="0"/>
                            <a:ea typeface="微软雅黑" panose="020B0503020204020204" pitchFamily="34" charset="-122"/>
                          </a:rPr>
                        </m:ctrlPr>
                      </m:dPr>
                      <m:e>
                        <m:r>
                          <a:rPr lang="en-US" altLang="zh-CN" sz="1600" i="1">
                            <a:latin typeface="Cambria Math" panose="02040503050406030204" pitchFamily="18" charset="0"/>
                            <a:ea typeface="微软雅黑" panose="020B0503020204020204" pitchFamily="34" charset="-122"/>
                          </a:rPr>
                          <m:t>𝑥</m:t>
                        </m:r>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0</m:t>
                            </m:r>
                          </m:sub>
                        </m:sSub>
                      </m:e>
                    </m:d>
                    <m:r>
                      <a:rPr lang="en-US" altLang="zh-CN" sz="1600" b="0" i="1" smtClean="0">
                        <a:latin typeface="Cambria Math" panose="02040503050406030204" pitchFamily="18" charset="0"/>
                        <a:ea typeface="微软雅黑" panose="020B0503020204020204" pitchFamily="34" charset="-122"/>
                      </a:rPr>
                      <m:t>=0</m:t>
                    </m:r>
                  </m:oMath>
                </a14:m>
                <a:r>
                  <a:rPr lang="zh-CN" altLang="en-US" sz="1600" dirty="0" smtClean="0">
                    <a:latin typeface="微软雅黑" panose="020B0503020204020204" pitchFamily="34" charset="-122"/>
                    <a:ea typeface="微软雅黑" panose="020B0503020204020204" pitchFamily="34" charset="-122"/>
                  </a:rPr>
                  <a:t>，积分结果为</a:t>
                </a:r>
                <a:r>
                  <a:rPr lang="en-US" altLang="zh-CN" sz="1600" dirty="0" smtClean="0">
                    <a:latin typeface="微软雅黑" panose="020B0503020204020204" pitchFamily="34" charset="-122"/>
                    <a:ea typeface="微软雅黑" panose="020B0503020204020204" pitchFamily="34" charset="-122"/>
                  </a:rPr>
                  <a:t>0</a:t>
                </a:r>
              </a:p>
              <a:p>
                <a:pPr>
                  <a:lnSpc>
                    <a:spcPct val="150000"/>
                  </a:lnSpc>
                </a:pPr>
                <a:r>
                  <a:rPr lang="zh-CN" altLang="en-US" sz="1600" dirty="0" smtClean="0">
                    <a:latin typeface="微软雅黑" panose="020B0503020204020204" pitchFamily="34" charset="-122"/>
                    <a:ea typeface="微软雅黑" panose="020B0503020204020204" pitchFamily="34" charset="-122"/>
                  </a:rPr>
                  <a:t>只考虑</a:t>
                </a:r>
                <a14:m>
                  <m:oMath xmlns:m="http://schemas.openxmlformats.org/officeDocument/2006/math">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0</m:t>
                        </m:r>
                      </m:sub>
                    </m:sSub>
                  </m:oMath>
                </a14:m>
                <a:r>
                  <a:rPr lang="zh-CN" altLang="en-US" sz="1600" dirty="0" smtClean="0">
                    <a:latin typeface="微软雅黑" panose="020B0503020204020204" pitchFamily="34" charset="-122"/>
                    <a:ea typeface="微软雅黑" panose="020B0503020204020204" pitchFamily="34" charset="-122"/>
                  </a:rPr>
                  <a:t>附近任意小的一个区间</a:t>
                </a:r>
                <a14:m>
                  <m:oMath xmlns:m="http://schemas.openxmlformats.org/officeDocument/2006/math">
                    <m:r>
                      <a:rPr lang="en-US" altLang="zh-CN" sz="1600" i="1" dirty="0" smtClean="0">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0</m:t>
                        </m:r>
                      </m:sub>
                    </m:sSub>
                    <m:r>
                      <a:rPr lang="en-US" altLang="zh-CN" sz="1600" b="0" i="1" smtClean="0">
                        <a:latin typeface="Cambria Math" panose="02040503050406030204" pitchFamily="18" charset="0"/>
                        <a:ea typeface="微软雅黑" panose="020B0503020204020204" pitchFamily="34" charset="-122"/>
                      </a:rPr>
                      <m:t>−</m:t>
                    </m:r>
                    <m:r>
                      <a:rPr lang="en-US" altLang="zh-CN" sz="1600" b="0" i="1" smtClean="0">
                        <a:latin typeface="Cambria Math" panose="02040503050406030204" pitchFamily="18" charset="0"/>
                        <a:ea typeface="微软雅黑" panose="020B0503020204020204" pitchFamily="34" charset="-122"/>
                      </a:rPr>
                      <m:t>𝛿</m:t>
                    </m:r>
                    <m:r>
                      <a:rPr lang="en-US" altLang="zh-CN" sz="1600" b="0" i="1" smtClean="0">
                        <a:latin typeface="Cambria Math" panose="02040503050406030204" pitchFamily="18" charset="0"/>
                        <a:ea typeface="微软雅黑" panose="020B0503020204020204" pitchFamily="34" charset="-122"/>
                      </a:rPr>
                      <m:t>, </m:t>
                    </m:r>
                    <m:sSub>
                      <m:sSubPr>
                        <m:ctrlPr>
                          <a:rPr lang="en-US" altLang="zh-CN" sz="1600" b="0" i="1" smtClean="0">
                            <a:latin typeface="Cambria Math" panose="02040503050406030204" pitchFamily="18" charset="0"/>
                            <a:ea typeface="微软雅黑" panose="020B0503020204020204" pitchFamily="34" charset="-122"/>
                          </a:rPr>
                        </m:ctrlPr>
                      </m:sSubPr>
                      <m:e>
                        <m:r>
                          <a:rPr lang="en-US" altLang="zh-CN" sz="1600" b="0" i="1" smtClean="0">
                            <a:latin typeface="Cambria Math" panose="02040503050406030204" pitchFamily="18" charset="0"/>
                            <a:ea typeface="微软雅黑" panose="020B0503020204020204" pitchFamily="34" charset="-122"/>
                          </a:rPr>
                          <m:t>𝑥</m:t>
                        </m:r>
                      </m:e>
                      <m:sub>
                        <m:r>
                          <a:rPr lang="en-US" altLang="zh-CN" sz="1600" b="0" i="1" smtClean="0">
                            <a:latin typeface="Cambria Math" panose="02040503050406030204" pitchFamily="18" charset="0"/>
                            <a:ea typeface="微软雅黑" panose="020B0503020204020204" pitchFamily="34" charset="-122"/>
                          </a:rPr>
                          <m:t>0</m:t>
                        </m:r>
                      </m:sub>
                    </m:sSub>
                    <m:r>
                      <a:rPr lang="en-US" altLang="zh-CN" sz="1600" b="0" i="1" smtClean="0">
                        <a:latin typeface="Cambria Math" panose="02040503050406030204" pitchFamily="18" charset="0"/>
                        <a:ea typeface="微软雅黑" panose="020B0503020204020204" pitchFamily="34" charset="-122"/>
                      </a:rPr>
                      <m:t>+</m:t>
                    </m:r>
                    <m:r>
                      <a:rPr lang="en-US" altLang="zh-CN" sz="1600" b="0" i="1" smtClean="0">
                        <a:latin typeface="Cambria Math" panose="02040503050406030204" pitchFamily="18" charset="0"/>
                        <a:ea typeface="微软雅黑" panose="020B0503020204020204" pitchFamily="34" charset="-122"/>
                      </a:rPr>
                      <m:t>𝛿</m:t>
                    </m:r>
                    <m:r>
                      <a:rPr lang="en-US" altLang="zh-CN" sz="1600" b="0" i="1" smtClean="0">
                        <a:latin typeface="Cambria Math" panose="02040503050406030204" pitchFamily="18" charset="0"/>
                        <a:ea typeface="微软雅黑" panose="020B0503020204020204" pitchFamily="34" charset="-122"/>
                      </a:rPr>
                      <m:t>]</m:t>
                    </m:r>
                  </m:oMath>
                </a14:m>
                <a:r>
                  <a:rPr lang="zh-CN" altLang="en-US" sz="1600" dirty="0" smtClean="0">
                    <a:latin typeface="微软雅黑" panose="020B0503020204020204" pitchFamily="34" charset="-122"/>
                    <a:ea typeface="微软雅黑" panose="020B0503020204020204" pitchFamily="34" charset="-122"/>
                  </a:rPr>
                  <a:t>和积分</a:t>
                </a:r>
                <a14:m>
                  <m:oMath xmlns:m="http://schemas.openxmlformats.org/officeDocument/2006/math">
                    <m:nary>
                      <m:naryPr>
                        <m:ctrlPr>
                          <a:rPr lang="en-US" altLang="zh-CN" sz="1600" i="1">
                            <a:latin typeface="Cambria Math" panose="02040503050406030204" pitchFamily="18" charset="0"/>
                            <a:ea typeface="微软雅黑" panose="020B0503020204020204" pitchFamily="34" charset="-122"/>
                          </a:rPr>
                        </m:ctrlPr>
                      </m:naryPr>
                      <m:sub>
                        <m:sSub>
                          <m:sSubPr>
                            <m:ctrlPr>
                              <a:rPr lang="en-US" altLang="zh-CN" sz="1600" b="0" i="1" smtClean="0">
                                <a:latin typeface="Cambria Math" panose="02040503050406030204" pitchFamily="18" charset="0"/>
                                <a:ea typeface="微软雅黑" panose="020B0503020204020204" pitchFamily="34" charset="-122"/>
                              </a:rPr>
                            </m:ctrlPr>
                          </m:sSubPr>
                          <m:e>
                            <m:r>
                              <a:rPr lang="en-US" altLang="zh-CN" sz="1600" b="0" i="1" smtClean="0">
                                <a:latin typeface="Cambria Math" panose="02040503050406030204" pitchFamily="18" charset="0"/>
                                <a:ea typeface="微软雅黑" panose="020B0503020204020204" pitchFamily="34" charset="-122"/>
                              </a:rPr>
                              <m:t>𝑥</m:t>
                            </m:r>
                          </m:e>
                          <m:sub>
                            <m:r>
                              <a:rPr lang="en-US" altLang="zh-CN" sz="1600" b="0" i="1" smtClean="0">
                                <a:latin typeface="Cambria Math" panose="02040503050406030204" pitchFamily="18" charset="0"/>
                                <a:ea typeface="微软雅黑" panose="020B0503020204020204" pitchFamily="34" charset="-122"/>
                              </a:rPr>
                              <m:t>0</m:t>
                            </m:r>
                          </m:sub>
                        </m:sSub>
                        <m:r>
                          <a:rPr lang="en-US" altLang="zh-CN" sz="1600" b="0" i="1" smtClean="0">
                            <a:latin typeface="Cambria Math" panose="02040503050406030204" pitchFamily="18" charset="0"/>
                            <a:ea typeface="微软雅黑" panose="020B0503020204020204" pitchFamily="34" charset="-122"/>
                          </a:rPr>
                          <m:t>−</m:t>
                        </m:r>
                        <m:r>
                          <a:rPr lang="en-US" altLang="zh-CN" sz="1600" b="0" i="1" smtClean="0">
                            <a:latin typeface="Cambria Math" panose="02040503050406030204" pitchFamily="18" charset="0"/>
                            <a:ea typeface="微软雅黑" panose="020B0503020204020204" pitchFamily="34" charset="-122"/>
                          </a:rPr>
                          <m:t>𝛿</m:t>
                        </m:r>
                      </m:sub>
                      <m:sup>
                        <m:sSub>
                          <m:sSubPr>
                            <m:ctrlPr>
                              <a:rPr lang="en-US" altLang="zh-CN" sz="1600" b="0" i="1" smtClean="0">
                                <a:latin typeface="Cambria Math" panose="02040503050406030204" pitchFamily="18" charset="0"/>
                                <a:ea typeface="微软雅黑" panose="020B0503020204020204" pitchFamily="34" charset="-122"/>
                              </a:rPr>
                            </m:ctrlPr>
                          </m:sSubPr>
                          <m:e>
                            <m:r>
                              <a:rPr lang="en-US" altLang="zh-CN" sz="1600" b="0" i="1" smtClean="0">
                                <a:latin typeface="Cambria Math" panose="02040503050406030204" pitchFamily="18" charset="0"/>
                                <a:ea typeface="微软雅黑" panose="020B0503020204020204" pitchFamily="34" charset="-122"/>
                              </a:rPr>
                              <m:t>𝑥</m:t>
                            </m:r>
                          </m:e>
                          <m:sub>
                            <m:r>
                              <a:rPr lang="en-US" altLang="zh-CN" sz="1600" b="0" i="1" smtClean="0">
                                <a:latin typeface="Cambria Math" panose="02040503050406030204" pitchFamily="18" charset="0"/>
                                <a:ea typeface="微软雅黑" panose="020B0503020204020204" pitchFamily="34" charset="-122"/>
                              </a:rPr>
                              <m:t>0</m:t>
                            </m:r>
                          </m:sub>
                        </m:sSub>
                        <m:r>
                          <a:rPr lang="en-US" altLang="zh-CN" sz="1600" b="0" i="1" smtClean="0">
                            <a:latin typeface="Cambria Math" panose="02040503050406030204" pitchFamily="18" charset="0"/>
                            <a:ea typeface="微软雅黑" panose="020B0503020204020204" pitchFamily="34" charset="-122"/>
                          </a:rPr>
                          <m:t>+</m:t>
                        </m:r>
                        <m:r>
                          <a:rPr lang="en-US" altLang="zh-CN" sz="1600" b="0" i="1" smtClean="0">
                            <a:latin typeface="Cambria Math" panose="02040503050406030204" pitchFamily="18" charset="0"/>
                            <a:ea typeface="微软雅黑" panose="020B0503020204020204" pitchFamily="34" charset="-122"/>
                          </a:rPr>
                          <m:t>𝛿</m:t>
                        </m:r>
                      </m:sup>
                      <m:e>
                        <m:r>
                          <a:rPr lang="en-US" altLang="zh-CN" sz="1600" i="1">
                            <a:latin typeface="Cambria Math" panose="02040503050406030204" pitchFamily="18" charset="0"/>
                            <a:ea typeface="微软雅黑" panose="020B0503020204020204" pitchFamily="34" charset="-122"/>
                          </a:rPr>
                          <m:t>𝑓</m:t>
                        </m:r>
                        <m:d>
                          <m:dPr>
                            <m:ctrlPr>
                              <a:rPr lang="en-US" altLang="zh-CN" sz="1600" i="1">
                                <a:latin typeface="Cambria Math" panose="02040503050406030204" pitchFamily="18" charset="0"/>
                                <a:ea typeface="微软雅黑" panose="020B0503020204020204" pitchFamily="34" charset="-122"/>
                              </a:rPr>
                            </m:ctrlPr>
                          </m:dPr>
                          <m:e>
                            <m:r>
                              <a:rPr lang="en-US" altLang="zh-CN" sz="1600" i="1">
                                <a:latin typeface="Cambria Math" panose="02040503050406030204" pitchFamily="18" charset="0"/>
                                <a:ea typeface="微软雅黑" panose="020B0503020204020204" pitchFamily="34" charset="-122"/>
                              </a:rPr>
                              <m:t>𝑥</m:t>
                            </m:r>
                          </m:e>
                        </m:d>
                        <m:r>
                          <a:rPr lang="en-US" altLang="zh-CN" sz="1600" i="1">
                            <a:latin typeface="Cambria Math" panose="02040503050406030204" pitchFamily="18" charset="0"/>
                            <a:ea typeface="微软雅黑" panose="020B0503020204020204" pitchFamily="34" charset="-122"/>
                          </a:rPr>
                          <m:t>𝛿</m:t>
                        </m:r>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𝑥</m:t>
                        </m:r>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0</m:t>
                            </m:r>
                          </m:sub>
                        </m:sSub>
                        <m:r>
                          <a:rPr lang="en-US" altLang="zh-CN" sz="1600" i="1">
                            <a:latin typeface="Cambria Math" panose="02040503050406030204" pitchFamily="18" charset="0"/>
                            <a:ea typeface="微软雅黑" panose="020B0503020204020204" pitchFamily="34" charset="-122"/>
                          </a:rPr>
                          <m:t>)</m:t>
                        </m:r>
                      </m:e>
                    </m:nary>
                    <m:r>
                      <m:rPr>
                        <m:sty m:val="p"/>
                      </m:rPr>
                      <a:rPr lang="en-US" altLang="zh-CN" sz="1600">
                        <a:latin typeface="Cambria Math" panose="02040503050406030204" pitchFamily="18" charset="0"/>
                        <a:ea typeface="微软雅黑" panose="020B0503020204020204" pitchFamily="34" charset="-122"/>
                      </a:rPr>
                      <m:t>d</m:t>
                    </m:r>
                    <m:r>
                      <a:rPr lang="en-US" altLang="zh-CN" sz="1600" i="1">
                        <a:latin typeface="Cambria Math" panose="02040503050406030204" pitchFamily="18" charset="0"/>
                        <a:ea typeface="微软雅黑" panose="020B0503020204020204" pitchFamily="34" charset="-122"/>
                      </a:rPr>
                      <m:t>𝑥</m:t>
                    </m:r>
                  </m:oMath>
                </a14:m>
                <a:endParaRPr lang="en-US" altLang="zh-CN" sz="1600" dirty="0" smtClean="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积分</a:t>
                </a:r>
                <a:r>
                  <a:rPr lang="zh-CN" altLang="en-US" sz="1600" dirty="0" smtClean="0">
                    <a:latin typeface="微软雅黑" panose="020B0503020204020204" pitchFamily="34" charset="-122"/>
                    <a:ea typeface="微软雅黑" panose="020B0503020204020204" pitchFamily="34" charset="-122"/>
                  </a:rPr>
                  <a:t>对任意小的区间都是定值，</a:t>
                </a:r>
                <a14:m>
                  <m:oMath xmlns:m="http://schemas.openxmlformats.org/officeDocument/2006/math">
                    <m:r>
                      <a:rPr lang="en-US" altLang="zh-CN" sz="1600" i="1">
                        <a:latin typeface="Cambria Math" panose="02040503050406030204" pitchFamily="18" charset="0"/>
                        <a:ea typeface="微软雅黑" panose="020B0503020204020204" pitchFamily="34" charset="-122"/>
                      </a:rPr>
                      <m:t>𝑓</m:t>
                    </m:r>
                    <m:d>
                      <m:dPr>
                        <m:ctrlPr>
                          <a:rPr lang="en-US" altLang="zh-CN" sz="1600" i="1">
                            <a:latin typeface="Cambria Math" panose="02040503050406030204" pitchFamily="18" charset="0"/>
                            <a:ea typeface="微软雅黑" panose="020B0503020204020204" pitchFamily="34" charset="-122"/>
                          </a:rPr>
                        </m:ctrlPr>
                      </m:dPr>
                      <m:e>
                        <m:r>
                          <a:rPr lang="en-US" altLang="zh-CN" sz="1600" i="1">
                            <a:latin typeface="Cambria Math" panose="02040503050406030204" pitchFamily="18" charset="0"/>
                            <a:ea typeface="微软雅黑" panose="020B0503020204020204" pitchFamily="34" charset="-122"/>
                          </a:rPr>
                          <m:t>𝑥</m:t>
                        </m:r>
                      </m:e>
                    </m:d>
                  </m:oMath>
                </a14:m>
                <a:r>
                  <a:rPr lang="zh-CN" altLang="en-US" sz="1600" dirty="0" smtClean="0">
                    <a:latin typeface="微软雅黑" panose="020B0503020204020204" pitchFamily="34" charset="-122"/>
                    <a:ea typeface="微软雅黑" panose="020B0503020204020204" pitchFamily="34" charset="-122"/>
                  </a:rPr>
                  <a:t>的值只能取</a:t>
                </a:r>
                <a14:m>
                  <m:oMath xmlns:m="http://schemas.openxmlformats.org/officeDocument/2006/math">
                    <m:r>
                      <a:rPr lang="en-US" altLang="zh-CN" sz="1600" i="1">
                        <a:latin typeface="Cambria Math" panose="02040503050406030204" pitchFamily="18" charset="0"/>
                        <a:ea typeface="微软雅黑" panose="020B0503020204020204" pitchFamily="34" charset="-122"/>
                      </a:rPr>
                      <m:t>𝑓</m:t>
                    </m:r>
                    <m:d>
                      <m:dPr>
                        <m:ctrlPr>
                          <a:rPr lang="en-US" altLang="zh-CN" sz="1600" i="1">
                            <a:latin typeface="Cambria Math" panose="02040503050406030204" pitchFamily="18" charset="0"/>
                            <a:ea typeface="微软雅黑" panose="020B0503020204020204" pitchFamily="34" charset="-122"/>
                          </a:rPr>
                        </m:ctrlPr>
                      </m:dPr>
                      <m:e>
                        <m:sSub>
                          <m:sSubPr>
                            <m:ctrlPr>
                              <a:rPr lang="en-US" altLang="zh-CN" sz="1600" b="0" i="1" smtClean="0">
                                <a:latin typeface="Cambria Math" panose="02040503050406030204" pitchFamily="18" charset="0"/>
                                <a:ea typeface="微软雅黑" panose="020B0503020204020204" pitchFamily="34" charset="-122"/>
                              </a:rPr>
                            </m:ctrlPr>
                          </m:sSubPr>
                          <m:e>
                            <m:r>
                              <a:rPr lang="en-US" altLang="zh-CN" sz="1600" b="0" i="1" smtClean="0">
                                <a:latin typeface="Cambria Math" panose="02040503050406030204" pitchFamily="18" charset="0"/>
                                <a:ea typeface="微软雅黑" panose="020B0503020204020204" pitchFamily="34" charset="-122"/>
                              </a:rPr>
                              <m:t>𝑥</m:t>
                            </m:r>
                          </m:e>
                          <m:sub>
                            <m:r>
                              <a:rPr lang="en-US" altLang="zh-CN" sz="1600" b="0" i="1" smtClean="0">
                                <a:latin typeface="Cambria Math" panose="02040503050406030204" pitchFamily="18" charset="0"/>
                                <a:ea typeface="微软雅黑" panose="020B0503020204020204" pitchFamily="34" charset="-122"/>
                              </a:rPr>
                              <m:t>0</m:t>
                            </m:r>
                          </m:sub>
                        </m:sSub>
                      </m:e>
                    </m:d>
                  </m:oMath>
                </a14:m>
                <a:r>
                  <a:rPr lang="zh-CN" altLang="en-US" sz="1600" dirty="0" smtClean="0">
                    <a:latin typeface="微软雅黑" panose="020B0503020204020204" pitchFamily="34" charset="-122"/>
                    <a:ea typeface="微软雅黑" panose="020B0503020204020204" pitchFamily="34" charset="-122"/>
                  </a:rPr>
                  <a:t>，积分变成</a:t>
                </a:r>
                <a:endParaRPr lang="en-US" altLang="zh-CN" sz="1600"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left"/>
                    </m:oMathParaPr>
                    <m:oMath xmlns:m="http://schemas.openxmlformats.org/officeDocument/2006/math">
                      <m:nary>
                        <m:naryPr>
                          <m:ctrlPr>
                            <a:rPr lang="en-US" altLang="zh-CN" sz="1600" i="1">
                              <a:latin typeface="Cambria Math" panose="02040503050406030204" pitchFamily="18" charset="0"/>
                              <a:ea typeface="微软雅黑" panose="020B0503020204020204" pitchFamily="34" charset="-122"/>
                            </a:rPr>
                          </m:ctrlPr>
                        </m:naryPr>
                        <m:sub>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0</m:t>
                              </m:r>
                            </m:sub>
                          </m:sSub>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𝛿</m:t>
                          </m:r>
                        </m:sub>
                        <m:sup>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0</m:t>
                              </m:r>
                            </m:sub>
                          </m:sSub>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𝛿</m:t>
                          </m:r>
                        </m:sup>
                        <m:e>
                          <m:r>
                            <a:rPr lang="en-US" altLang="zh-CN" sz="1600" i="1">
                              <a:latin typeface="Cambria Math" panose="02040503050406030204" pitchFamily="18" charset="0"/>
                              <a:ea typeface="微软雅黑" panose="020B0503020204020204" pitchFamily="34" charset="-122"/>
                            </a:rPr>
                            <m:t>𝑓</m:t>
                          </m:r>
                          <m:d>
                            <m:dPr>
                              <m:ctrlPr>
                                <a:rPr lang="en-US" altLang="zh-CN" sz="1600" i="1">
                                  <a:latin typeface="Cambria Math" panose="02040503050406030204" pitchFamily="18" charset="0"/>
                                  <a:ea typeface="微软雅黑" panose="020B0503020204020204" pitchFamily="34" charset="-122"/>
                                </a:rPr>
                              </m:ctrlPr>
                            </m:dPr>
                            <m:e>
                              <m:sSub>
                                <m:sSubPr>
                                  <m:ctrlPr>
                                    <a:rPr lang="en-US" altLang="zh-CN" sz="1600" b="0" i="1" smtClean="0">
                                      <a:latin typeface="Cambria Math" panose="02040503050406030204" pitchFamily="18" charset="0"/>
                                      <a:ea typeface="微软雅黑" panose="020B0503020204020204" pitchFamily="34" charset="-122"/>
                                    </a:rPr>
                                  </m:ctrlPr>
                                </m:sSubPr>
                                <m:e>
                                  <m:r>
                                    <a:rPr lang="en-US" altLang="zh-CN" sz="1600" b="0" i="1" smtClean="0">
                                      <a:latin typeface="Cambria Math" panose="02040503050406030204" pitchFamily="18" charset="0"/>
                                      <a:ea typeface="微软雅黑" panose="020B0503020204020204" pitchFamily="34" charset="-122"/>
                                    </a:rPr>
                                    <m:t>𝑥</m:t>
                                  </m:r>
                                </m:e>
                                <m:sub>
                                  <m:r>
                                    <a:rPr lang="en-US" altLang="zh-CN" sz="1600" b="0" i="1" smtClean="0">
                                      <a:latin typeface="Cambria Math" panose="02040503050406030204" pitchFamily="18" charset="0"/>
                                      <a:ea typeface="微软雅黑" panose="020B0503020204020204" pitchFamily="34" charset="-122"/>
                                    </a:rPr>
                                    <m:t>0</m:t>
                                  </m:r>
                                </m:sub>
                              </m:sSub>
                            </m:e>
                          </m:d>
                          <m:r>
                            <a:rPr lang="en-US" altLang="zh-CN" sz="1600" i="1">
                              <a:latin typeface="Cambria Math" panose="02040503050406030204" pitchFamily="18" charset="0"/>
                              <a:ea typeface="微软雅黑" panose="020B0503020204020204" pitchFamily="34" charset="-122"/>
                            </a:rPr>
                            <m:t>𝛿</m:t>
                          </m:r>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𝑥</m:t>
                          </m:r>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0</m:t>
                              </m:r>
                            </m:sub>
                          </m:sSub>
                          <m:r>
                            <a:rPr lang="en-US" altLang="zh-CN" sz="1600" i="1">
                              <a:latin typeface="Cambria Math" panose="02040503050406030204" pitchFamily="18" charset="0"/>
                              <a:ea typeface="微软雅黑" panose="020B0503020204020204" pitchFamily="34" charset="-122"/>
                            </a:rPr>
                            <m:t>)</m:t>
                          </m:r>
                        </m:e>
                      </m:nary>
                      <m:r>
                        <m:rPr>
                          <m:sty m:val="p"/>
                        </m:rPr>
                        <a:rPr lang="en-US" altLang="zh-CN" sz="1600">
                          <a:latin typeface="Cambria Math" panose="02040503050406030204" pitchFamily="18" charset="0"/>
                          <a:ea typeface="微软雅黑" panose="020B0503020204020204" pitchFamily="34" charset="-122"/>
                        </a:rPr>
                        <m:t>d</m:t>
                      </m:r>
                      <m:r>
                        <a:rPr lang="en-US" altLang="zh-CN" sz="1600" i="1">
                          <a:latin typeface="Cambria Math" panose="02040503050406030204" pitchFamily="18" charset="0"/>
                          <a:ea typeface="微软雅黑" panose="020B0503020204020204" pitchFamily="34" charset="-122"/>
                        </a:rPr>
                        <m:t>𝑥</m:t>
                      </m:r>
                      <m:r>
                        <a:rPr lang="en-US" altLang="zh-CN" sz="1600" b="0" i="1" smtClean="0">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𝑓</m:t>
                      </m:r>
                      <m:d>
                        <m:dPr>
                          <m:ctrlPr>
                            <a:rPr lang="en-US" altLang="zh-CN" sz="1600" i="1">
                              <a:latin typeface="Cambria Math" panose="02040503050406030204" pitchFamily="18" charset="0"/>
                              <a:ea typeface="微软雅黑" panose="020B0503020204020204" pitchFamily="34" charset="-122"/>
                            </a:rPr>
                          </m:ctrlPr>
                        </m:dPr>
                        <m:e>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0</m:t>
                              </m:r>
                            </m:sub>
                          </m:sSub>
                        </m:e>
                      </m:d>
                      <m:nary>
                        <m:naryPr>
                          <m:ctrlPr>
                            <a:rPr lang="en-US" altLang="zh-CN" sz="1600" i="1">
                              <a:latin typeface="Cambria Math" panose="02040503050406030204" pitchFamily="18" charset="0"/>
                              <a:ea typeface="微软雅黑" panose="020B0503020204020204" pitchFamily="34" charset="-122"/>
                            </a:rPr>
                          </m:ctrlPr>
                        </m:naryPr>
                        <m:sub>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0</m:t>
                              </m:r>
                            </m:sub>
                          </m:sSub>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𝛿</m:t>
                          </m:r>
                        </m:sub>
                        <m:sup>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0</m:t>
                              </m:r>
                            </m:sub>
                          </m:sSub>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𝛿</m:t>
                          </m:r>
                        </m:sup>
                        <m:e>
                          <m:r>
                            <a:rPr lang="en-US" altLang="zh-CN" sz="1600" i="1">
                              <a:latin typeface="Cambria Math" panose="02040503050406030204" pitchFamily="18" charset="0"/>
                              <a:ea typeface="微软雅黑" panose="020B0503020204020204" pitchFamily="34" charset="-122"/>
                            </a:rPr>
                            <m:t>𝛿</m:t>
                          </m:r>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𝑥</m:t>
                          </m:r>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0</m:t>
                              </m:r>
                            </m:sub>
                          </m:sSub>
                          <m:r>
                            <a:rPr lang="en-US" altLang="zh-CN" sz="1600" i="1">
                              <a:latin typeface="Cambria Math" panose="02040503050406030204" pitchFamily="18" charset="0"/>
                              <a:ea typeface="微软雅黑" panose="020B0503020204020204" pitchFamily="34" charset="-122"/>
                            </a:rPr>
                            <m:t>)</m:t>
                          </m:r>
                        </m:e>
                      </m:nary>
                      <m:r>
                        <m:rPr>
                          <m:sty m:val="p"/>
                        </m:rPr>
                        <a:rPr lang="en-US" altLang="zh-CN" sz="1600" b="0" i="0" smtClean="0">
                          <a:latin typeface="Cambria Math" panose="02040503050406030204" pitchFamily="18" charset="0"/>
                          <a:ea typeface="微软雅黑" panose="020B0503020204020204" pitchFamily="34" charset="-122"/>
                        </a:rPr>
                        <m:t>d</m:t>
                      </m:r>
                      <m:r>
                        <a:rPr lang="en-US" altLang="zh-CN" sz="1600" b="0" i="1" smtClean="0">
                          <a:latin typeface="Cambria Math" panose="02040503050406030204" pitchFamily="18" charset="0"/>
                          <a:ea typeface="微软雅黑" panose="020B0503020204020204" pitchFamily="34" charset="-122"/>
                        </a:rPr>
                        <m:t>𝑥</m:t>
                      </m:r>
                      <m:r>
                        <a:rPr lang="en-US" altLang="zh-CN" sz="1600" b="0" i="1" smtClean="0">
                          <a:latin typeface="Cambria Math" panose="02040503050406030204" pitchFamily="18" charset="0"/>
                          <a:ea typeface="微软雅黑" panose="020B0503020204020204" pitchFamily="34" charset="-122"/>
                        </a:rPr>
                        <m:t>=</m:t>
                      </m:r>
                      <m:r>
                        <a:rPr lang="en-US" altLang="zh-CN" sz="1600" b="0" i="1" smtClean="0">
                          <a:latin typeface="Cambria Math" panose="02040503050406030204" pitchFamily="18" charset="0"/>
                          <a:ea typeface="微软雅黑" panose="020B0503020204020204" pitchFamily="34" charset="-122"/>
                        </a:rPr>
                        <m:t>𝑓</m:t>
                      </m:r>
                      <m:r>
                        <a:rPr lang="en-US" altLang="zh-CN" sz="1600" b="0" i="1" smtClean="0">
                          <a:latin typeface="Cambria Math" panose="02040503050406030204" pitchFamily="18" charset="0"/>
                          <a:ea typeface="微软雅黑" panose="020B0503020204020204" pitchFamily="34" charset="-122"/>
                        </a:rPr>
                        <m:t>(</m:t>
                      </m:r>
                      <m:sSub>
                        <m:sSubPr>
                          <m:ctrlPr>
                            <a:rPr lang="en-US" altLang="zh-CN" sz="1600" b="0" i="1" smtClean="0">
                              <a:latin typeface="Cambria Math" panose="02040503050406030204" pitchFamily="18" charset="0"/>
                              <a:ea typeface="微软雅黑" panose="020B0503020204020204" pitchFamily="34" charset="-122"/>
                            </a:rPr>
                          </m:ctrlPr>
                        </m:sSubPr>
                        <m:e>
                          <m:r>
                            <a:rPr lang="en-US" altLang="zh-CN" sz="1600" b="0" i="1" smtClean="0">
                              <a:latin typeface="Cambria Math" panose="02040503050406030204" pitchFamily="18" charset="0"/>
                              <a:ea typeface="微软雅黑" panose="020B0503020204020204" pitchFamily="34" charset="-122"/>
                            </a:rPr>
                            <m:t>𝑥</m:t>
                          </m:r>
                        </m:e>
                        <m:sub>
                          <m:r>
                            <a:rPr lang="en-US" altLang="zh-CN" sz="1600" b="0" i="1" smtClean="0">
                              <a:latin typeface="Cambria Math" panose="02040503050406030204" pitchFamily="18" charset="0"/>
                              <a:ea typeface="微软雅黑" panose="020B0503020204020204" pitchFamily="34" charset="-122"/>
                            </a:rPr>
                            <m:t>0</m:t>
                          </m:r>
                        </m:sub>
                      </m:sSub>
                      <m:r>
                        <a:rPr lang="en-US" altLang="zh-CN" sz="1600" b="0" i="1" smtClean="0">
                          <a:latin typeface="Cambria Math" panose="02040503050406030204" pitchFamily="18" charset="0"/>
                          <a:ea typeface="微软雅黑" panose="020B0503020204020204" pitchFamily="34" charset="-122"/>
                        </a:rPr>
                        <m:t>)</m:t>
                      </m:r>
                    </m:oMath>
                  </m:oMathPara>
                </a14:m>
                <a:endParaRPr lang="en-US" altLang="zh-CN" sz="1600" dirty="0" smtClean="0">
                  <a:latin typeface="微软雅黑" panose="020B0503020204020204" pitchFamily="34" charset="-122"/>
                  <a:ea typeface="微软雅黑" panose="020B0503020204020204" pitchFamily="34" charset="-122"/>
                </a:endParaRPr>
              </a:p>
              <a:p>
                <a:pPr/>
                <a:endParaRPr lang="en-US" altLang="zh-CN" sz="1600" dirty="0">
                  <a:latin typeface="微软雅黑" panose="020B0503020204020204" pitchFamily="34" charset="-122"/>
                  <a:ea typeface="微软雅黑" panose="020B0503020204020204" pitchFamily="34"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270510" y="746125"/>
                <a:ext cx="7815727" cy="3747949"/>
              </a:xfrm>
              <a:prstGeom prst="rect">
                <a:avLst/>
              </a:prstGeom>
              <a:blipFill rotWithShape="0">
                <a:blip r:embed="rId5"/>
                <a:stretch>
                  <a:fillRect l="-78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矩形 2"/>
              <p:cNvSpPr/>
              <p:nvPr/>
            </p:nvSpPr>
            <p:spPr>
              <a:xfrm>
                <a:off x="6315075" y="3306125"/>
                <a:ext cx="6096000" cy="3471207"/>
              </a:xfrm>
              <a:prstGeom prst="rect">
                <a:avLst/>
              </a:prstGeom>
            </p:spPr>
            <p:txBody>
              <a:bodyPr>
                <a:spAutoFit/>
              </a:bodyPr>
              <a:lstStyle/>
              <a:p>
                <a:r>
                  <a:rPr lang="en-US" altLang="zh-CN" sz="2000" dirty="0">
                    <a:latin typeface="微软雅黑" panose="020B0503020204020204" pitchFamily="34" charset="-122"/>
                    <a:ea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rPr>
                  <a:t>奇偶性：</a:t>
                </a:r>
                <a14:m>
                  <m:oMath xmlns:m="http://schemas.openxmlformats.org/officeDocument/2006/math">
                    <m:r>
                      <a:rPr lang="en-US" altLang="zh-CN" sz="2000" i="1">
                        <a:latin typeface="Cambria Math" panose="02040503050406030204" pitchFamily="18" charset="0"/>
                        <a:ea typeface="微软雅黑" panose="020B0503020204020204" pitchFamily="34" charset="-122"/>
                      </a:rPr>
                      <m:t>𝛿</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𝛿</m:t>
                    </m:r>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m:t>
                    </m:r>
                  </m:oMath>
                </a14:m>
                <a:endParaRPr lang="en-US" altLang="zh-CN" sz="2400" dirty="0" smtClean="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证明：取</a:t>
                </a:r>
                <a14:m>
                  <m:oMath xmlns:m="http://schemas.openxmlformats.org/officeDocument/2006/math">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𝑓</m:t>
                        </m:r>
                      </m:e>
                      <m:sub>
                        <m:r>
                          <a:rPr lang="en-US" altLang="zh-CN" sz="1600" i="1">
                            <a:latin typeface="Cambria Math" panose="02040503050406030204" pitchFamily="18" charset="0"/>
                            <a:ea typeface="微软雅黑" panose="020B0503020204020204" pitchFamily="34" charset="-122"/>
                          </a:rPr>
                          <m:t>1</m:t>
                        </m:r>
                      </m:sub>
                    </m:sSub>
                    <m:d>
                      <m:dPr>
                        <m:ctrlPr>
                          <a:rPr lang="en-US" altLang="zh-CN" sz="1600" i="1">
                            <a:latin typeface="Cambria Math" panose="02040503050406030204" pitchFamily="18" charset="0"/>
                            <a:ea typeface="微软雅黑" panose="020B0503020204020204" pitchFamily="34" charset="-122"/>
                          </a:rPr>
                        </m:ctrlPr>
                      </m:dPr>
                      <m:e>
                        <m:r>
                          <a:rPr lang="en-US" altLang="zh-CN" sz="1600" i="1">
                            <a:latin typeface="Cambria Math" panose="02040503050406030204" pitchFamily="18" charset="0"/>
                            <a:ea typeface="微软雅黑" panose="020B0503020204020204" pitchFamily="34" charset="-122"/>
                          </a:rPr>
                          <m:t>𝑥</m:t>
                        </m:r>
                      </m:e>
                    </m:d>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𝛿</m:t>
                    </m:r>
                    <m:d>
                      <m:dPr>
                        <m:ctrlPr>
                          <a:rPr lang="en-US" altLang="zh-CN" sz="1600" i="1">
                            <a:latin typeface="Cambria Math" panose="02040503050406030204" pitchFamily="18" charset="0"/>
                            <a:ea typeface="微软雅黑" panose="020B0503020204020204" pitchFamily="34" charset="-122"/>
                          </a:rPr>
                        </m:ctrlPr>
                      </m:dPr>
                      <m:e>
                        <m:r>
                          <a:rPr lang="en-US" altLang="zh-CN" sz="1600" i="1">
                            <a:latin typeface="Cambria Math" panose="02040503050406030204" pitchFamily="18" charset="0"/>
                            <a:ea typeface="微软雅黑" panose="020B0503020204020204" pitchFamily="34" charset="-122"/>
                          </a:rPr>
                          <m:t>𝑥</m:t>
                        </m:r>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1</m:t>
                            </m:r>
                          </m:sub>
                        </m:sSub>
                      </m:e>
                    </m:d>
                    <m:r>
                      <a:rPr lang="en-US" altLang="zh-CN" sz="1600" i="1">
                        <a:latin typeface="Cambria Math" panose="02040503050406030204" pitchFamily="18" charset="0"/>
                        <a:ea typeface="微软雅黑" panose="020B0503020204020204" pitchFamily="34" charset="-122"/>
                      </a:rPr>
                      <m:t>, </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𝑓</m:t>
                        </m:r>
                      </m:e>
                      <m:sub>
                        <m:r>
                          <a:rPr lang="en-US" altLang="zh-CN" sz="1600" i="1">
                            <a:latin typeface="Cambria Math" panose="02040503050406030204" pitchFamily="18" charset="0"/>
                            <a:ea typeface="微软雅黑" panose="020B0503020204020204" pitchFamily="34" charset="-122"/>
                          </a:rPr>
                          <m:t>2</m:t>
                        </m:r>
                      </m:sub>
                    </m:sSub>
                    <m:d>
                      <m:dPr>
                        <m:ctrlPr>
                          <a:rPr lang="en-US" altLang="zh-CN" sz="1600" i="1">
                            <a:latin typeface="Cambria Math" panose="02040503050406030204" pitchFamily="18" charset="0"/>
                            <a:ea typeface="微软雅黑" panose="020B0503020204020204" pitchFamily="34" charset="-122"/>
                          </a:rPr>
                        </m:ctrlPr>
                      </m:dPr>
                      <m:e>
                        <m:r>
                          <a:rPr lang="en-US" altLang="zh-CN" sz="1600" i="1">
                            <a:latin typeface="Cambria Math" panose="02040503050406030204" pitchFamily="18" charset="0"/>
                            <a:ea typeface="微软雅黑" panose="020B0503020204020204" pitchFamily="34" charset="-122"/>
                          </a:rPr>
                          <m:t>𝑥</m:t>
                        </m:r>
                      </m:e>
                    </m:d>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𝛿</m:t>
                    </m:r>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𝑥</m:t>
                    </m:r>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2</m:t>
                        </m:r>
                      </m:sub>
                    </m:sSub>
                    <m:r>
                      <a:rPr lang="en-US" altLang="zh-CN" sz="1600" i="1">
                        <a:latin typeface="Cambria Math" panose="02040503050406030204" pitchFamily="18" charset="0"/>
                        <a:ea typeface="微软雅黑" panose="020B0503020204020204" pitchFamily="34" charset="-122"/>
                      </a:rPr>
                      <m:t>)</m:t>
                    </m:r>
                  </m:oMath>
                </a14:m>
                <a:endParaRPr lang="en-US" altLang="zh-CN" sz="1600" dirty="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left"/>
                    </m:oMathParaPr>
                    <m:oMath xmlns:m="http://schemas.openxmlformats.org/officeDocument/2006/math">
                      <m:nary>
                        <m:naryPr>
                          <m:ctrlPr>
                            <a:rPr lang="en-US" altLang="zh-CN" sz="1600" i="1">
                              <a:latin typeface="Cambria Math" panose="02040503050406030204" pitchFamily="18" charset="0"/>
                              <a:ea typeface="微软雅黑" panose="020B0503020204020204" pitchFamily="34" charset="-122"/>
                            </a:rPr>
                          </m:ctrlPr>
                        </m:naryPr>
                        <m:sub>
                          <m:r>
                            <m:rPr>
                              <m:brk m:alnAt="23"/>
                            </m:rP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m:t>
                          </m:r>
                        </m:sub>
                        <m:sup>
                          <m:r>
                            <a:rPr lang="en-US" altLang="zh-CN" sz="1600" i="1">
                              <a:latin typeface="Cambria Math" panose="02040503050406030204" pitchFamily="18" charset="0"/>
                              <a:ea typeface="微软雅黑" panose="020B0503020204020204" pitchFamily="34" charset="-122"/>
                            </a:rPr>
                            <m:t>∞</m:t>
                          </m:r>
                        </m:sup>
                        <m:e>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𝑓</m:t>
                              </m:r>
                            </m:e>
                            <m:sub>
                              <m:r>
                                <a:rPr lang="en-US" altLang="zh-CN" sz="1600" i="1">
                                  <a:latin typeface="Cambria Math" panose="02040503050406030204" pitchFamily="18" charset="0"/>
                                  <a:ea typeface="微软雅黑" panose="020B0503020204020204" pitchFamily="34" charset="-122"/>
                                </a:rPr>
                                <m:t>1</m:t>
                              </m:r>
                            </m:sub>
                          </m:sSub>
                          <m:d>
                            <m:dPr>
                              <m:ctrlPr>
                                <a:rPr lang="en-US" altLang="zh-CN" sz="1600" i="1">
                                  <a:latin typeface="Cambria Math" panose="02040503050406030204" pitchFamily="18" charset="0"/>
                                  <a:ea typeface="微软雅黑" panose="020B0503020204020204" pitchFamily="34" charset="-122"/>
                                </a:rPr>
                              </m:ctrlPr>
                            </m:dPr>
                            <m:e>
                              <m:r>
                                <a:rPr lang="en-US" altLang="zh-CN" sz="1600" i="1">
                                  <a:latin typeface="Cambria Math" panose="02040503050406030204" pitchFamily="18" charset="0"/>
                                  <a:ea typeface="微软雅黑" panose="020B0503020204020204" pitchFamily="34" charset="-122"/>
                                </a:rPr>
                                <m:t>𝑥</m:t>
                              </m:r>
                            </m:e>
                          </m:d>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𝑓</m:t>
                              </m:r>
                            </m:e>
                            <m:sub>
                              <m:r>
                                <a:rPr lang="en-US" altLang="zh-CN" sz="1600" i="1">
                                  <a:latin typeface="Cambria Math" panose="02040503050406030204" pitchFamily="18" charset="0"/>
                                  <a:ea typeface="微软雅黑" panose="020B0503020204020204" pitchFamily="34" charset="-122"/>
                                </a:rPr>
                                <m:t>2</m:t>
                              </m:r>
                            </m:sub>
                          </m:sSub>
                          <m:d>
                            <m:dPr>
                              <m:ctrlPr>
                                <a:rPr lang="en-US" altLang="zh-CN" sz="1600" i="1">
                                  <a:latin typeface="Cambria Math" panose="02040503050406030204" pitchFamily="18" charset="0"/>
                                  <a:ea typeface="微软雅黑" panose="020B0503020204020204" pitchFamily="34" charset="-122"/>
                                </a:rPr>
                              </m:ctrlPr>
                            </m:dPr>
                            <m:e>
                              <m:r>
                                <a:rPr lang="en-US" altLang="zh-CN" sz="1600" i="1">
                                  <a:latin typeface="Cambria Math" panose="02040503050406030204" pitchFamily="18" charset="0"/>
                                  <a:ea typeface="微软雅黑" panose="020B0503020204020204" pitchFamily="34" charset="-122"/>
                                </a:rPr>
                                <m:t>𝑥</m:t>
                              </m:r>
                            </m:e>
                          </m:d>
                        </m:e>
                      </m:nary>
                      <m:r>
                        <m:rPr>
                          <m:sty m:val="p"/>
                        </m:rPr>
                        <a:rPr lang="en-US" altLang="zh-CN" sz="1600">
                          <a:latin typeface="Cambria Math" panose="02040503050406030204" pitchFamily="18" charset="0"/>
                          <a:ea typeface="微软雅黑" panose="020B0503020204020204" pitchFamily="34" charset="-122"/>
                        </a:rPr>
                        <m:t>d</m:t>
                      </m:r>
                      <m:r>
                        <a:rPr lang="en-US" altLang="zh-CN" sz="1600" i="1">
                          <a:latin typeface="Cambria Math" panose="02040503050406030204" pitchFamily="18" charset="0"/>
                          <a:ea typeface="微软雅黑" panose="020B0503020204020204" pitchFamily="34" charset="-122"/>
                        </a:rPr>
                        <m:t>𝑥</m:t>
                      </m:r>
                      <m:r>
                        <a:rPr lang="en-US" altLang="zh-CN" sz="1600" i="1">
                          <a:latin typeface="Cambria Math" panose="02040503050406030204" pitchFamily="18" charset="0"/>
                          <a:ea typeface="微软雅黑" panose="020B0503020204020204" pitchFamily="34" charset="-122"/>
                        </a:rPr>
                        <m:t>=</m:t>
                      </m:r>
                      <m:nary>
                        <m:naryPr>
                          <m:ctrlPr>
                            <a:rPr lang="en-US" altLang="zh-CN" sz="1600" i="1">
                              <a:latin typeface="Cambria Math" panose="02040503050406030204" pitchFamily="18" charset="0"/>
                              <a:ea typeface="微软雅黑" panose="020B0503020204020204" pitchFamily="34" charset="-122"/>
                            </a:rPr>
                          </m:ctrlPr>
                        </m:naryPr>
                        <m:sub>
                          <m:r>
                            <m:rPr>
                              <m:brk m:alnAt="23"/>
                            </m:rP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m:t>
                          </m:r>
                        </m:sub>
                        <m:sup>
                          <m:r>
                            <a:rPr lang="en-US" altLang="zh-CN" sz="1600" i="1">
                              <a:latin typeface="Cambria Math" panose="02040503050406030204" pitchFamily="18" charset="0"/>
                              <a:ea typeface="微软雅黑" panose="020B0503020204020204" pitchFamily="34" charset="-122"/>
                            </a:rPr>
                            <m:t>∞</m:t>
                          </m:r>
                        </m:sup>
                        <m:e>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𝑓</m:t>
                              </m:r>
                            </m:e>
                            <m:sub>
                              <m:r>
                                <a:rPr lang="en-US" altLang="zh-CN" sz="1600" i="1">
                                  <a:latin typeface="Cambria Math" panose="02040503050406030204" pitchFamily="18" charset="0"/>
                                  <a:ea typeface="微软雅黑" panose="020B0503020204020204" pitchFamily="34" charset="-122"/>
                                </a:rPr>
                                <m:t>1</m:t>
                              </m:r>
                            </m:sub>
                          </m:sSub>
                          <m:d>
                            <m:dPr>
                              <m:ctrlPr>
                                <a:rPr lang="en-US" altLang="zh-CN" sz="1600" i="1">
                                  <a:latin typeface="Cambria Math" panose="02040503050406030204" pitchFamily="18" charset="0"/>
                                  <a:ea typeface="微软雅黑" panose="020B0503020204020204" pitchFamily="34" charset="-122"/>
                                </a:rPr>
                              </m:ctrlPr>
                            </m:dPr>
                            <m:e>
                              <m:r>
                                <a:rPr lang="en-US" altLang="zh-CN" sz="1600" i="1">
                                  <a:latin typeface="Cambria Math" panose="02040503050406030204" pitchFamily="18" charset="0"/>
                                  <a:ea typeface="微软雅黑" panose="020B0503020204020204" pitchFamily="34" charset="-122"/>
                                </a:rPr>
                                <m:t>𝑥</m:t>
                              </m:r>
                            </m:e>
                          </m:d>
                          <m:r>
                            <a:rPr lang="en-US" altLang="zh-CN" sz="1600" i="1">
                              <a:latin typeface="Cambria Math" panose="02040503050406030204" pitchFamily="18" charset="0"/>
                              <a:ea typeface="微软雅黑" panose="020B0503020204020204" pitchFamily="34" charset="-122"/>
                            </a:rPr>
                            <m:t>𝛿</m:t>
                          </m:r>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𝑥</m:t>
                          </m:r>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2</m:t>
                              </m:r>
                            </m:sub>
                          </m:sSub>
                          <m:r>
                            <a:rPr lang="en-US" altLang="zh-CN" sz="1600" i="1">
                              <a:latin typeface="Cambria Math" panose="02040503050406030204" pitchFamily="18" charset="0"/>
                              <a:ea typeface="微软雅黑" panose="020B0503020204020204" pitchFamily="34" charset="-122"/>
                            </a:rPr>
                            <m:t>)</m:t>
                          </m:r>
                        </m:e>
                      </m:nary>
                      <m:r>
                        <m:rPr>
                          <m:sty m:val="p"/>
                        </m:rPr>
                        <a:rPr lang="en-US" altLang="zh-CN" sz="1600">
                          <a:latin typeface="Cambria Math" panose="02040503050406030204" pitchFamily="18" charset="0"/>
                          <a:ea typeface="微软雅黑" panose="020B0503020204020204" pitchFamily="34" charset="-122"/>
                        </a:rPr>
                        <m:t>d</m:t>
                      </m:r>
                      <m:r>
                        <a:rPr lang="en-US" altLang="zh-CN" sz="1600" i="1">
                          <a:latin typeface="Cambria Math" panose="02040503050406030204" pitchFamily="18" charset="0"/>
                          <a:ea typeface="微软雅黑" panose="020B0503020204020204" pitchFamily="34" charset="-122"/>
                        </a:rPr>
                        <m:t>𝑥</m:t>
                      </m:r>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𝑓</m:t>
                          </m:r>
                        </m:e>
                        <m:sub>
                          <m:r>
                            <a:rPr lang="en-US" altLang="zh-CN" sz="1600" i="1">
                              <a:latin typeface="Cambria Math" panose="02040503050406030204" pitchFamily="18" charset="0"/>
                              <a:ea typeface="微软雅黑" panose="020B0503020204020204" pitchFamily="34" charset="-122"/>
                            </a:rPr>
                            <m:t>1</m:t>
                          </m:r>
                        </m:sub>
                      </m:sSub>
                      <m:d>
                        <m:dPr>
                          <m:ctrlPr>
                            <a:rPr lang="en-US" altLang="zh-CN" sz="1600" i="1">
                              <a:latin typeface="Cambria Math" panose="02040503050406030204" pitchFamily="18" charset="0"/>
                              <a:ea typeface="微软雅黑" panose="020B0503020204020204" pitchFamily="34" charset="-122"/>
                            </a:rPr>
                          </m:ctrlPr>
                        </m:dPr>
                        <m:e>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2</m:t>
                              </m:r>
                            </m:sub>
                          </m:sSub>
                        </m:e>
                      </m:d>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𝛿</m:t>
                      </m:r>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2</m:t>
                          </m:r>
                        </m:sub>
                      </m:sSub>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1</m:t>
                          </m:r>
                        </m:sub>
                      </m:sSub>
                      <m:r>
                        <a:rPr lang="en-US" altLang="zh-CN" sz="1600" i="1">
                          <a:latin typeface="Cambria Math" panose="02040503050406030204" pitchFamily="18" charset="0"/>
                          <a:ea typeface="微软雅黑" panose="020B0503020204020204" pitchFamily="34" charset="-122"/>
                        </a:rPr>
                        <m:t>)</m:t>
                      </m:r>
                    </m:oMath>
                  </m:oMathPara>
                </a14:m>
                <a:endParaRPr lang="en-US" altLang="zh-CN" sz="1600" dirty="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left"/>
                    </m:oMathParaPr>
                    <m:oMath xmlns:m="http://schemas.openxmlformats.org/officeDocument/2006/math">
                      <m:nary>
                        <m:naryPr>
                          <m:ctrlPr>
                            <a:rPr lang="en-US" altLang="zh-CN" sz="1600" i="1">
                              <a:latin typeface="Cambria Math" panose="02040503050406030204" pitchFamily="18" charset="0"/>
                              <a:ea typeface="微软雅黑" panose="020B0503020204020204" pitchFamily="34" charset="-122"/>
                            </a:rPr>
                          </m:ctrlPr>
                        </m:naryPr>
                        <m:sub>
                          <m:r>
                            <m:rPr>
                              <m:brk m:alnAt="23"/>
                            </m:rP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m:t>
                          </m:r>
                        </m:sub>
                        <m:sup>
                          <m:r>
                            <a:rPr lang="en-US" altLang="zh-CN" sz="1600" i="1">
                              <a:latin typeface="Cambria Math" panose="02040503050406030204" pitchFamily="18" charset="0"/>
                              <a:ea typeface="微软雅黑" panose="020B0503020204020204" pitchFamily="34" charset="-122"/>
                            </a:rPr>
                            <m:t>∞</m:t>
                          </m:r>
                        </m:sup>
                        <m:e>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𝑓</m:t>
                              </m:r>
                            </m:e>
                            <m:sub>
                              <m:r>
                                <a:rPr lang="en-US" altLang="zh-CN" sz="1600" i="1">
                                  <a:latin typeface="Cambria Math" panose="02040503050406030204" pitchFamily="18" charset="0"/>
                                  <a:ea typeface="微软雅黑" panose="020B0503020204020204" pitchFamily="34" charset="-122"/>
                                </a:rPr>
                                <m:t>1</m:t>
                              </m:r>
                            </m:sub>
                          </m:sSub>
                          <m:d>
                            <m:dPr>
                              <m:ctrlPr>
                                <a:rPr lang="en-US" altLang="zh-CN" sz="1600" i="1">
                                  <a:latin typeface="Cambria Math" panose="02040503050406030204" pitchFamily="18" charset="0"/>
                                  <a:ea typeface="微软雅黑" panose="020B0503020204020204" pitchFamily="34" charset="-122"/>
                                </a:rPr>
                              </m:ctrlPr>
                            </m:dPr>
                            <m:e>
                              <m:r>
                                <a:rPr lang="en-US" altLang="zh-CN" sz="1600" i="1">
                                  <a:latin typeface="Cambria Math" panose="02040503050406030204" pitchFamily="18" charset="0"/>
                                  <a:ea typeface="微软雅黑" panose="020B0503020204020204" pitchFamily="34" charset="-122"/>
                                </a:rPr>
                                <m:t>𝑥</m:t>
                              </m:r>
                            </m:e>
                          </m:d>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𝑓</m:t>
                              </m:r>
                            </m:e>
                            <m:sub>
                              <m:r>
                                <a:rPr lang="en-US" altLang="zh-CN" sz="1600" i="1">
                                  <a:latin typeface="Cambria Math" panose="02040503050406030204" pitchFamily="18" charset="0"/>
                                  <a:ea typeface="微软雅黑" panose="020B0503020204020204" pitchFamily="34" charset="-122"/>
                                </a:rPr>
                                <m:t>2</m:t>
                              </m:r>
                            </m:sub>
                          </m:sSub>
                          <m:d>
                            <m:dPr>
                              <m:ctrlPr>
                                <a:rPr lang="en-US" altLang="zh-CN" sz="1600" i="1">
                                  <a:latin typeface="Cambria Math" panose="02040503050406030204" pitchFamily="18" charset="0"/>
                                  <a:ea typeface="微软雅黑" panose="020B0503020204020204" pitchFamily="34" charset="-122"/>
                                </a:rPr>
                              </m:ctrlPr>
                            </m:dPr>
                            <m:e>
                              <m:r>
                                <a:rPr lang="en-US" altLang="zh-CN" sz="1600" i="1">
                                  <a:latin typeface="Cambria Math" panose="02040503050406030204" pitchFamily="18" charset="0"/>
                                  <a:ea typeface="微软雅黑" panose="020B0503020204020204" pitchFamily="34" charset="-122"/>
                                </a:rPr>
                                <m:t>𝑥</m:t>
                              </m:r>
                            </m:e>
                          </m:d>
                        </m:e>
                      </m:nary>
                      <m:r>
                        <m:rPr>
                          <m:sty m:val="p"/>
                        </m:rPr>
                        <a:rPr lang="en-US" altLang="zh-CN" sz="1600">
                          <a:latin typeface="Cambria Math" panose="02040503050406030204" pitchFamily="18" charset="0"/>
                          <a:ea typeface="微软雅黑" panose="020B0503020204020204" pitchFamily="34" charset="-122"/>
                        </a:rPr>
                        <m:t>d</m:t>
                      </m:r>
                      <m:r>
                        <a:rPr lang="en-US" altLang="zh-CN" sz="1600" i="1">
                          <a:latin typeface="Cambria Math" panose="02040503050406030204" pitchFamily="18" charset="0"/>
                          <a:ea typeface="微软雅黑" panose="020B0503020204020204" pitchFamily="34" charset="-122"/>
                        </a:rPr>
                        <m:t>𝑥</m:t>
                      </m:r>
                      <m:r>
                        <a:rPr lang="en-US" altLang="zh-CN" sz="1600" i="1">
                          <a:latin typeface="Cambria Math" panose="02040503050406030204" pitchFamily="18" charset="0"/>
                          <a:ea typeface="微软雅黑" panose="020B0503020204020204" pitchFamily="34" charset="-122"/>
                        </a:rPr>
                        <m:t>=</m:t>
                      </m:r>
                      <m:nary>
                        <m:naryPr>
                          <m:ctrlPr>
                            <a:rPr lang="en-US" altLang="zh-CN" sz="1600" i="1">
                              <a:latin typeface="Cambria Math" panose="02040503050406030204" pitchFamily="18" charset="0"/>
                              <a:ea typeface="微软雅黑" panose="020B0503020204020204" pitchFamily="34" charset="-122"/>
                            </a:rPr>
                          </m:ctrlPr>
                        </m:naryPr>
                        <m:sub>
                          <m:r>
                            <m:rPr>
                              <m:brk m:alnAt="23"/>
                            </m:rP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m:t>
                          </m:r>
                        </m:sub>
                        <m:sup>
                          <m:r>
                            <a:rPr lang="en-US" altLang="zh-CN" sz="1600" i="1">
                              <a:latin typeface="Cambria Math" panose="02040503050406030204" pitchFamily="18" charset="0"/>
                              <a:ea typeface="微软雅黑" panose="020B0503020204020204" pitchFamily="34" charset="-122"/>
                            </a:rPr>
                            <m:t>∞</m:t>
                          </m:r>
                        </m:sup>
                        <m:e>
                          <m:r>
                            <a:rPr lang="en-US" altLang="zh-CN" sz="1600" i="1">
                              <a:latin typeface="Cambria Math" panose="02040503050406030204" pitchFamily="18" charset="0"/>
                              <a:ea typeface="微软雅黑" panose="020B0503020204020204" pitchFamily="34" charset="-122"/>
                            </a:rPr>
                            <m:t>𝛿</m:t>
                          </m:r>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𝑥</m:t>
                          </m:r>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1</m:t>
                              </m:r>
                            </m:sub>
                          </m:sSub>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𝑓</m:t>
                              </m:r>
                            </m:e>
                            <m:sub>
                              <m:r>
                                <a:rPr lang="en-US" altLang="zh-CN" sz="1600" i="1">
                                  <a:latin typeface="Cambria Math" panose="02040503050406030204" pitchFamily="18" charset="0"/>
                                  <a:ea typeface="微软雅黑" panose="020B0503020204020204" pitchFamily="34" charset="-122"/>
                                </a:rPr>
                                <m:t>2</m:t>
                              </m:r>
                            </m:sub>
                          </m:sSub>
                          <m:d>
                            <m:dPr>
                              <m:ctrlPr>
                                <a:rPr lang="en-US" altLang="zh-CN" sz="1600" i="1">
                                  <a:latin typeface="Cambria Math" panose="02040503050406030204" pitchFamily="18" charset="0"/>
                                  <a:ea typeface="微软雅黑" panose="020B0503020204020204" pitchFamily="34" charset="-122"/>
                                </a:rPr>
                              </m:ctrlPr>
                            </m:dPr>
                            <m:e>
                              <m:r>
                                <a:rPr lang="en-US" altLang="zh-CN" sz="1600" i="1">
                                  <a:latin typeface="Cambria Math" panose="02040503050406030204" pitchFamily="18" charset="0"/>
                                  <a:ea typeface="微软雅黑" panose="020B0503020204020204" pitchFamily="34" charset="-122"/>
                                </a:rPr>
                                <m:t>𝑥</m:t>
                              </m:r>
                            </m:e>
                          </m:d>
                        </m:e>
                      </m:nary>
                      <m:r>
                        <m:rPr>
                          <m:sty m:val="p"/>
                        </m:rPr>
                        <a:rPr lang="en-US" altLang="zh-CN" sz="1600">
                          <a:latin typeface="Cambria Math" panose="02040503050406030204" pitchFamily="18" charset="0"/>
                          <a:ea typeface="微软雅黑" panose="020B0503020204020204" pitchFamily="34" charset="-122"/>
                        </a:rPr>
                        <m:t>d</m:t>
                      </m:r>
                      <m:r>
                        <a:rPr lang="en-US" altLang="zh-CN" sz="1600" i="1">
                          <a:latin typeface="Cambria Math" panose="02040503050406030204" pitchFamily="18" charset="0"/>
                          <a:ea typeface="微软雅黑" panose="020B0503020204020204" pitchFamily="34" charset="-122"/>
                        </a:rPr>
                        <m:t>𝑥</m:t>
                      </m:r>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𝑓</m:t>
                          </m:r>
                        </m:e>
                        <m:sub>
                          <m:r>
                            <a:rPr lang="en-US" altLang="zh-CN" sz="1600" i="1">
                              <a:latin typeface="Cambria Math" panose="02040503050406030204" pitchFamily="18" charset="0"/>
                              <a:ea typeface="微软雅黑" panose="020B0503020204020204" pitchFamily="34" charset="-122"/>
                            </a:rPr>
                            <m:t>2</m:t>
                          </m:r>
                        </m:sub>
                      </m:sSub>
                      <m:d>
                        <m:dPr>
                          <m:ctrlPr>
                            <a:rPr lang="en-US" altLang="zh-CN" sz="1600" i="1">
                              <a:latin typeface="Cambria Math" panose="02040503050406030204" pitchFamily="18" charset="0"/>
                              <a:ea typeface="微软雅黑" panose="020B0503020204020204" pitchFamily="34" charset="-122"/>
                            </a:rPr>
                          </m:ctrlPr>
                        </m:dPr>
                        <m:e>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1</m:t>
                              </m:r>
                            </m:sub>
                          </m:sSub>
                        </m:e>
                      </m:d>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𝛿</m:t>
                      </m:r>
                      <m:d>
                        <m:dPr>
                          <m:ctrlPr>
                            <a:rPr lang="en-US" altLang="zh-CN" sz="1600" i="1">
                              <a:latin typeface="Cambria Math" panose="02040503050406030204" pitchFamily="18" charset="0"/>
                              <a:ea typeface="微软雅黑" panose="020B0503020204020204" pitchFamily="34" charset="-122"/>
                            </a:rPr>
                          </m:ctrlPr>
                        </m:dPr>
                        <m:e>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1</m:t>
                              </m:r>
                            </m:sub>
                          </m:sSub>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2</m:t>
                              </m:r>
                            </m:sub>
                          </m:sSub>
                        </m:e>
                      </m:d>
                    </m:oMath>
                  </m:oMathPara>
                </a14:m>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说明</a:t>
                </a:r>
                <a14:m>
                  <m:oMath xmlns:m="http://schemas.openxmlformats.org/officeDocument/2006/math">
                    <m:r>
                      <a:rPr lang="en-US" altLang="zh-CN" sz="1600" i="1">
                        <a:latin typeface="Cambria Math" panose="02040503050406030204" pitchFamily="18" charset="0"/>
                        <a:ea typeface="微软雅黑" panose="020B0503020204020204" pitchFamily="34" charset="-122"/>
                      </a:rPr>
                      <m:t>𝛿</m:t>
                    </m:r>
                    <m:d>
                      <m:dPr>
                        <m:ctrlPr>
                          <a:rPr lang="en-US" altLang="zh-CN" sz="1600" i="1">
                            <a:latin typeface="Cambria Math" panose="02040503050406030204" pitchFamily="18" charset="0"/>
                            <a:ea typeface="微软雅黑" panose="020B0503020204020204" pitchFamily="34" charset="-122"/>
                          </a:rPr>
                        </m:ctrlPr>
                      </m:dPr>
                      <m:e>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1</m:t>
                            </m:r>
                          </m:sub>
                        </m:sSub>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2</m:t>
                            </m:r>
                          </m:sub>
                        </m:sSub>
                      </m:e>
                    </m:d>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𝛿</m:t>
                    </m:r>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2</m:t>
                        </m:r>
                      </m:sub>
                    </m:sSub>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1</m:t>
                        </m:r>
                      </m:sub>
                    </m:sSub>
                    <m:r>
                      <a:rPr lang="en-US" altLang="zh-CN" sz="1600" i="1">
                        <a:latin typeface="Cambria Math" panose="02040503050406030204" pitchFamily="18" charset="0"/>
                        <a:ea typeface="微软雅黑" panose="020B0503020204020204" pitchFamily="34" charset="-122"/>
                      </a:rPr>
                      <m:t>)</m:t>
                    </m:r>
                  </m:oMath>
                </a14:m>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令</a:t>
                </a:r>
                <a14:m>
                  <m:oMath xmlns:m="http://schemas.openxmlformats.org/officeDocument/2006/math">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1</m:t>
                        </m:r>
                      </m:sub>
                    </m:sSub>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2</m:t>
                        </m:r>
                      </m:sub>
                    </m:sSub>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𝑥</m:t>
                    </m:r>
                  </m:oMath>
                </a14:m>
                <a:r>
                  <a:rPr lang="zh-CN" altLang="en-US" sz="1600" dirty="0">
                    <a:latin typeface="微软雅黑" panose="020B0503020204020204" pitchFamily="34" charset="-122"/>
                    <a:ea typeface="微软雅黑" panose="020B0503020204020204" pitchFamily="34" charset="-122"/>
                  </a:rPr>
                  <a:t>即得</a:t>
                </a:r>
                <a14:m>
                  <m:oMath xmlns:m="http://schemas.openxmlformats.org/officeDocument/2006/math">
                    <m:r>
                      <a:rPr lang="en-US" altLang="zh-CN" sz="1600" i="1">
                        <a:latin typeface="Cambria Math" panose="02040503050406030204" pitchFamily="18" charset="0"/>
                        <a:ea typeface="微软雅黑" panose="020B0503020204020204" pitchFamily="34" charset="-122"/>
                      </a:rPr>
                      <m:t>𝛿</m:t>
                    </m:r>
                    <m:d>
                      <m:dPr>
                        <m:ctrlPr>
                          <a:rPr lang="en-US" altLang="zh-CN" sz="1600" i="1">
                            <a:latin typeface="Cambria Math" panose="02040503050406030204" pitchFamily="18" charset="0"/>
                            <a:ea typeface="微软雅黑" panose="020B0503020204020204" pitchFamily="34" charset="-122"/>
                          </a:rPr>
                        </m:ctrlPr>
                      </m:dPr>
                      <m:e>
                        <m:r>
                          <a:rPr lang="en-US" altLang="zh-CN" sz="1600" i="1">
                            <a:latin typeface="Cambria Math" panose="02040503050406030204" pitchFamily="18" charset="0"/>
                            <a:ea typeface="微软雅黑" panose="020B0503020204020204" pitchFamily="34" charset="-122"/>
                          </a:rPr>
                          <m:t>𝑥</m:t>
                        </m:r>
                      </m:e>
                    </m:d>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𝛿</m:t>
                    </m:r>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𝑥</m:t>
                    </m:r>
                    <m:r>
                      <a:rPr lang="en-US" altLang="zh-CN" sz="1600" i="1">
                        <a:latin typeface="Cambria Math" panose="02040503050406030204" pitchFamily="18" charset="0"/>
                        <a:ea typeface="微软雅黑" panose="020B0503020204020204" pitchFamily="34" charset="-122"/>
                      </a:rPr>
                      <m:t>)</m:t>
                    </m:r>
                  </m:oMath>
                </a14:m>
                <a:endParaRPr lang="en-US" altLang="zh-CN" sz="1600" dirty="0">
                  <a:latin typeface="微软雅黑" panose="020B0503020204020204" pitchFamily="34" charset="-122"/>
                  <a:ea typeface="微软雅黑" panose="020B0503020204020204" pitchFamily="34" charset="-122"/>
                </a:endParaRPr>
              </a:p>
            </p:txBody>
          </p:sp>
        </mc:Choice>
        <mc:Fallback>
          <p:sp>
            <p:nvSpPr>
              <p:cNvPr id="3" name="矩形 2"/>
              <p:cNvSpPr>
                <a:spLocks noRot="1" noChangeAspect="1" noMove="1" noResize="1" noEditPoints="1" noAdjustHandles="1" noChangeArrowheads="1" noChangeShapeType="1" noTextEdit="1"/>
              </p:cNvSpPr>
              <p:nvPr/>
            </p:nvSpPr>
            <p:spPr>
              <a:xfrm>
                <a:off x="6315075" y="3306125"/>
                <a:ext cx="6096000" cy="3471207"/>
              </a:xfrm>
              <a:prstGeom prst="rect">
                <a:avLst/>
              </a:prstGeom>
              <a:blipFill rotWithShape="0">
                <a:blip r:embed="rId6"/>
                <a:stretch>
                  <a:fillRect l="-1100" t="-8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32549990"/>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Dirac </a:t>
            </a:r>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Delta function</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a16="http://schemas.microsoft.com/office/drawing/2014/main" xmlns=""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499109" y="1171575"/>
                <a:ext cx="10549891" cy="5069401"/>
              </a:xfrm>
              <a:prstGeom prst="rect">
                <a:avLst/>
              </a:prstGeom>
              <a:noFill/>
            </p:spPr>
            <p:txBody>
              <a:bodyPr wrap="square" rtlCol="0">
                <a:spAutoFit/>
              </a:bodyPr>
              <a:lstStyle/>
              <a:p>
                <a:r>
                  <a:rPr lang="en-US" altLang="zh-CN" sz="2000" dirty="0" smtClean="0">
                    <a:latin typeface="微软雅黑" panose="020B0503020204020204" pitchFamily="34" charset="-122"/>
                    <a:ea typeface="微软雅黑" panose="020B0503020204020204" pitchFamily="34" charset="-122"/>
                  </a:rPr>
                  <a:t>3. </a:t>
                </a:r>
                <a:r>
                  <a:rPr lang="zh-CN" altLang="en-US" sz="2000" dirty="0" smtClean="0">
                    <a:latin typeface="微软雅黑" panose="020B0503020204020204" pitchFamily="34" charset="-122"/>
                    <a:ea typeface="微软雅黑" panose="020B0503020204020204" pitchFamily="34" charset="-122"/>
                  </a:rPr>
                  <a:t>将</a:t>
                </a:r>
                <a14:m>
                  <m:oMath xmlns:m="http://schemas.openxmlformats.org/officeDocument/2006/math">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𝑥</m:t>
                        </m:r>
                      </m:e>
                    </m:acc>
                  </m:oMath>
                </a14:m>
                <a:r>
                  <a:rPr lang="zh-CN" altLang="en-US" sz="2000" dirty="0" smtClean="0">
                    <a:latin typeface="微软雅黑" panose="020B0503020204020204" pitchFamily="34" charset="-122"/>
                    <a:ea typeface="微软雅黑" panose="020B0503020204020204" pitchFamily="34" charset="-122"/>
                  </a:rPr>
                  <a:t>视为一个算符作用到</a:t>
                </a:r>
                <a14:m>
                  <m:oMath xmlns:m="http://schemas.openxmlformats.org/officeDocument/2006/math">
                    <m:r>
                      <a:rPr lang="en-US" altLang="zh-CN" sz="2000" i="1">
                        <a:latin typeface="Cambria Math" panose="02040503050406030204" pitchFamily="18" charset="0"/>
                        <a:ea typeface="微软雅黑" panose="020B0503020204020204" pitchFamily="34" charset="-122"/>
                      </a:rPr>
                      <m:t>𝛿</m:t>
                    </m:r>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𝑥</m:t>
                        </m:r>
                      </m:e>
                      <m:sub>
                        <m:r>
                          <a:rPr lang="en-US" altLang="zh-CN" sz="2000" i="1">
                            <a:latin typeface="Cambria Math" panose="02040503050406030204" pitchFamily="18" charset="0"/>
                            <a:ea typeface="微软雅黑" panose="020B0503020204020204" pitchFamily="34" charset="-122"/>
                          </a:rPr>
                          <m:t>0</m:t>
                        </m:r>
                      </m:sub>
                    </m:sSub>
                    <m:r>
                      <a:rPr lang="en-US" altLang="zh-CN" sz="2000" i="1">
                        <a:latin typeface="Cambria Math" panose="02040503050406030204" pitchFamily="18" charset="0"/>
                        <a:ea typeface="微软雅黑" panose="020B0503020204020204" pitchFamily="34" charset="-122"/>
                      </a:rPr>
                      <m:t>)</m:t>
                    </m:r>
                  </m:oMath>
                </a14:m>
                <a:r>
                  <a:rPr lang="zh-CN" altLang="en-US" sz="2000" dirty="0" smtClean="0">
                    <a:latin typeface="微软雅黑" panose="020B0503020204020204" pitchFamily="34" charset="-122"/>
                    <a:ea typeface="微软雅黑" panose="020B0503020204020204" pitchFamily="34" charset="-122"/>
                  </a:rPr>
                  <a:t>上，则</a:t>
                </a:r>
                <a14:m>
                  <m:oMath xmlns:m="http://schemas.openxmlformats.org/officeDocument/2006/math">
                    <m:acc>
                      <m:accPr>
                        <m:chr m:val="̂"/>
                        <m:ctrlPr>
                          <a:rPr lang="en-US" altLang="zh-CN" sz="2000" b="0" i="1" smtClean="0">
                            <a:latin typeface="Cambria Math" panose="02040503050406030204" pitchFamily="18" charset="0"/>
                          </a:rPr>
                        </m:ctrlPr>
                      </m:accPr>
                      <m:e>
                        <m:r>
                          <a:rPr lang="en-US" altLang="zh-CN" sz="2000" i="1">
                            <a:latin typeface="Cambria Math" panose="02040503050406030204" pitchFamily="18" charset="0"/>
                          </a:rPr>
                          <m:t>𝑥</m:t>
                        </m:r>
                      </m:e>
                    </m:acc>
                    <m:r>
                      <a:rPr lang="en-US" altLang="zh-CN" sz="2000" i="1">
                        <a:latin typeface="Cambria Math" panose="02040503050406030204" pitchFamily="18" charset="0"/>
                        <a:ea typeface="微软雅黑" panose="020B0503020204020204" pitchFamily="34" charset="-122"/>
                      </a:rPr>
                      <m:t>𝛿</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𝑥</m:t>
                            </m:r>
                          </m:e>
                          <m:sub>
                            <m:r>
                              <a:rPr lang="en-US" altLang="zh-CN" sz="2000" i="1">
                                <a:latin typeface="Cambria Math" panose="02040503050406030204" pitchFamily="18" charset="0"/>
                                <a:ea typeface="微软雅黑" panose="020B0503020204020204" pitchFamily="34" charset="-122"/>
                              </a:rPr>
                              <m:t>0</m:t>
                            </m:r>
                          </m:sub>
                        </m:sSub>
                      </m:e>
                    </m:d>
                    <m:r>
                      <a:rPr lang="en-US" altLang="zh-CN" sz="2000" b="0" i="1" smtClean="0">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𝑥</m:t>
                        </m:r>
                      </m:e>
                      <m:sub>
                        <m:r>
                          <a:rPr lang="en-US" altLang="zh-CN" sz="2000" i="1">
                            <a:latin typeface="Cambria Math" panose="02040503050406030204" pitchFamily="18" charset="0"/>
                            <a:ea typeface="微软雅黑" panose="020B0503020204020204" pitchFamily="34" charset="-122"/>
                          </a:rPr>
                          <m:t>0</m:t>
                        </m:r>
                      </m:sub>
                    </m:sSub>
                    <m:r>
                      <a:rPr lang="en-US" altLang="zh-CN" sz="2000" i="1">
                        <a:latin typeface="Cambria Math" panose="02040503050406030204" pitchFamily="18" charset="0"/>
                        <a:ea typeface="微软雅黑" panose="020B0503020204020204" pitchFamily="34" charset="-122"/>
                      </a:rPr>
                      <m:t>𝛿</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𝑥</m:t>
                            </m:r>
                          </m:e>
                          <m:sub>
                            <m:r>
                              <a:rPr lang="en-US" altLang="zh-CN" sz="2000" i="1">
                                <a:latin typeface="Cambria Math" panose="02040503050406030204" pitchFamily="18" charset="0"/>
                                <a:ea typeface="微软雅黑" panose="020B0503020204020204" pitchFamily="34" charset="-122"/>
                              </a:rPr>
                              <m:t>0</m:t>
                            </m:r>
                          </m:sub>
                        </m:sSub>
                      </m:e>
                    </m:d>
                  </m:oMath>
                </a14:m>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其中</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𝑥</m:t>
                        </m:r>
                      </m:e>
                      <m:sub>
                        <m:r>
                          <a:rPr lang="en-US" altLang="zh-CN" sz="2000" i="1">
                            <a:latin typeface="Cambria Math" panose="02040503050406030204" pitchFamily="18" charset="0"/>
                            <a:ea typeface="微软雅黑" panose="020B0503020204020204" pitchFamily="34" charset="-122"/>
                          </a:rPr>
                          <m:t>0</m:t>
                        </m:r>
                      </m:sub>
                    </m:sSub>
                  </m:oMath>
                </a14:m>
                <a:r>
                  <a:rPr lang="zh-CN" altLang="en-US" sz="2000" dirty="0" smtClean="0">
                    <a:latin typeface="微软雅黑" panose="020B0503020204020204" pitchFamily="34" charset="-122"/>
                    <a:ea typeface="微软雅黑" panose="020B0503020204020204" pitchFamily="34" charset="-122"/>
                  </a:rPr>
                  <a:t>是本征值，且本征函数</a:t>
                </a:r>
                <a14:m>
                  <m:oMath xmlns:m="http://schemas.openxmlformats.org/officeDocument/2006/math">
                    <m:r>
                      <a:rPr lang="en-US" altLang="zh-CN" sz="2000" i="1">
                        <a:latin typeface="Cambria Math" panose="02040503050406030204" pitchFamily="18" charset="0"/>
                        <a:ea typeface="微软雅黑" panose="020B0503020204020204" pitchFamily="34" charset="-122"/>
                      </a:rPr>
                      <m:t>𝛿</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𝑥</m:t>
                            </m:r>
                          </m:e>
                          <m:sub>
                            <m:r>
                              <a:rPr lang="en-US" altLang="zh-CN" sz="2000" i="1">
                                <a:latin typeface="Cambria Math" panose="02040503050406030204" pitchFamily="18" charset="0"/>
                                <a:ea typeface="微软雅黑" panose="020B0503020204020204" pitchFamily="34" charset="-122"/>
                              </a:rPr>
                              <m:t>0</m:t>
                            </m:r>
                          </m:sub>
                        </m:sSub>
                      </m:e>
                    </m:d>
                  </m:oMath>
                </a14:m>
                <a:r>
                  <a:rPr lang="zh-CN" altLang="en-US" sz="2000" dirty="0" smtClean="0">
                    <a:latin typeface="微软雅黑" panose="020B0503020204020204" pitchFamily="34" charset="-122"/>
                    <a:ea typeface="微软雅黑" panose="020B0503020204020204" pitchFamily="34" charset="-122"/>
                  </a:rPr>
                  <a:t>满足正交归一性</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1600" dirty="0" smtClean="0">
                    <a:latin typeface="微软雅黑" panose="020B0503020204020204" pitchFamily="34" charset="-122"/>
                    <a:ea typeface="微软雅黑" panose="020B0503020204020204" pitchFamily="34" charset="-122"/>
                  </a:rPr>
                  <a:t>证明：设</a:t>
                </a:r>
                <a14:m>
                  <m:oMath xmlns:m="http://schemas.openxmlformats.org/officeDocument/2006/math">
                    <m:r>
                      <a:rPr lang="en-US" altLang="zh-CN" sz="1600" i="1">
                        <a:latin typeface="Cambria Math" panose="02040503050406030204" pitchFamily="18" charset="0"/>
                      </a:rPr>
                      <m:t>𝑓</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𝑥</m:t>
                        </m:r>
                      </m:e>
                    </m:d>
                    <m:r>
                      <a:rPr lang="en-US" altLang="zh-CN" sz="1600" b="0" i="1" smtClean="0">
                        <a:latin typeface="Cambria Math" panose="02040503050406030204" pitchFamily="18" charset="0"/>
                      </a:rPr>
                      <m:t>=</m:t>
                    </m:r>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𝑥</m:t>
                        </m:r>
                      </m:e>
                    </m:acc>
                  </m:oMath>
                </a14:m>
                <a:r>
                  <a:rPr lang="zh-CN" altLang="en-US" sz="1600" dirty="0" smtClean="0">
                    <a:latin typeface="微软雅黑" panose="020B0503020204020204" pitchFamily="34" charset="-122"/>
                    <a:ea typeface="微软雅黑" panose="020B0503020204020204" pitchFamily="34" charset="-122"/>
                  </a:rPr>
                  <a:t>，</a:t>
                </a:r>
                <a14:m>
                  <m:oMath xmlns:m="http://schemas.openxmlformats.org/officeDocument/2006/math">
                    <m:nary>
                      <m:naryPr>
                        <m:ctrlPr>
                          <a:rPr lang="en-US" altLang="zh-CN" sz="1600" i="1">
                            <a:latin typeface="Cambria Math" panose="02040503050406030204" pitchFamily="18" charset="0"/>
                            <a:ea typeface="微软雅黑" panose="020B0503020204020204" pitchFamily="34" charset="-122"/>
                          </a:rPr>
                        </m:ctrlPr>
                      </m:naryPr>
                      <m:sub>
                        <m:r>
                          <m:rPr>
                            <m:brk m:alnAt="23"/>
                          </m:rP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m:t>
                        </m:r>
                      </m:sub>
                      <m:sup>
                        <m:r>
                          <a:rPr lang="en-US" altLang="zh-CN" sz="1600" i="1">
                            <a:latin typeface="Cambria Math" panose="02040503050406030204" pitchFamily="18" charset="0"/>
                            <a:ea typeface="微软雅黑" panose="020B0503020204020204" pitchFamily="34" charset="-122"/>
                          </a:rPr>
                          <m:t>∞</m:t>
                        </m:r>
                      </m:sup>
                      <m:e>
                        <m:acc>
                          <m:accPr>
                            <m:chr m:val="̂"/>
                            <m:ctrlPr>
                              <a:rPr lang="en-US" altLang="zh-CN" sz="1600" b="0" i="1" smtClean="0">
                                <a:latin typeface="Cambria Math" panose="02040503050406030204" pitchFamily="18" charset="0"/>
                                <a:ea typeface="微软雅黑" panose="020B0503020204020204" pitchFamily="34" charset="-122"/>
                              </a:rPr>
                            </m:ctrlPr>
                          </m:accPr>
                          <m:e>
                            <m:r>
                              <a:rPr lang="en-US" altLang="zh-CN" sz="1600" b="0" i="1" smtClean="0">
                                <a:latin typeface="Cambria Math" panose="02040503050406030204" pitchFamily="18" charset="0"/>
                                <a:ea typeface="微软雅黑" panose="020B0503020204020204" pitchFamily="34" charset="-122"/>
                              </a:rPr>
                              <m:t>𝑥</m:t>
                            </m:r>
                          </m:e>
                        </m:acc>
                        <m:r>
                          <a:rPr lang="en-US" altLang="zh-CN" sz="1600" i="1">
                            <a:latin typeface="Cambria Math" panose="02040503050406030204" pitchFamily="18" charset="0"/>
                            <a:ea typeface="微软雅黑" panose="020B0503020204020204" pitchFamily="34" charset="-122"/>
                          </a:rPr>
                          <m:t>𝛿</m:t>
                        </m:r>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𝑥</m:t>
                        </m:r>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b="0" i="1" smtClean="0">
                                <a:latin typeface="Cambria Math" panose="02040503050406030204" pitchFamily="18" charset="0"/>
                                <a:ea typeface="微软雅黑" panose="020B0503020204020204" pitchFamily="34" charset="-122"/>
                              </a:rPr>
                              <m:t>0</m:t>
                            </m:r>
                          </m:sub>
                        </m:sSub>
                        <m:r>
                          <a:rPr lang="en-US" altLang="zh-CN" sz="1600" i="1">
                            <a:latin typeface="Cambria Math" panose="02040503050406030204" pitchFamily="18" charset="0"/>
                            <a:ea typeface="微软雅黑" panose="020B0503020204020204" pitchFamily="34" charset="-122"/>
                          </a:rPr>
                          <m:t>)</m:t>
                        </m:r>
                      </m:e>
                    </m:nary>
                    <m:r>
                      <m:rPr>
                        <m:sty m:val="p"/>
                      </m:rPr>
                      <a:rPr lang="en-US" altLang="zh-CN" sz="1600">
                        <a:latin typeface="Cambria Math" panose="02040503050406030204" pitchFamily="18" charset="0"/>
                        <a:ea typeface="微软雅黑" panose="020B0503020204020204" pitchFamily="34" charset="-122"/>
                      </a:rPr>
                      <m:t>d</m:t>
                    </m:r>
                    <m:r>
                      <a:rPr lang="en-US" altLang="zh-CN" sz="1600" i="1">
                        <a:latin typeface="Cambria Math" panose="02040503050406030204" pitchFamily="18" charset="0"/>
                        <a:ea typeface="微软雅黑" panose="020B0503020204020204" pitchFamily="34" charset="-122"/>
                      </a:rPr>
                      <m:t>𝑥</m:t>
                    </m:r>
                    <m:r>
                      <a:rPr lang="en-US" altLang="zh-CN" sz="1600" b="0" i="1" smtClean="0">
                        <a:latin typeface="Cambria Math" panose="02040503050406030204" pitchFamily="18" charset="0"/>
                        <a:ea typeface="微软雅黑" panose="020B0503020204020204" pitchFamily="34" charset="-122"/>
                      </a:rPr>
                      <m:t>=</m:t>
                    </m:r>
                    <m:nary>
                      <m:naryPr>
                        <m:ctrlPr>
                          <a:rPr lang="en-US" altLang="zh-CN" sz="1600" i="1">
                            <a:latin typeface="Cambria Math" panose="02040503050406030204" pitchFamily="18" charset="0"/>
                            <a:ea typeface="微软雅黑" panose="020B0503020204020204" pitchFamily="34" charset="-122"/>
                          </a:rPr>
                        </m:ctrlPr>
                      </m:naryPr>
                      <m:sub>
                        <m:r>
                          <m:rPr>
                            <m:brk m:alnAt="23"/>
                          </m:rP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m:t>
                        </m:r>
                      </m:sub>
                      <m:sup>
                        <m:r>
                          <a:rPr lang="en-US" altLang="zh-CN" sz="1600" i="1">
                            <a:latin typeface="Cambria Math" panose="02040503050406030204" pitchFamily="18" charset="0"/>
                            <a:ea typeface="微软雅黑" panose="020B0503020204020204" pitchFamily="34" charset="-122"/>
                          </a:rPr>
                          <m:t>∞</m:t>
                        </m:r>
                      </m:sup>
                      <m:e>
                        <m:r>
                          <a:rPr lang="en-US" altLang="zh-CN" sz="1600" b="0" i="1" smtClean="0">
                            <a:latin typeface="Cambria Math" panose="02040503050406030204" pitchFamily="18" charset="0"/>
                            <a:ea typeface="微软雅黑" panose="020B0503020204020204" pitchFamily="34" charset="-122"/>
                          </a:rPr>
                          <m:t>𝑓</m:t>
                        </m:r>
                        <m:r>
                          <a:rPr lang="en-US" altLang="zh-CN" sz="1600" b="0" i="1" smtClean="0">
                            <a:latin typeface="Cambria Math" panose="02040503050406030204" pitchFamily="18" charset="0"/>
                            <a:ea typeface="微软雅黑" panose="020B0503020204020204" pitchFamily="34" charset="-122"/>
                          </a:rPr>
                          <m:t>(</m:t>
                        </m:r>
                        <m:r>
                          <a:rPr lang="en-US" altLang="zh-CN" sz="1600" b="0" i="1" smtClean="0">
                            <a:latin typeface="Cambria Math" panose="02040503050406030204" pitchFamily="18" charset="0"/>
                            <a:ea typeface="微软雅黑" panose="020B0503020204020204" pitchFamily="34" charset="-122"/>
                          </a:rPr>
                          <m:t>𝑥</m:t>
                        </m:r>
                        <m:r>
                          <a:rPr lang="en-US" altLang="zh-CN" sz="1600" b="0" i="1" smtClean="0">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𝛿</m:t>
                        </m:r>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𝑥</m:t>
                        </m:r>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0</m:t>
                            </m:r>
                          </m:sub>
                        </m:sSub>
                        <m:r>
                          <a:rPr lang="en-US" altLang="zh-CN" sz="1600" i="1">
                            <a:latin typeface="Cambria Math" panose="02040503050406030204" pitchFamily="18" charset="0"/>
                            <a:ea typeface="微软雅黑" panose="020B0503020204020204" pitchFamily="34" charset="-122"/>
                          </a:rPr>
                          <m:t>)</m:t>
                        </m:r>
                      </m:e>
                    </m:nary>
                    <m:r>
                      <m:rPr>
                        <m:sty m:val="p"/>
                      </m:rPr>
                      <a:rPr lang="en-US" altLang="zh-CN" sz="1600">
                        <a:latin typeface="Cambria Math" panose="02040503050406030204" pitchFamily="18" charset="0"/>
                        <a:ea typeface="微软雅黑" panose="020B0503020204020204" pitchFamily="34" charset="-122"/>
                      </a:rPr>
                      <m:t>d</m:t>
                    </m:r>
                    <m:r>
                      <a:rPr lang="en-US" altLang="zh-CN" sz="1600" i="1">
                        <a:latin typeface="Cambria Math" panose="02040503050406030204" pitchFamily="18" charset="0"/>
                        <a:ea typeface="微软雅黑" panose="020B0503020204020204" pitchFamily="34" charset="-122"/>
                      </a:rPr>
                      <m:t>𝑥</m:t>
                    </m:r>
                    <m:r>
                      <a:rPr lang="en-US" altLang="zh-CN" sz="1600" b="0" i="1" smtClean="0">
                        <a:latin typeface="Cambria Math" panose="02040503050406030204" pitchFamily="18" charset="0"/>
                        <a:ea typeface="微软雅黑" panose="020B0503020204020204" pitchFamily="34" charset="-122"/>
                      </a:rPr>
                      <m:t>=</m:t>
                    </m:r>
                    <m:r>
                      <a:rPr lang="en-US" altLang="zh-CN" sz="1600" b="0" i="1" smtClean="0">
                        <a:latin typeface="Cambria Math" panose="02040503050406030204" pitchFamily="18" charset="0"/>
                        <a:ea typeface="微软雅黑" panose="020B0503020204020204" pitchFamily="34" charset="-122"/>
                      </a:rPr>
                      <m:t>𝑓</m:t>
                    </m:r>
                    <m:d>
                      <m:dPr>
                        <m:ctrlPr>
                          <a:rPr lang="en-US" altLang="zh-CN" sz="1600" b="0" i="1" smtClean="0">
                            <a:latin typeface="Cambria Math" panose="02040503050406030204" pitchFamily="18" charset="0"/>
                            <a:ea typeface="微软雅黑" panose="020B0503020204020204" pitchFamily="34" charset="-122"/>
                          </a:rPr>
                        </m:ctrlPr>
                      </m:dPr>
                      <m:e>
                        <m:sSub>
                          <m:sSubPr>
                            <m:ctrlPr>
                              <a:rPr lang="en-US" altLang="zh-CN" sz="1600" b="0" i="1" smtClean="0">
                                <a:latin typeface="Cambria Math" panose="02040503050406030204" pitchFamily="18" charset="0"/>
                                <a:ea typeface="微软雅黑" panose="020B0503020204020204" pitchFamily="34" charset="-122"/>
                              </a:rPr>
                            </m:ctrlPr>
                          </m:sSubPr>
                          <m:e>
                            <m:r>
                              <a:rPr lang="en-US" altLang="zh-CN" sz="1600" b="0" i="1" smtClean="0">
                                <a:latin typeface="Cambria Math" panose="02040503050406030204" pitchFamily="18" charset="0"/>
                                <a:ea typeface="微软雅黑" panose="020B0503020204020204" pitchFamily="34" charset="-122"/>
                              </a:rPr>
                              <m:t>𝑥</m:t>
                            </m:r>
                          </m:e>
                          <m:sub>
                            <m:r>
                              <a:rPr lang="en-US" altLang="zh-CN" sz="1600" b="0" i="1" smtClean="0">
                                <a:latin typeface="Cambria Math" panose="02040503050406030204" pitchFamily="18" charset="0"/>
                                <a:ea typeface="微软雅黑" panose="020B0503020204020204" pitchFamily="34" charset="-122"/>
                              </a:rPr>
                              <m:t>0</m:t>
                            </m:r>
                          </m:sub>
                        </m:sSub>
                      </m:e>
                    </m:d>
                    <m:r>
                      <a:rPr lang="en-US" altLang="zh-CN" sz="1600" b="0" i="1" smtClean="0">
                        <a:latin typeface="Cambria Math" panose="02040503050406030204" pitchFamily="18" charset="0"/>
                        <a:ea typeface="微软雅黑" panose="020B0503020204020204" pitchFamily="34" charset="-122"/>
                      </a:rPr>
                      <m:t>=</m:t>
                    </m:r>
                    <m:sSub>
                      <m:sSubPr>
                        <m:ctrlPr>
                          <a:rPr lang="en-US" altLang="zh-CN" sz="1600" b="0" i="1" smtClean="0">
                            <a:latin typeface="Cambria Math" panose="02040503050406030204" pitchFamily="18" charset="0"/>
                            <a:ea typeface="微软雅黑" panose="020B0503020204020204" pitchFamily="34" charset="-122"/>
                          </a:rPr>
                        </m:ctrlPr>
                      </m:sSubPr>
                      <m:e>
                        <m:r>
                          <a:rPr lang="en-US" altLang="zh-CN" sz="1600" b="0" i="1" smtClean="0">
                            <a:latin typeface="Cambria Math" panose="02040503050406030204" pitchFamily="18" charset="0"/>
                            <a:ea typeface="微软雅黑" panose="020B0503020204020204" pitchFamily="34" charset="-122"/>
                          </a:rPr>
                          <m:t>𝑥</m:t>
                        </m:r>
                      </m:e>
                      <m:sub>
                        <m:r>
                          <a:rPr lang="en-US" altLang="zh-CN" sz="1600" b="0" i="1" smtClean="0">
                            <a:latin typeface="Cambria Math" panose="02040503050406030204" pitchFamily="18" charset="0"/>
                            <a:ea typeface="微软雅黑" panose="020B0503020204020204" pitchFamily="34" charset="-122"/>
                          </a:rPr>
                          <m:t>0</m:t>
                        </m:r>
                      </m:sub>
                    </m:sSub>
                  </m:oMath>
                </a14:m>
                <a:endParaRPr lang="en-US" altLang="zh-CN" sz="1600" dirty="0" smtClean="0">
                  <a:latin typeface="微软雅黑" panose="020B0503020204020204" pitchFamily="34" charset="-122"/>
                  <a:ea typeface="微软雅黑" panose="020B0503020204020204" pitchFamily="34" charset="-122"/>
                </a:endParaRPr>
              </a:p>
              <a:p>
                <a:r>
                  <a:rPr lang="zh-CN" altLang="en-US" sz="1600" dirty="0" smtClean="0">
                    <a:latin typeface="微软雅黑" panose="020B0503020204020204" pitchFamily="34" charset="-122"/>
                    <a:ea typeface="微软雅黑" panose="020B0503020204020204" pitchFamily="34" charset="-122"/>
                  </a:rPr>
                  <a:t>对于两个本征函数</a:t>
                </a:r>
                <a14:m>
                  <m:oMath xmlns:m="http://schemas.openxmlformats.org/officeDocument/2006/math">
                    <m:r>
                      <a:rPr lang="en-US" altLang="zh-CN" sz="1600" i="1">
                        <a:latin typeface="Cambria Math" panose="02040503050406030204" pitchFamily="18" charset="0"/>
                        <a:ea typeface="微软雅黑" panose="020B0503020204020204" pitchFamily="34" charset="-122"/>
                      </a:rPr>
                      <m:t>𝛿</m:t>
                    </m:r>
                    <m:d>
                      <m:dPr>
                        <m:ctrlPr>
                          <a:rPr lang="en-US" altLang="zh-CN" sz="1600" i="1">
                            <a:latin typeface="Cambria Math" panose="02040503050406030204" pitchFamily="18" charset="0"/>
                            <a:ea typeface="微软雅黑" panose="020B0503020204020204" pitchFamily="34" charset="-122"/>
                          </a:rPr>
                        </m:ctrlPr>
                      </m:dPr>
                      <m:e>
                        <m:r>
                          <a:rPr lang="en-US" altLang="zh-CN" sz="1600" i="1">
                            <a:latin typeface="Cambria Math" panose="02040503050406030204" pitchFamily="18" charset="0"/>
                            <a:ea typeface="微软雅黑" panose="020B0503020204020204" pitchFamily="34" charset="-122"/>
                          </a:rPr>
                          <m:t>𝑥</m:t>
                        </m:r>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1</m:t>
                            </m:r>
                          </m:sub>
                        </m:sSub>
                      </m:e>
                    </m:d>
                  </m:oMath>
                </a14:m>
                <a:r>
                  <a:rPr lang="zh-CN" altLang="en-US" sz="1600" dirty="0" smtClean="0">
                    <a:latin typeface="微软雅黑" panose="020B0503020204020204" pitchFamily="34" charset="-122"/>
                    <a:ea typeface="微软雅黑" panose="020B0503020204020204" pitchFamily="34" charset="-122"/>
                  </a:rPr>
                  <a:t>和</a:t>
                </a:r>
                <a14:m>
                  <m:oMath xmlns:m="http://schemas.openxmlformats.org/officeDocument/2006/math">
                    <m:r>
                      <a:rPr lang="en-US" altLang="zh-CN" sz="1600" i="1">
                        <a:latin typeface="Cambria Math" panose="02040503050406030204" pitchFamily="18" charset="0"/>
                        <a:ea typeface="微软雅黑" panose="020B0503020204020204" pitchFamily="34" charset="-122"/>
                      </a:rPr>
                      <m:t>𝛿</m:t>
                    </m:r>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𝑥</m:t>
                    </m:r>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i="1">
                            <a:latin typeface="Cambria Math" panose="02040503050406030204" pitchFamily="18" charset="0"/>
                            <a:ea typeface="微软雅黑" panose="020B0503020204020204" pitchFamily="34" charset="-122"/>
                          </a:rPr>
                          <m:t>2</m:t>
                        </m:r>
                      </m:sub>
                    </m:sSub>
                    <m:r>
                      <a:rPr lang="en-US" altLang="zh-CN" sz="1600" i="1">
                        <a:latin typeface="Cambria Math" panose="02040503050406030204" pitchFamily="18" charset="0"/>
                        <a:ea typeface="微软雅黑" panose="020B0503020204020204" pitchFamily="34" charset="-122"/>
                      </a:rPr>
                      <m:t>)</m:t>
                    </m:r>
                  </m:oMath>
                </a14:m>
                <a:r>
                  <a:rPr lang="zh-CN" altLang="en-US" sz="1600" dirty="0" smtClean="0">
                    <a:latin typeface="微软雅黑" panose="020B0503020204020204" pitchFamily="34" charset="-122"/>
                    <a:ea typeface="微软雅黑" panose="020B0503020204020204" pitchFamily="34" charset="-122"/>
                  </a:rPr>
                  <a:t>，按照函数内积的定义</a:t>
                </a:r>
                <a:endParaRPr lang="en-US" altLang="zh-CN" sz="1600" dirty="0" smtClean="0">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nary>
                        <m:naryPr>
                          <m:ctrlPr>
                            <a:rPr lang="en-US" altLang="zh-CN" sz="1600" i="1">
                              <a:latin typeface="Cambria Math" panose="02040503050406030204" pitchFamily="18" charset="0"/>
                              <a:ea typeface="微软雅黑" panose="020B0503020204020204" pitchFamily="34" charset="-122"/>
                            </a:rPr>
                          </m:ctrlPr>
                        </m:naryPr>
                        <m:sub>
                          <m:r>
                            <m:rPr>
                              <m:brk m:alnAt="23"/>
                            </m:rP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m:t>
                          </m:r>
                        </m:sub>
                        <m:sup>
                          <m:r>
                            <a:rPr lang="en-US" altLang="zh-CN" sz="1600" i="1">
                              <a:latin typeface="Cambria Math" panose="02040503050406030204" pitchFamily="18" charset="0"/>
                              <a:ea typeface="微软雅黑" panose="020B0503020204020204" pitchFamily="34" charset="-122"/>
                            </a:rPr>
                            <m:t>∞</m:t>
                          </m:r>
                        </m:sup>
                        <m:e>
                          <m:r>
                            <a:rPr lang="en-US" altLang="zh-CN" sz="1600" b="0" i="1" smtClean="0">
                              <a:latin typeface="Cambria Math" panose="02040503050406030204" pitchFamily="18" charset="0"/>
                              <a:ea typeface="微软雅黑" panose="020B0503020204020204" pitchFamily="34" charset="-122"/>
                            </a:rPr>
                            <m:t>𝛿</m:t>
                          </m:r>
                          <m:r>
                            <a:rPr lang="en-US" altLang="zh-CN" sz="1600" i="1">
                              <a:latin typeface="Cambria Math" panose="02040503050406030204" pitchFamily="18" charset="0"/>
                              <a:ea typeface="微软雅黑" panose="020B0503020204020204" pitchFamily="34" charset="-122"/>
                            </a:rPr>
                            <m:t>(</m:t>
                          </m:r>
                          <m:r>
                            <a:rPr lang="en-US" altLang="zh-CN" sz="1600" b="0" i="1" smtClean="0">
                              <a:latin typeface="Cambria Math" panose="02040503050406030204" pitchFamily="18" charset="0"/>
                              <a:ea typeface="微软雅黑" panose="020B0503020204020204" pitchFamily="34" charset="-122"/>
                            </a:rPr>
                            <m:t>𝑥</m:t>
                          </m:r>
                          <m:r>
                            <a:rPr lang="en-US" altLang="zh-CN" sz="1600" b="0" i="1" smtClean="0">
                              <a:latin typeface="Cambria Math" panose="02040503050406030204" pitchFamily="18" charset="0"/>
                              <a:ea typeface="微软雅黑" panose="020B0503020204020204" pitchFamily="34" charset="-122"/>
                            </a:rPr>
                            <m:t>−</m:t>
                          </m:r>
                          <m:sSub>
                            <m:sSubPr>
                              <m:ctrlPr>
                                <a:rPr lang="en-US" altLang="zh-CN" sz="1600" b="0" i="1" smtClean="0">
                                  <a:latin typeface="Cambria Math" panose="02040503050406030204" pitchFamily="18" charset="0"/>
                                  <a:ea typeface="微软雅黑" panose="020B0503020204020204" pitchFamily="34" charset="-122"/>
                                </a:rPr>
                              </m:ctrlPr>
                            </m:sSubPr>
                            <m:e>
                              <m:r>
                                <a:rPr lang="en-US" altLang="zh-CN" sz="1600" b="0" i="1" smtClean="0">
                                  <a:latin typeface="Cambria Math" panose="02040503050406030204" pitchFamily="18" charset="0"/>
                                  <a:ea typeface="微软雅黑" panose="020B0503020204020204" pitchFamily="34" charset="-122"/>
                                </a:rPr>
                                <m:t>𝑥</m:t>
                              </m:r>
                            </m:e>
                            <m:sub>
                              <m:r>
                                <a:rPr lang="en-US" altLang="zh-CN" sz="1600" b="0" i="1" smtClean="0">
                                  <a:latin typeface="Cambria Math" panose="02040503050406030204" pitchFamily="18" charset="0"/>
                                  <a:ea typeface="微软雅黑" panose="020B0503020204020204" pitchFamily="34" charset="-122"/>
                                </a:rPr>
                                <m:t>1</m:t>
                              </m:r>
                            </m:sub>
                          </m:sSub>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𝛿</m:t>
                          </m:r>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𝑥</m:t>
                          </m:r>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𝑥</m:t>
                              </m:r>
                            </m:e>
                            <m:sub>
                              <m:r>
                                <a:rPr lang="en-US" altLang="zh-CN" sz="1600" b="0" i="1" smtClean="0">
                                  <a:latin typeface="Cambria Math" panose="02040503050406030204" pitchFamily="18" charset="0"/>
                                  <a:ea typeface="微软雅黑" panose="020B0503020204020204" pitchFamily="34" charset="-122"/>
                                </a:rPr>
                                <m:t>2</m:t>
                              </m:r>
                            </m:sub>
                          </m:sSub>
                          <m:r>
                            <a:rPr lang="en-US" altLang="zh-CN" sz="1600" i="1">
                              <a:latin typeface="Cambria Math" panose="02040503050406030204" pitchFamily="18" charset="0"/>
                              <a:ea typeface="微软雅黑" panose="020B0503020204020204" pitchFamily="34" charset="-122"/>
                            </a:rPr>
                            <m:t>)</m:t>
                          </m:r>
                        </m:e>
                      </m:nary>
                      <m:r>
                        <m:rPr>
                          <m:sty m:val="p"/>
                        </m:rPr>
                        <a:rPr lang="en-US" altLang="zh-CN" sz="1600">
                          <a:latin typeface="Cambria Math" panose="02040503050406030204" pitchFamily="18" charset="0"/>
                          <a:ea typeface="微软雅黑" panose="020B0503020204020204" pitchFamily="34" charset="-122"/>
                        </a:rPr>
                        <m:t>d</m:t>
                      </m:r>
                      <m:r>
                        <a:rPr lang="en-US" altLang="zh-CN" sz="1600" i="1">
                          <a:latin typeface="Cambria Math" panose="02040503050406030204" pitchFamily="18" charset="0"/>
                          <a:ea typeface="微软雅黑" panose="020B0503020204020204" pitchFamily="34" charset="-122"/>
                        </a:rPr>
                        <m:t>𝑥</m:t>
                      </m:r>
                      <m:r>
                        <a:rPr lang="en-US" altLang="zh-CN" sz="1600" b="0" i="1" smtClean="0">
                          <a:latin typeface="Cambria Math" panose="02040503050406030204" pitchFamily="18" charset="0"/>
                          <a:ea typeface="微软雅黑" panose="020B0503020204020204" pitchFamily="34" charset="-122"/>
                        </a:rPr>
                        <m:t>=</m:t>
                      </m:r>
                      <m:r>
                        <a:rPr lang="en-US" altLang="zh-CN" sz="1600" b="0" i="1" smtClean="0">
                          <a:latin typeface="Cambria Math" panose="02040503050406030204" pitchFamily="18" charset="0"/>
                          <a:ea typeface="微软雅黑" panose="020B0503020204020204" pitchFamily="34" charset="-122"/>
                        </a:rPr>
                        <m:t>𝛿</m:t>
                      </m:r>
                      <m:r>
                        <a:rPr lang="en-US" altLang="zh-CN" sz="1600" b="0" i="1" smtClean="0">
                          <a:latin typeface="Cambria Math" panose="02040503050406030204" pitchFamily="18" charset="0"/>
                          <a:ea typeface="微软雅黑" panose="020B0503020204020204" pitchFamily="34" charset="-122"/>
                        </a:rPr>
                        <m:t>(</m:t>
                      </m:r>
                      <m:sSub>
                        <m:sSubPr>
                          <m:ctrlPr>
                            <a:rPr lang="en-US" altLang="zh-CN" sz="1600" b="0" i="1" smtClean="0">
                              <a:latin typeface="Cambria Math" panose="02040503050406030204" pitchFamily="18" charset="0"/>
                              <a:ea typeface="微软雅黑" panose="020B0503020204020204" pitchFamily="34" charset="-122"/>
                            </a:rPr>
                          </m:ctrlPr>
                        </m:sSubPr>
                        <m:e>
                          <m:r>
                            <a:rPr lang="en-US" altLang="zh-CN" sz="1600" b="0" i="1" smtClean="0">
                              <a:latin typeface="Cambria Math" panose="02040503050406030204" pitchFamily="18" charset="0"/>
                              <a:ea typeface="微软雅黑" panose="020B0503020204020204" pitchFamily="34" charset="-122"/>
                            </a:rPr>
                            <m:t>𝑥</m:t>
                          </m:r>
                        </m:e>
                        <m:sub>
                          <m:r>
                            <a:rPr lang="en-US" altLang="zh-CN" sz="1600" b="0" i="1" smtClean="0">
                              <a:latin typeface="Cambria Math" panose="02040503050406030204" pitchFamily="18" charset="0"/>
                              <a:ea typeface="微软雅黑" panose="020B0503020204020204" pitchFamily="34" charset="-122"/>
                            </a:rPr>
                            <m:t>1</m:t>
                          </m:r>
                        </m:sub>
                      </m:sSub>
                      <m:r>
                        <a:rPr lang="en-US" altLang="zh-CN" sz="1600" b="0" i="1" smtClean="0">
                          <a:latin typeface="Cambria Math" panose="02040503050406030204" pitchFamily="18" charset="0"/>
                          <a:ea typeface="微软雅黑" panose="020B0503020204020204" pitchFamily="34" charset="-122"/>
                        </a:rPr>
                        <m:t>−</m:t>
                      </m:r>
                      <m:sSub>
                        <m:sSubPr>
                          <m:ctrlPr>
                            <a:rPr lang="en-US" altLang="zh-CN" sz="1600" b="0" i="1" smtClean="0">
                              <a:latin typeface="Cambria Math" panose="02040503050406030204" pitchFamily="18" charset="0"/>
                              <a:ea typeface="微软雅黑" panose="020B0503020204020204" pitchFamily="34" charset="-122"/>
                            </a:rPr>
                          </m:ctrlPr>
                        </m:sSubPr>
                        <m:e>
                          <m:r>
                            <a:rPr lang="en-US" altLang="zh-CN" sz="1600" b="0" i="1" smtClean="0">
                              <a:latin typeface="Cambria Math" panose="02040503050406030204" pitchFamily="18" charset="0"/>
                              <a:ea typeface="微软雅黑" panose="020B0503020204020204" pitchFamily="34" charset="-122"/>
                            </a:rPr>
                            <m:t>𝑥</m:t>
                          </m:r>
                        </m:e>
                        <m:sub>
                          <m:r>
                            <a:rPr lang="en-US" altLang="zh-CN" sz="1600" b="0" i="1" smtClean="0">
                              <a:latin typeface="Cambria Math" panose="02040503050406030204" pitchFamily="18" charset="0"/>
                              <a:ea typeface="微软雅黑" panose="020B0503020204020204" pitchFamily="34" charset="-122"/>
                            </a:rPr>
                            <m:t>2</m:t>
                          </m:r>
                        </m:sub>
                      </m:sSub>
                      <m:r>
                        <a:rPr lang="en-US" altLang="zh-CN" sz="1600" b="0" i="1" smtClean="0">
                          <a:latin typeface="Cambria Math" panose="02040503050406030204" pitchFamily="18" charset="0"/>
                          <a:ea typeface="微软雅黑" panose="020B0503020204020204" pitchFamily="34" charset="-122"/>
                        </a:rPr>
                        <m:t>)</m:t>
                      </m:r>
                    </m:oMath>
                  </m:oMathPara>
                </a14:m>
                <a:endParaRPr lang="en-US" altLang="zh-CN" sz="1600" dirty="0" smtClean="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这</a:t>
                </a:r>
                <a:r>
                  <a:rPr lang="zh-CN" altLang="en-US" sz="2000" dirty="0" smtClean="0">
                    <a:latin typeface="微软雅黑" panose="020B0503020204020204" pitchFamily="34" charset="-122"/>
                    <a:ea typeface="微软雅黑" panose="020B0503020204020204" pitchFamily="34" charset="-122"/>
                  </a:rPr>
                  <a:t>就是连续情况下本征函数的正交归一性</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任意函数都可以用</a:t>
                </a:r>
                <a:r>
                  <a:rPr lang="en-US" altLang="zh-CN" sz="2000" dirty="0" smtClean="0">
                    <a:latin typeface="微软雅黑" panose="020B0503020204020204" pitchFamily="34" charset="-122"/>
                    <a:ea typeface="微软雅黑" panose="020B0503020204020204" pitchFamily="34" charset="-122"/>
                  </a:rPr>
                  <a:t>Delta</a:t>
                </a:r>
                <a:r>
                  <a:rPr lang="zh-CN" altLang="en-US" sz="2000" dirty="0" smtClean="0">
                    <a:latin typeface="微软雅黑" panose="020B0503020204020204" pitchFamily="34" charset="-122"/>
                    <a:ea typeface="微软雅黑" panose="020B0503020204020204" pitchFamily="34" charset="-122"/>
                  </a:rPr>
                  <a:t>函数展开：</a:t>
                </a:r>
                <a:endParaRPr lang="en-US" altLang="zh-CN" sz="2000" dirty="0" smtClean="0">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𝑓</m:t>
                      </m:r>
                      <m:d>
                        <m:dPr>
                          <m:ctrlPr>
                            <a:rPr lang="en-US" altLang="zh-CN" sz="2000" b="0" i="1" smtClean="0">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𝑥</m:t>
                          </m:r>
                        </m:e>
                      </m:d>
                      <m:r>
                        <a:rPr lang="en-US" altLang="zh-CN" sz="2000" b="0" i="1" smtClean="0">
                          <a:latin typeface="Cambria Math" panose="02040503050406030204" pitchFamily="18" charset="0"/>
                          <a:ea typeface="微软雅黑" panose="020B0503020204020204" pitchFamily="34" charset="-122"/>
                        </a:rPr>
                        <m:t>=</m:t>
                      </m:r>
                      <m:nary>
                        <m:naryPr>
                          <m:ctrlPr>
                            <a:rPr lang="en-US" altLang="zh-CN" sz="2000" i="1">
                              <a:latin typeface="Cambria Math" panose="02040503050406030204" pitchFamily="18" charset="0"/>
                              <a:ea typeface="微软雅黑" panose="020B0503020204020204" pitchFamily="34" charset="-122"/>
                            </a:rPr>
                          </m:ctrlPr>
                        </m:naryPr>
                        <m:sub>
                          <m:r>
                            <m:rPr>
                              <m:brk m:alnAt="23"/>
                            </m:rP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m:t>
                          </m:r>
                        </m:sub>
                        <m:sup>
                          <m:r>
                            <a:rPr lang="en-US" altLang="zh-CN" sz="2000" i="1">
                              <a:latin typeface="Cambria Math" panose="02040503050406030204" pitchFamily="18" charset="0"/>
                              <a:ea typeface="微软雅黑" panose="020B0503020204020204" pitchFamily="34" charset="-122"/>
                            </a:rPr>
                            <m:t>∞</m:t>
                          </m:r>
                        </m:sup>
                        <m:e>
                          <m:r>
                            <a:rPr lang="en-US" altLang="zh-CN" sz="2000" b="0" i="1" smtClean="0">
                              <a:latin typeface="Cambria Math" panose="02040503050406030204" pitchFamily="18" charset="0"/>
                              <a:ea typeface="微软雅黑" panose="020B0503020204020204" pitchFamily="34" charset="-122"/>
                            </a:rPr>
                            <m:t>𝑓</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𝜉</m:t>
                          </m:r>
                          <m:r>
                            <a:rPr lang="en-US" altLang="zh-CN" sz="2000" b="0" i="1" smtClean="0">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𝛿</m:t>
                          </m:r>
                          <m:r>
                            <a:rPr lang="en-US" altLang="zh-CN" sz="2000" i="1">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𝜉</m:t>
                          </m:r>
                          <m:r>
                            <a:rPr lang="en-US" altLang="zh-CN" sz="2000" i="1">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m:t>
                          </m:r>
                        </m:e>
                      </m:nary>
                      <m:r>
                        <m:rPr>
                          <m:sty m:val="p"/>
                        </m:rPr>
                        <a:rPr lang="en-US" altLang="zh-CN" sz="2000" b="0" i="0" smtClean="0">
                          <a:latin typeface="Cambria Math" panose="02040503050406030204" pitchFamily="18" charset="0"/>
                          <a:ea typeface="微软雅黑" panose="020B0503020204020204" pitchFamily="34" charset="-122"/>
                        </a:rPr>
                        <m:t>d</m:t>
                      </m:r>
                      <m:r>
                        <a:rPr lang="en-US" altLang="zh-CN" sz="2000" b="0" i="1" smtClean="0">
                          <a:latin typeface="Cambria Math" panose="02040503050406030204" pitchFamily="18" charset="0"/>
                          <a:ea typeface="微软雅黑" panose="020B0503020204020204" pitchFamily="34" charset="-122"/>
                        </a:rPr>
                        <m:t>𝜉</m:t>
                      </m:r>
                    </m:oMath>
                  </m:oMathPara>
                </a14:m>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en-US" altLang="zh-CN" sz="2000" dirty="0" smtClean="0">
                    <a:latin typeface="微软雅黑" panose="020B0503020204020204" pitchFamily="34" charset="-122"/>
                    <a:ea typeface="微软雅黑" panose="020B0503020204020204" pitchFamily="34" charset="-122"/>
                  </a:rPr>
                  <a:t>4. </a:t>
                </a:r>
                <a14:m>
                  <m:oMath xmlns:m="http://schemas.openxmlformats.org/officeDocument/2006/math">
                    <m:r>
                      <a:rPr lang="en-US" altLang="zh-CN" sz="2000" i="1">
                        <a:latin typeface="Cambria Math" panose="02040503050406030204" pitchFamily="18" charset="0"/>
                        <a:ea typeface="微软雅黑" panose="020B0503020204020204" pitchFamily="34" charset="-122"/>
                      </a:rPr>
                      <m:t>𝛿</m:t>
                    </m:r>
                    <m:d>
                      <m:dPr>
                        <m:ctrlPr>
                          <a:rPr lang="en-US" altLang="zh-CN" sz="2000" i="1">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𝑘𝑥</m:t>
                        </m:r>
                      </m:e>
                    </m:d>
                    <m:r>
                      <a:rPr lang="en-US" altLang="zh-CN" sz="2000" b="0" i="1" smtClean="0">
                        <a:latin typeface="Cambria Math" panose="02040503050406030204" pitchFamily="18" charset="0"/>
                        <a:ea typeface="微软雅黑" panose="020B0503020204020204" pitchFamily="34" charset="-122"/>
                      </a:rPr>
                      <m:t>=</m:t>
                    </m:r>
                    <m:f>
                      <m:fPr>
                        <m:ctrlPr>
                          <a:rPr lang="en-US" altLang="zh-CN" sz="2000" b="0" i="1" smtClean="0">
                            <a:latin typeface="Cambria Math" panose="02040503050406030204" pitchFamily="18" charset="0"/>
                            <a:ea typeface="微软雅黑" panose="020B0503020204020204" pitchFamily="34" charset="-122"/>
                          </a:rPr>
                        </m:ctrlPr>
                      </m:fPr>
                      <m:num>
                        <m:r>
                          <a:rPr lang="en-US" altLang="zh-CN" sz="2000" b="0" i="1" smtClean="0">
                            <a:latin typeface="Cambria Math" panose="02040503050406030204" pitchFamily="18" charset="0"/>
                            <a:ea typeface="微软雅黑" panose="020B0503020204020204" pitchFamily="34" charset="-122"/>
                          </a:rPr>
                          <m:t>1</m:t>
                        </m:r>
                      </m:num>
                      <m:den>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𝑘</m:t>
                        </m:r>
                        <m:r>
                          <a:rPr lang="en-US" altLang="zh-CN" sz="2000" b="0" i="1" smtClean="0">
                            <a:latin typeface="Cambria Math" panose="02040503050406030204" pitchFamily="18" charset="0"/>
                            <a:ea typeface="微软雅黑" panose="020B0503020204020204" pitchFamily="34" charset="-122"/>
                          </a:rPr>
                          <m:t>|</m:t>
                        </m:r>
                      </m:den>
                    </m:f>
                    <m:r>
                      <a:rPr lang="en-US" altLang="zh-CN" sz="2000" b="0" i="1" smtClean="0">
                        <a:latin typeface="Cambria Math" panose="02040503050406030204" pitchFamily="18" charset="0"/>
                        <a:ea typeface="微软雅黑" panose="020B0503020204020204" pitchFamily="34" charset="-122"/>
                      </a:rPr>
                      <m:t>𝛿</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m:t>
                    </m:r>
                  </m:oMath>
                </a14:m>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1600" dirty="0" smtClean="0">
                    <a:latin typeface="微软雅黑" panose="020B0503020204020204" pitchFamily="34" charset="-122"/>
                    <a:ea typeface="微软雅黑" panose="020B0503020204020204" pitchFamily="34" charset="-122"/>
                  </a:rPr>
                  <a:t>证：</a:t>
                </a:r>
                <a14:m>
                  <m:oMath xmlns:m="http://schemas.openxmlformats.org/officeDocument/2006/math">
                    <m:nary>
                      <m:naryPr>
                        <m:ctrlPr>
                          <a:rPr lang="en-US" altLang="zh-CN" sz="1600" i="1">
                            <a:latin typeface="Cambria Math" panose="02040503050406030204" pitchFamily="18" charset="0"/>
                            <a:ea typeface="微软雅黑" panose="020B0503020204020204" pitchFamily="34" charset="-122"/>
                          </a:rPr>
                        </m:ctrlPr>
                      </m:naryPr>
                      <m:sub>
                        <m:r>
                          <m:rPr>
                            <m:brk m:alnAt="23"/>
                          </m:rP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m:t>
                        </m:r>
                      </m:sub>
                      <m:sup>
                        <m:r>
                          <a:rPr lang="en-US" altLang="zh-CN" sz="1600" i="1">
                            <a:latin typeface="Cambria Math" panose="02040503050406030204" pitchFamily="18" charset="0"/>
                            <a:ea typeface="微软雅黑" panose="020B0503020204020204" pitchFamily="34" charset="-122"/>
                          </a:rPr>
                          <m:t>∞</m:t>
                        </m:r>
                      </m:sup>
                      <m:e>
                        <m:r>
                          <a:rPr lang="en-US" altLang="zh-CN" sz="1600" i="1">
                            <a:latin typeface="Cambria Math" panose="02040503050406030204" pitchFamily="18" charset="0"/>
                            <a:ea typeface="微软雅黑" panose="020B0503020204020204" pitchFamily="34" charset="-122"/>
                          </a:rPr>
                          <m:t>𝛿</m:t>
                        </m:r>
                        <m:r>
                          <a:rPr lang="en-US" altLang="zh-CN" sz="1600" i="1">
                            <a:latin typeface="Cambria Math" panose="02040503050406030204" pitchFamily="18" charset="0"/>
                            <a:ea typeface="微软雅黑" panose="020B0503020204020204" pitchFamily="34" charset="-122"/>
                          </a:rPr>
                          <m:t>(</m:t>
                        </m:r>
                        <m:r>
                          <a:rPr lang="en-US" altLang="zh-CN" sz="1600" b="0" i="1" smtClean="0">
                            <a:latin typeface="Cambria Math" panose="02040503050406030204" pitchFamily="18" charset="0"/>
                            <a:ea typeface="微软雅黑" panose="020B0503020204020204" pitchFamily="34" charset="-122"/>
                          </a:rPr>
                          <m:t>𝑘𝑥</m:t>
                        </m:r>
                        <m:r>
                          <a:rPr lang="en-US" altLang="zh-CN" sz="1600" i="1">
                            <a:latin typeface="Cambria Math" panose="02040503050406030204" pitchFamily="18" charset="0"/>
                            <a:ea typeface="微软雅黑" panose="020B0503020204020204" pitchFamily="34" charset="-122"/>
                          </a:rPr>
                          <m:t>)</m:t>
                        </m:r>
                      </m:e>
                    </m:nary>
                    <m:r>
                      <m:rPr>
                        <m:sty m:val="p"/>
                      </m:rPr>
                      <a:rPr lang="en-US" altLang="zh-CN" sz="1600">
                        <a:latin typeface="Cambria Math" panose="02040503050406030204" pitchFamily="18" charset="0"/>
                        <a:ea typeface="微软雅黑" panose="020B0503020204020204" pitchFamily="34" charset="-122"/>
                      </a:rPr>
                      <m:t>d</m:t>
                    </m:r>
                    <m:r>
                      <a:rPr lang="en-US" altLang="zh-CN" sz="1600" i="1">
                        <a:latin typeface="Cambria Math" panose="02040503050406030204" pitchFamily="18" charset="0"/>
                        <a:ea typeface="微软雅黑" panose="020B0503020204020204" pitchFamily="34" charset="-122"/>
                      </a:rPr>
                      <m:t>𝑥</m:t>
                    </m:r>
                    <m:r>
                      <a:rPr lang="en-US" altLang="zh-CN" sz="1600" b="0" i="1" smtClean="0">
                        <a:latin typeface="Cambria Math" panose="02040503050406030204" pitchFamily="18" charset="0"/>
                        <a:ea typeface="微软雅黑" panose="020B0503020204020204" pitchFamily="34" charset="-122"/>
                      </a:rPr>
                      <m:t>=</m:t>
                    </m:r>
                    <m:f>
                      <m:fPr>
                        <m:ctrlPr>
                          <a:rPr lang="en-US" altLang="zh-CN" sz="1600" i="1">
                            <a:latin typeface="Cambria Math" panose="02040503050406030204" pitchFamily="18" charset="0"/>
                            <a:ea typeface="微软雅黑" panose="020B0503020204020204" pitchFamily="34" charset="-122"/>
                          </a:rPr>
                        </m:ctrlPr>
                      </m:fPr>
                      <m:num>
                        <m:r>
                          <a:rPr lang="en-US" altLang="zh-CN" sz="1600" i="1">
                            <a:latin typeface="Cambria Math" panose="02040503050406030204" pitchFamily="18" charset="0"/>
                            <a:ea typeface="微软雅黑" panose="020B0503020204020204" pitchFamily="34" charset="-122"/>
                          </a:rPr>
                          <m:t>1</m:t>
                        </m:r>
                      </m:num>
                      <m:den>
                        <m:r>
                          <a:rPr lang="en-US" altLang="zh-CN" sz="1600" i="1">
                            <a:latin typeface="Cambria Math" panose="02040503050406030204" pitchFamily="18" charset="0"/>
                            <a:ea typeface="微软雅黑" panose="020B0503020204020204" pitchFamily="34" charset="-122"/>
                          </a:rPr>
                          <m:t>𝑘</m:t>
                        </m:r>
                      </m:den>
                    </m:f>
                    <m:nary>
                      <m:naryPr>
                        <m:ctrlPr>
                          <a:rPr lang="en-US" altLang="zh-CN" sz="1600" i="1">
                            <a:latin typeface="Cambria Math" panose="02040503050406030204" pitchFamily="18" charset="0"/>
                            <a:ea typeface="微软雅黑" panose="020B0503020204020204" pitchFamily="34" charset="-122"/>
                          </a:rPr>
                        </m:ctrlPr>
                      </m:naryPr>
                      <m:sub>
                        <m:r>
                          <m:rPr>
                            <m:brk m:alnAt="23"/>
                          </m:rP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m:t>
                        </m:r>
                      </m:sub>
                      <m:sup>
                        <m:r>
                          <a:rPr lang="en-US" altLang="zh-CN" sz="1600" i="1">
                            <a:latin typeface="Cambria Math" panose="02040503050406030204" pitchFamily="18" charset="0"/>
                            <a:ea typeface="微软雅黑" panose="020B0503020204020204" pitchFamily="34" charset="-122"/>
                          </a:rPr>
                          <m:t>∞</m:t>
                        </m:r>
                      </m:sup>
                      <m:e>
                        <m:r>
                          <a:rPr lang="en-US" altLang="zh-CN" sz="1600" i="1">
                            <a:latin typeface="Cambria Math" panose="02040503050406030204" pitchFamily="18" charset="0"/>
                            <a:ea typeface="微软雅黑" panose="020B0503020204020204" pitchFamily="34" charset="-122"/>
                          </a:rPr>
                          <m:t>𝛿</m:t>
                        </m:r>
                        <m:d>
                          <m:dPr>
                            <m:ctrlPr>
                              <a:rPr lang="en-US" altLang="zh-CN" sz="1600" i="1">
                                <a:latin typeface="Cambria Math" panose="02040503050406030204" pitchFamily="18" charset="0"/>
                                <a:ea typeface="微软雅黑" panose="020B0503020204020204" pitchFamily="34" charset="-122"/>
                              </a:rPr>
                            </m:ctrlPr>
                          </m:dPr>
                          <m:e>
                            <m:r>
                              <a:rPr lang="en-US" altLang="zh-CN" sz="1600" i="1">
                                <a:latin typeface="Cambria Math" panose="02040503050406030204" pitchFamily="18" charset="0"/>
                                <a:ea typeface="微软雅黑" panose="020B0503020204020204" pitchFamily="34" charset="-122"/>
                              </a:rPr>
                              <m:t>𝑘𝑥</m:t>
                            </m:r>
                          </m:e>
                        </m:d>
                      </m:e>
                    </m:nary>
                    <m:r>
                      <m:rPr>
                        <m:sty m:val="p"/>
                      </m:rPr>
                      <a:rPr lang="en-US" altLang="zh-CN" sz="1600">
                        <a:latin typeface="Cambria Math" panose="02040503050406030204" pitchFamily="18" charset="0"/>
                        <a:ea typeface="微软雅黑" panose="020B0503020204020204" pitchFamily="34" charset="-122"/>
                      </a:rPr>
                      <m:t>d</m:t>
                    </m:r>
                    <m:d>
                      <m:dPr>
                        <m:ctrlPr>
                          <a:rPr lang="en-US" altLang="zh-CN" sz="1600" b="0" i="1" smtClean="0">
                            <a:latin typeface="Cambria Math" panose="02040503050406030204" pitchFamily="18" charset="0"/>
                            <a:ea typeface="微软雅黑" panose="020B0503020204020204" pitchFamily="34" charset="-122"/>
                          </a:rPr>
                        </m:ctrlPr>
                      </m:dPr>
                      <m:e>
                        <m:r>
                          <a:rPr lang="en-US" altLang="zh-CN" sz="1600" b="0" i="1" smtClean="0">
                            <a:latin typeface="Cambria Math" panose="02040503050406030204" pitchFamily="18" charset="0"/>
                            <a:ea typeface="微软雅黑" panose="020B0503020204020204" pitchFamily="34" charset="-122"/>
                          </a:rPr>
                          <m:t>𝑘</m:t>
                        </m:r>
                        <m:r>
                          <a:rPr lang="en-US" altLang="zh-CN" sz="1600" i="1">
                            <a:latin typeface="Cambria Math" panose="02040503050406030204" pitchFamily="18" charset="0"/>
                            <a:ea typeface="微软雅黑" panose="020B0503020204020204" pitchFamily="34" charset="-122"/>
                          </a:rPr>
                          <m:t>𝑥</m:t>
                        </m:r>
                      </m:e>
                    </m:d>
                    <m:r>
                      <a:rPr lang="en-US" altLang="zh-CN" sz="1600" b="0" i="1" smtClean="0">
                        <a:latin typeface="Cambria Math" panose="02040503050406030204" pitchFamily="18" charset="0"/>
                        <a:ea typeface="微软雅黑" panose="020B0503020204020204" pitchFamily="34" charset="-122"/>
                      </a:rPr>
                      <m:t>=</m:t>
                    </m:r>
                    <m:f>
                      <m:fPr>
                        <m:ctrlPr>
                          <a:rPr lang="en-US" altLang="zh-CN" sz="1600" b="0" i="1" smtClean="0">
                            <a:latin typeface="Cambria Math" panose="02040503050406030204" pitchFamily="18" charset="0"/>
                            <a:ea typeface="微软雅黑" panose="020B0503020204020204" pitchFamily="34" charset="-122"/>
                          </a:rPr>
                        </m:ctrlPr>
                      </m:fPr>
                      <m:num>
                        <m:r>
                          <a:rPr lang="en-US" altLang="zh-CN" sz="1600" b="0" i="1" smtClean="0">
                            <a:latin typeface="Cambria Math" panose="02040503050406030204" pitchFamily="18" charset="0"/>
                            <a:ea typeface="微软雅黑" panose="020B0503020204020204" pitchFamily="34" charset="-122"/>
                          </a:rPr>
                          <m:t>1</m:t>
                        </m:r>
                      </m:num>
                      <m:den>
                        <m:r>
                          <a:rPr lang="en-US" altLang="zh-CN" sz="1600" b="0" i="1" smtClean="0">
                            <a:latin typeface="Cambria Math" panose="02040503050406030204" pitchFamily="18" charset="0"/>
                            <a:ea typeface="微软雅黑" panose="020B0503020204020204" pitchFamily="34" charset="-122"/>
                          </a:rPr>
                          <m:t>𝑘</m:t>
                        </m:r>
                      </m:den>
                    </m:f>
                    <m:r>
                      <a:rPr lang="en-US" altLang="zh-CN" sz="1600" b="0" i="1" smtClean="0">
                        <a:latin typeface="Cambria Math" panose="02040503050406030204" pitchFamily="18" charset="0"/>
                        <a:ea typeface="微软雅黑" panose="020B0503020204020204" pitchFamily="34" charset="-122"/>
                      </a:rPr>
                      <m:t>=</m:t>
                    </m:r>
                    <m:f>
                      <m:fPr>
                        <m:ctrlPr>
                          <a:rPr lang="en-US" altLang="zh-CN" sz="1600" b="0" i="1" smtClean="0">
                            <a:latin typeface="Cambria Math" panose="02040503050406030204" pitchFamily="18" charset="0"/>
                            <a:ea typeface="微软雅黑" panose="020B0503020204020204" pitchFamily="34" charset="-122"/>
                          </a:rPr>
                        </m:ctrlPr>
                      </m:fPr>
                      <m:num>
                        <m:r>
                          <a:rPr lang="en-US" altLang="zh-CN" sz="1600" b="0" i="1" smtClean="0">
                            <a:latin typeface="Cambria Math" panose="02040503050406030204" pitchFamily="18" charset="0"/>
                            <a:ea typeface="微软雅黑" panose="020B0503020204020204" pitchFamily="34" charset="-122"/>
                          </a:rPr>
                          <m:t>1</m:t>
                        </m:r>
                      </m:num>
                      <m:den>
                        <m:r>
                          <a:rPr lang="en-US" altLang="zh-CN" sz="1600" b="0" i="1" smtClean="0">
                            <a:latin typeface="Cambria Math" panose="02040503050406030204" pitchFamily="18" charset="0"/>
                            <a:ea typeface="微软雅黑" panose="020B0503020204020204" pitchFamily="34" charset="-122"/>
                          </a:rPr>
                          <m:t>𝑘</m:t>
                        </m:r>
                      </m:den>
                    </m:f>
                    <m:nary>
                      <m:naryPr>
                        <m:ctrlPr>
                          <a:rPr lang="en-US" altLang="zh-CN" sz="1600" i="1">
                            <a:latin typeface="Cambria Math" panose="02040503050406030204" pitchFamily="18" charset="0"/>
                            <a:ea typeface="微软雅黑" panose="020B0503020204020204" pitchFamily="34" charset="-122"/>
                          </a:rPr>
                        </m:ctrlPr>
                      </m:naryPr>
                      <m:sub>
                        <m:r>
                          <m:rPr>
                            <m:brk m:alnAt="23"/>
                          </m:rP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m:t>
                        </m:r>
                      </m:sub>
                      <m:sup>
                        <m:r>
                          <a:rPr lang="en-US" altLang="zh-CN" sz="1600" i="1">
                            <a:latin typeface="Cambria Math" panose="02040503050406030204" pitchFamily="18" charset="0"/>
                            <a:ea typeface="微软雅黑" panose="020B0503020204020204" pitchFamily="34" charset="-122"/>
                          </a:rPr>
                          <m:t>∞</m:t>
                        </m:r>
                      </m:sup>
                      <m:e>
                        <m:r>
                          <a:rPr lang="en-US" altLang="zh-CN" sz="1600" i="1">
                            <a:latin typeface="Cambria Math" panose="02040503050406030204" pitchFamily="18" charset="0"/>
                            <a:ea typeface="微软雅黑" panose="020B0503020204020204" pitchFamily="34" charset="-122"/>
                          </a:rPr>
                          <m:t>𝛿</m:t>
                        </m:r>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𝑥</m:t>
                        </m:r>
                        <m:r>
                          <a:rPr lang="en-US" altLang="zh-CN" sz="1600" i="1">
                            <a:latin typeface="Cambria Math" panose="02040503050406030204" pitchFamily="18" charset="0"/>
                            <a:ea typeface="微软雅黑" panose="020B0503020204020204" pitchFamily="34" charset="-122"/>
                          </a:rPr>
                          <m:t>)</m:t>
                        </m:r>
                      </m:e>
                    </m:nary>
                    <m:r>
                      <m:rPr>
                        <m:sty m:val="p"/>
                      </m:rPr>
                      <a:rPr lang="en-US" altLang="zh-CN" sz="1600">
                        <a:latin typeface="Cambria Math" panose="02040503050406030204" pitchFamily="18" charset="0"/>
                        <a:ea typeface="微软雅黑" panose="020B0503020204020204" pitchFamily="34" charset="-122"/>
                      </a:rPr>
                      <m:t>d</m:t>
                    </m:r>
                    <m:r>
                      <a:rPr lang="en-US" altLang="zh-CN" sz="1600" i="1">
                        <a:latin typeface="Cambria Math" panose="02040503050406030204" pitchFamily="18" charset="0"/>
                        <a:ea typeface="微软雅黑" panose="020B0503020204020204" pitchFamily="34" charset="-122"/>
                      </a:rPr>
                      <m:t>𝑥</m:t>
                    </m:r>
                  </m:oMath>
                </a14:m>
                <a:endParaRPr lang="en-US" altLang="zh-CN" sz="1600" dirty="0" smtClean="0">
                  <a:latin typeface="微软雅黑" panose="020B0503020204020204" pitchFamily="34" charset="-122"/>
                  <a:ea typeface="微软雅黑" panose="020B0503020204020204" pitchFamily="34" charset="-122"/>
                </a:endParaRPr>
              </a:p>
              <a:p>
                <a14:m>
                  <m:oMath xmlns:m="http://schemas.openxmlformats.org/officeDocument/2006/math">
                    <m:r>
                      <a:rPr lang="en-US" altLang="zh-CN" sz="1600" i="1">
                        <a:latin typeface="Cambria Math" panose="02040503050406030204" pitchFamily="18" charset="0"/>
                        <a:ea typeface="微软雅黑" panose="020B0503020204020204" pitchFamily="34" charset="-122"/>
                      </a:rPr>
                      <m:t>𝛿</m:t>
                    </m:r>
                    <m:d>
                      <m:dPr>
                        <m:ctrlPr>
                          <a:rPr lang="en-US" altLang="zh-CN" sz="1600" i="1">
                            <a:latin typeface="Cambria Math" panose="02040503050406030204" pitchFamily="18" charset="0"/>
                            <a:ea typeface="微软雅黑" panose="020B0503020204020204" pitchFamily="34" charset="-122"/>
                          </a:rPr>
                        </m:ctrlPr>
                      </m:dPr>
                      <m:e>
                        <m:r>
                          <a:rPr lang="en-US" altLang="zh-CN" sz="1600" i="1">
                            <a:latin typeface="Cambria Math" panose="02040503050406030204" pitchFamily="18" charset="0"/>
                            <a:ea typeface="微软雅黑" panose="020B0503020204020204" pitchFamily="34" charset="-122"/>
                          </a:rPr>
                          <m:t>𝑘𝑥</m:t>
                        </m:r>
                      </m:e>
                    </m:d>
                    <m:r>
                      <a:rPr lang="en-US" altLang="zh-CN" sz="1600" b="0" i="1" smtClean="0">
                        <a:latin typeface="Cambria Math" panose="02040503050406030204" pitchFamily="18" charset="0"/>
                        <a:ea typeface="微软雅黑" panose="020B0503020204020204" pitchFamily="34" charset="-122"/>
                      </a:rPr>
                      <m:t>≥0, </m:t>
                    </m:r>
                    <m:r>
                      <a:rPr lang="zh-CN" altLang="en-US" sz="1600" i="1">
                        <a:latin typeface="Cambria Math" panose="02040503050406030204" pitchFamily="18" charset="0"/>
                        <a:ea typeface="微软雅黑" panose="020B0503020204020204" pitchFamily="34" charset="-122"/>
                      </a:rPr>
                      <m:t>对</m:t>
                    </m:r>
                    <m:r>
                      <m:rPr>
                        <m:sty m:val="p"/>
                      </m:rPr>
                      <a:rPr lang="en-US" altLang="zh-CN" sz="1600" b="0" i="0" smtClean="0">
                        <a:latin typeface="Cambria Math" panose="02040503050406030204" pitchFamily="18" charset="0"/>
                        <a:ea typeface="微软雅黑" panose="020B0503020204020204" pitchFamily="34" charset="-122"/>
                      </a:rPr>
                      <m:t>k</m:t>
                    </m:r>
                    <m:r>
                      <a:rPr lang="zh-CN" altLang="en-US" sz="1600" i="1">
                        <a:latin typeface="Cambria Math" panose="02040503050406030204" pitchFamily="18" charset="0"/>
                        <a:ea typeface="微软雅黑" panose="020B0503020204020204" pitchFamily="34" charset="-122"/>
                      </a:rPr>
                      <m:t>取</m:t>
                    </m:r>
                  </m:oMath>
                </a14:m>
                <a:r>
                  <a:rPr lang="zh-CN" altLang="en-US" sz="1600" dirty="0" smtClean="0">
                    <a:latin typeface="微软雅黑" panose="020B0503020204020204" pitchFamily="34" charset="-122"/>
                    <a:ea typeface="微软雅黑" panose="020B0503020204020204" pitchFamily="34" charset="-122"/>
                  </a:rPr>
                  <a:t>绝对值</a:t>
                </a:r>
                <a:endParaRPr lang="en-US" altLang="zh-CN" sz="1600" dirty="0" smtClean="0">
                  <a:latin typeface="微软雅黑" panose="020B0503020204020204" pitchFamily="34" charset="-122"/>
                  <a:ea typeface="微软雅黑" panose="020B0503020204020204" pitchFamily="34"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499109" y="1171575"/>
                <a:ext cx="10549891" cy="5069401"/>
              </a:xfrm>
              <a:prstGeom prst="rect">
                <a:avLst/>
              </a:prstGeom>
              <a:blipFill rotWithShape="0">
                <a:blip r:embed="rId5"/>
                <a:stretch>
                  <a:fillRect l="-635" t="-601" b="-757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51869850"/>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Fourier transformation</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4" name="文本框 3"/>
          <p:cNvSpPr txBox="1"/>
          <p:nvPr/>
        </p:nvSpPr>
        <p:spPr>
          <a:xfrm>
            <a:off x="289981" y="1445459"/>
            <a:ext cx="11518265" cy="4247317"/>
          </a:xfrm>
          <a:prstGeom prst="rect">
            <a:avLst/>
          </a:prstGeom>
          <a:noFill/>
        </p:spPr>
        <p:txBody>
          <a:bodyPr wrap="square" rtlCol="0">
            <a:spAutoFit/>
          </a:bodyPr>
          <a:lstStyle/>
          <a:p>
            <a:pPr>
              <a:lnSpc>
                <a:spcPct val="150000"/>
              </a:lnSpc>
            </a:pPr>
            <a:r>
              <a:rPr lang="en-US" altLang="zh-CN" sz="2000" dirty="0" smtClean="0">
                <a:latin typeface="微软雅黑" panose="020B0503020204020204" pitchFamily="34" charset="-122"/>
                <a:ea typeface="微软雅黑" panose="020B0503020204020204" pitchFamily="34" charset="-122"/>
              </a:rPr>
              <a:t>Delta</a:t>
            </a:r>
            <a:r>
              <a:rPr lang="zh-CN" altLang="en-US" sz="2000" dirty="0" smtClean="0">
                <a:latin typeface="微软雅黑" panose="020B0503020204020204" pitchFamily="34" charset="-122"/>
                <a:ea typeface="微软雅黑" panose="020B0503020204020204" pitchFamily="34" charset="-122"/>
              </a:rPr>
              <a:t>函数在定义和操作上非常简单，特别是筛选性质可以简化非常多的积分运算，但将其直接和函数混合运算有时会在数学上产生不良定义的结果，此时需要寻找</a:t>
            </a:r>
            <a:r>
              <a:rPr lang="en-US" altLang="zh-CN" sz="2000" dirty="0">
                <a:latin typeface="微软雅黑" panose="020B0503020204020204" pitchFamily="34" charset="-122"/>
                <a:ea typeface="微软雅黑" panose="020B0503020204020204" pitchFamily="34" charset="-122"/>
              </a:rPr>
              <a:t>Delta</a:t>
            </a:r>
            <a:r>
              <a:rPr lang="zh-CN" altLang="en-US" sz="2000" dirty="0" smtClean="0">
                <a:latin typeface="微软雅黑" panose="020B0503020204020204" pitchFamily="34" charset="-122"/>
                <a:ea typeface="微软雅黑" panose="020B0503020204020204" pitchFamily="34" charset="-122"/>
              </a:rPr>
              <a:t>函数的其它形式和生成函数</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在此之前先介绍傅里叶级数展开和傅里叶变换</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对于任意一个周期函数，将其展开为简单函数的和将大大简化运算</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从线性空间中任意一个向量都可以由一组正交归一基线性展开受到启发，周期函数是否也可以由一组“基函数”展开，并且这些“基函数”在函数内积的定义下，满足正交归一性呢？</a:t>
            </a:r>
            <a:endParaRPr lang="en-US" altLang="zh-CN" sz="200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6907463"/>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Fourier transformation</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226481" y="978734"/>
                <a:ext cx="11518265" cy="4751109"/>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考虑定义在</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[0, 2</m:t>
                    </m:r>
                    <m:r>
                      <a:rPr lang="en-US" altLang="zh-CN" sz="2000" b="0" i="1" smtClean="0">
                        <a:latin typeface="Cambria Math" panose="02040503050406030204" pitchFamily="18" charset="0"/>
                        <a:ea typeface="微软雅黑" panose="020B0503020204020204" pitchFamily="34" charset="-122"/>
                      </a:rPr>
                      <m:t>𝜋</m:t>
                    </m:r>
                    <m:r>
                      <a:rPr lang="en-US" altLang="zh-CN" sz="2000" b="0" i="1" smtClean="0">
                        <a:latin typeface="Cambria Math" panose="02040503050406030204" pitchFamily="18" charset="0"/>
                        <a:ea typeface="微软雅黑" panose="020B0503020204020204" pitchFamily="34" charset="-122"/>
                      </a:rPr>
                      <m:t>]</m:t>
                    </m:r>
                  </m:oMath>
                </a14:m>
                <a:r>
                  <a:rPr lang="zh-CN" altLang="en-US" sz="2000" dirty="0" smtClean="0">
                    <a:latin typeface="微软雅黑" panose="020B0503020204020204" pitchFamily="34" charset="-122"/>
                    <a:ea typeface="微软雅黑" panose="020B0503020204020204" pitchFamily="34" charset="-122"/>
                  </a:rPr>
                  <a:t>如下的一组函数：</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1,</m:t>
                    </m:r>
                    <m:func>
                      <m:funcPr>
                        <m:ctrlPr>
                          <a:rPr lang="en-US" altLang="zh-CN" sz="2000" b="0" i="1" smtClean="0">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sin</m:t>
                        </m:r>
                      </m:fName>
                      <m:e>
                        <m:r>
                          <a:rPr lang="en-US" altLang="zh-CN" sz="2000" b="0" i="1" smtClean="0">
                            <a:latin typeface="Cambria Math" panose="02040503050406030204" pitchFamily="18" charset="0"/>
                            <a:ea typeface="微软雅黑" panose="020B0503020204020204" pitchFamily="34" charset="-122"/>
                          </a:rPr>
                          <m:t>𝑥</m:t>
                        </m:r>
                      </m:e>
                    </m:func>
                    <m:r>
                      <a:rPr lang="en-US" altLang="zh-CN" sz="2000" b="0" i="1" smtClean="0">
                        <a:latin typeface="Cambria Math" panose="02040503050406030204" pitchFamily="18" charset="0"/>
                        <a:ea typeface="微软雅黑" panose="020B0503020204020204" pitchFamily="34" charset="-122"/>
                      </a:rPr>
                      <m:t>,</m:t>
                    </m:r>
                    <m:func>
                      <m:funcPr>
                        <m:ctrlPr>
                          <a:rPr lang="en-US" altLang="zh-CN" sz="2000" b="0" i="1" smtClean="0">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sin</m:t>
                        </m:r>
                      </m:fName>
                      <m:e>
                        <m:r>
                          <a:rPr lang="en-US" altLang="zh-CN" sz="2000" b="0" i="1" smtClean="0">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𝑥</m:t>
                        </m:r>
                      </m:e>
                    </m:func>
                    <m:r>
                      <a:rPr lang="en-US" altLang="zh-CN" sz="2000" b="0" i="1" smtClean="0">
                        <a:latin typeface="Cambria Math" panose="02040503050406030204" pitchFamily="18" charset="0"/>
                        <a:ea typeface="微软雅黑" panose="020B0503020204020204" pitchFamily="34" charset="-122"/>
                      </a:rPr>
                      <m:t>,…,</m:t>
                    </m:r>
                    <m:func>
                      <m:funcPr>
                        <m:ctrlPr>
                          <a:rPr lang="en-US" altLang="zh-CN" sz="2000" b="0" i="1" smtClean="0">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cos</m:t>
                        </m:r>
                      </m:fName>
                      <m:e>
                        <m:r>
                          <a:rPr lang="en-US" altLang="zh-CN" sz="2000" b="0" i="1" smtClean="0">
                            <a:latin typeface="Cambria Math" panose="02040503050406030204" pitchFamily="18" charset="0"/>
                            <a:ea typeface="微软雅黑" panose="020B0503020204020204" pitchFamily="34" charset="-122"/>
                          </a:rPr>
                          <m:t>𝑥</m:t>
                        </m:r>
                      </m:e>
                    </m:func>
                    <m:r>
                      <a:rPr lang="en-US" altLang="zh-CN" sz="2000" b="0" i="1" smtClean="0">
                        <a:latin typeface="Cambria Math" panose="02040503050406030204" pitchFamily="18" charset="0"/>
                        <a:ea typeface="微软雅黑" panose="020B0503020204020204" pitchFamily="34" charset="-122"/>
                      </a:rPr>
                      <m:t>,</m:t>
                    </m:r>
                    <m:func>
                      <m:funcPr>
                        <m:ctrlPr>
                          <a:rPr lang="en-US" altLang="zh-CN" sz="2000" b="0" i="1" smtClean="0">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cos</m:t>
                        </m:r>
                      </m:fName>
                      <m:e>
                        <m:r>
                          <a:rPr lang="en-US" altLang="zh-CN" sz="2000" b="0" i="1" smtClean="0">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𝑥</m:t>
                        </m:r>
                      </m:e>
                    </m:func>
                    <m:r>
                      <a:rPr lang="en-US" altLang="zh-CN" sz="2000" b="0" i="1" smtClean="0">
                        <a:latin typeface="Cambria Math" panose="02040503050406030204" pitchFamily="18" charset="0"/>
                        <a:ea typeface="微软雅黑" panose="020B0503020204020204" pitchFamily="34" charset="-122"/>
                      </a:rPr>
                      <m:t>,…</m:t>
                    </m:r>
                  </m:oMath>
                </a14:m>
                <a:endParaRPr lang="en-US" altLang="zh-CN" sz="2000" b="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这些基函数间满足：</a:t>
                </a:r>
                <a14:m>
                  <m:oMath xmlns:m="http://schemas.openxmlformats.org/officeDocument/2006/math">
                    <m:nary>
                      <m:naryPr>
                        <m:ctrlPr>
                          <a:rPr lang="en-US" altLang="zh-CN" sz="2000" b="0" i="1" smtClean="0">
                            <a:latin typeface="Cambria Math" panose="02040503050406030204" pitchFamily="18" charset="0"/>
                            <a:ea typeface="微软雅黑" panose="020B0503020204020204" pitchFamily="34" charset="-122"/>
                          </a:rPr>
                        </m:ctrlPr>
                      </m:naryPr>
                      <m:sub>
                        <m:r>
                          <a:rPr lang="en-US" altLang="zh-CN" sz="2000" b="0" i="1" smtClean="0">
                            <a:latin typeface="Cambria Math" panose="02040503050406030204" pitchFamily="18" charset="0"/>
                            <a:ea typeface="微软雅黑" panose="020B0503020204020204" pitchFamily="34" charset="-122"/>
                          </a:rPr>
                          <m:t>0</m:t>
                        </m:r>
                      </m:sub>
                      <m:sup>
                        <m:r>
                          <a:rPr lang="en-US" altLang="zh-CN" sz="2000" b="0" i="1" smtClean="0">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𝜋</m:t>
                        </m:r>
                      </m:sup>
                      <m:e>
                        <m:func>
                          <m:funcPr>
                            <m:ctrlPr>
                              <a:rPr lang="en-US" altLang="zh-CN" sz="2000" b="0" i="1" smtClean="0">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sin</m:t>
                            </m:r>
                          </m:fName>
                          <m:e>
                            <m:r>
                              <a:rPr lang="en-US" altLang="zh-CN" sz="2000" b="0" i="1" smtClean="0">
                                <a:latin typeface="Cambria Math" panose="02040503050406030204" pitchFamily="18" charset="0"/>
                                <a:ea typeface="微软雅黑" panose="020B0503020204020204" pitchFamily="34" charset="-122"/>
                              </a:rPr>
                              <m:t>𝑥</m:t>
                            </m:r>
                          </m:e>
                        </m:func>
                      </m:e>
                    </m:nary>
                    <m:r>
                      <m:rPr>
                        <m:sty m:val="p"/>
                      </m:rPr>
                      <a:rPr lang="en-US" altLang="zh-CN" sz="2000" b="0" i="0" smtClean="0">
                        <a:latin typeface="Cambria Math" panose="02040503050406030204" pitchFamily="18" charset="0"/>
                        <a:ea typeface="微软雅黑" panose="020B0503020204020204" pitchFamily="34" charset="-122"/>
                      </a:rPr>
                      <m:t>d</m:t>
                    </m:r>
                    <m:r>
                      <a:rPr lang="en-US" altLang="zh-CN" sz="2000" b="0" i="1" smtClean="0">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=0,</m:t>
                    </m:r>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cos</m:t>
                            </m:r>
                          </m:fName>
                          <m:e>
                            <m:r>
                              <a:rPr lang="en-US" altLang="zh-CN" sz="2000" i="1">
                                <a:latin typeface="Cambria Math" panose="02040503050406030204" pitchFamily="18" charset="0"/>
                                <a:ea typeface="微软雅黑" panose="020B0503020204020204" pitchFamily="34" charset="-122"/>
                              </a:rPr>
                              <m:t>𝑥</m:t>
                            </m:r>
                          </m:e>
                        </m:func>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=0</m:t>
                    </m:r>
                  </m:oMath>
                </a14:m>
                <a:endParaRPr lang="en-US" altLang="zh-CN" sz="2000" i="1" dirty="0" smtClean="0">
                  <a:latin typeface="Cambria Math" panose="02040503050406030204" pitchFamily="18" charset="0"/>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sin</m:t>
                              </m:r>
                            </m:fName>
                            <m:e>
                              <m:r>
                                <a:rPr lang="en-US" altLang="zh-CN" sz="2000" b="0" i="1" smtClean="0">
                                  <a:latin typeface="Cambria Math" panose="02040503050406030204" pitchFamily="18" charset="0"/>
                                  <a:ea typeface="微软雅黑" panose="020B0503020204020204" pitchFamily="34" charset="-122"/>
                                </a:rPr>
                                <m:t>𝑚</m:t>
                              </m:r>
                              <m:r>
                                <a:rPr lang="en-US" altLang="zh-CN" sz="2000" i="1">
                                  <a:latin typeface="Cambria Math" panose="02040503050406030204" pitchFamily="18" charset="0"/>
                                  <a:ea typeface="微软雅黑" panose="020B0503020204020204" pitchFamily="34" charset="-122"/>
                                </a:rPr>
                                <m:t>𝑥</m:t>
                              </m:r>
                            </m:e>
                          </m:func>
                          <m:func>
                            <m:funcPr>
                              <m:ctrlPr>
                                <a:rPr lang="en-US" altLang="zh-CN" sz="2000" b="0" i="1" smtClean="0">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cos</m:t>
                              </m:r>
                            </m:fName>
                            <m:e>
                              <m:r>
                                <a:rPr lang="en-US" altLang="zh-CN" sz="2000" b="0" i="1" smtClean="0">
                                  <a:latin typeface="Cambria Math" panose="02040503050406030204" pitchFamily="18" charset="0"/>
                                  <a:ea typeface="微软雅黑" panose="020B0503020204020204" pitchFamily="34" charset="-122"/>
                                </a:rPr>
                                <m:t>𝑛𝑥</m:t>
                              </m:r>
                            </m:e>
                          </m:func>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=0,</m:t>
                      </m:r>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a:latin typeface="Cambria Math" panose="02040503050406030204" pitchFamily="18" charset="0"/>
                                  <a:ea typeface="微软雅黑" panose="020B0503020204020204" pitchFamily="34" charset="-122"/>
                                </a:rPr>
                                <m:t>sin</m:t>
                              </m:r>
                            </m:fName>
                            <m:e>
                              <m:r>
                                <a:rPr lang="en-US" altLang="zh-CN" sz="2000" i="1">
                                  <a:latin typeface="Cambria Math" panose="02040503050406030204" pitchFamily="18" charset="0"/>
                                  <a:ea typeface="微软雅黑" panose="020B0503020204020204" pitchFamily="34" charset="-122"/>
                                </a:rPr>
                                <m:t>𝑚</m:t>
                              </m:r>
                              <m:r>
                                <a:rPr lang="en-US" altLang="zh-CN" sz="2000" i="1">
                                  <a:latin typeface="Cambria Math" panose="02040503050406030204" pitchFamily="18" charset="0"/>
                                  <a:ea typeface="微软雅黑" panose="020B0503020204020204" pitchFamily="34" charset="-122"/>
                                </a:rPr>
                                <m:t>𝑥</m:t>
                              </m:r>
                            </m:e>
                          </m:func>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sin</m:t>
                              </m:r>
                            </m:fName>
                            <m:e>
                              <m:r>
                                <a:rPr lang="en-US" altLang="zh-CN" sz="2000" i="1">
                                  <a:latin typeface="Cambria Math" panose="02040503050406030204" pitchFamily="18" charset="0"/>
                                  <a:ea typeface="微软雅黑" panose="020B0503020204020204" pitchFamily="34" charset="-122"/>
                                </a:rPr>
                                <m:t>𝑛𝑥</m:t>
                              </m:r>
                            </m:e>
                          </m:func>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m:t>
                      </m:r>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cos</m:t>
                              </m:r>
                            </m:fName>
                            <m:e>
                              <m:r>
                                <a:rPr lang="en-US" altLang="zh-CN" sz="2000" i="1">
                                  <a:latin typeface="Cambria Math" panose="02040503050406030204" pitchFamily="18" charset="0"/>
                                  <a:ea typeface="微软雅黑" panose="020B0503020204020204" pitchFamily="34" charset="-122"/>
                                </a:rPr>
                                <m:t>𝑚𝑥</m:t>
                              </m:r>
                            </m:e>
                          </m:func>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cos</m:t>
                              </m:r>
                            </m:fName>
                            <m:e>
                              <m:r>
                                <a:rPr lang="en-US" altLang="zh-CN" sz="2000" i="1">
                                  <a:latin typeface="Cambria Math" panose="02040503050406030204" pitchFamily="18" charset="0"/>
                                  <a:ea typeface="微软雅黑" panose="020B0503020204020204" pitchFamily="34" charset="-122"/>
                                </a:rPr>
                                <m:t>𝑛𝑥</m:t>
                              </m:r>
                            </m:e>
                          </m:func>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𝜋</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𝛿</m:t>
                          </m:r>
                        </m:e>
                        <m:sub>
                          <m:r>
                            <a:rPr lang="en-US" altLang="zh-CN" sz="2000" b="0" i="1" smtClean="0">
                              <a:latin typeface="Cambria Math" panose="02040503050406030204" pitchFamily="18" charset="0"/>
                              <a:ea typeface="微软雅黑" panose="020B0503020204020204" pitchFamily="34" charset="-122"/>
                            </a:rPr>
                            <m:t>𝑚𝑛</m:t>
                          </m:r>
                        </m:sub>
                      </m:sSub>
                    </m:oMath>
                  </m:oMathPara>
                </a14:m>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（可以自行验证后三个公式）</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这些三角函数正是我们所想要的基函数，于是将周期函数</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𝑓</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m:t>
                    </m:r>
                  </m:oMath>
                </a14:m>
                <a:r>
                  <a:rPr lang="zh-CN" altLang="en-US" sz="2000" dirty="0" smtClean="0">
                    <a:latin typeface="微软雅黑" panose="020B0503020204020204" pitchFamily="34" charset="-122"/>
                    <a:ea typeface="微软雅黑" panose="020B0503020204020204" pitchFamily="34" charset="-122"/>
                  </a:rPr>
                  <a:t>展开为</a:t>
                </a:r>
                <a:endParaRPr lang="en-US" altLang="zh-CN" sz="2000" dirty="0" smtClean="0">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𝑓</m:t>
                      </m:r>
                      <m:d>
                        <m:dPr>
                          <m:ctrlPr>
                            <a:rPr lang="en-US" altLang="zh-CN" sz="2000" b="0" i="1" smtClean="0">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𝑥</m:t>
                          </m:r>
                        </m:e>
                      </m:d>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𝑎</m:t>
                          </m:r>
                        </m:e>
                        <m:sub>
                          <m:r>
                            <a:rPr lang="en-US" altLang="zh-CN" sz="2000" b="0" i="1" smtClean="0">
                              <a:latin typeface="Cambria Math" panose="02040503050406030204" pitchFamily="18" charset="0"/>
                              <a:ea typeface="微软雅黑" panose="020B0503020204020204" pitchFamily="34" charset="-122"/>
                            </a:rPr>
                            <m:t>0</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𝑎</m:t>
                          </m:r>
                        </m:e>
                        <m:sub>
                          <m:r>
                            <a:rPr lang="en-US" altLang="zh-CN" sz="2000" b="0" i="1" smtClean="0">
                              <a:latin typeface="Cambria Math" panose="02040503050406030204" pitchFamily="18" charset="0"/>
                              <a:ea typeface="微软雅黑" panose="020B0503020204020204" pitchFamily="34" charset="-122"/>
                            </a:rPr>
                            <m:t>1</m:t>
                          </m:r>
                        </m:sub>
                      </m:sSub>
                      <m:func>
                        <m:funcPr>
                          <m:ctrlPr>
                            <a:rPr lang="en-US" altLang="zh-CN" sz="2000" b="0" i="1" smtClean="0">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sin</m:t>
                          </m:r>
                        </m:fName>
                        <m:e>
                          <m:r>
                            <a:rPr lang="en-US" altLang="zh-CN" sz="2000" b="0" i="1" smtClean="0">
                              <a:latin typeface="Cambria Math" panose="02040503050406030204" pitchFamily="18" charset="0"/>
                              <a:ea typeface="微软雅黑" panose="020B0503020204020204" pitchFamily="34" charset="-122"/>
                            </a:rPr>
                            <m:t>𝑥</m:t>
                          </m:r>
                        </m:e>
                      </m:func>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𝑎</m:t>
                          </m:r>
                        </m:e>
                        <m:sub>
                          <m:r>
                            <a:rPr lang="en-US" altLang="zh-CN" sz="2000" b="0" i="1" smtClean="0">
                              <a:latin typeface="Cambria Math" panose="02040503050406030204" pitchFamily="18" charset="0"/>
                              <a:ea typeface="微软雅黑" panose="020B0503020204020204" pitchFamily="34" charset="-122"/>
                            </a:rPr>
                            <m:t>2</m:t>
                          </m:r>
                        </m:sub>
                      </m:sSub>
                      <m:r>
                        <m:rPr>
                          <m:sty m:val="p"/>
                        </m:rPr>
                        <a:rPr lang="en-US" altLang="zh-CN" sz="2000" b="0" i="0" smtClean="0">
                          <a:latin typeface="Cambria Math" panose="02040503050406030204" pitchFamily="18" charset="0"/>
                          <a:ea typeface="微软雅黑" panose="020B0503020204020204" pitchFamily="34" charset="-122"/>
                        </a:rPr>
                        <m:t>sin</m:t>
                      </m:r>
                      <m:r>
                        <a:rPr lang="en-US" altLang="zh-CN" sz="2000" b="0" i="1" smtClean="0">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𝑏</m:t>
                          </m:r>
                        </m:e>
                        <m:sub>
                          <m:r>
                            <a:rPr lang="en-US" altLang="zh-CN" sz="2000" b="0" i="1" smtClean="0">
                              <a:latin typeface="Cambria Math" panose="02040503050406030204" pitchFamily="18" charset="0"/>
                              <a:ea typeface="微软雅黑" panose="020B0503020204020204" pitchFamily="34" charset="-122"/>
                            </a:rPr>
                            <m:t>1</m:t>
                          </m:r>
                        </m:sub>
                      </m:sSub>
                      <m:func>
                        <m:funcPr>
                          <m:ctrlPr>
                            <a:rPr lang="en-US" altLang="zh-CN" sz="2000" b="0" i="1" smtClean="0">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cos</m:t>
                          </m:r>
                        </m:fName>
                        <m:e>
                          <m:r>
                            <a:rPr lang="en-US" altLang="zh-CN" sz="2000" b="0" i="1" smtClean="0">
                              <a:latin typeface="Cambria Math" panose="02040503050406030204" pitchFamily="18" charset="0"/>
                              <a:ea typeface="微软雅黑" panose="020B0503020204020204" pitchFamily="34" charset="-122"/>
                            </a:rPr>
                            <m:t>𝑥</m:t>
                          </m:r>
                        </m:e>
                      </m:func>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𝑏</m:t>
                          </m:r>
                        </m:e>
                        <m:sub>
                          <m:r>
                            <a:rPr lang="en-US" altLang="zh-CN" sz="2000" b="0" i="1" smtClean="0">
                              <a:latin typeface="Cambria Math" panose="02040503050406030204" pitchFamily="18" charset="0"/>
                              <a:ea typeface="微软雅黑" panose="020B0503020204020204" pitchFamily="34" charset="-122"/>
                            </a:rPr>
                            <m:t>2</m:t>
                          </m:r>
                        </m:sub>
                      </m:sSub>
                      <m:func>
                        <m:funcPr>
                          <m:ctrlPr>
                            <a:rPr lang="en-US" altLang="zh-CN" sz="2000" b="0" i="1" smtClean="0">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cos</m:t>
                          </m:r>
                        </m:fName>
                        <m:e>
                          <m:r>
                            <a:rPr lang="en-US" altLang="zh-CN" sz="2000" b="0" i="1" smtClean="0">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𝑥</m:t>
                          </m:r>
                        </m:e>
                      </m:func>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𝑎</m:t>
                          </m:r>
                        </m:e>
                        <m:sub>
                          <m:r>
                            <a:rPr lang="en-US" altLang="zh-CN" sz="2000" b="0" i="1" smtClean="0">
                              <a:latin typeface="Cambria Math" panose="02040503050406030204" pitchFamily="18" charset="0"/>
                              <a:ea typeface="微软雅黑" panose="020B0503020204020204" pitchFamily="34" charset="-122"/>
                            </a:rPr>
                            <m:t>0</m:t>
                          </m:r>
                        </m:sub>
                      </m:sSub>
                      <m:r>
                        <a:rPr lang="en-US" altLang="zh-CN" sz="2000" b="0" i="1" smtClean="0">
                          <a:latin typeface="Cambria Math" panose="02040503050406030204" pitchFamily="18" charset="0"/>
                          <a:ea typeface="微软雅黑" panose="020B0503020204020204" pitchFamily="34" charset="-122"/>
                        </a:rPr>
                        <m:t>+</m:t>
                      </m:r>
                      <m:nary>
                        <m:naryPr>
                          <m:chr m:val="∑"/>
                          <m:ctrlPr>
                            <a:rPr lang="en-US" altLang="zh-CN" sz="2000" b="0" i="1" smtClean="0">
                              <a:latin typeface="Cambria Math" panose="02040503050406030204" pitchFamily="18" charset="0"/>
                              <a:ea typeface="微软雅黑" panose="020B0503020204020204" pitchFamily="34" charset="-122"/>
                            </a:rPr>
                          </m:ctrlPr>
                        </m:naryPr>
                        <m:sub>
                          <m:r>
                            <m:rPr>
                              <m:brk m:alnAt="23"/>
                            </m:rPr>
                            <a:rPr lang="en-US" altLang="zh-CN" sz="2000" b="0" i="1" smtClean="0">
                              <a:latin typeface="Cambria Math" panose="02040503050406030204" pitchFamily="18" charset="0"/>
                              <a:ea typeface="微软雅黑" panose="020B0503020204020204" pitchFamily="34" charset="-122"/>
                            </a:rPr>
                            <m:t>𝑚</m:t>
                          </m:r>
                          <m:r>
                            <a:rPr lang="en-US" altLang="zh-CN" sz="2000" b="0" i="1" smtClean="0">
                              <a:latin typeface="Cambria Math" panose="02040503050406030204" pitchFamily="18" charset="0"/>
                              <a:ea typeface="微软雅黑" panose="020B0503020204020204" pitchFamily="34" charset="-122"/>
                            </a:rPr>
                            <m:t>=1</m:t>
                          </m:r>
                        </m:sub>
                        <m:sup>
                          <m:r>
                            <a:rPr lang="en-US" altLang="zh-CN" sz="2000" b="0" i="1" smtClean="0">
                              <a:latin typeface="Cambria Math" panose="02040503050406030204" pitchFamily="18" charset="0"/>
                              <a:ea typeface="微软雅黑" panose="020B0503020204020204" pitchFamily="34" charset="-122"/>
                            </a:rPr>
                            <m:t>∞</m:t>
                          </m:r>
                        </m:sup>
                        <m:e>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𝑎</m:t>
                              </m:r>
                            </m:e>
                            <m:sub>
                              <m:r>
                                <a:rPr lang="en-US" altLang="zh-CN" sz="2000" b="0" i="1" smtClean="0">
                                  <a:latin typeface="Cambria Math" panose="02040503050406030204" pitchFamily="18" charset="0"/>
                                  <a:ea typeface="微软雅黑" panose="020B0503020204020204" pitchFamily="34" charset="-122"/>
                                </a:rPr>
                                <m:t>𝑚</m:t>
                              </m:r>
                            </m:sub>
                          </m:sSub>
                          <m:func>
                            <m:funcPr>
                              <m:ctrlPr>
                                <a:rPr lang="en-US" altLang="zh-CN" sz="2000" b="0" i="1" smtClean="0">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sin</m:t>
                              </m:r>
                            </m:fName>
                            <m:e>
                              <m:r>
                                <a:rPr lang="en-US" altLang="zh-CN" sz="2000" b="0" i="1" smtClean="0">
                                  <a:latin typeface="Cambria Math" panose="02040503050406030204" pitchFamily="18" charset="0"/>
                                  <a:ea typeface="微软雅黑" panose="020B0503020204020204" pitchFamily="34" charset="-122"/>
                                </a:rPr>
                                <m:t>𝑚𝑥</m:t>
                              </m:r>
                            </m:e>
                          </m:func>
                        </m:e>
                      </m:nary>
                      <m:r>
                        <a:rPr lang="en-US" altLang="zh-CN" sz="2000" b="0" i="1" smtClean="0">
                          <a:latin typeface="Cambria Math" panose="02040503050406030204" pitchFamily="18" charset="0"/>
                          <a:ea typeface="微软雅黑" panose="020B0503020204020204" pitchFamily="34" charset="-122"/>
                        </a:rPr>
                        <m:t>+</m:t>
                      </m:r>
                      <m:nary>
                        <m:naryPr>
                          <m:chr m:val="∑"/>
                          <m:ctrlPr>
                            <a:rPr lang="en-US" altLang="zh-CN" sz="2000" i="1">
                              <a:latin typeface="Cambria Math" panose="02040503050406030204" pitchFamily="18" charset="0"/>
                              <a:ea typeface="微软雅黑" panose="020B0503020204020204" pitchFamily="34" charset="-122"/>
                            </a:rPr>
                          </m:ctrlPr>
                        </m:naryPr>
                        <m:sub>
                          <m:r>
                            <a:rPr lang="en-US" altLang="zh-CN" sz="2000" b="0" i="1" smtClean="0">
                              <a:latin typeface="Cambria Math" panose="02040503050406030204" pitchFamily="18" charset="0"/>
                              <a:ea typeface="微软雅黑" panose="020B0503020204020204" pitchFamily="34" charset="-122"/>
                            </a:rPr>
                            <m:t>𝑛</m:t>
                          </m:r>
                          <m:r>
                            <a:rPr lang="en-US" altLang="zh-CN" sz="2000" i="1">
                              <a:latin typeface="Cambria Math" panose="02040503050406030204" pitchFamily="18" charset="0"/>
                              <a:ea typeface="微软雅黑" panose="020B0503020204020204" pitchFamily="34" charset="-122"/>
                            </a:rPr>
                            <m:t>=1</m:t>
                          </m:r>
                        </m:sub>
                        <m:sup>
                          <m:r>
                            <a:rPr lang="en-US" altLang="zh-CN" sz="2000" i="1">
                              <a:latin typeface="Cambria Math" panose="02040503050406030204" pitchFamily="18" charset="0"/>
                              <a:ea typeface="微软雅黑" panose="020B0503020204020204" pitchFamily="34" charset="-122"/>
                            </a:rPr>
                            <m:t>∞</m:t>
                          </m:r>
                        </m:sup>
                        <m:e>
                          <m:sSub>
                            <m:sSubPr>
                              <m:ctrlPr>
                                <a:rPr lang="en-US" altLang="zh-CN" sz="2000" i="1">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𝑏</m:t>
                              </m:r>
                            </m:e>
                            <m:sub>
                              <m:r>
                                <a:rPr lang="en-US" altLang="zh-CN" sz="2000" b="0" i="1" smtClean="0">
                                  <a:latin typeface="Cambria Math" panose="02040503050406030204" pitchFamily="18" charset="0"/>
                                  <a:ea typeface="微软雅黑" panose="020B0503020204020204" pitchFamily="34" charset="-122"/>
                                </a:rPr>
                                <m:t>𝑛</m:t>
                              </m:r>
                            </m:sub>
                          </m:sSub>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cos</m:t>
                              </m:r>
                            </m:fName>
                            <m:e>
                              <m:r>
                                <a:rPr lang="en-US" altLang="zh-CN" sz="2000" b="0" i="1" smtClean="0">
                                  <a:latin typeface="Cambria Math" panose="02040503050406030204" pitchFamily="18" charset="0"/>
                                  <a:ea typeface="微软雅黑" panose="020B0503020204020204" pitchFamily="34" charset="-122"/>
                                </a:rPr>
                                <m:t>𝑛</m:t>
                              </m:r>
                              <m:r>
                                <a:rPr lang="en-US" altLang="zh-CN" sz="2000" i="1">
                                  <a:latin typeface="Cambria Math" panose="02040503050406030204" pitchFamily="18" charset="0"/>
                                  <a:ea typeface="微软雅黑" panose="020B0503020204020204" pitchFamily="34" charset="-122"/>
                                </a:rPr>
                                <m:t>𝑥</m:t>
                              </m:r>
                            </m:e>
                          </m:func>
                        </m:e>
                      </m:nary>
                    </m:oMath>
                  </m:oMathPara>
                </a14:m>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下面要做的就是利用正交关系表出各个系数</a:t>
                </a:r>
                <a:endParaRPr lang="en-US" altLang="zh-CN" sz="2000" dirty="0" smtClean="0">
                  <a:latin typeface="微软雅黑" panose="020B0503020204020204" pitchFamily="34" charset="-122"/>
                  <a:ea typeface="微软雅黑" panose="020B0503020204020204" pitchFamily="34"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226481" y="978734"/>
                <a:ext cx="11518265" cy="4751109"/>
              </a:xfrm>
              <a:prstGeom prst="rect">
                <a:avLst/>
              </a:prstGeom>
              <a:blipFill rotWithShape="0">
                <a:blip r:embed="rId5"/>
                <a:stretch>
                  <a:fillRect l="-529" b="-14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30872309"/>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Fourier transformation</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226481" y="1007309"/>
                <a:ext cx="11518265" cy="5802999"/>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𝑓</m:t>
                      </m:r>
                      <m:d>
                        <m:dPr>
                          <m:ctrlPr>
                            <a:rPr lang="en-US" altLang="zh-CN" sz="2000" b="0" i="1" smtClean="0">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𝑥</m:t>
                          </m:r>
                        </m:e>
                      </m:d>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𝑎</m:t>
                          </m:r>
                        </m:e>
                        <m:sub>
                          <m:r>
                            <a:rPr lang="en-US" altLang="zh-CN" sz="2000" b="0" i="1" smtClean="0">
                              <a:latin typeface="Cambria Math" panose="02040503050406030204" pitchFamily="18" charset="0"/>
                              <a:ea typeface="微软雅黑" panose="020B0503020204020204" pitchFamily="34" charset="-122"/>
                            </a:rPr>
                            <m:t>0</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𝑎</m:t>
                          </m:r>
                        </m:e>
                        <m:sub>
                          <m:r>
                            <a:rPr lang="en-US" altLang="zh-CN" sz="2000" b="0" i="1" smtClean="0">
                              <a:latin typeface="Cambria Math" panose="02040503050406030204" pitchFamily="18" charset="0"/>
                              <a:ea typeface="微软雅黑" panose="020B0503020204020204" pitchFamily="34" charset="-122"/>
                            </a:rPr>
                            <m:t>1</m:t>
                          </m:r>
                        </m:sub>
                      </m:sSub>
                      <m:func>
                        <m:funcPr>
                          <m:ctrlPr>
                            <a:rPr lang="en-US" altLang="zh-CN" sz="2000" b="0" i="1" smtClean="0">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sin</m:t>
                          </m:r>
                        </m:fName>
                        <m:e>
                          <m:r>
                            <a:rPr lang="en-US" altLang="zh-CN" sz="2000" b="0" i="1" smtClean="0">
                              <a:latin typeface="Cambria Math" panose="02040503050406030204" pitchFamily="18" charset="0"/>
                              <a:ea typeface="微软雅黑" panose="020B0503020204020204" pitchFamily="34" charset="-122"/>
                            </a:rPr>
                            <m:t>𝑥</m:t>
                          </m:r>
                        </m:e>
                      </m:func>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𝑎</m:t>
                          </m:r>
                        </m:e>
                        <m:sub>
                          <m:r>
                            <a:rPr lang="en-US" altLang="zh-CN" sz="2000" b="0" i="1" smtClean="0">
                              <a:latin typeface="Cambria Math" panose="02040503050406030204" pitchFamily="18" charset="0"/>
                              <a:ea typeface="微软雅黑" panose="020B0503020204020204" pitchFamily="34" charset="-122"/>
                            </a:rPr>
                            <m:t>2</m:t>
                          </m:r>
                        </m:sub>
                      </m:sSub>
                      <m:r>
                        <m:rPr>
                          <m:sty m:val="p"/>
                        </m:rPr>
                        <a:rPr lang="en-US" altLang="zh-CN" sz="2000" b="0" i="0" smtClean="0">
                          <a:latin typeface="Cambria Math" panose="02040503050406030204" pitchFamily="18" charset="0"/>
                          <a:ea typeface="微软雅黑" panose="020B0503020204020204" pitchFamily="34" charset="-122"/>
                        </a:rPr>
                        <m:t>sin</m:t>
                      </m:r>
                      <m:r>
                        <a:rPr lang="en-US" altLang="zh-CN" sz="2000" b="0" i="1" smtClean="0">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𝑏</m:t>
                          </m:r>
                        </m:e>
                        <m:sub>
                          <m:r>
                            <a:rPr lang="en-US" altLang="zh-CN" sz="2000" b="0" i="1" smtClean="0">
                              <a:latin typeface="Cambria Math" panose="02040503050406030204" pitchFamily="18" charset="0"/>
                              <a:ea typeface="微软雅黑" panose="020B0503020204020204" pitchFamily="34" charset="-122"/>
                            </a:rPr>
                            <m:t>1</m:t>
                          </m:r>
                        </m:sub>
                      </m:sSub>
                      <m:func>
                        <m:funcPr>
                          <m:ctrlPr>
                            <a:rPr lang="en-US" altLang="zh-CN" sz="2000" b="0" i="1" smtClean="0">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cos</m:t>
                          </m:r>
                        </m:fName>
                        <m:e>
                          <m:r>
                            <a:rPr lang="en-US" altLang="zh-CN" sz="2000" b="0" i="1" smtClean="0">
                              <a:latin typeface="Cambria Math" panose="02040503050406030204" pitchFamily="18" charset="0"/>
                              <a:ea typeface="微软雅黑" panose="020B0503020204020204" pitchFamily="34" charset="-122"/>
                            </a:rPr>
                            <m:t>𝑥</m:t>
                          </m:r>
                        </m:e>
                      </m:func>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𝑏</m:t>
                          </m:r>
                        </m:e>
                        <m:sub>
                          <m:r>
                            <a:rPr lang="en-US" altLang="zh-CN" sz="2000" b="0" i="1" smtClean="0">
                              <a:latin typeface="Cambria Math" panose="02040503050406030204" pitchFamily="18" charset="0"/>
                              <a:ea typeface="微软雅黑" panose="020B0503020204020204" pitchFamily="34" charset="-122"/>
                            </a:rPr>
                            <m:t>2</m:t>
                          </m:r>
                        </m:sub>
                      </m:sSub>
                      <m:func>
                        <m:funcPr>
                          <m:ctrlPr>
                            <a:rPr lang="en-US" altLang="zh-CN" sz="2000" b="0" i="1" smtClean="0">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cos</m:t>
                          </m:r>
                        </m:fName>
                        <m:e>
                          <m:r>
                            <a:rPr lang="en-US" altLang="zh-CN" sz="2000" b="0" i="1" smtClean="0">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𝑥</m:t>
                          </m:r>
                        </m:e>
                      </m:func>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𝑎</m:t>
                          </m:r>
                        </m:e>
                        <m:sub>
                          <m:r>
                            <a:rPr lang="en-US" altLang="zh-CN" sz="2000" b="0" i="1" smtClean="0">
                              <a:latin typeface="Cambria Math" panose="02040503050406030204" pitchFamily="18" charset="0"/>
                              <a:ea typeface="微软雅黑" panose="020B0503020204020204" pitchFamily="34" charset="-122"/>
                            </a:rPr>
                            <m:t>0</m:t>
                          </m:r>
                        </m:sub>
                      </m:sSub>
                      <m:r>
                        <a:rPr lang="en-US" altLang="zh-CN" sz="2000" b="0" i="1" smtClean="0">
                          <a:latin typeface="Cambria Math" panose="02040503050406030204" pitchFamily="18" charset="0"/>
                          <a:ea typeface="微软雅黑" panose="020B0503020204020204" pitchFamily="34" charset="-122"/>
                        </a:rPr>
                        <m:t>+</m:t>
                      </m:r>
                      <m:nary>
                        <m:naryPr>
                          <m:chr m:val="∑"/>
                          <m:ctrlPr>
                            <a:rPr lang="en-US" altLang="zh-CN" sz="2000" b="0" i="1" smtClean="0">
                              <a:latin typeface="Cambria Math" panose="02040503050406030204" pitchFamily="18" charset="0"/>
                              <a:ea typeface="微软雅黑" panose="020B0503020204020204" pitchFamily="34" charset="-122"/>
                            </a:rPr>
                          </m:ctrlPr>
                        </m:naryPr>
                        <m:sub>
                          <m:r>
                            <m:rPr>
                              <m:brk m:alnAt="23"/>
                            </m:rPr>
                            <a:rPr lang="en-US" altLang="zh-CN" sz="2000" b="0" i="1" smtClean="0">
                              <a:latin typeface="Cambria Math" panose="02040503050406030204" pitchFamily="18" charset="0"/>
                              <a:ea typeface="微软雅黑" panose="020B0503020204020204" pitchFamily="34" charset="-122"/>
                            </a:rPr>
                            <m:t>𝑚</m:t>
                          </m:r>
                          <m:r>
                            <a:rPr lang="en-US" altLang="zh-CN" sz="2000" b="0" i="1" smtClean="0">
                              <a:latin typeface="Cambria Math" panose="02040503050406030204" pitchFamily="18" charset="0"/>
                              <a:ea typeface="微软雅黑" panose="020B0503020204020204" pitchFamily="34" charset="-122"/>
                            </a:rPr>
                            <m:t>=1</m:t>
                          </m:r>
                        </m:sub>
                        <m:sup>
                          <m:r>
                            <a:rPr lang="en-US" altLang="zh-CN" sz="2000" b="0" i="1" smtClean="0">
                              <a:latin typeface="Cambria Math" panose="02040503050406030204" pitchFamily="18" charset="0"/>
                              <a:ea typeface="微软雅黑" panose="020B0503020204020204" pitchFamily="34" charset="-122"/>
                            </a:rPr>
                            <m:t>∞</m:t>
                          </m:r>
                        </m:sup>
                        <m:e>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𝑎</m:t>
                              </m:r>
                            </m:e>
                            <m:sub>
                              <m:r>
                                <a:rPr lang="en-US" altLang="zh-CN" sz="2000" b="0" i="1" smtClean="0">
                                  <a:latin typeface="Cambria Math" panose="02040503050406030204" pitchFamily="18" charset="0"/>
                                  <a:ea typeface="微软雅黑" panose="020B0503020204020204" pitchFamily="34" charset="-122"/>
                                </a:rPr>
                                <m:t>𝑚</m:t>
                              </m:r>
                            </m:sub>
                          </m:sSub>
                          <m:func>
                            <m:funcPr>
                              <m:ctrlPr>
                                <a:rPr lang="en-US" altLang="zh-CN" sz="2000" b="0" i="1" smtClean="0">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sin</m:t>
                              </m:r>
                            </m:fName>
                            <m:e>
                              <m:r>
                                <a:rPr lang="en-US" altLang="zh-CN" sz="2000" b="0" i="1" smtClean="0">
                                  <a:latin typeface="Cambria Math" panose="02040503050406030204" pitchFamily="18" charset="0"/>
                                  <a:ea typeface="微软雅黑" panose="020B0503020204020204" pitchFamily="34" charset="-122"/>
                                </a:rPr>
                                <m:t>𝑚𝑥</m:t>
                              </m:r>
                            </m:e>
                          </m:func>
                        </m:e>
                      </m:nary>
                      <m:r>
                        <a:rPr lang="en-US" altLang="zh-CN" sz="2000" b="0" i="1" smtClean="0">
                          <a:latin typeface="Cambria Math" panose="02040503050406030204" pitchFamily="18" charset="0"/>
                          <a:ea typeface="微软雅黑" panose="020B0503020204020204" pitchFamily="34" charset="-122"/>
                        </a:rPr>
                        <m:t>+</m:t>
                      </m:r>
                      <m:nary>
                        <m:naryPr>
                          <m:chr m:val="∑"/>
                          <m:ctrlPr>
                            <a:rPr lang="en-US" altLang="zh-CN" sz="2000" i="1">
                              <a:latin typeface="Cambria Math" panose="02040503050406030204" pitchFamily="18" charset="0"/>
                              <a:ea typeface="微软雅黑" panose="020B0503020204020204" pitchFamily="34" charset="-122"/>
                            </a:rPr>
                          </m:ctrlPr>
                        </m:naryPr>
                        <m:sub>
                          <m:r>
                            <a:rPr lang="en-US" altLang="zh-CN" sz="2000" b="0" i="1" smtClean="0">
                              <a:latin typeface="Cambria Math" panose="02040503050406030204" pitchFamily="18" charset="0"/>
                              <a:ea typeface="微软雅黑" panose="020B0503020204020204" pitchFamily="34" charset="-122"/>
                            </a:rPr>
                            <m:t>𝑛</m:t>
                          </m:r>
                          <m:r>
                            <a:rPr lang="en-US" altLang="zh-CN" sz="2000" i="1">
                              <a:latin typeface="Cambria Math" panose="02040503050406030204" pitchFamily="18" charset="0"/>
                              <a:ea typeface="微软雅黑" panose="020B0503020204020204" pitchFamily="34" charset="-122"/>
                            </a:rPr>
                            <m:t>=1</m:t>
                          </m:r>
                        </m:sub>
                        <m:sup>
                          <m:r>
                            <a:rPr lang="en-US" altLang="zh-CN" sz="2000" i="1">
                              <a:latin typeface="Cambria Math" panose="02040503050406030204" pitchFamily="18" charset="0"/>
                              <a:ea typeface="微软雅黑" panose="020B0503020204020204" pitchFamily="34" charset="-122"/>
                            </a:rPr>
                            <m:t>∞</m:t>
                          </m:r>
                        </m:sup>
                        <m:e>
                          <m:sSub>
                            <m:sSubPr>
                              <m:ctrlPr>
                                <a:rPr lang="en-US" altLang="zh-CN" sz="2000" i="1">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𝑏</m:t>
                              </m:r>
                            </m:e>
                            <m:sub>
                              <m:r>
                                <a:rPr lang="en-US" altLang="zh-CN" sz="2000" b="0" i="1" smtClean="0">
                                  <a:latin typeface="Cambria Math" panose="02040503050406030204" pitchFamily="18" charset="0"/>
                                  <a:ea typeface="微软雅黑" panose="020B0503020204020204" pitchFamily="34" charset="-122"/>
                                </a:rPr>
                                <m:t>𝑛</m:t>
                              </m:r>
                            </m:sub>
                          </m:sSub>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cos</m:t>
                              </m:r>
                            </m:fName>
                            <m:e>
                              <m:r>
                                <a:rPr lang="en-US" altLang="zh-CN" sz="2000" b="0" i="1" smtClean="0">
                                  <a:latin typeface="Cambria Math" panose="02040503050406030204" pitchFamily="18" charset="0"/>
                                  <a:ea typeface="微软雅黑" panose="020B0503020204020204" pitchFamily="34" charset="-122"/>
                                </a:rPr>
                                <m:t>𝑛</m:t>
                              </m:r>
                              <m:r>
                                <a:rPr lang="en-US" altLang="zh-CN" sz="2000" i="1">
                                  <a:latin typeface="Cambria Math" panose="02040503050406030204" pitchFamily="18" charset="0"/>
                                  <a:ea typeface="微软雅黑" panose="020B0503020204020204" pitchFamily="34" charset="-122"/>
                                </a:rPr>
                                <m:t>𝑥</m:t>
                              </m:r>
                            </m:e>
                          </m:func>
                        </m:e>
                      </m:nary>
                    </m:oMath>
                  </m:oMathPara>
                </a14:m>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直接对两头积分有</a:t>
                </a:r>
                <a:endParaRPr lang="en-US" altLang="zh-CN" sz="2000" dirty="0" smtClean="0">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r>
                            <a:rPr lang="en-US" altLang="zh-CN" sz="2000" b="0" i="1" smtClean="0">
                              <a:latin typeface="Cambria Math" panose="02040503050406030204" pitchFamily="18" charset="0"/>
                              <a:ea typeface="微软雅黑" panose="020B0503020204020204" pitchFamily="34" charset="-122"/>
                            </a:rPr>
                            <m:t>𝑓</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m:t>
                          </m:r>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m:t>
                      </m:r>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𝑎</m:t>
                              </m:r>
                            </m:e>
                            <m:sub>
                              <m:r>
                                <a:rPr lang="en-US" altLang="zh-CN" sz="2000" b="0" i="1" smtClean="0">
                                  <a:latin typeface="Cambria Math" panose="02040503050406030204" pitchFamily="18" charset="0"/>
                                  <a:ea typeface="微软雅黑" panose="020B0503020204020204" pitchFamily="34" charset="-122"/>
                                </a:rPr>
                                <m:t>0</m:t>
                              </m:r>
                            </m:sub>
                          </m:sSub>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𝜋</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𝑎</m:t>
                          </m:r>
                        </m:e>
                        <m:sub>
                          <m:r>
                            <a:rPr lang="en-US" altLang="zh-CN" sz="2000" b="0" i="1" smtClean="0">
                              <a:latin typeface="Cambria Math" panose="02040503050406030204" pitchFamily="18" charset="0"/>
                              <a:ea typeface="微软雅黑" panose="020B0503020204020204" pitchFamily="34" charset="-122"/>
                            </a:rPr>
                            <m:t>0</m:t>
                          </m:r>
                        </m:sub>
                      </m:sSub>
                    </m:oMath>
                  </m:oMathPara>
                </a14:m>
                <a:endParaRPr lang="en-US" altLang="zh-CN" sz="2000" dirty="0" smtClean="0">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r>
                            <a:rPr lang="en-US" altLang="zh-CN" sz="2000" i="1">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func>
                            <m:funcPr>
                              <m:ctrlPr>
                                <a:rPr lang="en-US" altLang="zh-CN" sz="2000" b="0" i="1" smtClean="0">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sin</m:t>
                              </m:r>
                            </m:fName>
                            <m:e>
                              <m:r>
                                <a:rPr lang="en-US" altLang="zh-CN" sz="2000" b="0" i="1" smtClean="0">
                                  <a:latin typeface="Cambria Math" panose="02040503050406030204" pitchFamily="18" charset="0"/>
                                  <a:ea typeface="微软雅黑" panose="020B0503020204020204" pitchFamily="34" charset="-122"/>
                                </a:rPr>
                                <m:t>𝑛𝑥</m:t>
                              </m:r>
                            </m:e>
                          </m:func>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m:t>
                      </m:r>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𝑎</m:t>
                              </m:r>
                            </m:e>
                            <m:sub>
                              <m:r>
                                <a:rPr lang="en-US" altLang="zh-CN" sz="2000" b="0" i="1" smtClean="0">
                                  <a:latin typeface="Cambria Math" panose="02040503050406030204" pitchFamily="18" charset="0"/>
                                  <a:ea typeface="微软雅黑" panose="020B0503020204020204" pitchFamily="34" charset="-122"/>
                                </a:rPr>
                                <m:t>𝑛</m:t>
                              </m:r>
                            </m:sub>
                          </m:sSub>
                          <m:func>
                            <m:funcPr>
                              <m:ctrlPr>
                                <a:rPr lang="en-US" altLang="zh-CN" sz="2000" b="0" i="1" smtClean="0">
                                  <a:latin typeface="Cambria Math" panose="02040503050406030204" pitchFamily="18" charset="0"/>
                                  <a:ea typeface="微软雅黑" panose="020B0503020204020204" pitchFamily="34" charset="-122"/>
                                </a:rPr>
                              </m:ctrlPr>
                            </m:funcPr>
                            <m:fName>
                              <m:sSup>
                                <m:sSupPr>
                                  <m:ctrlPr>
                                    <a:rPr lang="en-US" altLang="zh-CN" sz="2000" b="0" i="1" smtClean="0">
                                      <a:latin typeface="Cambria Math" panose="02040503050406030204" pitchFamily="18" charset="0"/>
                                      <a:ea typeface="微软雅黑" panose="020B0503020204020204" pitchFamily="34" charset="-122"/>
                                    </a:rPr>
                                  </m:ctrlPr>
                                </m:sSupPr>
                                <m:e>
                                  <m:r>
                                    <m:rPr>
                                      <m:sty m:val="p"/>
                                    </m:rPr>
                                    <a:rPr lang="en-US" altLang="zh-CN" sz="2000" b="0" i="0" smtClean="0">
                                      <a:latin typeface="Cambria Math" panose="02040503050406030204" pitchFamily="18" charset="0"/>
                                      <a:ea typeface="微软雅黑" panose="020B0503020204020204" pitchFamily="34" charset="-122"/>
                                    </a:rPr>
                                    <m:t>sin</m:t>
                                  </m:r>
                                </m:e>
                                <m:sup>
                                  <m:r>
                                    <a:rPr lang="en-US" altLang="zh-CN" sz="2000" b="0" i="1" smtClean="0">
                                      <a:latin typeface="Cambria Math" panose="02040503050406030204" pitchFamily="18" charset="0"/>
                                      <a:ea typeface="微软雅黑" panose="020B0503020204020204" pitchFamily="34" charset="-122"/>
                                    </a:rPr>
                                    <m:t>2</m:t>
                                  </m:r>
                                </m:sup>
                              </m:sSup>
                            </m:fName>
                            <m:e>
                              <m:r>
                                <a:rPr lang="en-US" altLang="zh-CN" sz="2000" b="0" i="1" smtClean="0">
                                  <a:latin typeface="Cambria Math" panose="02040503050406030204" pitchFamily="18" charset="0"/>
                                  <a:ea typeface="微软雅黑" panose="020B0503020204020204" pitchFamily="34" charset="-122"/>
                                </a:rPr>
                                <m:t>𝑛𝑥</m:t>
                              </m:r>
                            </m:e>
                          </m:func>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𝜋</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𝑎</m:t>
                          </m:r>
                        </m:e>
                        <m:sub>
                          <m:r>
                            <a:rPr lang="en-US" altLang="zh-CN" sz="2000" b="0" i="1" smtClean="0">
                              <a:latin typeface="Cambria Math" panose="02040503050406030204" pitchFamily="18" charset="0"/>
                              <a:ea typeface="微软雅黑" panose="020B0503020204020204" pitchFamily="34" charset="-122"/>
                            </a:rPr>
                            <m:t>𝑛</m:t>
                          </m:r>
                        </m:sub>
                      </m:sSub>
                    </m:oMath>
                  </m:oMathPara>
                </a14:m>
                <a:endParaRPr lang="en-US" altLang="zh-CN" sz="2000" dirty="0" smtClean="0">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r>
                            <a:rPr lang="en-US" altLang="zh-CN" sz="2000" i="1">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cos</m:t>
                              </m:r>
                            </m:fName>
                            <m:e>
                              <m:r>
                                <a:rPr lang="en-US" altLang="zh-CN" sz="2000" i="1">
                                  <a:latin typeface="Cambria Math" panose="02040503050406030204" pitchFamily="18" charset="0"/>
                                  <a:ea typeface="微软雅黑" panose="020B0503020204020204" pitchFamily="34" charset="-122"/>
                                </a:rPr>
                                <m:t>𝑛𝑥</m:t>
                              </m:r>
                            </m:e>
                          </m:func>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m:t>
                      </m:r>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sSub>
                            <m:sSubPr>
                              <m:ctrlPr>
                                <a:rPr lang="en-US" altLang="zh-CN" sz="2000" i="1">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𝑏</m:t>
                              </m:r>
                            </m:e>
                            <m:sub>
                              <m:r>
                                <a:rPr lang="en-US" altLang="zh-CN" sz="2000" i="1">
                                  <a:latin typeface="Cambria Math" panose="02040503050406030204" pitchFamily="18" charset="0"/>
                                  <a:ea typeface="微软雅黑" panose="020B0503020204020204" pitchFamily="34" charset="-122"/>
                                </a:rPr>
                                <m:t>𝑛</m:t>
                              </m:r>
                            </m:sub>
                          </m:sSub>
                          <m:func>
                            <m:funcPr>
                              <m:ctrlPr>
                                <a:rPr lang="en-US" altLang="zh-CN" sz="2000" i="1">
                                  <a:latin typeface="Cambria Math" panose="02040503050406030204" pitchFamily="18" charset="0"/>
                                  <a:ea typeface="微软雅黑" panose="020B0503020204020204" pitchFamily="34" charset="-122"/>
                                </a:rPr>
                              </m:ctrlPr>
                            </m:funcPr>
                            <m:fName>
                              <m:sSup>
                                <m:sSupPr>
                                  <m:ctrlPr>
                                    <a:rPr lang="en-US" altLang="zh-CN" sz="2000" i="1">
                                      <a:latin typeface="Cambria Math" panose="02040503050406030204" pitchFamily="18" charset="0"/>
                                      <a:ea typeface="微软雅黑" panose="020B0503020204020204" pitchFamily="34" charset="-122"/>
                                    </a:rPr>
                                  </m:ctrlPr>
                                </m:sSupPr>
                                <m:e>
                                  <m:r>
                                    <m:rPr>
                                      <m:sty m:val="p"/>
                                    </m:rPr>
                                    <a:rPr lang="en-US" altLang="zh-CN" sz="2000" b="0" i="0" smtClean="0">
                                      <a:latin typeface="Cambria Math" panose="02040503050406030204" pitchFamily="18" charset="0"/>
                                      <a:ea typeface="微软雅黑" panose="020B0503020204020204" pitchFamily="34" charset="-122"/>
                                    </a:rPr>
                                    <m:t>cos</m:t>
                                  </m:r>
                                </m:e>
                                <m:sup>
                                  <m:r>
                                    <a:rPr lang="en-US" altLang="zh-CN" sz="2000" i="1">
                                      <a:latin typeface="Cambria Math" panose="02040503050406030204" pitchFamily="18" charset="0"/>
                                      <a:ea typeface="微软雅黑" panose="020B0503020204020204" pitchFamily="34" charset="-122"/>
                                    </a:rPr>
                                    <m:t>2</m:t>
                                  </m:r>
                                </m:sup>
                              </m:sSup>
                            </m:fName>
                            <m:e>
                              <m:r>
                                <a:rPr lang="en-US" altLang="zh-CN" sz="2000" i="1">
                                  <a:latin typeface="Cambria Math" panose="02040503050406030204" pitchFamily="18" charset="0"/>
                                  <a:ea typeface="微软雅黑" panose="020B0503020204020204" pitchFamily="34" charset="-122"/>
                                </a:rPr>
                                <m:t>𝑛𝑥</m:t>
                              </m:r>
                            </m:e>
                          </m:func>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𝜋</m:t>
                      </m:r>
                      <m:sSub>
                        <m:sSubPr>
                          <m:ctrlPr>
                            <a:rPr lang="en-US" altLang="zh-CN" sz="2000" i="1">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𝑏</m:t>
                          </m:r>
                        </m:e>
                        <m:sub>
                          <m:r>
                            <a:rPr lang="en-US" altLang="zh-CN" sz="2000" i="1">
                              <a:latin typeface="Cambria Math" panose="02040503050406030204" pitchFamily="18" charset="0"/>
                              <a:ea typeface="微软雅黑" panose="020B0503020204020204" pitchFamily="34" charset="-122"/>
                            </a:rPr>
                            <m:t>𝑛</m:t>
                          </m:r>
                        </m:sub>
                      </m:sSub>
                    </m:oMath>
                  </m:oMathPara>
                </a14:m>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从而</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𝑎</m:t>
                        </m:r>
                      </m:e>
                      <m:sub>
                        <m:r>
                          <a:rPr lang="en-US" altLang="zh-CN" sz="2000" i="1">
                            <a:latin typeface="Cambria Math" panose="02040503050406030204" pitchFamily="18" charset="0"/>
                            <a:ea typeface="微软雅黑" panose="020B0503020204020204" pitchFamily="34" charset="-122"/>
                          </a:rPr>
                          <m:t>0</m:t>
                        </m:r>
                      </m:sub>
                    </m:sSub>
                    <m:r>
                      <a:rPr lang="en-US" altLang="zh-CN" sz="2000" b="0" i="1" smtClean="0">
                        <a:latin typeface="Cambria Math" panose="02040503050406030204" pitchFamily="18" charset="0"/>
                        <a:ea typeface="微软雅黑" panose="020B0503020204020204" pitchFamily="34" charset="-122"/>
                      </a:rPr>
                      <m:t>=</m:t>
                    </m:r>
                    <m:f>
                      <m:fPr>
                        <m:ctrlPr>
                          <a:rPr lang="en-US" altLang="zh-CN" sz="2000" b="0" i="1" smtClean="0">
                            <a:latin typeface="Cambria Math" panose="02040503050406030204" pitchFamily="18" charset="0"/>
                            <a:ea typeface="微软雅黑" panose="020B0503020204020204" pitchFamily="34" charset="-122"/>
                          </a:rPr>
                        </m:ctrlPr>
                      </m:fPr>
                      <m:num>
                        <m:r>
                          <a:rPr lang="en-US" altLang="zh-CN" sz="2000" b="0" i="1" smtClean="0">
                            <a:latin typeface="Cambria Math" panose="02040503050406030204" pitchFamily="18" charset="0"/>
                            <a:ea typeface="微软雅黑" panose="020B0503020204020204" pitchFamily="34" charset="-122"/>
                          </a:rPr>
                          <m:t>1</m:t>
                        </m:r>
                      </m:num>
                      <m:den>
                        <m:r>
                          <a:rPr lang="en-US" altLang="zh-CN" sz="2000" b="0" i="1" smtClean="0">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𝜋</m:t>
                        </m:r>
                      </m:den>
                    </m:f>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r>
                          <a:rPr lang="en-US" altLang="zh-CN" sz="2000" i="1">
                            <a:latin typeface="Cambria Math" panose="02040503050406030204" pitchFamily="18" charset="0"/>
                            <a:ea typeface="微软雅黑" panose="020B0503020204020204" pitchFamily="34" charset="-122"/>
                          </a:rPr>
                          <m:t>𝑓</m:t>
                        </m:r>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m:t>
                        </m:r>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𝑎</m:t>
                        </m:r>
                      </m:e>
                      <m:sub>
                        <m:r>
                          <a:rPr lang="en-US" altLang="zh-CN" sz="2000" i="1">
                            <a:latin typeface="Cambria Math" panose="02040503050406030204" pitchFamily="18" charset="0"/>
                            <a:ea typeface="微软雅黑" panose="020B0503020204020204" pitchFamily="34" charset="-122"/>
                          </a:rPr>
                          <m:t>𝑛</m:t>
                        </m:r>
                      </m:sub>
                    </m:sSub>
                    <m:r>
                      <a:rPr lang="en-US" altLang="zh-CN" sz="2000" b="0" i="1" smtClean="0">
                        <a:latin typeface="Cambria Math" panose="02040503050406030204" pitchFamily="18" charset="0"/>
                        <a:ea typeface="微软雅黑" panose="020B0503020204020204" pitchFamily="34" charset="-122"/>
                      </a:rPr>
                      <m:t>=</m:t>
                    </m:r>
                    <m:f>
                      <m:fPr>
                        <m:ctrlPr>
                          <a:rPr lang="en-US" altLang="zh-CN" sz="2000" b="0" i="1" smtClean="0">
                            <a:latin typeface="Cambria Math" panose="02040503050406030204" pitchFamily="18" charset="0"/>
                            <a:ea typeface="微软雅黑" panose="020B0503020204020204" pitchFamily="34" charset="-122"/>
                          </a:rPr>
                        </m:ctrlPr>
                      </m:fPr>
                      <m:num>
                        <m:r>
                          <a:rPr lang="en-US" altLang="zh-CN" sz="2000" b="0" i="1" smtClean="0">
                            <a:latin typeface="Cambria Math" panose="02040503050406030204" pitchFamily="18" charset="0"/>
                            <a:ea typeface="微软雅黑" panose="020B0503020204020204" pitchFamily="34" charset="-122"/>
                          </a:rPr>
                          <m:t>1</m:t>
                        </m:r>
                      </m:num>
                      <m:den>
                        <m:r>
                          <a:rPr lang="en-US" altLang="zh-CN" sz="2000" b="0" i="1" smtClean="0">
                            <a:latin typeface="Cambria Math" panose="02040503050406030204" pitchFamily="18" charset="0"/>
                            <a:ea typeface="微软雅黑" panose="020B0503020204020204" pitchFamily="34" charset="-122"/>
                          </a:rPr>
                          <m:t>𝜋</m:t>
                        </m:r>
                      </m:den>
                    </m:f>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r>
                          <a:rPr lang="en-US" altLang="zh-CN" sz="2000" i="1">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a:latin typeface="Cambria Math" panose="02040503050406030204" pitchFamily="18" charset="0"/>
                                <a:ea typeface="微软雅黑" panose="020B0503020204020204" pitchFamily="34" charset="-122"/>
                              </a:rPr>
                              <m:t>sin</m:t>
                            </m:r>
                          </m:fName>
                          <m:e>
                            <m:r>
                              <a:rPr lang="en-US" altLang="zh-CN" sz="2000" i="1">
                                <a:latin typeface="Cambria Math" panose="02040503050406030204" pitchFamily="18" charset="0"/>
                                <a:ea typeface="微软雅黑" panose="020B0503020204020204" pitchFamily="34" charset="-122"/>
                              </a:rPr>
                              <m:t>𝑛𝑥</m:t>
                            </m:r>
                          </m:e>
                        </m:func>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  </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𝑏</m:t>
                        </m:r>
                      </m:e>
                      <m:sub>
                        <m:r>
                          <a:rPr lang="en-US" altLang="zh-CN" sz="2000" b="0" i="1" smtClean="0">
                            <a:latin typeface="Cambria Math" panose="02040503050406030204" pitchFamily="18" charset="0"/>
                            <a:ea typeface="微软雅黑" panose="020B0503020204020204" pitchFamily="34" charset="-122"/>
                          </a:rPr>
                          <m:t>𝑛</m:t>
                        </m:r>
                      </m:sub>
                    </m:sSub>
                    <m:r>
                      <a:rPr lang="en-US" altLang="zh-CN" sz="2000" b="0" i="1" smtClean="0">
                        <a:latin typeface="Cambria Math" panose="02040503050406030204" pitchFamily="18" charset="0"/>
                        <a:ea typeface="微软雅黑" panose="020B0503020204020204" pitchFamily="34" charset="-122"/>
                      </a:rPr>
                      <m:t>=</m:t>
                    </m:r>
                    <m:f>
                      <m:fPr>
                        <m:ctrlPr>
                          <a:rPr lang="en-US" altLang="zh-CN" sz="2000" b="0" i="1" smtClean="0">
                            <a:latin typeface="Cambria Math" panose="02040503050406030204" pitchFamily="18" charset="0"/>
                            <a:ea typeface="微软雅黑" panose="020B0503020204020204" pitchFamily="34" charset="-122"/>
                          </a:rPr>
                        </m:ctrlPr>
                      </m:fPr>
                      <m:num>
                        <m:r>
                          <a:rPr lang="en-US" altLang="zh-CN" sz="2000" b="0" i="1" smtClean="0">
                            <a:latin typeface="Cambria Math" panose="02040503050406030204" pitchFamily="18" charset="0"/>
                            <a:ea typeface="微软雅黑" panose="020B0503020204020204" pitchFamily="34" charset="-122"/>
                          </a:rPr>
                          <m:t>1</m:t>
                        </m:r>
                      </m:num>
                      <m:den>
                        <m:r>
                          <a:rPr lang="en-US" altLang="zh-CN" sz="2000" b="0" i="1" smtClean="0">
                            <a:latin typeface="Cambria Math" panose="02040503050406030204" pitchFamily="18" charset="0"/>
                            <a:ea typeface="微软雅黑" panose="020B0503020204020204" pitchFamily="34" charset="-122"/>
                          </a:rPr>
                          <m:t>𝜋</m:t>
                        </m:r>
                      </m:den>
                    </m:f>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r>
                          <a:rPr lang="en-US" altLang="zh-CN" sz="2000" i="1">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a:latin typeface="Cambria Math" panose="02040503050406030204" pitchFamily="18" charset="0"/>
                                <a:ea typeface="微软雅黑" panose="020B0503020204020204" pitchFamily="34" charset="-122"/>
                              </a:rPr>
                              <m:t>cos</m:t>
                            </m:r>
                          </m:fName>
                          <m:e>
                            <m:r>
                              <a:rPr lang="en-US" altLang="zh-CN" sz="2000" i="1">
                                <a:latin typeface="Cambria Math" panose="02040503050406030204" pitchFamily="18" charset="0"/>
                                <a:ea typeface="微软雅黑" panose="020B0503020204020204" pitchFamily="34" charset="-122"/>
                              </a:rPr>
                              <m:t>𝑛𝑥</m:t>
                            </m:r>
                          </m:e>
                        </m:func>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  (</m:t>
                    </m:r>
                    <m:r>
                      <a:rPr lang="en-US" altLang="zh-CN" sz="2000" b="0" i="1" smtClean="0">
                        <a:latin typeface="Cambria Math" panose="02040503050406030204" pitchFamily="18" charset="0"/>
                        <a:ea typeface="微软雅黑" panose="020B0503020204020204" pitchFamily="34" charset="-122"/>
                      </a:rPr>
                      <m:t>𝑛</m:t>
                    </m:r>
                    <m:r>
                      <a:rPr lang="en-US" altLang="zh-CN" sz="2000" b="0" i="1" smtClean="0">
                        <a:latin typeface="Cambria Math" panose="02040503050406030204" pitchFamily="18" charset="0"/>
                        <a:ea typeface="微软雅黑" panose="020B0503020204020204" pitchFamily="34" charset="-122"/>
                      </a:rPr>
                      <m:t>≥1)</m:t>
                    </m:r>
                  </m:oMath>
                </a14:m>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当周期从</a:t>
                </a:r>
                <a14:m>
                  <m:oMath xmlns:m="http://schemas.openxmlformats.org/officeDocument/2006/math">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oMath>
                </a14:m>
                <a:r>
                  <a:rPr lang="zh-CN" altLang="en-US" sz="2000" dirty="0" smtClean="0">
                    <a:latin typeface="微软雅黑" panose="020B0503020204020204" pitchFamily="34" charset="-122"/>
                    <a:ea typeface="微软雅黑" panose="020B0503020204020204" pitchFamily="34" charset="-122"/>
                  </a:rPr>
                  <a:t>变成</a:t>
                </a:r>
                <a14:m>
                  <m:oMath xmlns:m="http://schemas.openxmlformats.org/officeDocument/2006/math">
                    <m:r>
                      <a:rPr lang="en-US" altLang="zh-CN" sz="2000" i="1">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𝐿</m:t>
                    </m:r>
                  </m:oMath>
                </a14:m>
                <a:r>
                  <a:rPr lang="zh-CN" altLang="en-US" sz="2000" dirty="0" smtClean="0">
                    <a:latin typeface="微软雅黑" panose="020B0503020204020204" pitchFamily="34" charset="-122"/>
                    <a:ea typeface="微软雅黑" panose="020B0503020204020204" pitchFamily="34" charset="-122"/>
                  </a:rPr>
                  <a:t>时，根据三角函数的伸缩变换，只需要将基函数换成</a:t>
                </a:r>
                <a14:m>
                  <m:oMath xmlns:m="http://schemas.openxmlformats.org/officeDocument/2006/math">
                    <m:r>
                      <a:rPr lang="en-US" altLang="zh-CN" sz="2000" i="1">
                        <a:latin typeface="Cambria Math" panose="02040503050406030204" pitchFamily="18" charset="0"/>
                        <a:ea typeface="微软雅黑" panose="020B0503020204020204" pitchFamily="34" charset="-122"/>
                      </a:rPr>
                      <m:t>1,</m:t>
                    </m:r>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a:latin typeface="Cambria Math" panose="02040503050406030204" pitchFamily="18" charset="0"/>
                            <a:ea typeface="微软雅黑" panose="020B0503020204020204" pitchFamily="34" charset="-122"/>
                          </a:rPr>
                          <m:t>sin</m:t>
                        </m:r>
                      </m:fName>
                      <m:e>
                        <m:f>
                          <m:fPr>
                            <m:ctrlPr>
                              <a:rPr lang="en-US" altLang="zh-CN" sz="2000" b="0" i="1" smtClean="0">
                                <a:latin typeface="Cambria Math" panose="02040503050406030204" pitchFamily="18" charset="0"/>
                                <a:ea typeface="微软雅黑" panose="020B0503020204020204" pitchFamily="34" charset="-122"/>
                              </a:rPr>
                            </m:ctrlPr>
                          </m:fPr>
                          <m:num>
                            <m:r>
                              <a:rPr lang="en-US" altLang="zh-CN" sz="2000" b="0" i="1" smtClean="0">
                                <a:latin typeface="Cambria Math" panose="02040503050406030204" pitchFamily="18" charset="0"/>
                                <a:ea typeface="微软雅黑" panose="020B0503020204020204" pitchFamily="34" charset="-122"/>
                              </a:rPr>
                              <m:t>𝜋</m:t>
                            </m:r>
                            <m:r>
                              <a:rPr lang="en-US" altLang="zh-CN" sz="2000" i="1">
                                <a:latin typeface="Cambria Math" panose="02040503050406030204" pitchFamily="18" charset="0"/>
                                <a:ea typeface="微软雅黑" panose="020B0503020204020204" pitchFamily="34" charset="-122"/>
                              </a:rPr>
                              <m:t>𝑥</m:t>
                            </m:r>
                          </m:num>
                          <m:den>
                            <m:r>
                              <a:rPr lang="en-US" altLang="zh-CN" sz="2000" b="0" i="1" smtClean="0">
                                <a:latin typeface="Cambria Math" panose="02040503050406030204" pitchFamily="18" charset="0"/>
                                <a:ea typeface="微软雅黑" panose="020B0503020204020204" pitchFamily="34" charset="-122"/>
                              </a:rPr>
                              <m:t>𝐿</m:t>
                            </m:r>
                          </m:den>
                        </m:f>
                      </m:e>
                    </m:func>
                    <m:r>
                      <a:rPr lang="en-US" altLang="zh-CN" sz="2000" i="1">
                        <a:latin typeface="Cambria Math" panose="02040503050406030204" pitchFamily="18" charset="0"/>
                        <a:ea typeface="微软雅黑" panose="020B0503020204020204" pitchFamily="34" charset="-122"/>
                      </a:rPr>
                      <m:t>,</m:t>
                    </m:r>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a:latin typeface="Cambria Math" panose="02040503050406030204" pitchFamily="18" charset="0"/>
                            <a:ea typeface="微软雅黑" panose="020B0503020204020204" pitchFamily="34" charset="-122"/>
                          </a:rPr>
                          <m:t>sin</m:t>
                        </m:r>
                      </m:fName>
                      <m:e>
                        <m:r>
                          <a:rPr lang="en-US" altLang="zh-CN" sz="2000" i="1">
                            <a:latin typeface="Cambria Math" panose="02040503050406030204" pitchFamily="18" charset="0"/>
                            <a:ea typeface="微软雅黑" panose="020B0503020204020204" pitchFamily="34" charset="-122"/>
                          </a:rPr>
                          <m:t>2</m:t>
                        </m:r>
                        <m:f>
                          <m:fPr>
                            <m:ctrlPr>
                              <a:rPr lang="en-US" altLang="zh-CN" sz="2000" b="0" i="1" smtClean="0">
                                <a:latin typeface="Cambria Math" panose="02040503050406030204" pitchFamily="18" charset="0"/>
                                <a:ea typeface="微软雅黑" panose="020B0503020204020204" pitchFamily="34" charset="-122"/>
                              </a:rPr>
                            </m:ctrlPr>
                          </m:fPr>
                          <m:num>
                            <m:r>
                              <a:rPr lang="en-US" altLang="zh-CN" sz="2000" b="0" i="1" smtClean="0">
                                <a:latin typeface="Cambria Math" panose="02040503050406030204" pitchFamily="18" charset="0"/>
                                <a:ea typeface="微软雅黑" panose="020B0503020204020204" pitchFamily="34" charset="-122"/>
                              </a:rPr>
                              <m:t>𝜋</m:t>
                            </m:r>
                            <m:r>
                              <a:rPr lang="en-US" altLang="zh-CN" sz="2000" i="1">
                                <a:latin typeface="Cambria Math" panose="02040503050406030204" pitchFamily="18" charset="0"/>
                                <a:ea typeface="微软雅黑" panose="020B0503020204020204" pitchFamily="34" charset="-122"/>
                              </a:rPr>
                              <m:t>𝑥</m:t>
                            </m:r>
                          </m:num>
                          <m:den>
                            <m:r>
                              <a:rPr lang="en-US" altLang="zh-CN" sz="2000" b="0" i="1" smtClean="0">
                                <a:latin typeface="Cambria Math" panose="02040503050406030204" pitchFamily="18" charset="0"/>
                                <a:ea typeface="微软雅黑" panose="020B0503020204020204" pitchFamily="34" charset="-122"/>
                              </a:rPr>
                              <m:t>𝐿</m:t>
                            </m:r>
                          </m:den>
                        </m:f>
                      </m:e>
                    </m:func>
                    <m:r>
                      <a:rPr lang="en-US" altLang="zh-CN" sz="2000" i="1">
                        <a:latin typeface="Cambria Math" panose="02040503050406030204" pitchFamily="18" charset="0"/>
                        <a:ea typeface="微软雅黑" panose="020B0503020204020204" pitchFamily="34" charset="-122"/>
                      </a:rPr>
                      <m:t>,…,</m:t>
                    </m:r>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a:latin typeface="Cambria Math" panose="02040503050406030204" pitchFamily="18" charset="0"/>
                            <a:ea typeface="微软雅黑" panose="020B0503020204020204" pitchFamily="34" charset="-122"/>
                          </a:rPr>
                          <m:t>cos</m:t>
                        </m:r>
                      </m:fName>
                      <m:e>
                        <m:f>
                          <m:fPr>
                            <m:ctrlPr>
                              <a:rPr lang="en-US" altLang="zh-CN" sz="2000" i="1">
                                <a:latin typeface="Cambria Math" panose="02040503050406030204" pitchFamily="18" charset="0"/>
                                <a:ea typeface="微软雅黑" panose="020B0503020204020204" pitchFamily="34" charset="-122"/>
                              </a:rPr>
                            </m:ctrlPr>
                          </m:fPr>
                          <m:num>
                            <m:r>
                              <a:rPr lang="en-US" altLang="zh-CN" sz="2000" i="1">
                                <a:latin typeface="Cambria Math" panose="02040503050406030204" pitchFamily="18" charset="0"/>
                                <a:ea typeface="微软雅黑" panose="020B0503020204020204" pitchFamily="34" charset="-122"/>
                              </a:rPr>
                              <m:t>𝜋</m:t>
                            </m:r>
                            <m:r>
                              <a:rPr lang="en-US" altLang="zh-CN" sz="2000" i="1">
                                <a:latin typeface="Cambria Math" panose="02040503050406030204" pitchFamily="18" charset="0"/>
                                <a:ea typeface="微软雅黑" panose="020B0503020204020204" pitchFamily="34" charset="-122"/>
                              </a:rPr>
                              <m:t>𝑥</m:t>
                            </m:r>
                          </m:num>
                          <m:den>
                            <m:r>
                              <a:rPr lang="en-US" altLang="zh-CN" sz="2000" i="1">
                                <a:latin typeface="Cambria Math" panose="02040503050406030204" pitchFamily="18" charset="0"/>
                                <a:ea typeface="微软雅黑" panose="020B0503020204020204" pitchFamily="34" charset="-122"/>
                              </a:rPr>
                              <m:t>𝐿</m:t>
                            </m:r>
                          </m:den>
                        </m:f>
                      </m:e>
                    </m:func>
                    <m:r>
                      <a:rPr lang="en-US" altLang="zh-CN" sz="2000" i="1">
                        <a:latin typeface="Cambria Math" panose="02040503050406030204" pitchFamily="18" charset="0"/>
                        <a:ea typeface="微软雅黑" panose="020B0503020204020204" pitchFamily="34" charset="-122"/>
                      </a:rPr>
                      <m:t>,</m:t>
                    </m:r>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a:latin typeface="Cambria Math" panose="02040503050406030204" pitchFamily="18" charset="0"/>
                            <a:ea typeface="微软雅黑" panose="020B0503020204020204" pitchFamily="34" charset="-122"/>
                          </a:rPr>
                          <m:t>cos</m:t>
                        </m:r>
                      </m:fName>
                      <m:e>
                        <m:r>
                          <a:rPr lang="en-US" altLang="zh-CN" sz="2000" i="1">
                            <a:latin typeface="Cambria Math" panose="02040503050406030204" pitchFamily="18" charset="0"/>
                            <a:ea typeface="微软雅黑" panose="020B0503020204020204" pitchFamily="34" charset="-122"/>
                          </a:rPr>
                          <m:t>2</m:t>
                        </m:r>
                        <m:f>
                          <m:fPr>
                            <m:ctrlPr>
                              <a:rPr lang="en-US" altLang="zh-CN" sz="2000" i="1">
                                <a:latin typeface="Cambria Math" panose="02040503050406030204" pitchFamily="18" charset="0"/>
                                <a:ea typeface="微软雅黑" panose="020B0503020204020204" pitchFamily="34" charset="-122"/>
                              </a:rPr>
                            </m:ctrlPr>
                          </m:fPr>
                          <m:num>
                            <m:r>
                              <a:rPr lang="en-US" altLang="zh-CN" sz="2000" i="1">
                                <a:latin typeface="Cambria Math" panose="02040503050406030204" pitchFamily="18" charset="0"/>
                                <a:ea typeface="微软雅黑" panose="020B0503020204020204" pitchFamily="34" charset="-122"/>
                              </a:rPr>
                              <m:t>𝜋</m:t>
                            </m:r>
                            <m:r>
                              <a:rPr lang="en-US" altLang="zh-CN" sz="2000" i="1">
                                <a:latin typeface="Cambria Math" panose="02040503050406030204" pitchFamily="18" charset="0"/>
                                <a:ea typeface="微软雅黑" panose="020B0503020204020204" pitchFamily="34" charset="-122"/>
                              </a:rPr>
                              <m:t>𝑥</m:t>
                            </m:r>
                          </m:num>
                          <m:den>
                            <m:r>
                              <a:rPr lang="en-US" altLang="zh-CN" sz="2000" i="1">
                                <a:latin typeface="Cambria Math" panose="02040503050406030204" pitchFamily="18" charset="0"/>
                                <a:ea typeface="微软雅黑" panose="020B0503020204020204" pitchFamily="34" charset="-122"/>
                              </a:rPr>
                              <m:t>𝐿</m:t>
                            </m:r>
                          </m:den>
                        </m:f>
                      </m:e>
                    </m:func>
                    <m:r>
                      <a:rPr lang="en-US" altLang="zh-CN" sz="2000" i="1">
                        <a:latin typeface="Cambria Math" panose="02040503050406030204" pitchFamily="18" charset="0"/>
                        <a:ea typeface="微软雅黑" panose="020B0503020204020204" pitchFamily="34" charset="-122"/>
                      </a:rPr>
                      <m:t>,…</m:t>
                    </m:r>
                  </m:oMath>
                </a14:m>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积分区间变为</a:t>
                </a:r>
                <a14:m>
                  <m:oMath xmlns:m="http://schemas.openxmlformats.org/officeDocument/2006/math">
                    <m:r>
                      <a:rPr lang="en-US" altLang="zh-CN" sz="2000" i="1">
                        <a:latin typeface="Cambria Math" panose="02040503050406030204" pitchFamily="18" charset="0"/>
                        <a:ea typeface="微软雅黑" panose="020B0503020204020204" pitchFamily="34" charset="-122"/>
                      </a:rPr>
                      <m:t>[0, 2</m:t>
                    </m:r>
                    <m:r>
                      <a:rPr lang="en-US" altLang="zh-CN" sz="2000" b="0" i="1" smtClean="0">
                        <a:latin typeface="Cambria Math" panose="02040503050406030204" pitchFamily="18" charset="0"/>
                        <a:ea typeface="微软雅黑" panose="020B0503020204020204" pitchFamily="34" charset="-122"/>
                      </a:rPr>
                      <m:t>𝐿</m:t>
                    </m:r>
                    <m:r>
                      <a:rPr lang="en-US" altLang="zh-CN" sz="2000" i="1">
                        <a:latin typeface="Cambria Math" panose="02040503050406030204" pitchFamily="18" charset="0"/>
                        <a:ea typeface="微软雅黑" panose="020B0503020204020204" pitchFamily="34" charset="-122"/>
                      </a:rPr>
                      <m:t>]</m:t>
                    </m:r>
                  </m:oMath>
                </a14:m>
                <a:r>
                  <a:rPr lang="zh-CN" altLang="en-US" sz="2000" dirty="0" smtClean="0">
                    <a:latin typeface="微软雅黑" panose="020B0503020204020204" pitchFamily="34" charset="-122"/>
                    <a:ea typeface="微软雅黑" panose="020B0503020204020204" pitchFamily="34" charset="-122"/>
                  </a:rPr>
                  <a:t>，系数变为</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𝑎</m:t>
                        </m:r>
                      </m:e>
                      <m:sub>
                        <m:r>
                          <a:rPr lang="en-US" altLang="zh-CN" sz="2000" i="1">
                            <a:latin typeface="Cambria Math" panose="02040503050406030204" pitchFamily="18" charset="0"/>
                            <a:ea typeface="微软雅黑" panose="020B0503020204020204" pitchFamily="34" charset="-122"/>
                          </a:rPr>
                          <m:t>0</m:t>
                        </m:r>
                      </m:sub>
                    </m:sSub>
                    <m:r>
                      <a:rPr lang="en-US" altLang="zh-CN" sz="2000" i="1">
                        <a:latin typeface="Cambria Math" panose="02040503050406030204" pitchFamily="18" charset="0"/>
                        <a:ea typeface="微软雅黑" panose="020B0503020204020204" pitchFamily="34" charset="-122"/>
                      </a:rPr>
                      <m:t>=</m:t>
                    </m:r>
                    <m:f>
                      <m:fPr>
                        <m:ctrlPr>
                          <a:rPr lang="en-US" altLang="zh-CN" sz="2000" i="1">
                            <a:latin typeface="Cambria Math" panose="02040503050406030204" pitchFamily="18" charset="0"/>
                            <a:ea typeface="微软雅黑" panose="020B0503020204020204" pitchFamily="34" charset="-122"/>
                          </a:rPr>
                        </m:ctrlPr>
                      </m:fPr>
                      <m:num>
                        <m:r>
                          <a:rPr lang="en-US" altLang="zh-CN" sz="2000" i="1">
                            <a:latin typeface="Cambria Math" panose="02040503050406030204" pitchFamily="18" charset="0"/>
                            <a:ea typeface="微软雅黑" panose="020B0503020204020204" pitchFamily="34" charset="-122"/>
                          </a:rPr>
                          <m:t>1</m:t>
                        </m:r>
                      </m:num>
                      <m:den>
                        <m:r>
                          <a:rPr lang="en-US" altLang="zh-CN" sz="2000" i="1">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𝐿</m:t>
                        </m:r>
                      </m:den>
                    </m:f>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m:rPr>
                            <m:sty m:val="p"/>
                          </m:rPr>
                          <a:rPr lang="en-US" altLang="zh-CN" sz="2000" i="1">
                            <a:latin typeface="Cambria Math" panose="02040503050406030204" pitchFamily="18" charset="0"/>
                            <a:ea typeface="微软雅黑" panose="020B0503020204020204" pitchFamily="34" charset="-122"/>
                          </a:rPr>
                          <m:t>L</m:t>
                        </m:r>
                      </m:sup>
                      <m:e>
                        <m:r>
                          <a:rPr lang="en-US" altLang="zh-CN" sz="2000" i="1">
                            <a:latin typeface="Cambria Math" panose="02040503050406030204" pitchFamily="18" charset="0"/>
                            <a:ea typeface="微软雅黑" panose="020B0503020204020204" pitchFamily="34" charset="-122"/>
                          </a:rPr>
                          <m:t>𝑓</m:t>
                        </m:r>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m:t>
                        </m:r>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𝑎</m:t>
                        </m:r>
                      </m:e>
                      <m:sub>
                        <m:r>
                          <a:rPr lang="en-US" altLang="zh-CN" sz="2000" i="1">
                            <a:latin typeface="Cambria Math" panose="02040503050406030204" pitchFamily="18" charset="0"/>
                            <a:ea typeface="微软雅黑" panose="020B0503020204020204" pitchFamily="34" charset="-122"/>
                          </a:rPr>
                          <m:t>𝑛</m:t>
                        </m:r>
                      </m:sub>
                    </m:sSub>
                    <m:r>
                      <a:rPr lang="en-US" altLang="zh-CN" sz="2000" i="1">
                        <a:latin typeface="Cambria Math" panose="02040503050406030204" pitchFamily="18" charset="0"/>
                        <a:ea typeface="微软雅黑" panose="020B0503020204020204" pitchFamily="34" charset="-122"/>
                      </a:rPr>
                      <m:t>=</m:t>
                    </m:r>
                    <m:f>
                      <m:fPr>
                        <m:ctrlPr>
                          <a:rPr lang="en-US" altLang="zh-CN" sz="2000" i="1">
                            <a:latin typeface="Cambria Math" panose="02040503050406030204" pitchFamily="18" charset="0"/>
                            <a:ea typeface="微软雅黑" panose="020B0503020204020204" pitchFamily="34" charset="-122"/>
                          </a:rPr>
                        </m:ctrlPr>
                      </m:fPr>
                      <m:num>
                        <m:r>
                          <a:rPr lang="en-US" altLang="zh-CN" sz="2000" i="1">
                            <a:latin typeface="Cambria Math" panose="02040503050406030204" pitchFamily="18" charset="0"/>
                            <a:ea typeface="微软雅黑" panose="020B0503020204020204" pitchFamily="34" charset="-122"/>
                          </a:rPr>
                          <m:t>1</m:t>
                        </m:r>
                      </m:num>
                      <m:den>
                        <m:r>
                          <a:rPr lang="en-US" altLang="zh-CN" sz="2000" b="0" i="1" smtClean="0">
                            <a:latin typeface="Cambria Math" panose="02040503050406030204" pitchFamily="18" charset="0"/>
                            <a:ea typeface="微软雅黑" panose="020B0503020204020204" pitchFamily="34" charset="-122"/>
                          </a:rPr>
                          <m:t>𝐿</m:t>
                        </m:r>
                      </m:den>
                    </m:f>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𝐿</m:t>
                        </m:r>
                      </m:sup>
                      <m:e>
                        <m:r>
                          <a:rPr lang="en-US" altLang="zh-CN" sz="2000" i="1">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a:latin typeface="Cambria Math" panose="02040503050406030204" pitchFamily="18" charset="0"/>
                                <a:ea typeface="微软雅黑" panose="020B0503020204020204" pitchFamily="34" charset="-122"/>
                              </a:rPr>
                              <m:t>sin</m:t>
                            </m:r>
                          </m:fName>
                          <m:e>
                            <m:r>
                              <a:rPr lang="en-US" altLang="zh-CN" sz="2000" i="1">
                                <a:latin typeface="Cambria Math" panose="02040503050406030204" pitchFamily="18" charset="0"/>
                                <a:ea typeface="微软雅黑" panose="020B0503020204020204" pitchFamily="34" charset="-122"/>
                              </a:rPr>
                              <m:t>𝑛𝑥</m:t>
                            </m:r>
                          </m:e>
                        </m:func>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𝑏</m:t>
                        </m:r>
                      </m:e>
                      <m:sub>
                        <m:r>
                          <a:rPr lang="en-US" altLang="zh-CN" sz="2000" i="1">
                            <a:latin typeface="Cambria Math" panose="02040503050406030204" pitchFamily="18" charset="0"/>
                            <a:ea typeface="微软雅黑" panose="020B0503020204020204" pitchFamily="34" charset="-122"/>
                          </a:rPr>
                          <m:t>𝑛</m:t>
                        </m:r>
                      </m:sub>
                    </m:sSub>
                    <m:r>
                      <a:rPr lang="en-US" altLang="zh-CN" sz="2000" i="1">
                        <a:latin typeface="Cambria Math" panose="02040503050406030204" pitchFamily="18" charset="0"/>
                        <a:ea typeface="微软雅黑" panose="020B0503020204020204" pitchFamily="34" charset="-122"/>
                      </a:rPr>
                      <m:t>=</m:t>
                    </m:r>
                    <m:f>
                      <m:fPr>
                        <m:ctrlPr>
                          <a:rPr lang="en-US" altLang="zh-CN" sz="2000" i="1">
                            <a:latin typeface="Cambria Math" panose="02040503050406030204" pitchFamily="18" charset="0"/>
                            <a:ea typeface="微软雅黑" panose="020B0503020204020204" pitchFamily="34" charset="-122"/>
                          </a:rPr>
                        </m:ctrlPr>
                      </m:fPr>
                      <m:num>
                        <m:r>
                          <a:rPr lang="en-US" altLang="zh-CN" sz="2000" i="1">
                            <a:latin typeface="Cambria Math" panose="02040503050406030204" pitchFamily="18" charset="0"/>
                            <a:ea typeface="微软雅黑" panose="020B0503020204020204" pitchFamily="34" charset="-122"/>
                          </a:rPr>
                          <m:t>1</m:t>
                        </m:r>
                      </m:num>
                      <m:den>
                        <m:r>
                          <a:rPr lang="en-US" altLang="zh-CN" sz="2000" b="0" i="1" smtClean="0">
                            <a:latin typeface="Cambria Math" panose="02040503050406030204" pitchFamily="18" charset="0"/>
                            <a:ea typeface="微软雅黑" panose="020B0503020204020204" pitchFamily="34" charset="-122"/>
                          </a:rPr>
                          <m:t>𝐿</m:t>
                        </m:r>
                      </m:den>
                    </m:f>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𝐿</m:t>
                        </m:r>
                      </m:sup>
                      <m:e>
                        <m:r>
                          <a:rPr lang="en-US" altLang="zh-CN" sz="2000" i="1">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a:latin typeface="Cambria Math" panose="02040503050406030204" pitchFamily="18" charset="0"/>
                                <a:ea typeface="微软雅黑" panose="020B0503020204020204" pitchFamily="34" charset="-122"/>
                              </a:rPr>
                              <m:t>cos</m:t>
                            </m:r>
                          </m:fName>
                          <m:e>
                            <m:r>
                              <a:rPr lang="en-US" altLang="zh-CN" sz="2000" i="1">
                                <a:latin typeface="Cambria Math" panose="02040503050406030204" pitchFamily="18" charset="0"/>
                                <a:ea typeface="微软雅黑" panose="020B0503020204020204" pitchFamily="34" charset="-122"/>
                              </a:rPr>
                              <m:t>𝑛𝑥</m:t>
                            </m:r>
                          </m:e>
                        </m:func>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oMath>
                </a14:m>
                <a:endParaRPr lang="en-US" altLang="zh-CN" sz="2000" dirty="0" smtClean="0">
                  <a:latin typeface="微软雅黑" panose="020B0503020204020204" pitchFamily="34" charset="-122"/>
                  <a:ea typeface="微软雅黑" panose="020B0503020204020204" pitchFamily="34"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226481" y="1007309"/>
                <a:ext cx="11518265" cy="5802999"/>
              </a:xfrm>
              <a:prstGeom prst="rect">
                <a:avLst/>
              </a:prstGeom>
              <a:blipFill rotWithShape="0">
                <a:blip r:embed="rId5"/>
                <a:stretch>
                  <a:fillRect l="-5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37050564"/>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Fourier transformation</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418147" y="777875"/>
                <a:ext cx="11173778" cy="5985100"/>
              </a:xfrm>
              <a:prstGeom prst="rect">
                <a:avLst/>
              </a:prstGeom>
              <a:noFill/>
            </p:spPr>
            <p:txBody>
              <a:bodyPr wrap="square" rtlCol="0">
                <a:spAutoFit/>
              </a:bodyPr>
              <a:lstStyle/>
              <a:p>
                <a:r>
                  <a:rPr lang="zh-CN" altLang="en-US" sz="2000" dirty="0" smtClean="0">
                    <a:latin typeface="微软雅黑" panose="020B0503020204020204" pitchFamily="34" charset="-122"/>
                    <a:ea typeface="微软雅黑" panose="020B0503020204020204" pitchFamily="34" charset="-122"/>
                  </a:rPr>
                  <a:t>当</a:t>
                </a:r>
                <a14:m>
                  <m:oMath xmlns:m="http://schemas.openxmlformats.org/officeDocument/2006/math">
                    <m:r>
                      <a:rPr lang="en-US" altLang="zh-CN" sz="2000" i="1">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oMath>
                </a14:m>
                <a:r>
                  <a:rPr lang="zh-CN" altLang="en-US" sz="2000" dirty="0" smtClean="0">
                    <a:latin typeface="微软雅黑" panose="020B0503020204020204" pitchFamily="34" charset="-122"/>
                    <a:ea typeface="微软雅黑" panose="020B0503020204020204" pitchFamily="34" charset="-122"/>
                  </a:rPr>
                  <a:t>是复函数时，使用指数表示的复角形式会更方便</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欧拉</a:t>
                </a:r>
                <a:r>
                  <a:rPr lang="zh-CN" altLang="en-US" sz="2000" dirty="0" smtClean="0">
                    <a:latin typeface="微软雅黑" panose="020B0503020204020204" pitchFamily="34" charset="-122"/>
                    <a:ea typeface="微软雅黑" panose="020B0503020204020204" pitchFamily="34" charset="-122"/>
                  </a:rPr>
                  <a:t>公式：</a:t>
                </a:r>
                <a14:m>
                  <m:oMath xmlns:m="http://schemas.openxmlformats.org/officeDocument/2006/math">
                    <m:sSup>
                      <m:sSupPr>
                        <m:ctrlPr>
                          <a:rPr lang="en-US" altLang="zh-CN" sz="2000" b="0" i="1" smtClean="0">
                            <a:latin typeface="Cambria Math" panose="02040503050406030204" pitchFamily="18" charset="0"/>
                            <a:ea typeface="微软雅黑" panose="020B0503020204020204" pitchFamily="34" charset="-122"/>
                          </a:rPr>
                        </m:ctrlPr>
                      </m:sSupPr>
                      <m:e>
                        <m:r>
                          <a:rPr lang="en-US" altLang="zh-CN" sz="2000" b="0" i="1" smtClean="0">
                            <a:latin typeface="Cambria Math" panose="02040503050406030204" pitchFamily="18" charset="0"/>
                            <a:ea typeface="微软雅黑" panose="020B0503020204020204" pitchFamily="34" charset="-122"/>
                          </a:rPr>
                          <m:t>𝑒</m:t>
                        </m:r>
                      </m:e>
                      <m:sup>
                        <m:r>
                          <a:rPr lang="en-US" altLang="zh-CN" sz="2000" b="0" i="1" smtClean="0">
                            <a:latin typeface="Cambria Math" panose="02040503050406030204" pitchFamily="18" charset="0"/>
                            <a:ea typeface="微软雅黑" panose="020B0503020204020204" pitchFamily="34" charset="-122"/>
                          </a:rPr>
                          <m:t>𝑖</m:t>
                        </m:r>
                        <m:r>
                          <a:rPr lang="en-US" altLang="zh-CN" sz="2000" b="0" i="1" smtClean="0">
                            <a:latin typeface="Cambria Math" panose="02040503050406030204" pitchFamily="18" charset="0"/>
                            <a:ea typeface="微软雅黑" panose="020B0503020204020204" pitchFamily="34" charset="-122"/>
                          </a:rPr>
                          <m:t>𝜃</m:t>
                        </m:r>
                      </m:sup>
                    </m:sSup>
                    <m:r>
                      <a:rPr lang="en-US" altLang="zh-CN" sz="2000" b="0" i="1" smtClean="0">
                        <a:latin typeface="Cambria Math" panose="02040503050406030204" pitchFamily="18" charset="0"/>
                        <a:ea typeface="微软雅黑" panose="020B0503020204020204" pitchFamily="34" charset="-122"/>
                      </a:rPr>
                      <m:t>=</m:t>
                    </m:r>
                    <m:func>
                      <m:funcPr>
                        <m:ctrlPr>
                          <a:rPr lang="en-US" altLang="zh-CN" sz="2000" b="0" i="1" smtClean="0">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cos</m:t>
                        </m:r>
                      </m:fName>
                      <m:e>
                        <m:r>
                          <a:rPr lang="en-US" altLang="zh-CN" sz="2000" b="0" i="1" smtClean="0">
                            <a:latin typeface="Cambria Math" panose="02040503050406030204" pitchFamily="18" charset="0"/>
                            <a:ea typeface="微软雅黑" panose="020B0503020204020204" pitchFamily="34" charset="-122"/>
                          </a:rPr>
                          <m:t>𝜃</m:t>
                        </m:r>
                      </m:e>
                    </m:func>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𝑖</m:t>
                    </m:r>
                    <m:func>
                      <m:funcPr>
                        <m:ctrlPr>
                          <a:rPr lang="en-US" altLang="zh-CN" sz="2000" b="0" i="1" smtClean="0">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sin</m:t>
                        </m:r>
                      </m:fName>
                      <m:e>
                        <m:r>
                          <a:rPr lang="en-US" altLang="zh-CN" sz="2000" b="0" i="1" smtClean="0">
                            <a:latin typeface="Cambria Math" panose="02040503050406030204" pitchFamily="18" charset="0"/>
                            <a:ea typeface="微软雅黑" panose="020B0503020204020204" pitchFamily="34" charset="-122"/>
                          </a:rPr>
                          <m:t>𝜃</m:t>
                        </m:r>
                      </m:e>
                    </m:func>
                  </m:oMath>
                </a14:m>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下面考虑这样一组函数：</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1, </m:t>
                    </m:r>
                    <m:sSup>
                      <m:sSupPr>
                        <m:ctrlPr>
                          <a:rPr lang="en-US" altLang="zh-CN" sz="2000" b="0" i="1" smtClean="0">
                            <a:latin typeface="Cambria Math" panose="02040503050406030204" pitchFamily="18" charset="0"/>
                            <a:ea typeface="微软雅黑" panose="020B0503020204020204" pitchFamily="34" charset="-122"/>
                          </a:rPr>
                        </m:ctrlPr>
                      </m:sSupPr>
                      <m:e>
                        <m:r>
                          <a:rPr lang="en-US" altLang="zh-CN" sz="2000" b="0" i="1" smtClean="0">
                            <a:latin typeface="Cambria Math" panose="02040503050406030204" pitchFamily="18" charset="0"/>
                            <a:ea typeface="微软雅黑" panose="020B0503020204020204" pitchFamily="34" charset="-122"/>
                          </a:rPr>
                          <m:t>𝑒</m:t>
                        </m:r>
                      </m:e>
                      <m:sup>
                        <m:r>
                          <a:rPr lang="en-US" altLang="zh-CN" sz="2000" b="0" i="1" smtClean="0">
                            <a:latin typeface="Cambria Math" panose="02040503050406030204" pitchFamily="18" charset="0"/>
                            <a:ea typeface="微软雅黑" panose="020B0503020204020204" pitchFamily="34" charset="-122"/>
                          </a:rPr>
                          <m:t>𝑖𝑥</m:t>
                        </m:r>
                      </m:sup>
                    </m:sSup>
                    <m:r>
                      <a:rPr lang="en-US" altLang="zh-CN" sz="2000" b="0" i="1" smtClean="0">
                        <a:latin typeface="Cambria Math" panose="02040503050406030204" pitchFamily="18" charset="0"/>
                        <a:ea typeface="微软雅黑" panose="020B0503020204020204" pitchFamily="34" charset="-122"/>
                      </a:rPr>
                      <m:t>, </m:t>
                    </m:r>
                    <m:sSup>
                      <m:sSupPr>
                        <m:ctrlPr>
                          <a:rPr lang="en-US" altLang="zh-CN" sz="2000" b="0" i="1" smtClean="0">
                            <a:latin typeface="Cambria Math" panose="02040503050406030204" pitchFamily="18" charset="0"/>
                            <a:ea typeface="微软雅黑" panose="020B0503020204020204" pitchFamily="34" charset="-122"/>
                          </a:rPr>
                        </m:ctrlPr>
                      </m:sSupPr>
                      <m:e>
                        <m:r>
                          <a:rPr lang="en-US" altLang="zh-CN" sz="2000" b="0" i="1" smtClean="0">
                            <a:latin typeface="Cambria Math" panose="02040503050406030204" pitchFamily="18" charset="0"/>
                            <a:ea typeface="微软雅黑" panose="020B0503020204020204" pitchFamily="34" charset="-122"/>
                          </a:rPr>
                          <m:t>𝑒</m:t>
                        </m:r>
                      </m:e>
                      <m:sup>
                        <m:r>
                          <a:rPr lang="en-US" altLang="zh-CN" sz="2000" b="0" i="1" smtClean="0">
                            <a:latin typeface="Cambria Math" panose="02040503050406030204" pitchFamily="18" charset="0"/>
                            <a:ea typeface="微软雅黑" panose="020B0503020204020204" pitchFamily="34" charset="-122"/>
                          </a:rPr>
                          <m:t>𝑖</m:t>
                        </m:r>
                        <m:r>
                          <a:rPr lang="en-US" altLang="zh-CN" sz="2000" b="0" i="1" smtClean="0">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𝑥</m:t>
                        </m:r>
                      </m:sup>
                    </m:sSup>
                    <m:r>
                      <a:rPr lang="en-US" altLang="zh-CN" sz="2000" b="0" i="1" smtClean="0">
                        <a:latin typeface="Cambria Math" panose="02040503050406030204" pitchFamily="18" charset="0"/>
                        <a:ea typeface="微软雅黑" panose="020B0503020204020204" pitchFamily="34" charset="-122"/>
                      </a:rPr>
                      <m:t>, …,</m:t>
                    </m:r>
                    <m:sSup>
                      <m:sSupPr>
                        <m:ctrlPr>
                          <a:rPr lang="en-US" altLang="zh-CN" sz="2000" b="0" i="1" smtClean="0">
                            <a:latin typeface="Cambria Math" panose="02040503050406030204" pitchFamily="18" charset="0"/>
                            <a:ea typeface="微软雅黑" panose="020B0503020204020204" pitchFamily="34" charset="-122"/>
                          </a:rPr>
                        </m:ctrlPr>
                      </m:sSupPr>
                      <m:e>
                        <m:r>
                          <a:rPr lang="en-US" altLang="zh-CN" sz="2000" b="0" i="1" smtClean="0">
                            <a:latin typeface="Cambria Math" panose="02040503050406030204" pitchFamily="18" charset="0"/>
                            <a:ea typeface="微软雅黑" panose="020B0503020204020204" pitchFamily="34" charset="-122"/>
                          </a:rPr>
                          <m:t>𝑒</m:t>
                        </m:r>
                      </m:e>
                      <m:sup>
                        <m:r>
                          <a:rPr lang="en-US" altLang="zh-CN" sz="2000" b="0" i="1" smtClean="0">
                            <a:latin typeface="Cambria Math" panose="02040503050406030204" pitchFamily="18" charset="0"/>
                            <a:ea typeface="微软雅黑" panose="020B0503020204020204" pitchFamily="34" charset="-122"/>
                          </a:rPr>
                          <m:t>𝑖𝑛𝑥</m:t>
                        </m:r>
                      </m:sup>
                    </m:sSup>
                    <m:r>
                      <a:rPr lang="en-US" altLang="zh-CN" sz="2000" b="0" i="1" smtClean="0">
                        <a:latin typeface="Cambria Math" panose="02040503050406030204" pitchFamily="18" charset="0"/>
                        <a:ea typeface="微软雅黑" panose="020B0503020204020204" pitchFamily="34" charset="-122"/>
                      </a:rPr>
                      <m:t>,…,</m:t>
                    </m:r>
                    <m:sSup>
                      <m:sSupPr>
                        <m:ctrlPr>
                          <a:rPr lang="en-US" altLang="zh-CN" sz="2000" b="0" i="1" smtClean="0">
                            <a:latin typeface="Cambria Math" panose="02040503050406030204" pitchFamily="18" charset="0"/>
                            <a:ea typeface="微软雅黑" panose="020B0503020204020204" pitchFamily="34" charset="-122"/>
                          </a:rPr>
                        </m:ctrlPr>
                      </m:sSupPr>
                      <m:e>
                        <m:r>
                          <a:rPr lang="en-US" altLang="zh-CN" sz="2000" b="0" i="1" smtClean="0">
                            <a:latin typeface="Cambria Math" panose="02040503050406030204" pitchFamily="18" charset="0"/>
                            <a:ea typeface="微软雅黑" panose="020B0503020204020204" pitchFamily="34" charset="-122"/>
                          </a:rPr>
                          <m:t>𝑒</m:t>
                        </m:r>
                      </m:e>
                      <m:sup>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𝑖𝑥</m:t>
                        </m:r>
                      </m:sup>
                    </m:sSup>
                    <m:r>
                      <a:rPr lang="en-US" altLang="zh-CN" sz="2000" b="0" i="1" smtClean="0">
                        <a:latin typeface="Cambria Math" panose="02040503050406030204" pitchFamily="18" charset="0"/>
                        <a:ea typeface="微软雅黑" panose="020B0503020204020204" pitchFamily="34" charset="-122"/>
                      </a:rPr>
                      <m:t>,…,</m:t>
                    </m:r>
                    <m:sSup>
                      <m:sSupPr>
                        <m:ctrlPr>
                          <a:rPr lang="en-US" altLang="zh-CN" sz="2000" b="0" i="1" smtClean="0">
                            <a:latin typeface="Cambria Math" panose="02040503050406030204" pitchFamily="18" charset="0"/>
                            <a:ea typeface="微软雅黑" panose="020B0503020204020204" pitchFamily="34" charset="-122"/>
                          </a:rPr>
                        </m:ctrlPr>
                      </m:sSupPr>
                      <m:e>
                        <m:r>
                          <a:rPr lang="en-US" altLang="zh-CN" sz="2000" b="0" i="1" smtClean="0">
                            <a:latin typeface="Cambria Math" panose="02040503050406030204" pitchFamily="18" charset="0"/>
                            <a:ea typeface="微软雅黑" panose="020B0503020204020204" pitchFamily="34" charset="-122"/>
                          </a:rPr>
                          <m:t>𝑒</m:t>
                        </m:r>
                      </m:e>
                      <m:sup>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𝑖𝑛𝑥</m:t>
                        </m:r>
                      </m:sup>
                    </m:sSup>
                    <m:r>
                      <a:rPr lang="en-US" altLang="zh-CN" sz="2000" b="0" i="1" smtClean="0">
                        <a:latin typeface="Cambria Math" panose="02040503050406030204" pitchFamily="18" charset="0"/>
                        <a:ea typeface="微软雅黑" panose="020B0503020204020204" pitchFamily="34" charset="-122"/>
                      </a:rPr>
                      <m:t>,…</m:t>
                    </m:r>
                  </m:oMath>
                </a14:m>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满足</a:t>
                </a:r>
                <a:endParaRPr lang="en-US" altLang="zh-CN" sz="2000" dirty="0" smtClean="0">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sSup>
                            <m:sSupPr>
                              <m:ctrlPr>
                                <a:rPr lang="en-US" altLang="zh-CN" sz="2000" i="1">
                                  <a:latin typeface="Cambria Math" panose="02040503050406030204" pitchFamily="18" charset="0"/>
                                  <a:ea typeface="微软雅黑" panose="020B0503020204020204" pitchFamily="34" charset="-122"/>
                                </a:rPr>
                              </m:ctrlPr>
                            </m:sSupPr>
                            <m:e>
                              <m:r>
                                <a:rPr lang="en-US" altLang="zh-CN" sz="2000" i="1">
                                  <a:latin typeface="Cambria Math" panose="02040503050406030204" pitchFamily="18" charset="0"/>
                                  <a:ea typeface="微软雅黑" panose="020B0503020204020204" pitchFamily="34" charset="-122"/>
                                </a:rPr>
                                <m:t>𝑒</m:t>
                              </m:r>
                            </m:e>
                            <m:sup>
                              <m:r>
                                <a:rPr lang="en-US" altLang="zh-CN" sz="2000" i="1">
                                  <a:latin typeface="Cambria Math" panose="02040503050406030204" pitchFamily="18" charset="0"/>
                                  <a:ea typeface="微软雅黑" panose="020B0503020204020204" pitchFamily="34" charset="-122"/>
                                </a:rPr>
                                <m:t>𝑖</m:t>
                              </m:r>
                              <m:r>
                                <a:rPr lang="en-US" altLang="zh-CN" sz="2000" b="0" i="1" smtClean="0">
                                  <a:latin typeface="Cambria Math" panose="02040503050406030204" pitchFamily="18" charset="0"/>
                                  <a:ea typeface="微软雅黑" panose="020B0503020204020204" pitchFamily="34" charset="-122"/>
                                </a:rPr>
                                <m:t>𝑛</m:t>
                              </m:r>
                              <m:r>
                                <a:rPr lang="en-US" altLang="zh-CN" sz="2000" i="1">
                                  <a:latin typeface="Cambria Math" panose="02040503050406030204" pitchFamily="18" charset="0"/>
                                  <a:ea typeface="微软雅黑" panose="020B0503020204020204" pitchFamily="34" charset="-122"/>
                                </a:rPr>
                                <m:t>𝑥</m:t>
                              </m:r>
                            </m:sup>
                          </m:sSup>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m:t>
                      </m:r>
                      <m:f>
                        <m:fPr>
                          <m:ctrlPr>
                            <a:rPr lang="en-US" altLang="zh-CN" sz="2000" b="0" i="1" smtClean="0">
                              <a:latin typeface="Cambria Math" panose="02040503050406030204" pitchFamily="18" charset="0"/>
                              <a:ea typeface="微软雅黑" panose="020B0503020204020204" pitchFamily="34" charset="-122"/>
                            </a:rPr>
                          </m:ctrlPr>
                        </m:fPr>
                        <m:num>
                          <m:r>
                            <a:rPr lang="en-US" altLang="zh-CN" sz="2000" b="0" i="1" smtClean="0">
                              <a:latin typeface="Cambria Math" panose="02040503050406030204" pitchFamily="18" charset="0"/>
                              <a:ea typeface="微软雅黑" panose="020B0503020204020204" pitchFamily="34" charset="-122"/>
                            </a:rPr>
                            <m:t>𝑖</m:t>
                          </m:r>
                        </m:num>
                        <m:den>
                          <m:r>
                            <a:rPr lang="en-US" altLang="zh-CN" sz="2000" b="0" i="1" smtClean="0">
                              <a:latin typeface="Cambria Math" panose="02040503050406030204" pitchFamily="18" charset="0"/>
                              <a:ea typeface="微软雅黑" panose="020B0503020204020204" pitchFamily="34" charset="-122"/>
                            </a:rPr>
                            <m:t>𝑛</m:t>
                          </m:r>
                        </m:den>
                      </m:f>
                      <m:sSup>
                        <m:sSupPr>
                          <m:ctrlPr>
                            <a:rPr lang="en-US" altLang="zh-CN" sz="2000" b="0" i="1" smtClean="0">
                              <a:latin typeface="Cambria Math" panose="02040503050406030204" pitchFamily="18" charset="0"/>
                              <a:ea typeface="微软雅黑" panose="020B0503020204020204" pitchFamily="34" charset="-122"/>
                            </a:rPr>
                          </m:ctrlPr>
                        </m:sSupPr>
                        <m:e>
                          <m:r>
                            <a:rPr lang="en-US" altLang="zh-CN" sz="2000" b="0" i="1" smtClean="0">
                              <a:latin typeface="Cambria Math" panose="02040503050406030204" pitchFamily="18" charset="0"/>
                              <a:ea typeface="微软雅黑" panose="020B0503020204020204" pitchFamily="34" charset="-122"/>
                            </a:rPr>
                            <m:t>𝑒</m:t>
                          </m:r>
                        </m:e>
                        <m:sup>
                          <m:r>
                            <a:rPr lang="en-US" altLang="zh-CN" sz="2000" b="0" i="1" smtClean="0">
                              <a:latin typeface="Cambria Math" panose="02040503050406030204" pitchFamily="18" charset="0"/>
                              <a:ea typeface="微软雅黑" panose="020B0503020204020204" pitchFamily="34" charset="-122"/>
                            </a:rPr>
                            <m:t>𝑖𝑛𝑥</m:t>
                          </m:r>
                        </m:sup>
                      </m:sSup>
                      <m:sSubSup>
                        <m:sSubSupPr>
                          <m:ctrlPr>
                            <a:rPr lang="en-US" altLang="zh-CN" sz="2000" b="0" i="1" smtClean="0">
                              <a:latin typeface="Cambria Math" panose="02040503050406030204" pitchFamily="18" charset="0"/>
                              <a:ea typeface="微软雅黑" panose="020B0503020204020204" pitchFamily="34" charset="-122"/>
                            </a:rPr>
                          </m:ctrlPr>
                        </m:sSubSupPr>
                        <m:e>
                          <m:d>
                            <m:dPr>
                              <m:begChr m:val=""/>
                              <m:endChr m:val="|"/>
                              <m:ctrlPr>
                                <a:rPr lang="en-US" altLang="zh-CN" sz="2000" b="0" i="1" smtClean="0">
                                  <a:latin typeface="Cambria Math" panose="02040503050406030204" pitchFamily="18" charset="0"/>
                                  <a:ea typeface="微软雅黑" panose="020B0503020204020204" pitchFamily="34" charset="-122"/>
                                </a:rPr>
                              </m:ctrlPr>
                            </m:dPr>
                            <m:e>
                              <m:r>
                                <a:rPr lang="zh-CN" altLang="en-US"/>
                                <m:t>​</m:t>
                              </m:r>
                            </m:e>
                          </m:d>
                        </m:e>
                        <m:sub>
                          <m:r>
                            <a:rPr lang="en-US" altLang="zh-CN" sz="2000" b="0" i="1" smtClean="0">
                              <a:latin typeface="Cambria Math" panose="02040503050406030204" pitchFamily="18" charset="0"/>
                              <a:ea typeface="微软雅黑" panose="020B0503020204020204" pitchFamily="34" charset="-122"/>
                            </a:rPr>
                            <m:t>0</m:t>
                          </m:r>
                        </m:sub>
                        <m:sup>
                          <m:r>
                            <a:rPr lang="en-US" altLang="zh-CN" sz="2000" b="0" i="1" smtClean="0">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𝜋</m:t>
                          </m:r>
                        </m:sup>
                      </m:sSubSup>
                      <m:r>
                        <a:rPr lang="en-US" altLang="zh-CN" sz="2000" b="0" i="1" smtClean="0">
                          <a:latin typeface="Cambria Math" panose="02040503050406030204" pitchFamily="18" charset="0"/>
                          <a:ea typeface="微软雅黑" panose="020B0503020204020204" pitchFamily="34" charset="-122"/>
                        </a:rPr>
                        <m:t>=0</m:t>
                      </m:r>
                    </m:oMath>
                  </m:oMathPara>
                </a14:m>
                <a:endParaRPr lang="en-US" altLang="zh-CN" sz="2000" dirty="0" smtClean="0">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sSup>
                            <m:sSupPr>
                              <m:ctrlPr>
                                <a:rPr lang="en-US" altLang="zh-CN" sz="2000" b="0" i="1" smtClean="0">
                                  <a:latin typeface="Cambria Math" panose="02040503050406030204" pitchFamily="18" charset="0"/>
                                  <a:ea typeface="微软雅黑" panose="020B0503020204020204" pitchFamily="34" charset="-122"/>
                                </a:rPr>
                              </m:ctrlPr>
                            </m:sSupPr>
                            <m:e>
                              <m:d>
                                <m:dPr>
                                  <m:ctrlPr>
                                    <a:rPr lang="en-US" altLang="zh-CN" sz="2000" b="0" i="1" smtClean="0">
                                      <a:latin typeface="Cambria Math" panose="02040503050406030204" pitchFamily="18" charset="0"/>
                                      <a:ea typeface="微软雅黑" panose="020B0503020204020204" pitchFamily="34" charset="-122"/>
                                    </a:rPr>
                                  </m:ctrlPr>
                                </m:dPr>
                                <m:e>
                                  <m:sSup>
                                    <m:sSupPr>
                                      <m:ctrlPr>
                                        <a:rPr lang="en-US" altLang="zh-CN" sz="2000" i="1">
                                          <a:latin typeface="Cambria Math" panose="02040503050406030204" pitchFamily="18" charset="0"/>
                                          <a:ea typeface="微软雅黑" panose="020B0503020204020204" pitchFamily="34" charset="-122"/>
                                        </a:rPr>
                                      </m:ctrlPr>
                                    </m:sSupPr>
                                    <m:e>
                                      <m:r>
                                        <a:rPr lang="en-US" altLang="zh-CN" sz="2000" i="1">
                                          <a:latin typeface="Cambria Math" panose="02040503050406030204" pitchFamily="18" charset="0"/>
                                          <a:ea typeface="微软雅黑" panose="020B0503020204020204" pitchFamily="34" charset="-122"/>
                                        </a:rPr>
                                        <m:t>𝑒</m:t>
                                      </m:r>
                                    </m:e>
                                    <m:sup>
                                      <m:r>
                                        <a:rPr lang="en-US" altLang="zh-CN" sz="2000" i="1">
                                          <a:latin typeface="Cambria Math" panose="02040503050406030204" pitchFamily="18" charset="0"/>
                                          <a:ea typeface="微软雅黑" panose="020B0503020204020204" pitchFamily="34" charset="-122"/>
                                        </a:rPr>
                                        <m:t>𝑖</m:t>
                                      </m:r>
                                      <m:r>
                                        <a:rPr lang="en-US" altLang="zh-CN" sz="2000" b="0" i="1" smtClean="0">
                                          <a:latin typeface="Cambria Math" panose="02040503050406030204" pitchFamily="18" charset="0"/>
                                          <a:ea typeface="微软雅黑" panose="020B0503020204020204" pitchFamily="34" charset="-122"/>
                                        </a:rPr>
                                        <m:t>𝑚</m:t>
                                      </m:r>
                                      <m:r>
                                        <a:rPr lang="en-US" altLang="zh-CN" sz="2000" i="1">
                                          <a:latin typeface="Cambria Math" panose="02040503050406030204" pitchFamily="18" charset="0"/>
                                          <a:ea typeface="微软雅黑" panose="020B0503020204020204" pitchFamily="34" charset="-122"/>
                                        </a:rPr>
                                        <m:t>𝑥</m:t>
                                      </m:r>
                                    </m:sup>
                                  </m:sSup>
                                </m:e>
                              </m:d>
                            </m:e>
                            <m:sup>
                              <m:r>
                                <a:rPr lang="en-US" altLang="zh-CN" sz="2000" b="0" i="1" smtClean="0">
                                  <a:latin typeface="Cambria Math" panose="02040503050406030204" pitchFamily="18" charset="0"/>
                                  <a:ea typeface="微软雅黑" panose="020B0503020204020204" pitchFamily="34" charset="-122"/>
                                </a:rPr>
                                <m:t>∗</m:t>
                              </m:r>
                            </m:sup>
                          </m:sSup>
                          <m:sSup>
                            <m:sSupPr>
                              <m:ctrlPr>
                                <a:rPr lang="en-US" altLang="zh-CN" sz="2000" b="0" i="1" smtClean="0">
                                  <a:latin typeface="Cambria Math" panose="02040503050406030204" pitchFamily="18" charset="0"/>
                                  <a:ea typeface="微软雅黑" panose="020B0503020204020204" pitchFamily="34" charset="-122"/>
                                </a:rPr>
                              </m:ctrlPr>
                            </m:sSupPr>
                            <m:e>
                              <m:r>
                                <a:rPr lang="en-US" altLang="zh-CN" sz="2000" b="0" i="1" smtClean="0">
                                  <a:latin typeface="Cambria Math" panose="02040503050406030204" pitchFamily="18" charset="0"/>
                                  <a:ea typeface="微软雅黑" panose="020B0503020204020204" pitchFamily="34" charset="-122"/>
                                </a:rPr>
                                <m:t>𝑒</m:t>
                              </m:r>
                            </m:e>
                            <m:sup>
                              <m:r>
                                <a:rPr lang="en-US" altLang="zh-CN" sz="2000" b="0" i="1" smtClean="0">
                                  <a:latin typeface="Cambria Math" panose="02040503050406030204" pitchFamily="18" charset="0"/>
                                  <a:ea typeface="微软雅黑" panose="020B0503020204020204" pitchFamily="34" charset="-122"/>
                                </a:rPr>
                                <m:t>𝑖𝑛𝑥</m:t>
                              </m:r>
                            </m:sup>
                          </m:sSup>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m:t>
                      </m:r>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sSup>
                            <m:sSupPr>
                              <m:ctrlPr>
                                <a:rPr lang="en-US" altLang="zh-CN" sz="2000" i="1">
                                  <a:latin typeface="Cambria Math" panose="02040503050406030204" pitchFamily="18" charset="0"/>
                                  <a:ea typeface="微软雅黑" panose="020B0503020204020204" pitchFamily="34" charset="-122"/>
                                </a:rPr>
                              </m:ctrlPr>
                            </m:sSupPr>
                            <m:e>
                              <m:r>
                                <a:rPr lang="en-US" altLang="zh-CN" sz="2000" i="1">
                                  <a:latin typeface="Cambria Math" panose="02040503050406030204" pitchFamily="18" charset="0"/>
                                  <a:ea typeface="微软雅黑" panose="020B0503020204020204" pitchFamily="34" charset="-122"/>
                                </a:rPr>
                                <m:t>𝑒</m:t>
                              </m:r>
                            </m:e>
                            <m:sup>
                              <m:r>
                                <a:rPr lang="en-US" altLang="zh-CN" sz="2000" i="1">
                                  <a:latin typeface="Cambria Math" panose="02040503050406030204" pitchFamily="18" charset="0"/>
                                  <a:ea typeface="微软雅黑" panose="020B0503020204020204" pitchFamily="34" charset="-122"/>
                                </a:rPr>
                                <m:t>𝑖</m:t>
                              </m:r>
                              <m:r>
                                <a:rPr lang="en-US" altLang="zh-CN" sz="2000" b="0" i="1" smtClean="0">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𝑛</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𝑚</m:t>
                              </m:r>
                              <m:r>
                                <a:rPr lang="en-US" altLang="zh-CN" sz="2000" b="0" i="1" smtClean="0">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𝑥</m:t>
                              </m:r>
                            </m:sup>
                          </m:sSup>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𝜋</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𝛿</m:t>
                          </m:r>
                        </m:e>
                        <m:sub>
                          <m:r>
                            <a:rPr lang="en-US" altLang="zh-CN" sz="2000" b="0" i="1" smtClean="0">
                              <a:latin typeface="Cambria Math" panose="02040503050406030204" pitchFamily="18" charset="0"/>
                              <a:ea typeface="微软雅黑" panose="020B0503020204020204" pitchFamily="34" charset="-122"/>
                            </a:rPr>
                            <m:t>𝑚𝑛</m:t>
                          </m:r>
                        </m:sub>
                      </m:sSub>
                    </m:oMath>
                  </m:oMathPara>
                </a14:m>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从而也可以作为一组周期为</a:t>
                </a:r>
                <a14:m>
                  <m:oMath xmlns:m="http://schemas.openxmlformats.org/officeDocument/2006/math">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oMath>
                </a14:m>
                <a:r>
                  <a:rPr lang="zh-CN" altLang="en-US" sz="2000" dirty="0" smtClean="0">
                    <a:latin typeface="微软雅黑" panose="020B0503020204020204" pitchFamily="34" charset="-122"/>
                    <a:ea typeface="微软雅黑" panose="020B0503020204020204" pitchFamily="34" charset="-122"/>
                  </a:rPr>
                  <a:t>的基函数将</a:t>
                </a:r>
                <a14:m>
                  <m:oMath xmlns:m="http://schemas.openxmlformats.org/officeDocument/2006/math">
                    <m:r>
                      <a:rPr lang="en-US" altLang="zh-CN" sz="2000" i="1">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oMath>
                </a14:m>
                <a:r>
                  <a:rPr lang="zh-CN" altLang="en-US" sz="2000" dirty="0" smtClean="0">
                    <a:latin typeface="微软雅黑" panose="020B0503020204020204" pitchFamily="34" charset="-122"/>
                    <a:ea typeface="微软雅黑" panose="020B0503020204020204" pitchFamily="34" charset="-122"/>
                  </a:rPr>
                  <a:t>展开：</a:t>
                </a:r>
                <a:endParaRPr lang="en-US" altLang="zh-CN" sz="2000" dirty="0" smtClean="0">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r>
                        <a:rPr lang="en-US" altLang="zh-CN" sz="2000" b="0" i="1" smtClean="0">
                          <a:latin typeface="Cambria Math" panose="02040503050406030204" pitchFamily="18" charset="0"/>
                          <a:ea typeface="微软雅黑" panose="020B0503020204020204" pitchFamily="34" charset="-122"/>
                        </a:rPr>
                        <m:t>=</m:t>
                      </m:r>
                      <m:nary>
                        <m:naryPr>
                          <m:chr m:val="∑"/>
                          <m:ctrlPr>
                            <a:rPr lang="en-US" altLang="zh-CN" sz="2000" b="0" i="1" smtClean="0">
                              <a:latin typeface="Cambria Math" panose="02040503050406030204" pitchFamily="18" charset="0"/>
                              <a:ea typeface="微软雅黑" panose="020B0503020204020204" pitchFamily="34" charset="-122"/>
                            </a:rPr>
                          </m:ctrlPr>
                        </m:naryPr>
                        <m:sub>
                          <m:r>
                            <a:rPr lang="en-US" altLang="zh-CN" sz="2000" b="0" i="1" smtClean="0">
                              <a:latin typeface="Cambria Math" panose="02040503050406030204" pitchFamily="18" charset="0"/>
                              <a:ea typeface="微软雅黑" panose="020B0503020204020204" pitchFamily="34" charset="-122"/>
                            </a:rPr>
                            <m:t>𝑛</m:t>
                          </m:r>
                          <m:r>
                            <a:rPr lang="en-US" altLang="zh-CN" sz="2000" b="0" i="1" smtClean="0">
                              <a:latin typeface="Cambria Math" panose="02040503050406030204" pitchFamily="18" charset="0"/>
                              <a:ea typeface="微软雅黑" panose="020B0503020204020204" pitchFamily="34" charset="-122"/>
                            </a:rPr>
                            <m:t>=−∞</m:t>
                          </m:r>
                        </m:sub>
                        <m:sup>
                          <m:r>
                            <a:rPr lang="en-US" altLang="zh-CN" sz="2000" b="0" i="1" smtClean="0">
                              <a:latin typeface="Cambria Math" panose="02040503050406030204" pitchFamily="18" charset="0"/>
                              <a:ea typeface="微软雅黑" panose="020B0503020204020204" pitchFamily="34" charset="-122"/>
                            </a:rPr>
                            <m:t>∞</m:t>
                          </m:r>
                        </m:sup>
                        <m:e>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𝑎</m:t>
                              </m:r>
                            </m:e>
                            <m:sub>
                              <m:r>
                                <a:rPr lang="en-US" altLang="zh-CN" sz="2000" b="0" i="1" smtClean="0">
                                  <a:latin typeface="Cambria Math" panose="02040503050406030204" pitchFamily="18" charset="0"/>
                                  <a:ea typeface="微软雅黑" panose="020B0503020204020204" pitchFamily="34" charset="-122"/>
                                </a:rPr>
                                <m:t>𝑛</m:t>
                              </m:r>
                            </m:sub>
                          </m:sSub>
                          <m:sSup>
                            <m:sSupPr>
                              <m:ctrlPr>
                                <a:rPr lang="en-US" altLang="zh-CN" sz="2000" b="0" i="1" smtClean="0">
                                  <a:latin typeface="Cambria Math" panose="02040503050406030204" pitchFamily="18" charset="0"/>
                                  <a:ea typeface="微软雅黑" panose="020B0503020204020204" pitchFamily="34" charset="-122"/>
                                </a:rPr>
                              </m:ctrlPr>
                            </m:sSupPr>
                            <m:e>
                              <m:r>
                                <a:rPr lang="en-US" altLang="zh-CN" sz="2000" b="0" i="1" smtClean="0">
                                  <a:latin typeface="Cambria Math" panose="02040503050406030204" pitchFamily="18" charset="0"/>
                                  <a:ea typeface="微软雅黑" panose="020B0503020204020204" pitchFamily="34" charset="-122"/>
                                </a:rPr>
                                <m:t>𝑒</m:t>
                              </m:r>
                            </m:e>
                            <m:sup>
                              <m:r>
                                <a:rPr lang="en-US" altLang="zh-CN" sz="2000" b="0" i="1" smtClean="0">
                                  <a:latin typeface="Cambria Math" panose="02040503050406030204" pitchFamily="18" charset="0"/>
                                  <a:ea typeface="微软雅黑" panose="020B0503020204020204" pitchFamily="34" charset="-122"/>
                                </a:rPr>
                                <m:t>𝑖𝑛𝑥</m:t>
                              </m:r>
                            </m:sup>
                          </m:sSup>
                        </m:e>
                      </m:nary>
                    </m:oMath>
                  </m:oMathPara>
                </a14:m>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展开系数</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𝑎</m:t>
                        </m:r>
                      </m:e>
                      <m:sub>
                        <m:r>
                          <a:rPr lang="en-US" altLang="zh-CN" sz="2000" i="1">
                            <a:latin typeface="Cambria Math" panose="02040503050406030204" pitchFamily="18" charset="0"/>
                            <a:ea typeface="微软雅黑" panose="020B0503020204020204" pitchFamily="34" charset="-122"/>
                          </a:rPr>
                          <m:t>𝑛</m:t>
                        </m:r>
                      </m:sub>
                    </m:sSub>
                  </m:oMath>
                </a14:m>
                <a:r>
                  <a:rPr lang="zh-CN" altLang="en-US" sz="2000" dirty="0" smtClean="0">
                    <a:latin typeface="微软雅黑" panose="020B0503020204020204" pitchFamily="34" charset="-122"/>
                    <a:ea typeface="微软雅黑" panose="020B0503020204020204" pitchFamily="34" charset="-122"/>
                  </a:rPr>
                  <a:t>为</a:t>
                </a:r>
                <a:endParaRPr lang="en-US" altLang="zh-CN" sz="2000" dirty="0" smtClean="0">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𝑎</m:t>
                          </m:r>
                        </m:e>
                        <m:sub>
                          <m:r>
                            <a:rPr lang="en-US" altLang="zh-CN" sz="2000" b="0" i="1" smtClean="0">
                              <a:latin typeface="Cambria Math" panose="02040503050406030204" pitchFamily="18" charset="0"/>
                              <a:ea typeface="微软雅黑" panose="020B0503020204020204" pitchFamily="34" charset="-122"/>
                            </a:rPr>
                            <m:t>𝑛</m:t>
                          </m:r>
                        </m:sub>
                      </m:sSub>
                      <m:r>
                        <a:rPr lang="en-US" altLang="zh-CN" sz="2000" b="0" i="1" smtClean="0">
                          <a:latin typeface="Cambria Math" panose="02040503050406030204" pitchFamily="18" charset="0"/>
                          <a:ea typeface="微软雅黑" panose="020B0503020204020204" pitchFamily="34" charset="-122"/>
                        </a:rPr>
                        <m:t>=</m:t>
                      </m:r>
                      <m:f>
                        <m:fPr>
                          <m:ctrlPr>
                            <a:rPr lang="en-US" altLang="zh-CN" sz="2000" b="0" i="1" smtClean="0">
                              <a:latin typeface="Cambria Math" panose="02040503050406030204" pitchFamily="18" charset="0"/>
                              <a:ea typeface="微软雅黑" panose="020B0503020204020204" pitchFamily="34" charset="-122"/>
                            </a:rPr>
                          </m:ctrlPr>
                        </m:fPr>
                        <m:num>
                          <m:r>
                            <a:rPr lang="en-US" altLang="zh-CN" sz="2000" b="0" i="1" smtClean="0">
                              <a:latin typeface="Cambria Math" panose="02040503050406030204" pitchFamily="18" charset="0"/>
                              <a:ea typeface="微软雅黑" panose="020B0503020204020204" pitchFamily="34" charset="-122"/>
                            </a:rPr>
                            <m:t>1</m:t>
                          </m:r>
                        </m:num>
                        <m:den>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den>
                      </m:f>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r>
                            <a:rPr lang="en-US" altLang="zh-CN" sz="2000" b="0" i="1" smtClean="0">
                              <a:latin typeface="Cambria Math" panose="02040503050406030204" pitchFamily="18" charset="0"/>
                              <a:ea typeface="微软雅黑" panose="020B0503020204020204" pitchFamily="34" charset="-122"/>
                            </a:rPr>
                            <m:t>𝑓</m:t>
                          </m:r>
                          <m:d>
                            <m:dPr>
                              <m:ctrlPr>
                                <a:rPr lang="en-US" altLang="zh-CN" sz="2000" b="0" i="1" smtClean="0">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𝑥</m:t>
                              </m:r>
                            </m:e>
                          </m:d>
                          <m:sSup>
                            <m:sSupPr>
                              <m:ctrlPr>
                                <a:rPr lang="en-US" altLang="zh-CN" sz="2000" b="0" i="1" smtClean="0">
                                  <a:latin typeface="Cambria Math" panose="02040503050406030204" pitchFamily="18" charset="0"/>
                                  <a:ea typeface="微软雅黑" panose="020B0503020204020204" pitchFamily="34" charset="-122"/>
                                </a:rPr>
                              </m:ctrlPr>
                            </m:sSupPr>
                            <m:e>
                              <m:d>
                                <m:dPr>
                                  <m:ctrlPr>
                                    <a:rPr lang="en-US" altLang="zh-CN" sz="2000" b="0" i="1" smtClean="0">
                                      <a:latin typeface="Cambria Math" panose="02040503050406030204" pitchFamily="18" charset="0"/>
                                      <a:ea typeface="微软雅黑" panose="020B0503020204020204" pitchFamily="34" charset="-122"/>
                                    </a:rPr>
                                  </m:ctrlPr>
                                </m:dPr>
                                <m:e>
                                  <m:sSup>
                                    <m:sSupPr>
                                      <m:ctrlPr>
                                        <a:rPr lang="en-US" altLang="zh-CN" sz="2000" i="1">
                                          <a:latin typeface="Cambria Math" panose="02040503050406030204" pitchFamily="18" charset="0"/>
                                          <a:ea typeface="微软雅黑" panose="020B0503020204020204" pitchFamily="34" charset="-122"/>
                                        </a:rPr>
                                      </m:ctrlPr>
                                    </m:sSupPr>
                                    <m:e>
                                      <m:r>
                                        <a:rPr lang="en-US" altLang="zh-CN" sz="2000" i="1">
                                          <a:latin typeface="Cambria Math" panose="02040503050406030204" pitchFamily="18" charset="0"/>
                                          <a:ea typeface="微软雅黑" panose="020B0503020204020204" pitchFamily="34" charset="-122"/>
                                        </a:rPr>
                                        <m:t>𝑒</m:t>
                                      </m:r>
                                    </m:e>
                                    <m:sup>
                                      <m:r>
                                        <a:rPr lang="en-US" altLang="zh-CN" sz="2000" i="1">
                                          <a:latin typeface="Cambria Math" panose="02040503050406030204" pitchFamily="18" charset="0"/>
                                          <a:ea typeface="微软雅黑" panose="020B0503020204020204" pitchFamily="34" charset="-122"/>
                                        </a:rPr>
                                        <m:t>𝑖</m:t>
                                      </m:r>
                                      <m:r>
                                        <a:rPr lang="en-US" altLang="zh-CN" sz="2000" i="1">
                                          <a:latin typeface="Cambria Math" panose="02040503050406030204" pitchFamily="18" charset="0"/>
                                          <a:ea typeface="微软雅黑" panose="020B0503020204020204" pitchFamily="34" charset="-122"/>
                                        </a:rPr>
                                        <m:t>𝑛</m:t>
                                      </m:r>
                                      <m:r>
                                        <a:rPr lang="en-US" altLang="zh-CN" sz="2000" i="1">
                                          <a:latin typeface="Cambria Math" panose="02040503050406030204" pitchFamily="18" charset="0"/>
                                          <a:ea typeface="微软雅黑" panose="020B0503020204020204" pitchFamily="34" charset="-122"/>
                                        </a:rPr>
                                        <m:t>𝑥</m:t>
                                      </m:r>
                                    </m:sup>
                                  </m:sSup>
                                </m:e>
                              </m:d>
                            </m:e>
                            <m:sup>
                              <m:r>
                                <a:rPr lang="en-US" altLang="zh-CN" sz="2000" b="0" i="1" smtClean="0">
                                  <a:latin typeface="Cambria Math" panose="02040503050406030204" pitchFamily="18" charset="0"/>
                                  <a:ea typeface="微软雅黑" panose="020B0503020204020204" pitchFamily="34" charset="-122"/>
                                </a:rPr>
                                <m:t>∗</m:t>
                              </m:r>
                            </m:sup>
                          </m:sSup>
                        </m:e>
                      </m:nary>
                      <m:r>
                        <m:rPr>
                          <m:sty m:val="p"/>
                        </m:rPr>
                        <a:rPr lang="en-US" altLang="zh-CN" sz="2000" b="0" i="0" smtClean="0">
                          <a:latin typeface="Cambria Math" panose="02040503050406030204" pitchFamily="18" charset="0"/>
                          <a:ea typeface="微软雅黑" panose="020B0503020204020204" pitchFamily="34" charset="-122"/>
                        </a:rPr>
                        <m:t>d</m:t>
                      </m:r>
                      <m:r>
                        <a:rPr lang="en-US" altLang="zh-CN" sz="2000" b="0" i="1" smtClean="0">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m:t>
                      </m:r>
                      <m:f>
                        <m:fPr>
                          <m:ctrlPr>
                            <a:rPr lang="en-US" altLang="zh-CN" sz="2000" i="1">
                              <a:latin typeface="Cambria Math" panose="02040503050406030204" pitchFamily="18" charset="0"/>
                              <a:ea typeface="微软雅黑" panose="020B0503020204020204" pitchFamily="34" charset="-122"/>
                            </a:rPr>
                          </m:ctrlPr>
                        </m:fPr>
                        <m:num>
                          <m:r>
                            <a:rPr lang="en-US" altLang="zh-CN" sz="2000" i="1">
                              <a:latin typeface="Cambria Math" panose="02040503050406030204" pitchFamily="18" charset="0"/>
                              <a:ea typeface="微软雅黑" panose="020B0503020204020204" pitchFamily="34" charset="-122"/>
                            </a:rPr>
                            <m:t>1</m:t>
                          </m:r>
                        </m:num>
                        <m:den>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den>
                      </m:f>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r>
                            <a:rPr lang="en-US" altLang="zh-CN" sz="2000" i="1">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sSup>
                            <m:sSupPr>
                              <m:ctrlPr>
                                <a:rPr lang="en-US" altLang="zh-CN" sz="2000" b="0" i="1" smtClean="0">
                                  <a:latin typeface="Cambria Math" panose="02040503050406030204" pitchFamily="18" charset="0"/>
                                  <a:ea typeface="微软雅黑" panose="020B0503020204020204" pitchFamily="34" charset="-122"/>
                                </a:rPr>
                              </m:ctrlPr>
                            </m:sSupPr>
                            <m:e>
                              <m:r>
                                <a:rPr lang="en-US" altLang="zh-CN" sz="2000" b="0" i="1" smtClean="0">
                                  <a:latin typeface="Cambria Math" panose="02040503050406030204" pitchFamily="18" charset="0"/>
                                  <a:ea typeface="微软雅黑" panose="020B0503020204020204" pitchFamily="34" charset="-122"/>
                                </a:rPr>
                                <m:t>𝑒</m:t>
                              </m:r>
                            </m:e>
                            <m:sup>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𝑖𝑛𝑥</m:t>
                              </m:r>
                            </m:sup>
                          </m:sSup>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oMath>
                  </m:oMathPara>
                </a14:m>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同理，周期变为</a:t>
                </a:r>
                <a14:m>
                  <m:oMath xmlns:m="http://schemas.openxmlformats.org/officeDocument/2006/math">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𝐿</m:t>
                    </m:r>
                  </m:oMath>
                </a14:m>
                <a:r>
                  <a:rPr lang="zh-CN" altLang="en-US" sz="2000" dirty="0" smtClean="0">
                    <a:latin typeface="微软雅黑" panose="020B0503020204020204" pitchFamily="34" charset="-122"/>
                    <a:ea typeface="微软雅黑" panose="020B0503020204020204" pitchFamily="34" charset="-122"/>
                  </a:rPr>
                  <a:t>时，基函数变为</a:t>
                </a:r>
                <a14:m>
                  <m:oMath xmlns:m="http://schemas.openxmlformats.org/officeDocument/2006/math">
                    <m:r>
                      <a:rPr lang="en-US" altLang="zh-CN" sz="2000" i="1">
                        <a:latin typeface="Cambria Math" panose="02040503050406030204" pitchFamily="18" charset="0"/>
                        <a:ea typeface="微软雅黑" panose="020B0503020204020204" pitchFamily="34" charset="-122"/>
                      </a:rPr>
                      <m:t>1, </m:t>
                    </m:r>
                    <m:sSup>
                      <m:sSupPr>
                        <m:ctrlPr>
                          <a:rPr lang="en-US" altLang="zh-CN" sz="2000" i="1">
                            <a:latin typeface="Cambria Math" panose="02040503050406030204" pitchFamily="18" charset="0"/>
                            <a:ea typeface="微软雅黑" panose="020B0503020204020204" pitchFamily="34" charset="-122"/>
                          </a:rPr>
                        </m:ctrlPr>
                      </m:sSupPr>
                      <m:e>
                        <m:r>
                          <a:rPr lang="en-US" altLang="zh-CN" sz="2000" i="1">
                            <a:latin typeface="Cambria Math" panose="02040503050406030204" pitchFamily="18" charset="0"/>
                            <a:ea typeface="微软雅黑" panose="020B0503020204020204" pitchFamily="34" charset="-122"/>
                          </a:rPr>
                          <m:t>𝑒</m:t>
                        </m:r>
                      </m:e>
                      <m:sup>
                        <m:r>
                          <a:rPr lang="en-US" altLang="zh-CN" sz="2000" i="1">
                            <a:latin typeface="Cambria Math" panose="02040503050406030204" pitchFamily="18" charset="0"/>
                            <a:ea typeface="微软雅黑" panose="020B0503020204020204" pitchFamily="34" charset="-122"/>
                          </a:rPr>
                          <m:t>𝑖</m:t>
                        </m:r>
                        <m:f>
                          <m:fPr>
                            <m:ctrlPr>
                              <a:rPr lang="en-US" altLang="zh-CN" sz="2000" b="0" i="1" smtClean="0">
                                <a:latin typeface="Cambria Math" panose="02040503050406030204" pitchFamily="18" charset="0"/>
                                <a:ea typeface="微软雅黑" panose="020B0503020204020204" pitchFamily="34" charset="-122"/>
                              </a:rPr>
                            </m:ctrlPr>
                          </m:fPr>
                          <m:num>
                            <m:r>
                              <a:rPr lang="en-US" altLang="zh-CN" sz="2000" b="0" i="1" smtClean="0">
                                <a:latin typeface="Cambria Math" panose="02040503050406030204" pitchFamily="18" charset="0"/>
                                <a:ea typeface="微软雅黑" panose="020B0503020204020204" pitchFamily="34" charset="-122"/>
                              </a:rPr>
                              <m:t>𝜋</m:t>
                            </m:r>
                            <m:r>
                              <a:rPr lang="en-US" altLang="zh-CN" sz="2000" i="1">
                                <a:latin typeface="Cambria Math" panose="02040503050406030204" pitchFamily="18" charset="0"/>
                                <a:ea typeface="微软雅黑" panose="020B0503020204020204" pitchFamily="34" charset="-122"/>
                              </a:rPr>
                              <m:t>𝑥</m:t>
                            </m:r>
                          </m:num>
                          <m:den>
                            <m:r>
                              <a:rPr lang="en-US" altLang="zh-CN" sz="2000" b="0" i="1" smtClean="0">
                                <a:latin typeface="Cambria Math" panose="02040503050406030204" pitchFamily="18" charset="0"/>
                                <a:ea typeface="微软雅黑" panose="020B0503020204020204" pitchFamily="34" charset="-122"/>
                              </a:rPr>
                              <m:t>𝐿</m:t>
                            </m:r>
                          </m:den>
                        </m:f>
                      </m:sup>
                    </m:sSup>
                    <m:r>
                      <a:rPr lang="en-US" altLang="zh-CN" sz="2000" i="1">
                        <a:latin typeface="Cambria Math" panose="02040503050406030204" pitchFamily="18" charset="0"/>
                        <a:ea typeface="微软雅黑" panose="020B0503020204020204" pitchFamily="34" charset="-122"/>
                      </a:rPr>
                      <m:t>, </m:t>
                    </m:r>
                    <m:sSup>
                      <m:sSupPr>
                        <m:ctrlPr>
                          <a:rPr lang="en-US" altLang="zh-CN" sz="2000" i="1">
                            <a:latin typeface="Cambria Math" panose="02040503050406030204" pitchFamily="18" charset="0"/>
                            <a:ea typeface="微软雅黑" panose="020B0503020204020204" pitchFamily="34" charset="-122"/>
                          </a:rPr>
                        </m:ctrlPr>
                      </m:sSupPr>
                      <m:e>
                        <m:r>
                          <a:rPr lang="en-US" altLang="zh-CN" sz="2000" i="1">
                            <a:latin typeface="Cambria Math" panose="02040503050406030204" pitchFamily="18" charset="0"/>
                            <a:ea typeface="微软雅黑" panose="020B0503020204020204" pitchFamily="34" charset="-122"/>
                          </a:rPr>
                          <m:t>𝑒</m:t>
                        </m:r>
                      </m:e>
                      <m:sup>
                        <m:r>
                          <a:rPr lang="en-US" altLang="zh-CN" sz="2000" i="1">
                            <a:latin typeface="Cambria Math" panose="02040503050406030204" pitchFamily="18" charset="0"/>
                            <a:ea typeface="微软雅黑" panose="020B0503020204020204" pitchFamily="34" charset="-122"/>
                          </a:rPr>
                          <m:t>𝑖</m:t>
                        </m:r>
                        <m:f>
                          <m:fPr>
                            <m:ctrlPr>
                              <a:rPr lang="en-US" altLang="zh-CN" sz="2000" b="0" i="1" smtClean="0">
                                <a:latin typeface="Cambria Math" panose="02040503050406030204" pitchFamily="18" charset="0"/>
                                <a:ea typeface="微软雅黑" panose="020B0503020204020204" pitchFamily="34" charset="-122"/>
                              </a:rPr>
                            </m:ctrlPr>
                          </m:fPr>
                          <m:num>
                            <m:r>
                              <a:rPr lang="en-US" altLang="zh-CN" sz="2000" i="1">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𝜋</m:t>
                            </m:r>
                            <m:r>
                              <a:rPr lang="en-US" altLang="zh-CN" sz="2000" i="1">
                                <a:latin typeface="Cambria Math" panose="02040503050406030204" pitchFamily="18" charset="0"/>
                                <a:ea typeface="微软雅黑" panose="020B0503020204020204" pitchFamily="34" charset="-122"/>
                              </a:rPr>
                              <m:t>𝑥</m:t>
                            </m:r>
                          </m:num>
                          <m:den>
                            <m:r>
                              <a:rPr lang="en-US" altLang="zh-CN" sz="2000" b="0" i="1" smtClean="0">
                                <a:latin typeface="Cambria Math" panose="02040503050406030204" pitchFamily="18" charset="0"/>
                                <a:ea typeface="微软雅黑" panose="020B0503020204020204" pitchFamily="34" charset="-122"/>
                              </a:rPr>
                              <m:t>𝐿</m:t>
                            </m:r>
                          </m:den>
                        </m:f>
                      </m:sup>
                    </m:sSup>
                    <m:r>
                      <a:rPr lang="en-US" altLang="zh-CN" sz="2000" i="1">
                        <a:latin typeface="Cambria Math" panose="02040503050406030204" pitchFamily="18" charset="0"/>
                        <a:ea typeface="微软雅黑" panose="020B0503020204020204" pitchFamily="34" charset="-122"/>
                      </a:rPr>
                      <m:t>, …,</m:t>
                    </m:r>
                    <m:sSup>
                      <m:sSupPr>
                        <m:ctrlPr>
                          <a:rPr lang="en-US" altLang="zh-CN" sz="2000" i="1">
                            <a:latin typeface="Cambria Math" panose="02040503050406030204" pitchFamily="18" charset="0"/>
                            <a:ea typeface="微软雅黑" panose="020B0503020204020204" pitchFamily="34" charset="-122"/>
                          </a:rPr>
                        </m:ctrlPr>
                      </m:sSupPr>
                      <m:e>
                        <m:r>
                          <a:rPr lang="en-US" altLang="zh-CN" sz="2000" i="1">
                            <a:latin typeface="Cambria Math" panose="02040503050406030204" pitchFamily="18" charset="0"/>
                            <a:ea typeface="微软雅黑" panose="020B0503020204020204" pitchFamily="34" charset="-122"/>
                          </a:rPr>
                          <m:t>𝑒</m:t>
                        </m:r>
                      </m:e>
                      <m:sup>
                        <m:r>
                          <a:rPr lang="en-US" altLang="zh-CN" sz="2000" i="1">
                            <a:latin typeface="Cambria Math" panose="02040503050406030204" pitchFamily="18" charset="0"/>
                            <a:ea typeface="微软雅黑" panose="020B0503020204020204" pitchFamily="34" charset="-122"/>
                          </a:rPr>
                          <m:t>𝑖</m:t>
                        </m:r>
                        <m:f>
                          <m:fPr>
                            <m:ctrlPr>
                              <a:rPr lang="en-US" altLang="zh-CN" sz="2000" b="0" i="1" smtClean="0">
                                <a:latin typeface="Cambria Math" panose="02040503050406030204" pitchFamily="18" charset="0"/>
                                <a:ea typeface="微软雅黑" panose="020B0503020204020204" pitchFamily="34" charset="-122"/>
                              </a:rPr>
                            </m:ctrlPr>
                          </m:fPr>
                          <m:num>
                            <m:r>
                              <a:rPr lang="en-US" altLang="zh-CN" sz="2000" i="1">
                                <a:latin typeface="Cambria Math" panose="02040503050406030204" pitchFamily="18" charset="0"/>
                                <a:ea typeface="微软雅黑" panose="020B0503020204020204" pitchFamily="34" charset="-122"/>
                              </a:rPr>
                              <m:t>𝑛</m:t>
                            </m:r>
                            <m:r>
                              <a:rPr lang="en-US" altLang="zh-CN" sz="2000" b="0" i="1" smtClean="0">
                                <a:latin typeface="Cambria Math" panose="02040503050406030204" pitchFamily="18" charset="0"/>
                                <a:ea typeface="微软雅黑" panose="020B0503020204020204" pitchFamily="34" charset="-122"/>
                              </a:rPr>
                              <m:t>𝜋</m:t>
                            </m:r>
                            <m:r>
                              <a:rPr lang="en-US" altLang="zh-CN" sz="2000" i="1">
                                <a:latin typeface="Cambria Math" panose="02040503050406030204" pitchFamily="18" charset="0"/>
                                <a:ea typeface="微软雅黑" panose="020B0503020204020204" pitchFamily="34" charset="-122"/>
                              </a:rPr>
                              <m:t>𝑥</m:t>
                            </m:r>
                          </m:num>
                          <m:den>
                            <m:r>
                              <a:rPr lang="en-US" altLang="zh-CN" sz="2000" b="0" i="1" smtClean="0">
                                <a:latin typeface="Cambria Math" panose="02040503050406030204" pitchFamily="18" charset="0"/>
                                <a:ea typeface="微软雅黑" panose="020B0503020204020204" pitchFamily="34" charset="-122"/>
                              </a:rPr>
                              <m:t>𝐿</m:t>
                            </m:r>
                          </m:den>
                        </m:f>
                      </m:sup>
                    </m:sSup>
                    <m:r>
                      <a:rPr lang="en-US" altLang="zh-CN" sz="2000" i="1">
                        <a:latin typeface="Cambria Math" panose="02040503050406030204" pitchFamily="18" charset="0"/>
                        <a:ea typeface="微软雅黑" panose="020B0503020204020204" pitchFamily="34" charset="-122"/>
                      </a:rPr>
                      <m:t>,…</m:t>
                    </m:r>
                  </m:oMath>
                </a14:m>
                <a:r>
                  <a:rPr lang="zh-CN" altLang="en-US" sz="2000" dirty="0" smtClean="0">
                    <a:latin typeface="微软雅黑" panose="020B0503020204020204" pitchFamily="34" charset="-122"/>
                    <a:ea typeface="微软雅黑" panose="020B0503020204020204" pitchFamily="34" charset="-122"/>
                  </a:rPr>
                  <a:t>，展开系数为</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𝑎</m:t>
                        </m:r>
                      </m:e>
                      <m:sub>
                        <m:r>
                          <a:rPr lang="en-US" altLang="zh-CN" sz="2000" i="1">
                            <a:latin typeface="Cambria Math" panose="02040503050406030204" pitchFamily="18" charset="0"/>
                            <a:ea typeface="微软雅黑" panose="020B0503020204020204" pitchFamily="34" charset="-122"/>
                          </a:rPr>
                          <m:t>𝑛</m:t>
                        </m:r>
                      </m:sub>
                    </m:sSub>
                    <m:r>
                      <a:rPr lang="en-US" altLang="zh-CN" sz="2000" b="0" i="1" smtClean="0">
                        <a:latin typeface="Cambria Math" panose="02040503050406030204" pitchFamily="18" charset="0"/>
                        <a:ea typeface="微软雅黑" panose="020B0503020204020204" pitchFamily="34" charset="-122"/>
                      </a:rPr>
                      <m:t>=</m:t>
                    </m:r>
                    <m:f>
                      <m:fPr>
                        <m:ctrlPr>
                          <a:rPr lang="en-US" altLang="zh-CN" sz="2000" i="1">
                            <a:latin typeface="Cambria Math" panose="02040503050406030204" pitchFamily="18" charset="0"/>
                            <a:ea typeface="微软雅黑" panose="020B0503020204020204" pitchFamily="34" charset="-122"/>
                          </a:rPr>
                        </m:ctrlPr>
                      </m:fPr>
                      <m:num>
                        <m:r>
                          <a:rPr lang="en-US" altLang="zh-CN" sz="2000" i="1">
                            <a:latin typeface="Cambria Math" panose="02040503050406030204" pitchFamily="18" charset="0"/>
                            <a:ea typeface="微软雅黑" panose="020B0503020204020204" pitchFamily="34" charset="-122"/>
                          </a:rPr>
                          <m:t>1</m:t>
                        </m:r>
                      </m:num>
                      <m:den>
                        <m:r>
                          <a:rPr lang="en-US" altLang="zh-CN" sz="2000" i="1">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𝐿</m:t>
                        </m:r>
                      </m:den>
                    </m:f>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b="0" i="1" smtClean="0">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𝐿</m:t>
                        </m:r>
                      </m:sup>
                      <m:e>
                        <m:r>
                          <a:rPr lang="en-US" altLang="zh-CN" sz="2000" i="1">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sSup>
                          <m:sSupPr>
                            <m:ctrlPr>
                              <a:rPr lang="en-US" altLang="zh-CN" sz="2000" i="1">
                                <a:latin typeface="Cambria Math" panose="02040503050406030204" pitchFamily="18" charset="0"/>
                                <a:ea typeface="微软雅黑" panose="020B0503020204020204" pitchFamily="34" charset="-122"/>
                              </a:rPr>
                            </m:ctrlPr>
                          </m:sSupPr>
                          <m:e>
                            <m:r>
                              <a:rPr lang="en-US" altLang="zh-CN" sz="2000" i="1">
                                <a:latin typeface="Cambria Math" panose="02040503050406030204" pitchFamily="18" charset="0"/>
                                <a:ea typeface="微软雅黑" panose="020B0503020204020204" pitchFamily="34" charset="-122"/>
                              </a:rPr>
                              <m:t>𝑒</m:t>
                            </m:r>
                          </m:e>
                          <m:sup>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𝑖</m:t>
                            </m:r>
                            <m:f>
                              <m:fPr>
                                <m:ctrlPr>
                                  <a:rPr lang="en-US" altLang="zh-CN" sz="2000" b="0" i="1" smtClean="0">
                                    <a:latin typeface="Cambria Math" panose="02040503050406030204" pitchFamily="18" charset="0"/>
                                    <a:ea typeface="微软雅黑" panose="020B0503020204020204" pitchFamily="34" charset="-122"/>
                                  </a:rPr>
                                </m:ctrlPr>
                              </m:fPr>
                              <m:num>
                                <m:r>
                                  <a:rPr lang="en-US" altLang="zh-CN" sz="2000" i="1">
                                    <a:latin typeface="Cambria Math" panose="02040503050406030204" pitchFamily="18" charset="0"/>
                                    <a:ea typeface="微软雅黑" panose="020B0503020204020204" pitchFamily="34" charset="-122"/>
                                  </a:rPr>
                                  <m:t>𝑛</m:t>
                                </m:r>
                                <m:r>
                                  <a:rPr lang="en-US" altLang="zh-CN" sz="2000" b="0" i="1" smtClean="0">
                                    <a:latin typeface="Cambria Math" panose="02040503050406030204" pitchFamily="18" charset="0"/>
                                    <a:ea typeface="微软雅黑" panose="020B0503020204020204" pitchFamily="34" charset="-122"/>
                                  </a:rPr>
                                  <m:t>𝜋</m:t>
                                </m:r>
                                <m:r>
                                  <a:rPr lang="en-US" altLang="zh-CN" sz="2000" i="1">
                                    <a:latin typeface="Cambria Math" panose="02040503050406030204" pitchFamily="18" charset="0"/>
                                    <a:ea typeface="微软雅黑" panose="020B0503020204020204" pitchFamily="34" charset="-122"/>
                                  </a:rPr>
                                  <m:t>𝑥</m:t>
                                </m:r>
                              </m:num>
                              <m:den>
                                <m:r>
                                  <a:rPr lang="en-US" altLang="zh-CN" sz="2000" b="0" i="1" smtClean="0">
                                    <a:latin typeface="Cambria Math" panose="02040503050406030204" pitchFamily="18" charset="0"/>
                                    <a:ea typeface="微软雅黑" panose="020B0503020204020204" pitchFamily="34" charset="-122"/>
                                  </a:rPr>
                                  <m:t>𝐿</m:t>
                                </m:r>
                              </m:den>
                            </m:f>
                          </m:sup>
                        </m:sSup>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oMath>
                </a14:m>
                <a:endParaRPr lang="en-US" altLang="zh-CN" sz="2000" dirty="0">
                  <a:latin typeface="微软雅黑" panose="020B0503020204020204" pitchFamily="34" charset="-122"/>
                  <a:ea typeface="微软雅黑" panose="020B0503020204020204" pitchFamily="34"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418147" y="777875"/>
                <a:ext cx="11173778" cy="5985100"/>
              </a:xfrm>
              <a:prstGeom prst="rect">
                <a:avLst/>
              </a:prstGeom>
              <a:blipFill rotWithShape="0">
                <a:blip r:embed="rId5"/>
                <a:stretch>
                  <a:fillRect l="-600" t="-6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06827502"/>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Fourier transformation</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265746" y="1235075"/>
                <a:ext cx="11478999" cy="4913012"/>
              </a:xfrm>
              <a:prstGeom prst="rect">
                <a:avLst/>
              </a:prstGeom>
              <a:noFill/>
            </p:spPr>
            <p:txBody>
              <a:bodyPr wrap="square" rtlCol="0">
                <a:spAutoFit/>
              </a:bodyPr>
              <a:lstStyle/>
              <a:p>
                <a:r>
                  <a:rPr lang="zh-CN" altLang="en-US" sz="2000" dirty="0" smtClean="0">
                    <a:latin typeface="微软雅黑" panose="020B0503020204020204" pitchFamily="34" charset="-122"/>
                    <a:ea typeface="微软雅黑" panose="020B0503020204020204" pitchFamily="34" charset="-122"/>
                  </a:rPr>
                  <a:t>原则上应当对这样一种无穷级数表达式的敛散性进行判断，但对我们来说只要在结果发散的时候回头查收敛的判定原理就可以了。用这样一组三角函数展开的级数称为</a:t>
                </a:r>
                <a:r>
                  <a:rPr lang="zh-CN" altLang="en-US" sz="2000" dirty="0" smtClean="0">
                    <a:solidFill>
                      <a:srgbClr val="FF0000"/>
                    </a:solidFill>
                    <a:latin typeface="微软雅黑" panose="020B0503020204020204" pitchFamily="34" charset="-122"/>
                    <a:ea typeface="微软雅黑" panose="020B0503020204020204" pitchFamily="34" charset="-122"/>
                  </a:rPr>
                  <a:t>傅里叶级数</a:t>
                </a:r>
                <a:endParaRPr lang="en-US" altLang="zh-CN" sz="2000" dirty="0" smtClean="0">
                  <a:solidFill>
                    <a:srgbClr val="FF0000"/>
                  </a:solidFill>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上面讨论的都是周期函数的情况，下面考虑非周期函数能否也用三角函数作为基函数展开？</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最简单的方法是将函数的周期视为无穷大，即令</a:t>
                </a:r>
                <a14:m>
                  <m:oMath xmlns:m="http://schemas.openxmlformats.org/officeDocument/2006/math">
                    <m:r>
                      <a:rPr lang="en-US" altLang="zh-CN" sz="2000" i="1">
                        <a:latin typeface="Cambria Math" panose="02040503050406030204" pitchFamily="18" charset="0"/>
                        <a:ea typeface="微软雅黑" panose="020B0503020204020204" pitchFamily="34" charset="-122"/>
                      </a:rPr>
                      <m:t>𝐿</m:t>
                    </m:r>
                    <m:r>
                      <a:rPr lang="en-US" altLang="zh-CN" sz="2000" b="0" i="1" smtClean="0">
                        <a:latin typeface="Cambria Math" panose="02040503050406030204" pitchFamily="18" charset="0"/>
                        <a:ea typeface="微软雅黑" panose="020B0503020204020204" pitchFamily="34" charset="-122"/>
                      </a:rPr>
                      <m:t>→∞</m:t>
                    </m:r>
                  </m:oMath>
                </a14:m>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记系数</a:t>
                </a:r>
                <a14:m>
                  <m:oMath xmlns:m="http://schemas.openxmlformats.org/officeDocument/2006/math">
                    <m:f>
                      <m:fPr>
                        <m:ctrlPr>
                          <a:rPr lang="en-US" altLang="zh-CN" sz="2000" i="1">
                            <a:latin typeface="Cambria Math" panose="02040503050406030204" pitchFamily="18" charset="0"/>
                            <a:ea typeface="微软雅黑" panose="020B0503020204020204" pitchFamily="34" charset="-122"/>
                          </a:rPr>
                        </m:ctrlPr>
                      </m:fPr>
                      <m:num>
                        <m:r>
                          <a:rPr lang="en-US" altLang="zh-CN" sz="2000" i="1">
                            <a:latin typeface="Cambria Math" panose="02040503050406030204" pitchFamily="18" charset="0"/>
                            <a:ea typeface="微软雅黑" panose="020B0503020204020204" pitchFamily="34" charset="-122"/>
                          </a:rPr>
                          <m:t>𝑛</m:t>
                        </m:r>
                        <m:r>
                          <a:rPr lang="en-US" altLang="zh-CN" sz="2000" i="1">
                            <a:latin typeface="Cambria Math" panose="02040503050406030204" pitchFamily="18" charset="0"/>
                            <a:ea typeface="微软雅黑" panose="020B0503020204020204" pitchFamily="34" charset="-122"/>
                          </a:rPr>
                          <m:t>𝜋</m:t>
                        </m:r>
                      </m:num>
                      <m:den>
                        <m:r>
                          <a:rPr lang="en-US" altLang="zh-CN" sz="2000" i="1">
                            <a:latin typeface="Cambria Math" panose="02040503050406030204" pitchFamily="18" charset="0"/>
                            <a:ea typeface="微软雅黑" panose="020B0503020204020204" pitchFamily="34" charset="-122"/>
                          </a:rPr>
                          <m:t>𝐿</m:t>
                        </m:r>
                      </m:den>
                    </m:f>
                  </m:oMath>
                </a14:m>
                <a:r>
                  <a:rPr lang="zh-CN" altLang="en-US" sz="2000" dirty="0" smtClean="0">
                    <a:latin typeface="微软雅黑" panose="020B0503020204020204" pitchFamily="34" charset="-122"/>
                    <a:ea typeface="微软雅黑" panose="020B0503020204020204" pitchFamily="34" charset="-122"/>
                  </a:rPr>
                  <a:t>为</a:t>
                </a:r>
                <a14:m>
                  <m:oMath xmlns:m="http://schemas.openxmlformats.org/officeDocument/2006/math">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𝜔</m:t>
                        </m:r>
                      </m:e>
                      <m:sub>
                        <m:r>
                          <a:rPr lang="en-US" altLang="zh-CN" sz="2000" b="0" i="1" smtClean="0">
                            <a:latin typeface="Cambria Math" panose="02040503050406030204" pitchFamily="18" charset="0"/>
                            <a:ea typeface="微软雅黑" panose="020B0503020204020204" pitchFamily="34" charset="-122"/>
                          </a:rPr>
                          <m:t>𝑛</m:t>
                        </m:r>
                      </m:sub>
                    </m:sSub>
                  </m:oMath>
                </a14:m>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原先的级数可以写为</a:t>
                </a:r>
                <a14:m>
                  <m:oMath xmlns:m="http://schemas.openxmlformats.org/officeDocument/2006/math">
                    <m:r>
                      <a:rPr lang="en-US" altLang="zh-CN" sz="2000" i="1">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r>
                      <a:rPr lang="en-US" altLang="zh-CN" sz="2000" i="1">
                        <a:latin typeface="Cambria Math" panose="02040503050406030204" pitchFamily="18" charset="0"/>
                        <a:ea typeface="微软雅黑" panose="020B0503020204020204" pitchFamily="34" charset="-122"/>
                      </a:rPr>
                      <m:t>=</m:t>
                    </m:r>
                    <m:nary>
                      <m:naryPr>
                        <m:chr m:val="∑"/>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𝑛</m:t>
                        </m:r>
                        <m:r>
                          <a:rPr lang="en-US" altLang="zh-CN" sz="2000" i="1">
                            <a:latin typeface="Cambria Math" panose="02040503050406030204" pitchFamily="18" charset="0"/>
                            <a:ea typeface="微软雅黑" panose="020B0503020204020204" pitchFamily="34" charset="-122"/>
                          </a:rPr>
                          <m:t>=−∞</m:t>
                        </m:r>
                      </m:sub>
                      <m:sup>
                        <m:r>
                          <a:rPr lang="en-US" altLang="zh-CN" sz="2000" i="1">
                            <a:latin typeface="Cambria Math" panose="02040503050406030204" pitchFamily="18" charset="0"/>
                            <a:ea typeface="微软雅黑" panose="020B0503020204020204" pitchFamily="34" charset="-122"/>
                          </a:rPr>
                          <m:t>∞</m:t>
                        </m:r>
                      </m:sup>
                      <m:e>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𝑎</m:t>
                            </m:r>
                          </m:e>
                          <m:sub>
                            <m:r>
                              <a:rPr lang="en-US" altLang="zh-CN" sz="2000" i="1">
                                <a:latin typeface="Cambria Math" panose="02040503050406030204" pitchFamily="18" charset="0"/>
                                <a:ea typeface="微软雅黑" panose="020B0503020204020204" pitchFamily="34" charset="-122"/>
                              </a:rPr>
                              <m:t>𝑛</m:t>
                            </m:r>
                          </m:sub>
                        </m:sSub>
                        <m:sSup>
                          <m:sSupPr>
                            <m:ctrlPr>
                              <a:rPr lang="en-US" altLang="zh-CN" sz="2000" i="1">
                                <a:latin typeface="Cambria Math" panose="02040503050406030204" pitchFamily="18" charset="0"/>
                                <a:ea typeface="微软雅黑" panose="020B0503020204020204" pitchFamily="34" charset="-122"/>
                              </a:rPr>
                            </m:ctrlPr>
                          </m:sSupPr>
                          <m:e>
                            <m:r>
                              <a:rPr lang="en-US" altLang="zh-CN" sz="2000" i="1">
                                <a:latin typeface="Cambria Math" panose="02040503050406030204" pitchFamily="18" charset="0"/>
                                <a:ea typeface="微软雅黑" panose="020B0503020204020204" pitchFamily="34" charset="-122"/>
                              </a:rPr>
                              <m:t>𝑒</m:t>
                            </m:r>
                          </m:e>
                          <m:sup>
                            <m:r>
                              <a:rPr lang="en-US" altLang="zh-CN" sz="2000" b="0" i="1" smtClean="0">
                                <a:latin typeface="Cambria Math" panose="02040503050406030204" pitchFamily="18" charset="0"/>
                                <a:ea typeface="微软雅黑" panose="020B0503020204020204" pitchFamily="34" charset="-122"/>
                              </a:rPr>
                              <m:t>𝑖</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𝜔</m:t>
                                </m:r>
                              </m:e>
                              <m:sub>
                                <m:r>
                                  <a:rPr lang="en-US" altLang="zh-CN" sz="2000" b="0" i="1" smtClean="0">
                                    <a:latin typeface="Cambria Math" panose="02040503050406030204" pitchFamily="18" charset="0"/>
                                    <a:ea typeface="微软雅黑" panose="020B0503020204020204" pitchFamily="34" charset="-122"/>
                                  </a:rPr>
                                  <m:t>𝑛</m:t>
                                </m:r>
                              </m:sub>
                            </m:sSub>
                            <m:r>
                              <a:rPr lang="en-US" altLang="zh-CN" sz="2000" i="1">
                                <a:latin typeface="Cambria Math" panose="02040503050406030204" pitchFamily="18" charset="0"/>
                                <a:ea typeface="微软雅黑" panose="020B0503020204020204" pitchFamily="34" charset="-122"/>
                              </a:rPr>
                              <m:t>𝑥</m:t>
                            </m:r>
                          </m:sup>
                        </m:sSup>
                      </m:e>
                    </m:nary>
                    <m:r>
                      <a:rPr lang="en-US" altLang="zh-CN" sz="2000" b="0" i="1" smtClean="0">
                        <a:latin typeface="Cambria Math" panose="02040503050406030204" pitchFamily="18" charset="0"/>
                        <a:ea typeface="微软雅黑" panose="020B0503020204020204" pitchFamily="34" charset="-122"/>
                      </a:rPr>
                      <m:t>=</m:t>
                    </m:r>
                    <m:nary>
                      <m:naryPr>
                        <m:chr m:val="∑"/>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𝑛</m:t>
                        </m:r>
                        <m:r>
                          <a:rPr lang="en-US" altLang="zh-CN" sz="2000" i="1">
                            <a:latin typeface="Cambria Math" panose="02040503050406030204" pitchFamily="18" charset="0"/>
                            <a:ea typeface="微软雅黑" panose="020B0503020204020204" pitchFamily="34" charset="-122"/>
                          </a:rPr>
                          <m:t>=−∞</m:t>
                        </m:r>
                      </m:sub>
                      <m:sup>
                        <m:r>
                          <a:rPr lang="en-US" altLang="zh-CN" sz="2000" i="1">
                            <a:latin typeface="Cambria Math" panose="02040503050406030204" pitchFamily="18" charset="0"/>
                            <a:ea typeface="微软雅黑" panose="020B0503020204020204" pitchFamily="34" charset="-122"/>
                          </a:rPr>
                          <m:t>∞</m:t>
                        </m:r>
                      </m:sup>
                      <m:e>
                        <m:f>
                          <m:fPr>
                            <m:ctrlPr>
                              <a:rPr lang="en-US" altLang="zh-CN" sz="2000" b="0" i="1" smtClean="0">
                                <a:latin typeface="Cambria Math" panose="02040503050406030204" pitchFamily="18" charset="0"/>
                                <a:ea typeface="微软雅黑" panose="020B0503020204020204" pitchFamily="34" charset="-122"/>
                              </a:rPr>
                            </m:ctrlPr>
                          </m:fPr>
                          <m:num>
                            <m:r>
                              <a:rPr lang="en-US" altLang="zh-CN" sz="2000" b="0" i="1" smtClean="0">
                                <a:latin typeface="Cambria Math" panose="02040503050406030204" pitchFamily="18" charset="0"/>
                                <a:ea typeface="微软雅黑" panose="020B0503020204020204" pitchFamily="34" charset="-122"/>
                              </a:rPr>
                              <m:t>1</m:t>
                            </m:r>
                          </m:num>
                          <m:den>
                            <m:r>
                              <a:rPr lang="en-US" altLang="zh-CN" sz="2000" b="0" i="1" smtClean="0">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𝜋</m:t>
                            </m:r>
                          </m:den>
                        </m:f>
                        <m:d>
                          <m:dPr>
                            <m:ctrlPr>
                              <a:rPr lang="en-US" altLang="zh-CN" sz="2000" b="0" i="1" smtClean="0">
                                <a:latin typeface="Cambria Math" panose="02040503050406030204" pitchFamily="18" charset="0"/>
                                <a:ea typeface="微软雅黑" panose="020B0503020204020204" pitchFamily="34" charset="-122"/>
                              </a:rPr>
                            </m:ctrlPr>
                          </m:dPr>
                          <m:e>
                            <m:nary>
                              <m:naryPr>
                                <m:ctrlPr>
                                  <a:rPr lang="en-US" altLang="zh-CN" sz="2000" i="1">
                                    <a:latin typeface="Cambria Math" panose="02040503050406030204" pitchFamily="18" charset="0"/>
                                    <a:ea typeface="微软雅黑" panose="020B0503020204020204" pitchFamily="34" charset="-122"/>
                                  </a:rPr>
                                </m:ctrlPr>
                              </m:naryPr>
                              <m:sub>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𝐿</m:t>
                                </m:r>
                              </m:sub>
                              <m:sup>
                                <m:r>
                                  <a:rPr lang="en-US" altLang="zh-CN" sz="2000" i="1">
                                    <a:latin typeface="Cambria Math" panose="02040503050406030204" pitchFamily="18" charset="0"/>
                                    <a:ea typeface="微软雅黑" panose="020B0503020204020204" pitchFamily="34" charset="-122"/>
                                  </a:rPr>
                                  <m:t>𝐿</m:t>
                                </m:r>
                              </m:sup>
                              <m:e>
                                <m:r>
                                  <a:rPr lang="en-US" altLang="zh-CN" sz="2000" i="1">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𝑡</m:t>
                                    </m:r>
                                  </m:e>
                                </m:d>
                                <m:sSup>
                                  <m:sSupPr>
                                    <m:ctrlPr>
                                      <a:rPr lang="en-US" altLang="zh-CN" sz="2000" i="1">
                                        <a:latin typeface="Cambria Math" panose="02040503050406030204" pitchFamily="18" charset="0"/>
                                        <a:ea typeface="微软雅黑" panose="020B0503020204020204" pitchFamily="34" charset="-122"/>
                                      </a:rPr>
                                    </m:ctrlPr>
                                  </m:sSupPr>
                                  <m:e>
                                    <m:r>
                                      <a:rPr lang="en-US" altLang="zh-CN" sz="2000" i="1">
                                        <a:latin typeface="Cambria Math" panose="02040503050406030204" pitchFamily="18" charset="0"/>
                                        <a:ea typeface="微软雅黑" panose="020B0503020204020204" pitchFamily="34" charset="-122"/>
                                      </a:rPr>
                                      <m:t>𝑒</m:t>
                                    </m:r>
                                  </m:e>
                                  <m:sup>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𝑖</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𝜔</m:t>
                                        </m:r>
                                      </m:e>
                                      <m:sub>
                                        <m:r>
                                          <a:rPr lang="en-US" altLang="zh-CN" sz="2000" b="0" i="1" smtClean="0">
                                            <a:latin typeface="Cambria Math" panose="02040503050406030204" pitchFamily="18" charset="0"/>
                                            <a:ea typeface="微软雅黑" panose="020B0503020204020204" pitchFamily="34" charset="-122"/>
                                          </a:rPr>
                                          <m:t>𝑛</m:t>
                                        </m:r>
                                      </m:sub>
                                    </m:sSub>
                                    <m:r>
                                      <a:rPr lang="en-US" altLang="zh-CN" sz="2000" b="0" i="1" smtClean="0">
                                        <a:latin typeface="Cambria Math" panose="02040503050406030204" pitchFamily="18" charset="0"/>
                                        <a:ea typeface="微软雅黑" panose="020B0503020204020204" pitchFamily="34" charset="-122"/>
                                      </a:rPr>
                                      <m:t>𝑡</m:t>
                                    </m:r>
                                  </m:sup>
                                </m:sSup>
                              </m:e>
                            </m:nary>
                            <m:r>
                              <m:rPr>
                                <m:sty m:val="p"/>
                              </m:rPr>
                              <a:rPr lang="en-US" altLang="zh-CN" sz="2000" b="0" i="0" smtClean="0">
                                <a:latin typeface="Cambria Math" panose="02040503050406030204" pitchFamily="18" charset="0"/>
                                <a:ea typeface="微软雅黑" panose="020B0503020204020204" pitchFamily="34" charset="-122"/>
                              </a:rPr>
                              <m:t>d</m:t>
                            </m:r>
                            <m:r>
                              <a:rPr lang="en-US" altLang="zh-CN" sz="2000" b="0" i="1" smtClean="0">
                                <a:latin typeface="Cambria Math" panose="02040503050406030204" pitchFamily="18" charset="0"/>
                                <a:ea typeface="微软雅黑" panose="020B0503020204020204" pitchFamily="34" charset="-122"/>
                              </a:rPr>
                              <m:t>𝑡</m:t>
                            </m:r>
                          </m:e>
                        </m:d>
                        <m:sSup>
                          <m:sSupPr>
                            <m:ctrlPr>
                              <a:rPr lang="en-US" altLang="zh-CN" sz="2000" i="1">
                                <a:latin typeface="Cambria Math" panose="02040503050406030204" pitchFamily="18" charset="0"/>
                                <a:ea typeface="微软雅黑" panose="020B0503020204020204" pitchFamily="34" charset="-122"/>
                              </a:rPr>
                            </m:ctrlPr>
                          </m:sSupPr>
                          <m:e>
                            <m:r>
                              <a:rPr lang="en-US" altLang="zh-CN" sz="2000" i="1">
                                <a:latin typeface="Cambria Math" panose="02040503050406030204" pitchFamily="18" charset="0"/>
                                <a:ea typeface="微软雅黑" panose="020B0503020204020204" pitchFamily="34" charset="-122"/>
                              </a:rPr>
                              <m:t>𝑒</m:t>
                            </m:r>
                          </m:e>
                          <m:sup>
                            <m:r>
                              <a:rPr lang="en-US" altLang="zh-CN" sz="2000" i="1">
                                <a:latin typeface="Cambria Math" panose="02040503050406030204" pitchFamily="18" charset="0"/>
                                <a:ea typeface="微软雅黑" panose="020B0503020204020204" pitchFamily="34" charset="-122"/>
                              </a:rPr>
                              <m:t>𝑖</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𝜔</m:t>
                                </m:r>
                              </m:e>
                              <m:sub>
                                <m:r>
                                  <a:rPr lang="en-US" altLang="zh-CN" sz="2000" i="1">
                                    <a:latin typeface="Cambria Math" panose="02040503050406030204" pitchFamily="18" charset="0"/>
                                    <a:ea typeface="微软雅黑" panose="020B0503020204020204" pitchFamily="34" charset="-122"/>
                                  </a:rPr>
                                  <m:t>𝑛</m:t>
                                </m:r>
                              </m:sub>
                            </m:sSub>
                            <m:r>
                              <a:rPr lang="en-US" altLang="zh-CN" sz="2000" i="1">
                                <a:latin typeface="Cambria Math" panose="02040503050406030204" pitchFamily="18" charset="0"/>
                                <a:ea typeface="微软雅黑" panose="020B0503020204020204" pitchFamily="34" charset="-122"/>
                              </a:rPr>
                              <m:t>𝑥</m:t>
                            </m:r>
                          </m:sup>
                        </m:sSup>
                        <m:r>
                          <m:rPr>
                            <m:sty m:val="p"/>
                          </m:rPr>
                          <a:rPr lang="en-US" altLang="zh-CN" sz="2000" b="0" i="0" smtClean="0">
                            <a:latin typeface="Cambria Math" panose="02040503050406030204" pitchFamily="18" charset="0"/>
                            <a:ea typeface="微软雅黑" panose="020B0503020204020204" pitchFamily="34" charset="-122"/>
                          </a:rPr>
                          <m:t>Δ</m:t>
                        </m:r>
                        <m:r>
                          <a:rPr lang="en-US" altLang="zh-CN" sz="2000" b="0" i="1" smtClean="0">
                            <a:latin typeface="Cambria Math" panose="02040503050406030204" pitchFamily="18" charset="0"/>
                            <a:ea typeface="微软雅黑" panose="020B0503020204020204" pitchFamily="34" charset="-122"/>
                          </a:rPr>
                          <m:t>𝜔</m:t>
                        </m:r>
                      </m:e>
                    </m:nary>
                  </m:oMath>
                </a14:m>
                <a:r>
                  <a:rPr lang="zh-CN" altLang="en-US" sz="2000" dirty="0" smtClean="0">
                    <a:latin typeface="微软雅黑" panose="020B0503020204020204" pitchFamily="34" charset="-122"/>
                    <a:ea typeface="微软雅黑" panose="020B0503020204020204" pitchFamily="34" charset="-122"/>
                  </a:rPr>
                  <a:t>，其中</a:t>
                </a:r>
                <a14:m>
                  <m:oMath xmlns:m="http://schemas.openxmlformats.org/officeDocument/2006/math">
                    <m:r>
                      <m:rPr>
                        <m:sty m:val="p"/>
                      </m:rPr>
                      <a:rPr lang="en-US" altLang="zh-CN" sz="2000">
                        <a:latin typeface="Cambria Math" panose="02040503050406030204" pitchFamily="18" charset="0"/>
                        <a:ea typeface="微软雅黑" panose="020B0503020204020204" pitchFamily="34" charset="-122"/>
                      </a:rPr>
                      <m:t>Δ</m:t>
                    </m:r>
                    <m:r>
                      <a:rPr lang="en-US" altLang="zh-CN" sz="2000" i="1">
                        <a:latin typeface="Cambria Math" panose="02040503050406030204" pitchFamily="18" charset="0"/>
                        <a:ea typeface="微软雅黑" panose="020B0503020204020204" pitchFamily="34" charset="-122"/>
                      </a:rPr>
                      <m:t>𝜔</m:t>
                    </m:r>
                    <m:r>
                      <a:rPr lang="en-US" altLang="zh-CN" sz="2000" b="0" i="1" smtClean="0">
                        <a:latin typeface="Cambria Math" panose="02040503050406030204" pitchFamily="18" charset="0"/>
                        <a:ea typeface="微软雅黑" panose="020B0503020204020204" pitchFamily="34" charset="-122"/>
                      </a:rPr>
                      <m:t>=</m:t>
                    </m:r>
                    <m:f>
                      <m:fPr>
                        <m:ctrlPr>
                          <a:rPr lang="en-US" altLang="zh-CN" sz="2000" b="0" i="1" smtClean="0">
                            <a:latin typeface="Cambria Math" panose="02040503050406030204" pitchFamily="18" charset="0"/>
                            <a:ea typeface="微软雅黑" panose="020B0503020204020204" pitchFamily="34" charset="-122"/>
                          </a:rPr>
                        </m:ctrlPr>
                      </m:fPr>
                      <m:num>
                        <m:r>
                          <a:rPr lang="en-US" altLang="zh-CN" sz="2000" b="0" i="1" smtClean="0">
                            <a:latin typeface="Cambria Math" panose="02040503050406030204" pitchFamily="18" charset="0"/>
                            <a:ea typeface="微软雅黑" panose="020B0503020204020204" pitchFamily="34" charset="-122"/>
                          </a:rPr>
                          <m:t>𝜋</m:t>
                        </m:r>
                      </m:num>
                      <m:den>
                        <m:r>
                          <a:rPr lang="en-US" altLang="zh-CN" sz="2000" b="0" i="1" smtClean="0">
                            <a:latin typeface="Cambria Math" panose="02040503050406030204" pitchFamily="18" charset="0"/>
                            <a:ea typeface="微软雅黑" panose="020B0503020204020204" pitchFamily="34" charset="-122"/>
                          </a:rPr>
                          <m:t>𝐿</m:t>
                        </m:r>
                      </m:den>
                    </m:f>
                  </m:oMath>
                </a14:m>
                <a:endParaRPr lang="en-US" altLang="zh-CN" sz="2000"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r>
                      <a:rPr lang="en-US" altLang="zh-CN" sz="2000" i="1">
                        <a:latin typeface="Cambria Math" panose="02040503050406030204" pitchFamily="18" charset="0"/>
                        <a:ea typeface="微软雅黑" panose="020B0503020204020204" pitchFamily="34" charset="-122"/>
                      </a:rPr>
                      <m:t>𝐿</m:t>
                    </m:r>
                    <m:r>
                      <a:rPr lang="en-US" altLang="zh-CN" sz="2000" i="1">
                        <a:latin typeface="Cambria Math" panose="02040503050406030204" pitchFamily="18" charset="0"/>
                        <a:ea typeface="微软雅黑" panose="020B0503020204020204" pitchFamily="34" charset="-122"/>
                      </a:rPr>
                      <m:t>→∞</m:t>
                    </m:r>
                  </m:oMath>
                </a14:m>
                <a:r>
                  <a:rPr lang="zh-CN" altLang="en-US" sz="2000" dirty="0" smtClean="0">
                    <a:latin typeface="微软雅黑" panose="020B0503020204020204" pitchFamily="34" charset="-122"/>
                    <a:ea typeface="微软雅黑" panose="020B0503020204020204" pitchFamily="34" charset="-122"/>
                  </a:rPr>
                  <a:t>时，</a:t>
                </a:r>
                <a:r>
                  <a:rPr lang="en-US" altLang="zh-CN" sz="2000" dirty="0">
                    <a:ea typeface="微软雅黑" panose="020B0503020204020204" pitchFamily="34" charset="-122"/>
                  </a:rPr>
                  <a:t> </a:t>
                </a:r>
                <a14:m>
                  <m:oMath xmlns:m="http://schemas.openxmlformats.org/officeDocument/2006/math">
                    <m:r>
                      <m:rPr>
                        <m:sty m:val="p"/>
                      </m:rPr>
                      <a:rPr lang="en-US" altLang="zh-CN" sz="2000">
                        <a:latin typeface="Cambria Math" panose="02040503050406030204" pitchFamily="18" charset="0"/>
                        <a:ea typeface="微软雅黑" panose="020B0503020204020204" pitchFamily="34" charset="-122"/>
                      </a:rPr>
                      <m:t>Δ</m:t>
                    </m:r>
                    <m:r>
                      <a:rPr lang="en-US" altLang="zh-CN" sz="2000" i="1">
                        <a:latin typeface="Cambria Math" panose="02040503050406030204" pitchFamily="18" charset="0"/>
                        <a:ea typeface="微软雅黑" panose="020B0503020204020204" pitchFamily="34" charset="-122"/>
                      </a:rPr>
                      <m:t>𝜔</m:t>
                    </m:r>
                    <m:r>
                      <a:rPr lang="en-US" altLang="zh-CN" sz="2000" b="0" i="1" smtClean="0">
                        <a:latin typeface="Cambria Math" panose="02040503050406030204" pitchFamily="18" charset="0"/>
                        <a:ea typeface="微软雅黑" panose="020B0503020204020204" pitchFamily="34" charset="-122"/>
                      </a:rPr>
                      <m:t>→0,</m:t>
                    </m:r>
                    <m:sSub>
                      <m:sSubPr>
                        <m:ctrlPr>
                          <a:rPr lang="en-US" altLang="zh-CN" sz="2000" i="1">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 </m:t>
                        </m:r>
                        <m:r>
                          <a:rPr lang="en-US" altLang="zh-CN" sz="2000" i="1">
                            <a:latin typeface="Cambria Math" panose="02040503050406030204" pitchFamily="18" charset="0"/>
                            <a:ea typeface="微软雅黑" panose="020B0503020204020204" pitchFamily="34" charset="-122"/>
                          </a:rPr>
                          <m:t>𝜔</m:t>
                        </m:r>
                      </m:e>
                      <m:sub>
                        <m:r>
                          <a:rPr lang="en-US" altLang="zh-CN" sz="2000" i="1">
                            <a:latin typeface="Cambria Math" panose="02040503050406030204" pitchFamily="18" charset="0"/>
                            <a:ea typeface="微软雅黑" panose="020B0503020204020204" pitchFamily="34" charset="-122"/>
                          </a:rPr>
                          <m:t>𝑛</m:t>
                        </m:r>
                      </m:sub>
                    </m:sSub>
                  </m:oMath>
                </a14:m>
                <a:r>
                  <a:rPr lang="zh-CN" altLang="en-US" sz="2000" dirty="0" smtClean="0">
                    <a:latin typeface="微软雅黑" panose="020B0503020204020204" pitchFamily="34" charset="-122"/>
                    <a:ea typeface="微软雅黑" panose="020B0503020204020204" pitchFamily="34" charset="-122"/>
                  </a:rPr>
                  <a:t>趋向于连续变化，求和变成积分：</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r>
                        <a:rPr lang="en-US" altLang="zh-CN" sz="2000" b="0" i="1" smtClean="0">
                          <a:latin typeface="Cambria Math" panose="02040503050406030204" pitchFamily="18" charset="0"/>
                          <a:ea typeface="微软雅黑" panose="020B0503020204020204" pitchFamily="34" charset="-122"/>
                        </a:rPr>
                        <m:t>=</m:t>
                      </m:r>
                      <m:nary>
                        <m:naryPr>
                          <m:ctrlPr>
                            <a:rPr lang="en-US" altLang="zh-CN" sz="2000" b="0" i="1" smtClean="0">
                              <a:latin typeface="Cambria Math" panose="02040503050406030204" pitchFamily="18" charset="0"/>
                              <a:ea typeface="微软雅黑" panose="020B0503020204020204" pitchFamily="34" charset="-122"/>
                            </a:rPr>
                          </m:ctrlPr>
                        </m:naryPr>
                        <m:sub>
                          <m:r>
                            <m:rPr>
                              <m:brk m:alnAt="23"/>
                            </m:rP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m:t>
                          </m:r>
                        </m:sub>
                        <m:sup>
                          <m:r>
                            <a:rPr lang="en-US" altLang="zh-CN" sz="2000" b="0" i="1" smtClean="0">
                              <a:latin typeface="Cambria Math" panose="02040503050406030204" pitchFamily="18" charset="0"/>
                              <a:ea typeface="微软雅黑" panose="020B0503020204020204" pitchFamily="34" charset="-122"/>
                            </a:rPr>
                            <m:t>∞</m:t>
                          </m:r>
                        </m:sup>
                        <m:e>
                          <m:d>
                            <m:dPr>
                              <m:ctrlPr>
                                <a:rPr lang="en-US" altLang="zh-CN" sz="2000" i="1">
                                  <a:latin typeface="Cambria Math" panose="02040503050406030204" pitchFamily="18" charset="0"/>
                                  <a:ea typeface="微软雅黑" panose="020B0503020204020204" pitchFamily="34" charset="-122"/>
                                </a:rPr>
                              </m:ctrlPr>
                            </m:dPr>
                            <m:e>
                              <m:nary>
                                <m:naryPr>
                                  <m:ctrlPr>
                                    <a:rPr lang="en-US" altLang="zh-CN" sz="2000" i="1">
                                      <a:latin typeface="Cambria Math" panose="02040503050406030204" pitchFamily="18" charset="0"/>
                                      <a:ea typeface="微软雅黑" panose="020B0503020204020204" pitchFamily="34" charset="-122"/>
                                    </a:rPr>
                                  </m:ctrlPr>
                                </m:naryPr>
                                <m:sub>
                                  <m:r>
                                    <a:rPr lang="en-US" altLang="zh-CN" sz="2000" b="0" i="1" smtClean="0">
                                      <a:latin typeface="Cambria Math" panose="02040503050406030204" pitchFamily="18" charset="0"/>
                                      <a:ea typeface="微软雅黑" panose="020B0503020204020204" pitchFamily="34" charset="-122"/>
                                    </a:rPr>
                                    <m:t>−∞</m:t>
                                  </m:r>
                                </m:sub>
                                <m:sup>
                                  <m:r>
                                    <a:rPr lang="en-US" altLang="zh-CN" sz="2000" b="0" i="1" smtClean="0">
                                      <a:latin typeface="Cambria Math" panose="02040503050406030204" pitchFamily="18" charset="0"/>
                                      <a:ea typeface="微软雅黑" panose="020B0503020204020204" pitchFamily="34" charset="-122"/>
                                    </a:rPr>
                                    <m:t>∞</m:t>
                                  </m:r>
                                </m:sup>
                                <m:e>
                                  <m:f>
                                    <m:fPr>
                                      <m:ctrlPr>
                                        <a:rPr lang="en-US" altLang="zh-CN" sz="2000" i="1">
                                          <a:latin typeface="Cambria Math" panose="02040503050406030204" pitchFamily="18" charset="0"/>
                                          <a:ea typeface="微软雅黑" panose="020B0503020204020204" pitchFamily="34" charset="-122"/>
                                        </a:rPr>
                                      </m:ctrlPr>
                                    </m:fPr>
                                    <m:num>
                                      <m:r>
                                        <a:rPr lang="en-US" altLang="zh-CN" sz="2000" i="1">
                                          <a:latin typeface="Cambria Math" panose="02040503050406030204" pitchFamily="18" charset="0"/>
                                          <a:ea typeface="微软雅黑" panose="020B0503020204020204" pitchFamily="34" charset="-122"/>
                                        </a:rPr>
                                        <m:t>1</m:t>
                                      </m:r>
                                    </m:num>
                                    <m:den>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den>
                                  </m:f>
                                  <m:r>
                                    <a:rPr lang="en-US" altLang="zh-CN" sz="2000" i="1">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𝑡</m:t>
                                      </m:r>
                                    </m:e>
                                  </m:d>
                                  <m:sSup>
                                    <m:sSupPr>
                                      <m:ctrlPr>
                                        <a:rPr lang="en-US" altLang="zh-CN" sz="2000" i="1">
                                          <a:latin typeface="Cambria Math" panose="02040503050406030204" pitchFamily="18" charset="0"/>
                                          <a:ea typeface="微软雅黑" panose="020B0503020204020204" pitchFamily="34" charset="-122"/>
                                        </a:rPr>
                                      </m:ctrlPr>
                                    </m:sSupPr>
                                    <m:e>
                                      <m:r>
                                        <a:rPr lang="en-US" altLang="zh-CN" sz="2000" i="1">
                                          <a:latin typeface="Cambria Math" panose="02040503050406030204" pitchFamily="18" charset="0"/>
                                          <a:ea typeface="微软雅黑" panose="020B0503020204020204" pitchFamily="34" charset="-122"/>
                                        </a:rPr>
                                        <m:t>𝑒</m:t>
                                      </m:r>
                                    </m:e>
                                    <m:sup>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𝑖</m:t>
                                      </m:r>
                                      <m:r>
                                        <a:rPr lang="en-US" altLang="zh-CN" sz="2000" b="0" i="1" smtClean="0">
                                          <a:solidFill>
                                            <a:srgbClr val="FF0000"/>
                                          </a:solidFill>
                                          <a:latin typeface="Cambria Math" panose="02040503050406030204" pitchFamily="18" charset="0"/>
                                          <a:ea typeface="微软雅黑" panose="020B0503020204020204" pitchFamily="34" charset="-122"/>
                                        </a:rPr>
                                        <m:t>𝜔</m:t>
                                      </m:r>
                                      <m:r>
                                        <a:rPr lang="en-US" altLang="zh-CN" sz="2000" i="1">
                                          <a:latin typeface="Cambria Math" panose="02040503050406030204" pitchFamily="18" charset="0"/>
                                          <a:ea typeface="微软雅黑" panose="020B0503020204020204" pitchFamily="34" charset="-122"/>
                                        </a:rPr>
                                        <m:t>𝑡</m:t>
                                      </m:r>
                                    </m:sup>
                                  </m:sSup>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𝑡</m:t>
                              </m:r>
                            </m:e>
                          </m:d>
                        </m:e>
                      </m:nary>
                      <m:sSup>
                        <m:sSupPr>
                          <m:ctrlPr>
                            <a:rPr lang="en-US" altLang="zh-CN" sz="2000" b="0" i="1" smtClean="0">
                              <a:latin typeface="Cambria Math" panose="02040503050406030204" pitchFamily="18" charset="0"/>
                              <a:ea typeface="微软雅黑" panose="020B0503020204020204" pitchFamily="34" charset="-122"/>
                            </a:rPr>
                          </m:ctrlPr>
                        </m:sSupPr>
                        <m:e>
                          <m:r>
                            <a:rPr lang="en-US" altLang="zh-CN" sz="2000" b="0" i="1" smtClean="0">
                              <a:latin typeface="Cambria Math" panose="02040503050406030204" pitchFamily="18" charset="0"/>
                              <a:ea typeface="微软雅黑" panose="020B0503020204020204" pitchFamily="34" charset="-122"/>
                            </a:rPr>
                            <m:t>𝑒</m:t>
                          </m:r>
                        </m:e>
                        <m:sup>
                          <m:r>
                            <a:rPr lang="en-US" altLang="zh-CN" sz="2000" b="0" i="1" smtClean="0">
                              <a:latin typeface="Cambria Math" panose="02040503050406030204" pitchFamily="18" charset="0"/>
                              <a:ea typeface="微软雅黑" panose="020B0503020204020204" pitchFamily="34" charset="-122"/>
                            </a:rPr>
                            <m:t>𝑖</m:t>
                          </m:r>
                          <m:r>
                            <a:rPr lang="en-US" altLang="zh-CN" sz="2000" b="0" i="1" smtClean="0">
                              <a:latin typeface="Cambria Math" panose="02040503050406030204" pitchFamily="18" charset="0"/>
                              <a:ea typeface="微软雅黑" panose="020B0503020204020204" pitchFamily="34" charset="-122"/>
                            </a:rPr>
                            <m:t>𝜔</m:t>
                          </m:r>
                          <m:r>
                            <a:rPr lang="en-US" altLang="zh-CN" sz="2000" b="0" i="1" smtClean="0">
                              <a:latin typeface="Cambria Math" panose="02040503050406030204" pitchFamily="18" charset="0"/>
                              <a:ea typeface="微软雅黑" panose="020B0503020204020204" pitchFamily="34" charset="-122"/>
                            </a:rPr>
                            <m:t>𝑥</m:t>
                          </m:r>
                        </m:sup>
                      </m:sSup>
                      <m:r>
                        <m:rPr>
                          <m:sty m:val="p"/>
                        </m:rPr>
                        <a:rPr lang="en-US" altLang="zh-CN" sz="2000" b="0" i="0" smtClean="0">
                          <a:latin typeface="Cambria Math" panose="02040503050406030204" pitchFamily="18" charset="0"/>
                          <a:ea typeface="微软雅黑" panose="020B0503020204020204" pitchFamily="34" charset="-122"/>
                        </a:rPr>
                        <m:t>d</m:t>
                      </m:r>
                      <m:r>
                        <a:rPr lang="en-US" altLang="zh-CN" sz="2000" b="0" i="1" smtClean="0">
                          <a:latin typeface="Cambria Math" panose="02040503050406030204" pitchFamily="18" charset="0"/>
                          <a:ea typeface="微软雅黑" panose="020B0503020204020204" pitchFamily="34" charset="-122"/>
                        </a:rPr>
                        <m:t>𝜔</m:t>
                      </m:r>
                      <m:r>
                        <a:rPr lang="en-US" altLang="zh-CN" sz="2000" b="0" i="1" smtClean="0">
                          <a:latin typeface="Cambria Math" panose="02040503050406030204" pitchFamily="18" charset="0"/>
                          <a:ea typeface="微软雅黑" panose="020B0503020204020204" pitchFamily="34" charset="-122"/>
                        </a:rPr>
                        <m:t>=</m:t>
                      </m:r>
                      <m:nary>
                        <m:naryPr>
                          <m:ctrlPr>
                            <a:rPr lang="en-US" altLang="zh-CN" sz="2000" i="1">
                              <a:latin typeface="Cambria Math" panose="02040503050406030204" pitchFamily="18" charset="0"/>
                              <a:ea typeface="微软雅黑" panose="020B0503020204020204" pitchFamily="34" charset="-122"/>
                            </a:rPr>
                          </m:ctrlPr>
                        </m:naryPr>
                        <m:sub>
                          <m:r>
                            <a:rPr lang="en-US" altLang="zh-CN" sz="2000" b="0" i="1" smtClean="0">
                              <a:latin typeface="Cambria Math" panose="02040503050406030204" pitchFamily="18" charset="0"/>
                              <a:ea typeface="微软雅黑" panose="020B0503020204020204" pitchFamily="34" charset="-122"/>
                            </a:rPr>
                            <m:t>−∞</m:t>
                          </m:r>
                        </m:sub>
                        <m:sup>
                          <m:r>
                            <a:rPr lang="en-US" altLang="zh-CN" sz="2000" i="1">
                              <a:latin typeface="Cambria Math" panose="02040503050406030204" pitchFamily="18" charset="0"/>
                              <a:ea typeface="微软雅黑" panose="020B0503020204020204" pitchFamily="34" charset="-122"/>
                            </a:rPr>
                            <m:t>∞</m:t>
                          </m:r>
                        </m:sup>
                        <m:e>
                          <m:r>
                            <a:rPr lang="en-US" altLang="zh-CN" sz="2000" b="0" i="1" smtClean="0">
                              <a:solidFill>
                                <a:srgbClr val="FF0000"/>
                              </a:solidFill>
                              <a:latin typeface="Cambria Math" panose="02040503050406030204" pitchFamily="18" charset="0"/>
                              <a:ea typeface="微软雅黑" panose="020B0503020204020204" pitchFamily="34" charset="-122"/>
                            </a:rPr>
                            <m:t>𝐹</m:t>
                          </m:r>
                          <m:d>
                            <m:dPr>
                              <m:ctrlPr>
                                <a:rPr lang="en-US" altLang="zh-CN" sz="2000" b="0" i="1" smtClean="0">
                                  <a:solidFill>
                                    <a:srgbClr val="FF0000"/>
                                  </a:solidFill>
                                  <a:latin typeface="Cambria Math" panose="02040503050406030204" pitchFamily="18" charset="0"/>
                                  <a:ea typeface="微软雅黑" panose="020B0503020204020204" pitchFamily="34" charset="-122"/>
                                </a:rPr>
                              </m:ctrlPr>
                            </m:dPr>
                            <m:e>
                              <m:r>
                                <a:rPr lang="en-US" altLang="zh-CN" sz="2000" b="0" i="1" smtClean="0">
                                  <a:solidFill>
                                    <a:srgbClr val="FF0000"/>
                                  </a:solidFill>
                                  <a:latin typeface="Cambria Math" panose="02040503050406030204" pitchFamily="18" charset="0"/>
                                  <a:ea typeface="微软雅黑" panose="020B0503020204020204" pitchFamily="34" charset="-122"/>
                                </a:rPr>
                                <m:t>𝜔</m:t>
                              </m:r>
                            </m:e>
                          </m:d>
                          <m:sSup>
                            <m:sSupPr>
                              <m:ctrlPr>
                                <a:rPr lang="en-US" altLang="zh-CN" sz="2000" b="0" i="1" smtClean="0">
                                  <a:latin typeface="Cambria Math" panose="02040503050406030204" pitchFamily="18" charset="0"/>
                                  <a:ea typeface="微软雅黑" panose="020B0503020204020204" pitchFamily="34" charset="-122"/>
                                </a:rPr>
                              </m:ctrlPr>
                            </m:sSupPr>
                            <m:e>
                              <m:r>
                                <a:rPr lang="en-US" altLang="zh-CN" sz="2000" b="0" i="1" smtClean="0">
                                  <a:latin typeface="Cambria Math" panose="02040503050406030204" pitchFamily="18" charset="0"/>
                                  <a:ea typeface="微软雅黑" panose="020B0503020204020204" pitchFamily="34" charset="-122"/>
                                </a:rPr>
                                <m:t>𝑒</m:t>
                              </m:r>
                            </m:e>
                            <m:sup>
                              <m:r>
                                <a:rPr lang="en-US" altLang="zh-CN" sz="2000" b="0" i="1" smtClean="0">
                                  <a:latin typeface="Cambria Math" panose="02040503050406030204" pitchFamily="18" charset="0"/>
                                  <a:ea typeface="微软雅黑" panose="020B0503020204020204" pitchFamily="34" charset="-122"/>
                                </a:rPr>
                                <m:t>𝑖</m:t>
                              </m:r>
                              <m:r>
                                <a:rPr lang="en-US" altLang="zh-CN" sz="2000" b="0" i="1" smtClean="0">
                                  <a:latin typeface="Cambria Math" panose="02040503050406030204" pitchFamily="18" charset="0"/>
                                  <a:ea typeface="微软雅黑" panose="020B0503020204020204" pitchFamily="34" charset="-122"/>
                                </a:rPr>
                                <m:t>𝜔</m:t>
                              </m:r>
                              <m:r>
                                <a:rPr lang="en-US" altLang="zh-CN" sz="2000" b="0" i="1" smtClean="0">
                                  <a:latin typeface="Cambria Math" panose="02040503050406030204" pitchFamily="18" charset="0"/>
                                  <a:ea typeface="微软雅黑" panose="020B0503020204020204" pitchFamily="34" charset="-122"/>
                                </a:rPr>
                                <m:t>𝑥</m:t>
                              </m:r>
                            </m:sup>
                          </m:sSup>
                        </m:e>
                      </m:nary>
                      <m:r>
                        <m:rPr>
                          <m:sty m:val="p"/>
                        </m:rPr>
                        <a:rPr lang="en-US" altLang="zh-CN" sz="2000" b="0" i="0" smtClean="0">
                          <a:latin typeface="Cambria Math" panose="02040503050406030204" pitchFamily="18" charset="0"/>
                          <a:ea typeface="微软雅黑" panose="020B0503020204020204" pitchFamily="34" charset="-122"/>
                        </a:rPr>
                        <m:t>d</m:t>
                      </m:r>
                      <m:r>
                        <a:rPr lang="en-US" altLang="zh-CN" sz="2000" b="0" i="1" smtClean="0">
                          <a:latin typeface="Cambria Math" panose="02040503050406030204" pitchFamily="18" charset="0"/>
                          <a:ea typeface="微软雅黑" panose="020B0503020204020204" pitchFamily="34" charset="-122"/>
                        </a:rPr>
                        <m:t>𝜔</m:t>
                      </m:r>
                    </m:oMath>
                  </m:oMathPara>
                </a14:m>
                <a:endParaRPr lang="en-US" altLang="zh-CN" sz="2000" dirty="0">
                  <a:latin typeface="微软雅黑" panose="020B0503020204020204" pitchFamily="34" charset="-122"/>
                  <a:ea typeface="微软雅黑" panose="020B0503020204020204" pitchFamily="34"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265746" y="1235075"/>
                <a:ext cx="11478999" cy="4913012"/>
              </a:xfrm>
              <a:prstGeom prst="rect">
                <a:avLst/>
              </a:prstGeom>
              <a:blipFill rotWithShape="0">
                <a:blip r:embed="rId5"/>
                <a:stretch>
                  <a:fillRect l="-584" t="-7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45837965"/>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Fourier transformation</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337185" y="1667367"/>
                <a:ext cx="11478999" cy="4045338"/>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r>
                        <a:rPr lang="en-US" altLang="zh-CN" sz="2000" b="0" i="1" smtClean="0">
                          <a:latin typeface="Cambria Math" panose="02040503050406030204" pitchFamily="18" charset="0"/>
                          <a:ea typeface="微软雅黑" panose="020B0503020204020204" pitchFamily="34" charset="-122"/>
                        </a:rPr>
                        <m:t>=</m:t>
                      </m:r>
                      <m:nary>
                        <m:naryPr>
                          <m:ctrlPr>
                            <a:rPr lang="en-US" altLang="zh-CN" sz="2000" b="0" i="1" smtClean="0">
                              <a:latin typeface="Cambria Math" panose="02040503050406030204" pitchFamily="18" charset="0"/>
                              <a:ea typeface="微软雅黑" panose="020B0503020204020204" pitchFamily="34" charset="-122"/>
                            </a:rPr>
                          </m:ctrlPr>
                        </m:naryPr>
                        <m:sub>
                          <m:r>
                            <m:rPr>
                              <m:brk m:alnAt="23"/>
                            </m:rP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m:t>
                          </m:r>
                        </m:sub>
                        <m:sup>
                          <m:r>
                            <a:rPr lang="en-US" altLang="zh-CN" sz="2000" b="0" i="1" smtClean="0">
                              <a:latin typeface="Cambria Math" panose="02040503050406030204" pitchFamily="18" charset="0"/>
                              <a:ea typeface="微软雅黑" panose="020B0503020204020204" pitchFamily="34" charset="-122"/>
                            </a:rPr>
                            <m:t>∞</m:t>
                          </m:r>
                        </m:sup>
                        <m:e>
                          <m:d>
                            <m:dPr>
                              <m:ctrlPr>
                                <a:rPr lang="en-US" altLang="zh-CN" sz="2000" i="1">
                                  <a:latin typeface="Cambria Math" panose="02040503050406030204" pitchFamily="18" charset="0"/>
                                  <a:ea typeface="微软雅黑" panose="020B0503020204020204" pitchFamily="34" charset="-122"/>
                                </a:rPr>
                              </m:ctrlPr>
                            </m:dPr>
                            <m:e>
                              <m:nary>
                                <m:naryPr>
                                  <m:ctrlPr>
                                    <a:rPr lang="en-US" altLang="zh-CN" sz="2000" i="1">
                                      <a:latin typeface="Cambria Math" panose="02040503050406030204" pitchFamily="18" charset="0"/>
                                      <a:ea typeface="微软雅黑" panose="020B0503020204020204" pitchFamily="34" charset="-122"/>
                                    </a:rPr>
                                  </m:ctrlPr>
                                </m:naryPr>
                                <m:sub>
                                  <m:r>
                                    <a:rPr lang="en-US" altLang="zh-CN" sz="2000" b="0" i="1" smtClean="0">
                                      <a:latin typeface="Cambria Math" panose="02040503050406030204" pitchFamily="18" charset="0"/>
                                      <a:ea typeface="微软雅黑" panose="020B0503020204020204" pitchFamily="34" charset="-122"/>
                                    </a:rPr>
                                    <m:t>−∞</m:t>
                                  </m:r>
                                </m:sub>
                                <m:sup>
                                  <m:r>
                                    <a:rPr lang="en-US" altLang="zh-CN" sz="2000" b="0" i="1" smtClean="0">
                                      <a:latin typeface="Cambria Math" panose="02040503050406030204" pitchFamily="18" charset="0"/>
                                      <a:ea typeface="微软雅黑" panose="020B0503020204020204" pitchFamily="34" charset="-122"/>
                                    </a:rPr>
                                    <m:t>∞</m:t>
                                  </m:r>
                                </m:sup>
                                <m:e>
                                  <m:f>
                                    <m:fPr>
                                      <m:ctrlPr>
                                        <a:rPr lang="en-US" altLang="zh-CN" sz="2000" i="1">
                                          <a:latin typeface="Cambria Math" panose="02040503050406030204" pitchFamily="18" charset="0"/>
                                          <a:ea typeface="微软雅黑" panose="020B0503020204020204" pitchFamily="34" charset="-122"/>
                                        </a:rPr>
                                      </m:ctrlPr>
                                    </m:fPr>
                                    <m:num>
                                      <m:r>
                                        <a:rPr lang="en-US" altLang="zh-CN" sz="2000" i="1">
                                          <a:latin typeface="Cambria Math" panose="02040503050406030204" pitchFamily="18" charset="0"/>
                                          <a:ea typeface="微软雅黑" panose="020B0503020204020204" pitchFamily="34" charset="-122"/>
                                        </a:rPr>
                                        <m:t>1</m:t>
                                      </m:r>
                                    </m:num>
                                    <m:den>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den>
                                  </m:f>
                                  <m:r>
                                    <a:rPr lang="en-US" altLang="zh-CN" sz="2000" i="1">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𝑡</m:t>
                                      </m:r>
                                    </m:e>
                                  </m:d>
                                  <m:sSup>
                                    <m:sSupPr>
                                      <m:ctrlPr>
                                        <a:rPr lang="en-US" altLang="zh-CN" sz="2000" i="1">
                                          <a:latin typeface="Cambria Math" panose="02040503050406030204" pitchFamily="18" charset="0"/>
                                          <a:ea typeface="微软雅黑" panose="020B0503020204020204" pitchFamily="34" charset="-122"/>
                                        </a:rPr>
                                      </m:ctrlPr>
                                    </m:sSupPr>
                                    <m:e>
                                      <m:r>
                                        <a:rPr lang="en-US" altLang="zh-CN" sz="2000" i="1">
                                          <a:latin typeface="Cambria Math" panose="02040503050406030204" pitchFamily="18" charset="0"/>
                                          <a:ea typeface="微软雅黑" panose="020B0503020204020204" pitchFamily="34" charset="-122"/>
                                        </a:rPr>
                                        <m:t>𝑒</m:t>
                                      </m:r>
                                    </m:e>
                                    <m:sup>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𝑖</m:t>
                                      </m:r>
                                      <m:r>
                                        <a:rPr lang="en-US" altLang="zh-CN" sz="2000" b="0" i="1" smtClean="0">
                                          <a:solidFill>
                                            <a:srgbClr val="FF0000"/>
                                          </a:solidFill>
                                          <a:latin typeface="Cambria Math" panose="02040503050406030204" pitchFamily="18" charset="0"/>
                                          <a:ea typeface="微软雅黑" panose="020B0503020204020204" pitchFamily="34" charset="-122"/>
                                        </a:rPr>
                                        <m:t>𝜔</m:t>
                                      </m:r>
                                      <m:r>
                                        <a:rPr lang="en-US" altLang="zh-CN" sz="2000" i="1">
                                          <a:latin typeface="Cambria Math" panose="02040503050406030204" pitchFamily="18" charset="0"/>
                                          <a:ea typeface="微软雅黑" panose="020B0503020204020204" pitchFamily="34" charset="-122"/>
                                        </a:rPr>
                                        <m:t>𝑡</m:t>
                                      </m:r>
                                    </m:sup>
                                  </m:sSup>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𝑡</m:t>
                              </m:r>
                            </m:e>
                          </m:d>
                        </m:e>
                      </m:nary>
                      <m:sSup>
                        <m:sSupPr>
                          <m:ctrlPr>
                            <a:rPr lang="en-US" altLang="zh-CN" sz="2000" b="0" i="1" smtClean="0">
                              <a:latin typeface="Cambria Math" panose="02040503050406030204" pitchFamily="18" charset="0"/>
                              <a:ea typeface="微软雅黑" panose="020B0503020204020204" pitchFamily="34" charset="-122"/>
                            </a:rPr>
                          </m:ctrlPr>
                        </m:sSupPr>
                        <m:e>
                          <m:r>
                            <a:rPr lang="en-US" altLang="zh-CN" sz="2000" b="0" i="1" smtClean="0">
                              <a:latin typeface="Cambria Math" panose="02040503050406030204" pitchFamily="18" charset="0"/>
                              <a:ea typeface="微软雅黑" panose="020B0503020204020204" pitchFamily="34" charset="-122"/>
                            </a:rPr>
                            <m:t>𝑒</m:t>
                          </m:r>
                        </m:e>
                        <m:sup>
                          <m:r>
                            <a:rPr lang="en-US" altLang="zh-CN" sz="2000" b="0" i="1" smtClean="0">
                              <a:latin typeface="Cambria Math" panose="02040503050406030204" pitchFamily="18" charset="0"/>
                              <a:ea typeface="微软雅黑" panose="020B0503020204020204" pitchFamily="34" charset="-122"/>
                            </a:rPr>
                            <m:t>𝑖</m:t>
                          </m:r>
                          <m:r>
                            <a:rPr lang="en-US" altLang="zh-CN" sz="2000" b="0" i="1" smtClean="0">
                              <a:latin typeface="Cambria Math" panose="02040503050406030204" pitchFamily="18" charset="0"/>
                              <a:ea typeface="微软雅黑" panose="020B0503020204020204" pitchFamily="34" charset="-122"/>
                            </a:rPr>
                            <m:t>𝜔</m:t>
                          </m:r>
                          <m:r>
                            <a:rPr lang="en-US" altLang="zh-CN" sz="2000" b="0" i="1" smtClean="0">
                              <a:latin typeface="Cambria Math" panose="02040503050406030204" pitchFamily="18" charset="0"/>
                              <a:ea typeface="微软雅黑" panose="020B0503020204020204" pitchFamily="34" charset="-122"/>
                            </a:rPr>
                            <m:t>𝑥</m:t>
                          </m:r>
                        </m:sup>
                      </m:sSup>
                      <m:r>
                        <m:rPr>
                          <m:sty m:val="p"/>
                        </m:rPr>
                        <a:rPr lang="en-US" altLang="zh-CN" sz="2000" b="0" i="0" smtClean="0">
                          <a:latin typeface="Cambria Math" panose="02040503050406030204" pitchFamily="18" charset="0"/>
                          <a:ea typeface="微软雅黑" panose="020B0503020204020204" pitchFamily="34" charset="-122"/>
                        </a:rPr>
                        <m:t>d</m:t>
                      </m:r>
                      <m:r>
                        <a:rPr lang="en-US" altLang="zh-CN" sz="2000" b="0" i="1" smtClean="0">
                          <a:latin typeface="Cambria Math" panose="02040503050406030204" pitchFamily="18" charset="0"/>
                          <a:ea typeface="微软雅黑" panose="020B0503020204020204" pitchFamily="34" charset="-122"/>
                        </a:rPr>
                        <m:t>𝜔</m:t>
                      </m:r>
                      <m:r>
                        <a:rPr lang="en-US" altLang="zh-CN" sz="2000" b="0" i="1" smtClean="0">
                          <a:latin typeface="Cambria Math" panose="02040503050406030204" pitchFamily="18" charset="0"/>
                          <a:ea typeface="微软雅黑" panose="020B0503020204020204" pitchFamily="34" charset="-122"/>
                        </a:rPr>
                        <m:t>=</m:t>
                      </m:r>
                      <m:nary>
                        <m:naryPr>
                          <m:ctrlPr>
                            <a:rPr lang="en-US" altLang="zh-CN" sz="2000" i="1">
                              <a:latin typeface="Cambria Math" panose="02040503050406030204" pitchFamily="18" charset="0"/>
                              <a:ea typeface="微软雅黑" panose="020B0503020204020204" pitchFamily="34" charset="-122"/>
                            </a:rPr>
                          </m:ctrlPr>
                        </m:naryPr>
                        <m:sub>
                          <m:r>
                            <a:rPr lang="en-US" altLang="zh-CN" sz="2000" b="0" i="1" smtClean="0">
                              <a:latin typeface="Cambria Math" panose="02040503050406030204" pitchFamily="18" charset="0"/>
                              <a:ea typeface="微软雅黑" panose="020B0503020204020204" pitchFamily="34" charset="-122"/>
                            </a:rPr>
                            <m:t>−∞</m:t>
                          </m:r>
                        </m:sub>
                        <m:sup>
                          <m:r>
                            <a:rPr lang="en-US" altLang="zh-CN" sz="2000" i="1">
                              <a:latin typeface="Cambria Math" panose="02040503050406030204" pitchFamily="18" charset="0"/>
                              <a:ea typeface="微软雅黑" panose="020B0503020204020204" pitchFamily="34" charset="-122"/>
                            </a:rPr>
                            <m:t>∞</m:t>
                          </m:r>
                        </m:sup>
                        <m:e>
                          <m:r>
                            <a:rPr lang="en-US" altLang="zh-CN" sz="2000" b="0" i="1" smtClean="0">
                              <a:solidFill>
                                <a:srgbClr val="FF0000"/>
                              </a:solidFill>
                              <a:latin typeface="Cambria Math" panose="02040503050406030204" pitchFamily="18" charset="0"/>
                              <a:ea typeface="微软雅黑" panose="020B0503020204020204" pitchFamily="34" charset="-122"/>
                            </a:rPr>
                            <m:t>𝐹</m:t>
                          </m:r>
                          <m:d>
                            <m:dPr>
                              <m:ctrlPr>
                                <a:rPr lang="en-US" altLang="zh-CN" sz="2000" b="0" i="1" smtClean="0">
                                  <a:solidFill>
                                    <a:srgbClr val="FF0000"/>
                                  </a:solidFill>
                                  <a:latin typeface="Cambria Math" panose="02040503050406030204" pitchFamily="18" charset="0"/>
                                  <a:ea typeface="微软雅黑" panose="020B0503020204020204" pitchFamily="34" charset="-122"/>
                                </a:rPr>
                              </m:ctrlPr>
                            </m:dPr>
                            <m:e>
                              <m:r>
                                <a:rPr lang="en-US" altLang="zh-CN" sz="2000" b="0" i="1" smtClean="0">
                                  <a:solidFill>
                                    <a:srgbClr val="FF0000"/>
                                  </a:solidFill>
                                  <a:latin typeface="Cambria Math" panose="02040503050406030204" pitchFamily="18" charset="0"/>
                                  <a:ea typeface="微软雅黑" panose="020B0503020204020204" pitchFamily="34" charset="-122"/>
                                </a:rPr>
                                <m:t>𝜔</m:t>
                              </m:r>
                            </m:e>
                          </m:d>
                          <m:sSup>
                            <m:sSupPr>
                              <m:ctrlPr>
                                <a:rPr lang="en-US" altLang="zh-CN" sz="2000" b="0" i="1" smtClean="0">
                                  <a:latin typeface="Cambria Math" panose="02040503050406030204" pitchFamily="18" charset="0"/>
                                  <a:ea typeface="微软雅黑" panose="020B0503020204020204" pitchFamily="34" charset="-122"/>
                                </a:rPr>
                              </m:ctrlPr>
                            </m:sSupPr>
                            <m:e>
                              <m:r>
                                <a:rPr lang="en-US" altLang="zh-CN" sz="2000" b="0" i="1" smtClean="0">
                                  <a:latin typeface="Cambria Math" panose="02040503050406030204" pitchFamily="18" charset="0"/>
                                  <a:ea typeface="微软雅黑" panose="020B0503020204020204" pitchFamily="34" charset="-122"/>
                                </a:rPr>
                                <m:t>𝑒</m:t>
                              </m:r>
                            </m:e>
                            <m:sup>
                              <m:r>
                                <a:rPr lang="en-US" altLang="zh-CN" sz="2000" b="0" i="1" smtClean="0">
                                  <a:latin typeface="Cambria Math" panose="02040503050406030204" pitchFamily="18" charset="0"/>
                                  <a:ea typeface="微软雅黑" panose="020B0503020204020204" pitchFamily="34" charset="-122"/>
                                </a:rPr>
                                <m:t>𝑖</m:t>
                              </m:r>
                              <m:r>
                                <a:rPr lang="en-US" altLang="zh-CN" sz="2000" b="0" i="1" smtClean="0">
                                  <a:latin typeface="Cambria Math" panose="02040503050406030204" pitchFamily="18" charset="0"/>
                                  <a:ea typeface="微软雅黑" panose="020B0503020204020204" pitchFamily="34" charset="-122"/>
                                </a:rPr>
                                <m:t>𝜔</m:t>
                              </m:r>
                              <m:r>
                                <a:rPr lang="en-US" altLang="zh-CN" sz="2000" b="0" i="1" smtClean="0">
                                  <a:latin typeface="Cambria Math" panose="02040503050406030204" pitchFamily="18" charset="0"/>
                                  <a:ea typeface="微软雅黑" panose="020B0503020204020204" pitchFamily="34" charset="-122"/>
                                </a:rPr>
                                <m:t>𝑥</m:t>
                              </m:r>
                            </m:sup>
                          </m:sSup>
                        </m:e>
                      </m:nary>
                      <m:r>
                        <m:rPr>
                          <m:sty m:val="p"/>
                        </m:rPr>
                        <a:rPr lang="en-US" altLang="zh-CN" sz="2000" b="0" i="0" smtClean="0">
                          <a:latin typeface="Cambria Math" panose="02040503050406030204" pitchFamily="18" charset="0"/>
                          <a:ea typeface="微软雅黑" panose="020B0503020204020204" pitchFamily="34" charset="-122"/>
                        </a:rPr>
                        <m:t>d</m:t>
                      </m:r>
                      <m:r>
                        <a:rPr lang="en-US" altLang="zh-CN" sz="2000" b="0" i="1" smtClean="0">
                          <a:latin typeface="Cambria Math" panose="02040503050406030204" pitchFamily="18" charset="0"/>
                          <a:ea typeface="微软雅黑" panose="020B0503020204020204" pitchFamily="34" charset="-122"/>
                        </a:rPr>
                        <m:t>𝜔</m:t>
                      </m:r>
                    </m:oMath>
                  </m:oMathPara>
                </a14:m>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此时注意到展开系数</a:t>
                </a:r>
                <a14:m>
                  <m:oMath xmlns:m="http://schemas.openxmlformats.org/officeDocument/2006/math">
                    <m:r>
                      <a:rPr lang="en-US" altLang="zh-CN" sz="2000" i="1" smtClean="0">
                        <a:solidFill>
                          <a:schemeClr val="tx1"/>
                        </a:solidFill>
                        <a:latin typeface="Cambria Math" panose="02040503050406030204" pitchFamily="18" charset="0"/>
                        <a:ea typeface="微软雅黑" panose="020B0503020204020204" pitchFamily="34" charset="-122"/>
                      </a:rPr>
                      <m:t>𝐹</m:t>
                    </m:r>
                    <m:d>
                      <m:dPr>
                        <m:ctrlPr>
                          <a:rPr lang="en-US" altLang="zh-CN" sz="2000" i="1">
                            <a:solidFill>
                              <a:schemeClr val="tx1"/>
                            </a:solidFill>
                            <a:latin typeface="Cambria Math" panose="02040503050406030204" pitchFamily="18" charset="0"/>
                            <a:ea typeface="微软雅黑" panose="020B0503020204020204" pitchFamily="34" charset="-122"/>
                          </a:rPr>
                        </m:ctrlPr>
                      </m:dPr>
                      <m:e>
                        <m:r>
                          <a:rPr lang="en-US" altLang="zh-CN" sz="2000" i="1">
                            <a:solidFill>
                              <a:schemeClr val="tx1"/>
                            </a:solidFill>
                            <a:latin typeface="Cambria Math" panose="02040503050406030204" pitchFamily="18" charset="0"/>
                            <a:ea typeface="微软雅黑" panose="020B0503020204020204" pitchFamily="34" charset="-122"/>
                          </a:rPr>
                          <m:t>𝜔</m:t>
                        </m:r>
                      </m:e>
                    </m:d>
                  </m:oMath>
                </a14:m>
                <a:r>
                  <a:rPr lang="zh-CN" altLang="en-US" sz="2000" dirty="0" smtClean="0">
                    <a:latin typeface="微软雅黑" panose="020B0503020204020204" pitchFamily="34" charset="-122"/>
                    <a:ea typeface="微软雅黑" panose="020B0503020204020204" pitchFamily="34" charset="-122"/>
                  </a:rPr>
                  <a:t>变成了</a:t>
                </a:r>
                <a14:m>
                  <m:oMath xmlns:m="http://schemas.openxmlformats.org/officeDocument/2006/math">
                    <m:r>
                      <a:rPr lang="en-US" altLang="zh-CN" sz="2000" i="1">
                        <a:latin typeface="Cambria Math" panose="02040503050406030204" pitchFamily="18" charset="0"/>
                        <a:ea typeface="微软雅黑" panose="020B0503020204020204" pitchFamily="34" charset="-122"/>
                      </a:rPr>
                      <m:t>𝜔</m:t>
                    </m:r>
                  </m:oMath>
                </a14:m>
                <a:r>
                  <a:rPr lang="zh-CN" altLang="en-US" sz="2000" dirty="0" smtClean="0">
                    <a:latin typeface="微软雅黑" panose="020B0503020204020204" pitchFamily="34" charset="-122"/>
                    <a:ea typeface="微软雅黑" panose="020B0503020204020204" pitchFamily="34" charset="-122"/>
                  </a:rPr>
                  <a:t>的函数，我们得到了两组函数之间的关系：</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微软雅黑" panose="020B0503020204020204" pitchFamily="34" charset="-122"/>
                        </a:rPr>
                        <m:t>𝐹</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𝜔</m:t>
                          </m:r>
                        </m:e>
                      </m:d>
                      <m:r>
                        <a:rPr lang="en-US" altLang="zh-CN" sz="2000" i="1">
                          <a:latin typeface="Cambria Math" panose="02040503050406030204" pitchFamily="18" charset="0"/>
                          <a:ea typeface="微软雅黑" panose="020B0503020204020204" pitchFamily="34" charset="-122"/>
                        </a:rPr>
                        <m:t>=</m:t>
                      </m:r>
                      <m:f>
                        <m:fPr>
                          <m:ctrlPr>
                            <a:rPr lang="en-US" altLang="zh-CN" sz="2000" i="1">
                              <a:latin typeface="Cambria Math" panose="02040503050406030204" pitchFamily="18" charset="0"/>
                              <a:ea typeface="微软雅黑" panose="020B0503020204020204" pitchFamily="34" charset="-122"/>
                            </a:rPr>
                          </m:ctrlPr>
                        </m:fPr>
                        <m:num>
                          <m:r>
                            <a:rPr lang="en-US" altLang="zh-CN" sz="2000" i="1">
                              <a:latin typeface="Cambria Math" panose="02040503050406030204" pitchFamily="18" charset="0"/>
                              <a:ea typeface="微软雅黑" panose="020B0503020204020204" pitchFamily="34" charset="-122"/>
                            </a:rPr>
                            <m:t>1</m:t>
                          </m:r>
                        </m:num>
                        <m:den>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den>
                      </m:f>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m:t>
                          </m:r>
                        </m:sub>
                        <m:sup>
                          <m:r>
                            <a:rPr lang="en-US" altLang="zh-CN" sz="2000" i="1">
                              <a:latin typeface="Cambria Math" panose="02040503050406030204" pitchFamily="18" charset="0"/>
                              <a:ea typeface="微软雅黑" panose="020B0503020204020204" pitchFamily="34" charset="-122"/>
                            </a:rPr>
                            <m:t>∞</m:t>
                          </m:r>
                        </m:sup>
                        <m:e>
                          <m:r>
                            <a:rPr lang="en-US" altLang="zh-CN" sz="2000" i="1">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sSup>
                            <m:sSupPr>
                              <m:ctrlPr>
                                <a:rPr lang="en-US" altLang="zh-CN" sz="2000" i="1">
                                  <a:latin typeface="Cambria Math" panose="02040503050406030204" pitchFamily="18" charset="0"/>
                                  <a:ea typeface="微软雅黑" panose="020B0503020204020204" pitchFamily="34" charset="-122"/>
                                </a:rPr>
                              </m:ctrlPr>
                            </m:sSupPr>
                            <m:e>
                              <m:r>
                                <a:rPr lang="en-US" altLang="zh-CN" sz="2000" i="1">
                                  <a:latin typeface="Cambria Math" panose="02040503050406030204" pitchFamily="18" charset="0"/>
                                  <a:ea typeface="微软雅黑" panose="020B0503020204020204" pitchFamily="34" charset="-122"/>
                                </a:rPr>
                                <m:t>𝑒</m:t>
                              </m:r>
                            </m:e>
                            <m:sup>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𝑖</m:t>
                              </m:r>
                              <m:r>
                                <a:rPr lang="en-US" altLang="zh-CN" sz="2000" i="1">
                                  <a:latin typeface="Cambria Math" panose="02040503050406030204" pitchFamily="18" charset="0"/>
                                  <a:ea typeface="微软雅黑" panose="020B0503020204020204" pitchFamily="34" charset="-122"/>
                                </a:rPr>
                                <m:t>𝜔</m:t>
                              </m:r>
                              <m:r>
                                <a:rPr lang="en-US" altLang="zh-CN" sz="2000" i="1">
                                  <a:latin typeface="Cambria Math" panose="02040503050406030204" pitchFamily="18" charset="0"/>
                                  <a:ea typeface="微软雅黑" panose="020B0503020204020204" pitchFamily="34" charset="-122"/>
                                </a:rPr>
                                <m:t>𝑥</m:t>
                              </m:r>
                            </m:sup>
                          </m:sSup>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oMath>
                  </m:oMathPara>
                </a14:m>
                <a:endParaRPr lang="en-US" altLang="zh-CN" sz="2000"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r>
                        <a:rPr lang="en-US" altLang="zh-CN" sz="2000" b="0" i="1" smtClean="0">
                          <a:latin typeface="Cambria Math" panose="02040503050406030204" pitchFamily="18" charset="0"/>
                          <a:ea typeface="微软雅黑" panose="020B0503020204020204" pitchFamily="34" charset="-122"/>
                        </a:rPr>
                        <m:t>=</m:t>
                      </m:r>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m:t>
                          </m:r>
                        </m:sub>
                        <m:sup>
                          <m:r>
                            <a:rPr lang="en-US" altLang="zh-CN" sz="2000" i="1">
                              <a:latin typeface="Cambria Math" panose="02040503050406030204" pitchFamily="18" charset="0"/>
                              <a:ea typeface="微软雅黑" panose="020B0503020204020204" pitchFamily="34" charset="-122"/>
                            </a:rPr>
                            <m:t>∞</m:t>
                          </m:r>
                        </m:sup>
                        <m:e>
                          <m:sSup>
                            <m:sSupPr>
                              <m:ctrlPr>
                                <a:rPr lang="en-US" altLang="zh-CN" sz="2000" i="1">
                                  <a:latin typeface="Cambria Math" panose="02040503050406030204" pitchFamily="18" charset="0"/>
                                  <a:ea typeface="微软雅黑" panose="020B0503020204020204" pitchFamily="34" charset="-122"/>
                                </a:rPr>
                              </m:ctrlPr>
                            </m:sSupPr>
                            <m:e>
                              <m:r>
                                <a:rPr lang="en-US" altLang="zh-CN" sz="2000" b="0" i="1" smtClean="0">
                                  <a:solidFill>
                                    <a:schemeClr val="tx1"/>
                                  </a:solidFill>
                                  <a:latin typeface="Cambria Math" panose="02040503050406030204" pitchFamily="18" charset="0"/>
                                  <a:ea typeface="微软雅黑" panose="020B0503020204020204" pitchFamily="34" charset="-122"/>
                                </a:rPr>
                                <m:t>𝐹</m:t>
                              </m:r>
                              <m:d>
                                <m:dPr>
                                  <m:ctrlPr>
                                    <a:rPr lang="en-US" altLang="zh-CN" sz="2000" i="1">
                                      <a:solidFill>
                                        <a:schemeClr val="tx1"/>
                                      </a:solidFill>
                                      <a:latin typeface="Cambria Math" panose="02040503050406030204" pitchFamily="18" charset="0"/>
                                      <a:ea typeface="微软雅黑" panose="020B0503020204020204" pitchFamily="34" charset="-122"/>
                                    </a:rPr>
                                  </m:ctrlPr>
                                </m:dPr>
                                <m:e>
                                  <m:r>
                                    <a:rPr lang="en-US" altLang="zh-CN" sz="2000" b="0" i="1">
                                      <a:solidFill>
                                        <a:schemeClr val="tx1"/>
                                      </a:solidFill>
                                      <a:latin typeface="Cambria Math" panose="02040503050406030204" pitchFamily="18" charset="0"/>
                                      <a:ea typeface="微软雅黑" panose="020B0503020204020204" pitchFamily="34" charset="-122"/>
                                    </a:rPr>
                                    <m:t>𝜔</m:t>
                                  </m:r>
                                </m:e>
                              </m:d>
                              <m:r>
                                <a:rPr lang="en-US" altLang="zh-CN" sz="2000" i="1">
                                  <a:latin typeface="Cambria Math" panose="02040503050406030204" pitchFamily="18" charset="0"/>
                                  <a:ea typeface="微软雅黑" panose="020B0503020204020204" pitchFamily="34" charset="-122"/>
                                </a:rPr>
                                <m:t>𝑒</m:t>
                              </m:r>
                            </m:e>
                            <m:sup>
                              <m:r>
                                <a:rPr lang="en-US" altLang="zh-CN" sz="2000" i="1">
                                  <a:latin typeface="Cambria Math" panose="02040503050406030204" pitchFamily="18" charset="0"/>
                                  <a:ea typeface="微软雅黑" panose="020B0503020204020204" pitchFamily="34" charset="-122"/>
                                </a:rPr>
                                <m:t>𝑖</m:t>
                              </m:r>
                              <m:r>
                                <a:rPr lang="en-US" altLang="zh-CN" sz="2000" i="1">
                                  <a:latin typeface="Cambria Math" panose="02040503050406030204" pitchFamily="18" charset="0"/>
                                  <a:ea typeface="微软雅黑" panose="020B0503020204020204" pitchFamily="34" charset="-122"/>
                                </a:rPr>
                                <m:t>𝜔</m:t>
                              </m:r>
                              <m:r>
                                <a:rPr lang="en-US" altLang="zh-CN" sz="2000" i="1">
                                  <a:latin typeface="Cambria Math" panose="02040503050406030204" pitchFamily="18" charset="0"/>
                                  <a:ea typeface="微软雅黑" panose="020B0503020204020204" pitchFamily="34" charset="-122"/>
                                </a:rPr>
                                <m:t>𝑥</m:t>
                              </m:r>
                            </m:sup>
                          </m:sSup>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𝜔</m:t>
                      </m:r>
                    </m:oMath>
                  </m:oMathPara>
                </a14:m>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称前者为傅里叶正变换，后者为傅里叶逆变换</a:t>
                </a:r>
                <a:endParaRPr lang="en-US" altLang="zh-CN" sz="2000" dirty="0" smtClean="0">
                  <a:latin typeface="微软雅黑" panose="020B0503020204020204" pitchFamily="34" charset="-122"/>
                  <a:ea typeface="微软雅黑" panose="020B0503020204020204" pitchFamily="34"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337185" y="1667367"/>
                <a:ext cx="11478999" cy="4045338"/>
              </a:xfrm>
              <a:prstGeom prst="rect">
                <a:avLst/>
              </a:prstGeom>
              <a:blipFill rotWithShape="0">
                <a:blip r:embed="rId5"/>
                <a:stretch>
                  <a:fillRect l="-531" b="-45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25304882"/>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Fourier transformation</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418147" y="777875"/>
                <a:ext cx="11478999" cy="438645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altLang="zh-CN" sz="1600" i="1" smtClean="0">
                          <a:latin typeface="Cambria Math" panose="02040503050406030204" pitchFamily="18" charset="0"/>
                          <a:ea typeface="微软雅黑" panose="020B0503020204020204" pitchFamily="34" charset="-122"/>
                        </a:rPr>
                        <m:t>𝑓</m:t>
                      </m:r>
                      <m:d>
                        <m:dPr>
                          <m:ctrlPr>
                            <a:rPr lang="en-US" altLang="zh-CN" sz="1600" i="1">
                              <a:latin typeface="Cambria Math" panose="02040503050406030204" pitchFamily="18" charset="0"/>
                              <a:ea typeface="微软雅黑" panose="020B0503020204020204" pitchFamily="34" charset="-122"/>
                            </a:rPr>
                          </m:ctrlPr>
                        </m:dPr>
                        <m:e>
                          <m:r>
                            <a:rPr lang="en-US" altLang="zh-CN" sz="1600" b="0" i="1" smtClean="0">
                              <a:latin typeface="Cambria Math" panose="02040503050406030204" pitchFamily="18" charset="0"/>
                              <a:ea typeface="微软雅黑" panose="020B0503020204020204" pitchFamily="34" charset="-122"/>
                            </a:rPr>
                            <m:t>𝑡</m:t>
                          </m:r>
                        </m:e>
                      </m:d>
                      <m:r>
                        <a:rPr lang="en-US" altLang="zh-CN" sz="1600" b="0" i="1" smtClean="0">
                          <a:latin typeface="Cambria Math" panose="02040503050406030204" pitchFamily="18" charset="0"/>
                          <a:ea typeface="微软雅黑" panose="020B0503020204020204" pitchFamily="34" charset="-122"/>
                        </a:rPr>
                        <m:t>=</m:t>
                      </m:r>
                      <m:nary>
                        <m:naryPr>
                          <m:ctrlPr>
                            <a:rPr lang="en-US" altLang="zh-CN" sz="1600" i="1">
                              <a:latin typeface="Cambria Math" panose="02040503050406030204" pitchFamily="18" charset="0"/>
                              <a:ea typeface="微软雅黑" panose="020B0503020204020204" pitchFamily="34" charset="-122"/>
                            </a:rPr>
                          </m:ctrlPr>
                        </m:naryPr>
                        <m:sub>
                          <m:r>
                            <a:rPr lang="en-US" altLang="zh-CN" sz="1600" i="1">
                              <a:latin typeface="Cambria Math" panose="02040503050406030204" pitchFamily="18" charset="0"/>
                              <a:ea typeface="微软雅黑" panose="020B0503020204020204" pitchFamily="34" charset="-122"/>
                            </a:rPr>
                            <m:t>−∞</m:t>
                          </m:r>
                        </m:sub>
                        <m:sup>
                          <m:r>
                            <a:rPr lang="en-US" altLang="zh-CN" sz="1600" i="1">
                              <a:latin typeface="Cambria Math" panose="02040503050406030204" pitchFamily="18" charset="0"/>
                              <a:ea typeface="微软雅黑" panose="020B0503020204020204" pitchFamily="34" charset="-122"/>
                            </a:rPr>
                            <m:t>∞</m:t>
                          </m:r>
                        </m:sup>
                        <m:e>
                          <m:sSup>
                            <m:sSupPr>
                              <m:ctrlPr>
                                <a:rPr lang="en-US" altLang="zh-CN" sz="1600" i="1">
                                  <a:latin typeface="Cambria Math" panose="02040503050406030204" pitchFamily="18" charset="0"/>
                                  <a:ea typeface="微软雅黑" panose="020B0503020204020204" pitchFamily="34" charset="-122"/>
                                </a:rPr>
                              </m:ctrlPr>
                            </m:sSupPr>
                            <m:e>
                              <m:r>
                                <a:rPr lang="en-US" altLang="zh-CN" sz="1600" b="0" i="1" smtClean="0">
                                  <a:solidFill>
                                    <a:schemeClr val="tx1"/>
                                  </a:solidFill>
                                  <a:latin typeface="Cambria Math" panose="02040503050406030204" pitchFamily="18" charset="0"/>
                                  <a:ea typeface="微软雅黑" panose="020B0503020204020204" pitchFamily="34" charset="-122"/>
                                </a:rPr>
                                <m:t>𝐹</m:t>
                              </m:r>
                              <m:d>
                                <m:dPr>
                                  <m:ctrlPr>
                                    <a:rPr lang="en-US" altLang="zh-CN" sz="1600" i="1">
                                      <a:solidFill>
                                        <a:schemeClr val="tx1"/>
                                      </a:solidFill>
                                      <a:latin typeface="Cambria Math" panose="02040503050406030204" pitchFamily="18" charset="0"/>
                                      <a:ea typeface="微软雅黑" panose="020B0503020204020204" pitchFamily="34" charset="-122"/>
                                    </a:rPr>
                                  </m:ctrlPr>
                                </m:dPr>
                                <m:e>
                                  <m:r>
                                    <a:rPr lang="en-US" altLang="zh-CN" sz="1600" b="0" i="1">
                                      <a:solidFill>
                                        <a:schemeClr val="tx1"/>
                                      </a:solidFill>
                                      <a:latin typeface="Cambria Math" panose="02040503050406030204" pitchFamily="18" charset="0"/>
                                      <a:ea typeface="微软雅黑" panose="020B0503020204020204" pitchFamily="34" charset="-122"/>
                                    </a:rPr>
                                    <m:t>𝜔</m:t>
                                  </m:r>
                                </m:e>
                              </m:d>
                              <m:r>
                                <a:rPr lang="en-US" altLang="zh-CN" sz="1600" i="1">
                                  <a:latin typeface="Cambria Math" panose="02040503050406030204" pitchFamily="18" charset="0"/>
                                  <a:ea typeface="微软雅黑" panose="020B0503020204020204" pitchFamily="34" charset="-122"/>
                                </a:rPr>
                                <m:t>𝑒</m:t>
                              </m:r>
                            </m:e>
                            <m:sup>
                              <m:r>
                                <a:rPr lang="en-US" altLang="zh-CN" sz="1600" i="1">
                                  <a:latin typeface="Cambria Math" panose="02040503050406030204" pitchFamily="18" charset="0"/>
                                  <a:ea typeface="微软雅黑" panose="020B0503020204020204" pitchFamily="34" charset="-122"/>
                                </a:rPr>
                                <m:t>𝑖</m:t>
                              </m:r>
                              <m:r>
                                <a:rPr lang="en-US" altLang="zh-CN" sz="1600" i="1">
                                  <a:latin typeface="Cambria Math" panose="02040503050406030204" pitchFamily="18" charset="0"/>
                                  <a:ea typeface="微软雅黑" panose="020B0503020204020204" pitchFamily="34" charset="-122"/>
                                </a:rPr>
                                <m:t>𝜔</m:t>
                              </m:r>
                              <m:r>
                                <a:rPr lang="en-US" altLang="zh-CN" sz="1600" b="0" i="1" smtClean="0">
                                  <a:latin typeface="Cambria Math" panose="02040503050406030204" pitchFamily="18" charset="0"/>
                                  <a:ea typeface="微软雅黑" panose="020B0503020204020204" pitchFamily="34" charset="-122"/>
                                </a:rPr>
                                <m:t>𝑡</m:t>
                              </m:r>
                            </m:sup>
                          </m:sSup>
                        </m:e>
                      </m:nary>
                      <m:r>
                        <m:rPr>
                          <m:sty m:val="p"/>
                        </m:rPr>
                        <a:rPr lang="en-US" altLang="zh-CN" sz="1600">
                          <a:latin typeface="Cambria Math" panose="02040503050406030204" pitchFamily="18" charset="0"/>
                          <a:ea typeface="微软雅黑" panose="020B0503020204020204" pitchFamily="34" charset="-122"/>
                        </a:rPr>
                        <m:t>d</m:t>
                      </m:r>
                      <m:r>
                        <a:rPr lang="en-US" altLang="zh-CN" sz="1600" i="1">
                          <a:latin typeface="Cambria Math" panose="02040503050406030204" pitchFamily="18" charset="0"/>
                          <a:ea typeface="微软雅黑" panose="020B0503020204020204" pitchFamily="34" charset="-122"/>
                        </a:rPr>
                        <m:t>𝜔</m:t>
                      </m:r>
                    </m:oMath>
                  </m:oMathPara>
                </a14:m>
                <a:endParaRPr lang="en-US" altLang="zh-CN" sz="1600" dirty="0">
                  <a:latin typeface="微软雅黑" panose="020B0503020204020204" pitchFamily="34" charset="-122"/>
                  <a:ea typeface="微软雅黑" panose="020B0503020204020204" pitchFamily="34" charset="-122"/>
                </a:endParaRPr>
              </a:p>
              <a:p>
                <a:pPr/>
                <a14:m>
                  <m:oMathPara xmlns:m="http://schemas.openxmlformats.org/officeDocument/2006/math">
                    <m:oMathParaPr>
                      <m:jc m:val="left"/>
                    </m:oMathParaPr>
                    <m:oMath xmlns:m="http://schemas.openxmlformats.org/officeDocument/2006/math">
                      <m:r>
                        <a:rPr lang="en-US" altLang="zh-CN" sz="1600" i="1">
                          <a:latin typeface="Cambria Math" panose="02040503050406030204" pitchFamily="18" charset="0"/>
                          <a:ea typeface="微软雅黑" panose="020B0503020204020204" pitchFamily="34" charset="-122"/>
                        </a:rPr>
                        <m:t>𝐹</m:t>
                      </m:r>
                      <m:d>
                        <m:dPr>
                          <m:ctrlPr>
                            <a:rPr lang="en-US" altLang="zh-CN" sz="1600" i="1">
                              <a:latin typeface="Cambria Math" panose="02040503050406030204" pitchFamily="18" charset="0"/>
                              <a:ea typeface="微软雅黑" panose="020B0503020204020204" pitchFamily="34" charset="-122"/>
                            </a:rPr>
                          </m:ctrlPr>
                        </m:dPr>
                        <m:e>
                          <m:r>
                            <a:rPr lang="en-US" altLang="zh-CN" sz="1600" i="1">
                              <a:latin typeface="Cambria Math" panose="02040503050406030204" pitchFamily="18" charset="0"/>
                              <a:ea typeface="微软雅黑" panose="020B0503020204020204" pitchFamily="34" charset="-122"/>
                            </a:rPr>
                            <m:t>𝜔</m:t>
                          </m:r>
                        </m:e>
                      </m:d>
                      <m:r>
                        <a:rPr lang="en-US" altLang="zh-CN" sz="1600" b="0" i="1" smtClean="0">
                          <a:latin typeface="Cambria Math" panose="02040503050406030204" pitchFamily="18" charset="0"/>
                          <a:ea typeface="微软雅黑" panose="020B0503020204020204" pitchFamily="34" charset="-122"/>
                        </a:rPr>
                        <m:t>=</m:t>
                      </m:r>
                      <m:f>
                        <m:fPr>
                          <m:ctrlPr>
                            <a:rPr lang="en-US" altLang="zh-CN" sz="1600" i="1">
                              <a:latin typeface="Cambria Math" panose="02040503050406030204" pitchFamily="18" charset="0"/>
                              <a:ea typeface="微软雅黑" panose="020B0503020204020204" pitchFamily="34" charset="-122"/>
                            </a:rPr>
                          </m:ctrlPr>
                        </m:fPr>
                        <m:num>
                          <m:r>
                            <a:rPr lang="en-US" altLang="zh-CN" sz="1600" i="1">
                              <a:latin typeface="Cambria Math" panose="02040503050406030204" pitchFamily="18" charset="0"/>
                              <a:ea typeface="微软雅黑" panose="020B0503020204020204" pitchFamily="34" charset="-122"/>
                            </a:rPr>
                            <m:t>1</m:t>
                          </m:r>
                        </m:num>
                        <m:den>
                          <m:r>
                            <a:rPr lang="en-US" altLang="zh-CN" sz="1600" i="1">
                              <a:latin typeface="Cambria Math" panose="02040503050406030204" pitchFamily="18" charset="0"/>
                              <a:ea typeface="微软雅黑" panose="020B0503020204020204" pitchFamily="34" charset="-122"/>
                            </a:rPr>
                            <m:t>2</m:t>
                          </m:r>
                          <m:r>
                            <a:rPr lang="en-US" altLang="zh-CN" sz="1600" i="1">
                              <a:latin typeface="Cambria Math" panose="02040503050406030204" pitchFamily="18" charset="0"/>
                              <a:ea typeface="微软雅黑" panose="020B0503020204020204" pitchFamily="34" charset="-122"/>
                            </a:rPr>
                            <m:t>𝜋</m:t>
                          </m:r>
                        </m:den>
                      </m:f>
                      <m:nary>
                        <m:naryPr>
                          <m:ctrlPr>
                            <a:rPr lang="en-US" altLang="zh-CN" sz="1600" i="1">
                              <a:latin typeface="Cambria Math" panose="02040503050406030204" pitchFamily="18" charset="0"/>
                              <a:ea typeface="微软雅黑" panose="020B0503020204020204" pitchFamily="34" charset="-122"/>
                            </a:rPr>
                          </m:ctrlPr>
                        </m:naryPr>
                        <m:sub>
                          <m:r>
                            <a:rPr lang="en-US" altLang="zh-CN" sz="1600" i="1">
                              <a:latin typeface="Cambria Math" panose="02040503050406030204" pitchFamily="18" charset="0"/>
                              <a:ea typeface="微软雅黑" panose="020B0503020204020204" pitchFamily="34" charset="-122"/>
                            </a:rPr>
                            <m:t>−∞</m:t>
                          </m:r>
                        </m:sub>
                        <m:sup>
                          <m:r>
                            <a:rPr lang="en-US" altLang="zh-CN" sz="1600" i="1">
                              <a:latin typeface="Cambria Math" panose="02040503050406030204" pitchFamily="18" charset="0"/>
                              <a:ea typeface="微软雅黑" panose="020B0503020204020204" pitchFamily="34" charset="-122"/>
                            </a:rPr>
                            <m:t>∞</m:t>
                          </m:r>
                        </m:sup>
                        <m:e>
                          <m:r>
                            <a:rPr lang="en-US" altLang="zh-CN" sz="1600" i="1">
                              <a:latin typeface="Cambria Math" panose="02040503050406030204" pitchFamily="18" charset="0"/>
                              <a:ea typeface="微软雅黑" panose="020B0503020204020204" pitchFamily="34" charset="-122"/>
                            </a:rPr>
                            <m:t>𝑓</m:t>
                          </m:r>
                          <m:d>
                            <m:dPr>
                              <m:ctrlPr>
                                <a:rPr lang="en-US" altLang="zh-CN" sz="1600" i="1">
                                  <a:latin typeface="Cambria Math" panose="02040503050406030204" pitchFamily="18" charset="0"/>
                                  <a:ea typeface="微软雅黑" panose="020B0503020204020204" pitchFamily="34" charset="-122"/>
                                </a:rPr>
                              </m:ctrlPr>
                            </m:dPr>
                            <m:e>
                              <m:r>
                                <a:rPr lang="en-US" altLang="zh-CN" sz="1600" b="0" i="1" smtClean="0">
                                  <a:latin typeface="Cambria Math" panose="02040503050406030204" pitchFamily="18" charset="0"/>
                                  <a:ea typeface="微软雅黑" panose="020B0503020204020204" pitchFamily="34" charset="-122"/>
                                </a:rPr>
                                <m:t>𝑡</m:t>
                              </m:r>
                            </m:e>
                          </m:d>
                          <m:sSup>
                            <m:sSupPr>
                              <m:ctrlPr>
                                <a:rPr lang="en-US" altLang="zh-CN" sz="1600" i="1">
                                  <a:latin typeface="Cambria Math" panose="02040503050406030204" pitchFamily="18" charset="0"/>
                                  <a:ea typeface="微软雅黑" panose="020B0503020204020204" pitchFamily="34" charset="-122"/>
                                </a:rPr>
                              </m:ctrlPr>
                            </m:sSupPr>
                            <m:e>
                              <m:r>
                                <a:rPr lang="en-US" altLang="zh-CN" sz="1600" i="1">
                                  <a:latin typeface="Cambria Math" panose="02040503050406030204" pitchFamily="18" charset="0"/>
                                  <a:ea typeface="微软雅黑" panose="020B0503020204020204" pitchFamily="34" charset="-122"/>
                                </a:rPr>
                                <m:t>𝑒</m:t>
                              </m:r>
                            </m:e>
                            <m:sup>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𝑖</m:t>
                              </m:r>
                              <m:r>
                                <a:rPr lang="en-US" altLang="zh-CN" sz="1600" i="1" smtClean="0">
                                  <a:solidFill>
                                    <a:schemeClr val="tx1"/>
                                  </a:solidFill>
                                  <a:latin typeface="Cambria Math" panose="02040503050406030204" pitchFamily="18" charset="0"/>
                                  <a:ea typeface="微软雅黑" panose="020B0503020204020204" pitchFamily="34" charset="-122"/>
                                </a:rPr>
                                <m:t>𝜔</m:t>
                              </m:r>
                              <m:r>
                                <a:rPr lang="en-US" altLang="zh-CN" sz="1600" b="0" i="1" smtClean="0">
                                  <a:solidFill>
                                    <a:schemeClr val="tx1"/>
                                  </a:solidFill>
                                  <a:latin typeface="Cambria Math" panose="02040503050406030204" pitchFamily="18" charset="0"/>
                                  <a:ea typeface="微软雅黑" panose="020B0503020204020204" pitchFamily="34" charset="-122"/>
                                </a:rPr>
                                <m:t>𝑡</m:t>
                              </m:r>
                            </m:sup>
                          </m:sSup>
                        </m:e>
                      </m:nary>
                      <m:r>
                        <m:rPr>
                          <m:sty m:val="p"/>
                        </m:rPr>
                        <a:rPr lang="en-US" altLang="zh-CN" sz="1600">
                          <a:latin typeface="Cambria Math" panose="02040503050406030204" pitchFamily="18" charset="0"/>
                          <a:ea typeface="微软雅黑" panose="020B0503020204020204" pitchFamily="34" charset="-122"/>
                        </a:rPr>
                        <m:t>d</m:t>
                      </m:r>
                      <m:r>
                        <a:rPr lang="en-US" altLang="zh-CN" sz="1600" b="0" i="1" smtClean="0">
                          <a:latin typeface="Cambria Math" panose="02040503050406030204" pitchFamily="18" charset="0"/>
                          <a:ea typeface="微软雅黑" panose="020B0503020204020204" pitchFamily="34" charset="-122"/>
                        </a:rPr>
                        <m:t>𝑡</m:t>
                      </m:r>
                    </m:oMath>
                  </m:oMathPara>
                </a14:m>
                <a:endParaRPr lang="en-US" altLang="zh-CN" sz="1600" i="1"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如何</a:t>
                </a:r>
                <a:r>
                  <a:rPr lang="zh-CN" altLang="en-US" sz="2000" dirty="0">
                    <a:latin typeface="微软雅黑" panose="020B0503020204020204" pitchFamily="34" charset="-122"/>
                    <a:ea typeface="微软雅黑" panose="020B0503020204020204" pitchFamily="34" charset="-122"/>
                  </a:rPr>
                  <a:t>在物理上理解傅里叶正变换与逆变换</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某个信号源发射的信号强度，可以也通常用其与时间</a:t>
                </a:r>
                <a:r>
                  <a:rPr lang="zh-CN" altLang="en-US" sz="2000" dirty="0">
                    <a:latin typeface="微软雅黑" panose="020B0503020204020204" pitchFamily="34" charset="-122"/>
                    <a:ea typeface="微软雅黑" panose="020B0503020204020204" pitchFamily="34" charset="-122"/>
                  </a:rPr>
                  <a:t>的函数</a:t>
                </a:r>
                <a14:m>
                  <m:oMath xmlns:m="http://schemas.openxmlformats.org/officeDocument/2006/math">
                    <m:r>
                      <a:rPr lang="en-US" altLang="zh-CN" sz="2000" i="1">
                        <a:latin typeface="Cambria Math" panose="02040503050406030204" pitchFamily="18" charset="0"/>
                        <a:ea typeface="微软雅黑" panose="020B0503020204020204" pitchFamily="34" charset="-122"/>
                      </a:rPr>
                      <m:t>𝑓</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𝑡</m:t>
                        </m:r>
                      </m:e>
                    </m:d>
                  </m:oMath>
                </a14:m>
                <a:r>
                  <a:rPr lang="zh-CN" altLang="en-US" sz="2000" dirty="0" smtClean="0">
                    <a:latin typeface="微软雅黑" panose="020B0503020204020204" pitchFamily="34" charset="-122"/>
                    <a:ea typeface="微软雅黑" panose="020B0503020204020204" pitchFamily="34" charset="-122"/>
                  </a:rPr>
                  <a:t>描述</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但时间并不是刻画信号唯一的变量，或者说，这种刻画方式只是将信号源的信息压缩到了</a:t>
                </a:r>
                <a:r>
                  <a:rPr lang="zh-CN" altLang="en-US" sz="2000" dirty="0" smtClean="0">
                    <a:solidFill>
                      <a:srgbClr val="FF0000"/>
                    </a:solidFill>
                    <a:latin typeface="微软雅黑" panose="020B0503020204020204" pitchFamily="34" charset="-122"/>
                    <a:ea typeface="微软雅黑" panose="020B0503020204020204" pitchFamily="34" charset="-122"/>
                  </a:rPr>
                  <a:t>时域</a:t>
                </a:r>
                <a:r>
                  <a:rPr lang="zh-CN" altLang="en-US" sz="2000" dirty="0" smtClean="0">
                    <a:latin typeface="微软雅黑" panose="020B0503020204020204" pitchFamily="34" charset="-122"/>
                    <a:ea typeface="微软雅黑" panose="020B0503020204020204" pitchFamily="34" charset="-122"/>
                  </a:rPr>
                  <a:t>这一个空间上</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通过傅里叶变换，我们将信号的信息投影到另外一个空间里：</a:t>
                </a:r>
                <a:r>
                  <a:rPr lang="zh-CN" altLang="en-US" sz="2000" dirty="0" smtClean="0">
                    <a:solidFill>
                      <a:srgbClr val="FF0000"/>
                    </a:solidFill>
                    <a:latin typeface="微软雅黑" panose="020B0503020204020204" pitchFamily="34" charset="-122"/>
                    <a:ea typeface="微软雅黑" panose="020B0503020204020204" pitchFamily="34" charset="-122"/>
                  </a:rPr>
                  <a:t>频域</a:t>
                </a:r>
                <a:r>
                  <a:rPr lang="zh-CN" altLang="en-US" sz="2000" dirty="0" smtClean="0">
                    <a:latin typeface="微软雅黑" panose="020B0503020204020204" pitchFamily="34" charset="-122"/>
                    <a:ea typeface="微软雅黑" panose="020B0503020204020204" pitchFamily="34" charset="-122"/>
                  </a:rPr>
                  <a:t>，信号强度此时是频率</a:t>
                </a:r>
                <a14:m>
                  <m:oMath xmlns:m="http://schemas.openxmlformats.org/officeDocument/2006/math">
                    <m:r>
                      <a:rPr lang="en-US" altLang="zh-CN" sz="2000" i="1">
                        <a:latin typeface="Cambria Math" panose="02040503050406030204" pitchFamily="18" charset="0"/>
                        <a:ea typeface="微软雅黑" panose="020B0503020204020204" pitchFamily="34" charset="-122"/>
                      </a:rPr>
                      <m:t>𝜔</m:t>
                    </m:r>
                  </m:oMath>
                </a14:m>
                <a:r>
                  <a:rPr lang="zh-CN" altLang="en-US" sz="2000" dirty="0" smtClean="0">
                    <a:latin typeface="微软雅黑" panose="020B0503020204020204" pitchFamily="34" charset="-122"/>
                    <a:ea typeface="微软雅黑" panose="020B0503020204020204" pitchFamily="34" charset="-122"/>
                  </a:rPr>
                  <a:t>的函数</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这样</a:t>
                </a:r>
                <a:r>
                  <a:rPr lang="zh-CN" altLang="en-US" sz="2000" dirty="0" smtClean="0">
                    <a:latin typeface="微软雅黑" panose="020B0503020204020204" pitchFamily="34" charset="-122"/>
                    <a:ea typeface="微软雅黑" panose="020B0503020204020204" pitchFamily="34" charset="-122"/>
                  </a:rPr>
                  <a:t>做的好处是，周期函数在时域内分解时，通常是许多正弦曲线的叠加，而在频域内变成一个个离散的点</a:t>
                </a:r>
                <a:endParaRPr lang="en-US" altLang="zh-CN" sz="2000" dirty="0" smtClean="0">
                  <a:latin typeface="微软雅黑" panose="020B0503020204020204" pitchFamily="34" charset="-122"/>
                  <a:ea typeface="微软雅黑" panose="020B0503020204020204" pitchFamily="34"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418147" y="777875"/>
                <a:ext cx="11478999" cy="4386457"/>
              </a:xfrm>
              <a:prstGeom prst="rect">
                <a:avLst/>
              </a:prstGeom>
              <a:blipFill rotWithShape="0">
                <a:blip r:embed="rId5"/>
                <a:stretch>
                  <a:fillRect l="-584" b="-41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06581781"/>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Fourier transformation</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pic>
        <p:nvPicPr>
          <p:cNvPr id="2" name="图片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68737" y="1304746"/>
            <a:ext cx="7594604" cy="5400000"/>
          </a:xfrm>
          <a:prstGeom prst="rect">
            <a:avLst/>
          </a:prstGeom>
        </p:spPr>
      </p:pic>
      <p:sp>
        <p:nvSpPr>
          <p:cNvPr id="3" name="下箭头 2"/>
          <p:cNvSpPr/>
          <p:nvPr/>
        </p:nvSpPr>
        <p:spPr>
          <a:xfrm>
            <a:off x="3320632" y="3228975"/>
            <a:ext cx="533400" cy="1371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228600" y="3635414"/>
            <a:ext cx="3102309" cy="461665"/>
          </a:xfrm>
          <a:prstGeom prst="rect">
            <a:avLst/>
          </a:prstGeom>
          <a:noFill/>
        </p:spPr>
        <p:txBody>
          <a:bodyPr wrap="square" rtlCol="0">
            <a:spAutoFit/>
          </a:bodyPr>
          <a:lstStyle/>
          <a:p>
            <a:r>
              <a:rPr lang="en-US" altLang="zh-CN" sz="2400" dirty="0" smtClean="0"/>
              <a:t>Fourier transformation</a:t>
            </a:r>
            <a:endParaRPr lang="zh-CN" altLang="en-US" sz="2400" dirty="0"/>
          </a:p>
        </p:txBody>
      </p:sp>
    </p:spTree>
    <p:extLst>
      <p:ext uri="{BB962C8B-B14F-4D97-AF65-F5344CB8AC3E}">
        <p14:creationId xmlns:p14="http://schemas.microsoft.com/office/powerpoint/2010/main" val="2313532877"/>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Fourier transformation</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4" name="文本框 3"/>
          <p:cNvSpPr txBox="1"/>
          <p:nvPr/>
        </p:nvSpPr>
        <p:spPr>
          <a:xfrm>
            <a:off x="540385" y="1885771"/>
            <a:ext cx="11026139" cy="2862322"/>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傅里叶变换的思想不仅可以用在时频转换上，还可以用于位置和波矢，位置和动量之间的变换</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前者表现为晶体位置空间和倒易空间之间的变换（固体物理内容），后者表现为量子态位置表象和动量表象之间的变换，在量子力学部分将会遇见</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下面利用傅里叶变换重构</a:t>
            </a:r>
            <a:r>
              <a:rPr lang="en-US" altLang="zh-CN" sz="2000" dirty="0" smtClean="0">
                <a:latin typeface="微软雅黑" panose="020B0503020204020204" pitchFamily="34" charset="-122"/>
                <a:ea typeface="微软雅黑" panose="020B0503020204020204" pitchFamily="34" charset="-122"/>
              </a:rPr>
              <a:t>delta</a:t>
            </a:r>
            <a:r>
              <a:rPr lang="zh-CN" altLang="en-US" sz="2000" dirty="0" smtClean="0">
                <a:latin typeface="微软雅黑" panose="020B0503020204020204" pitchFamily="34" charset="-122"/>
                <a:ea typeface="微软雅黑" panose="020B0503020204020204" pitchFamily="34" charset="-122"/>
              </a:rPr>
              <a:t>函数的数学形式</a:t>
            </a:r>
            <a:endParaRPr lang="en-US" altLang="zh-CN" sz="200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78292694"/>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Delta function</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mc:Choice xmlns:a14="http://schemas.microsoft.com/office/drawing/2010/main" Requires="a14">
          <p:sp>
            <p:nvSpPr>
              <p:cNvPr id="2" name="文本框 1"/>
              <p:cNvSpPr txBox="1"/>
              <p:nvPr/>
            </p:nvSpPr>
            <p:spPr>
              <a:xfrm>
                <a:off x="1912540" y="1739205"/>
                <a:ext cx="8887460" cy="3330271"/>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对</a:t>
                </a:r>
                <a14:m>
                  <m:oMath xmlns:m="http://schemas.openxmlformats.org/officeDocument/2006/math">
                    <m:r>
                      <a:rPr lang="en-US" altLang="zh-CN" sz="2000" i="1">
                        <a:latin typeface="Cambria Math" panose="02040503050406030204" pitchFamily="18" charset="0"/>
                        <a:ea typeface="微软雅黑" panose="020B0503020204020204" pitchFamily="34" charset="-122"/>
                      </a:rPr>
                      <m:t>𝛿</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𝑥</m:t>
                            </m:r>
                          </m:e>
                          <m:sub>
                            <m:r>
                              <a:rPr lang="en-US" altLang="zh-CN" sz="2000" i="1">
                                <a:latin typeface="Cambria Math" panose="02040503050406030204" pitchFamily="18" charset="0"/>
                                <a:ea typeface="微软雅黑" panose="020B0503020204020204" pitchFamily="34" charset="-122"/>
                              </a:rPr>
                              <m:t>0</m:t>
                            </m:r>
                          </m:sub>
                        </m:sSub>
                      </m:e>
                    </m:d>
                  </m:oMath>
                </a14:m>
                <a:r>
                  <a:rPr lang="zh-CN" altLang="en-US" sz="2000" dirty="0" smtClean="0">
                    <a:latin typeface="微软雅黑" panose="020B0503020204020204" pitchFamily="34" charset="-122"/>
                    <a:ea typeface="微软雅黑" panose="020B0503020204020204" pitchFamily="34" charset="-122"/>
                  </a:rPr>
                  <a:t>做傅里叶变换：</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𝐹</m:t>
                      </m:r>
                      <m:d>
                        <m:dPr>
                          <m:ctrlPr>
                            <a:rPr lang="en-US" altLang="zh-CN" sz="2000" b="0" i="1" smtClean="0">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𝜔</m:t>
                          </m:r>
                        </m:e>
                      </m:d>
                      <m:r>
                        <a:rPr lang="en-US" altLang="zh-CN" sz="2000" b="0" i="1" smtClean="0">
                          <a:latin typeface="Cambria Math" panose="02040503050406030204" pitchFamily="18" charset="0"/>
                          <a:ea typeface="微软雅黑" panose="020B0503020204020204" pitchFamily="34" charset="-122"/>
                        </a:rPr>
                        <m:t>=</m:t>
                      </m:r>
                      <m:f>
                        <m:fPr>
                          <m:ctrlPr>
                            <a:rPr lang="en-US" altLang="zh-CN" sz="2000" b="0" i="1" smtClean="0">
                              <a:latin typeface="Cambria Math" panose="02040503050406030204" pitchFamily="18" charset="0"/>
                              <a:ea typeface="微软雅黑" panose="020B0503020204020204" pitchFamily="34" charset="-122"/>
                            </a:rPr>
                          </m:ctrlPr>
                        </m:fPr>
                        <m:num>
                          <m:r>
                            <a:rPr lang="en-US" altLang="zh-CN" sz="2000" b="0" i="1" smtClean="0">
                              <a:latin typeface="Cambria Math" panose="02040503050406030204" pitchFamily="18" charset="0"/>
                              <a:ea typeface="微软雅黑" panose="020B0503020204020204" pitchFamily="34" charset="-122"/>
                            </a:rPr>
                            <m:t>1</m:t>
                          </m:r>
                        </m:num>
                        <m:den>
                          <m:r>
                            <a:rPr lang="en-US" altLang="zh-CN" sz="2000" b="0" i="1" smtClean="0">
                              <a:latin typeface="Cambria Math" panose="02040503050406030204" pitchFamily="18" charset="0"/>
                              <a:ea typeface="微软雅黑" panose="020B0503020204020204" pitchFamily="34" charset="-122"/>
                            </a:rPr>
                            <m:t>2</m:t>
                          </m:r>
                          <m:r>
                            <a:rPr lang="en-US" altLang="zh-CN" sz="2000" b="0" i="1" smtClean="0">
                              <a:latin typeface="Cambria Math" panose="02040503050406030204" pitchFamily="18" charset="0"/>
                              <a:ea typeface="微软雅黑" panose="020B0503020204020204" pitchFamily="34" charset="-122"/>
                            </a:rPr>
                            <m:t>𝜋</m:t>
                          </m:r>
                        </m:den>
                      </m:f>
                      <m:nary>
                        <m:naryPr>
                          <m:ctrlPr>
                            <a:rPr lang="en-US" altLang="zh-CN" sz="2000" b="0" i="1" smtClean="0">
                              <a:latin typeface="Cambria Math" panose="02040503050406030204" pitchFamily="18" charset="0"/>
                              <a:ea typeface="微软雅黑" panose="020B0503020204020204" pitchFamily="34" charset="-122"/>
                            </a:rPr>
                          </m:ctrlPr>
                        </m:naryPr>
                        <m:sub>
                          <m:r>
                            <m:rPr>
                              <m:brk m:alnAt="23"/>
                            </m:rP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m:t>
                          </m:r>
                        </m:sub>
                        <m:sup>
                          <m:r>
                            <a:rPr lang="en-US" altLang="zh-CN" sz="2000" b="0" i="1" smtClean="0">
                              <a:latin typeface="Cambria Math" panose="02040503050406030204" pitchFamily="18" charset="0"/>
                              <a:ea typeface="微软雅黑" panose="020B0503020204020204" pitchFamily="34" charset="-122"/>
                            </a:rPr>
                            <m:t>∞</m:t>
                          </m:r>
                        </m:sup>
                        <m:e>
                          <m:r>
                            <a:rPr lang="en-US" altLang="zh-CN" sz="2000" i="1">
                              <a:latin typeface="Cambria Math" panose="02040503050406030204" pitchFamily="18" charset="0"/>
                              <a:ea typeface="微软雅黑" panose="020B0503020204020204" pitchFamily="34" charset="-122"/>
                            </a:rPr>
                            <m:t>𝛿</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𝑥</m:t>
                                  </m:r>
                                </m:e>
                                <m:sub>
                                  <m:r>
                                    <a:rPr lang="en-US" altLang="zh-CN" sz="2000" i="1">
                                      <a:latin typeface="Cambria Math" panose="02040503050406030204" pitchFamily="18" charset="0"/>
                                      <a:ea typeface="微软雅黑" panose="020B0503020204020204" pitchFamily="34" charset="-122"/>
                                    </a:rPr>
                                    <m:t>0</m:t>
                                  </m:r>
                                </m:sub>
                              </m:sSub>
                            </m:e>
                          </m:d>
                          <m:sSup>
                            <m:sSupPr>
                              <m:ctrlPr>
                                <a:rPr lang="en-US" altLang="zh-CN" sz="2000" b="0" i="1" smtClean="0">
                                  <a:latin typeface="Cambria Math" panose="02040503050406030204" pitchFamily="18" charset="0"/>
                                  <a:ea typeface="微软雅黑" panose="020B0503020204020204" pitchFamily="34" charset="-122"/>
                                </a:rPr>
                              </m:ctrlPr>
                            </m:sSupPr>
                            <m:e>
                              <m:r>
                                <a:rPr lang="en-US" altLang="zh-CN" sz="2000" b="0" i="1" smtClean="0">
                                  <a:latin typeface="Cambria Math" panose="02040503050406030204" pitchFamily="18" charset="0"/>
                                  <a:ea typeface="微软雅黑" panose="020B0503020204020204" pitchFamily="34" charset="-122"/>
                                </a:rPr>
                                <m:t>𝑒</m:t>
                              </m:r>
                            </m:e>
                            <m:sup>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𝑖</m:t>
                              </m:r>
                              <m:r>
                                <a:rPr lang="en-US" altLang="zh-CN" sz="2000" b="0" i="1" smtClean="0">
                                  <a:latin typeface="Cambria Math" panose="02040503050406030204" pitchFamily="18" charset="0"/>
                                  <a:ea typeface="微软雅黑" panose="020B0503020204020204" pitchFamily="34" charset="-122"/>
                                </a:rPr>
                                <m:t>𝜔</m:t>
                              </m:r>
                              <m:r>
                                <a:rPr lang="en-US" altLang="zh-CN" sz="2000" b="0" i="1" smtClean="0">
                                  <a:latin typeface="Cambria Math" panose="02040503050406030204" pitchFamily="18" charset="0"/>
                                  <a:ea typeface="微软雅黑" panose="020B0503020204020204" pitchFamily="34" charset="-122"/>
                                </a:rPr>
                                <m:t>𝑥</m:t>
                              </m:r>
                            </m:sup>
                          </m:sSup>
                          <m:r>
                            <m:rPr>
                              <m:sty m:val="p"/>
                            </m:rPr>
                            <a:rPr lang="en-US" altLang="zh-CN" sz="2000" b="0" i="0" smtClean="0">
                              <a:latin typeface="Cambria Math" panose="02040503050406030204" pitchFamily="18" charset="0"/>
                              <a:ea typeface="微软雅黑" panose="020B0503020204020204" pitchFamily="34" charset="-122"/>
                            </a:rPr>
                            <m:t>d</m:t>
                          </m:r>
                          <m:r>
                            <a:rPr lang="en-US" altLang="zh-CN" sz="2000" b="0" i="1" smtClean="0">
                              <a:latin typeface="Cambria Math" panose="02040503050406030204" pitchFamily="18" charset="0"/>
                              <a:ea typeface="微软雅黑" panose="020B0503020204020204" pitchFamily="34" charset="-122"/>
                            </a:rPr>
                            <m:t>𝑥</m:t>
                          </m:r>
                        </m:e>
                      </m:nary>
                      <m:r>
                        <a:rPr lang="en-US" altLang="zh-CN" sz="2000" b="0" i="1" smtClean="0">
                          <a:latin typeface="Cambria Math" panose="02040503050406030204" pitchFamily="18" charset="0"/>
                          <a:ea typeface="微软雅黑" panose="020B0503020204020204" pitchFamily="34" charset="-122"/>
                        </a:rPr>
                        <m:t>=</m:t>
                      </m:r>
                      <m:f>
                        <m:fPr>
                          <m:ctrlPr>
                            <a:rPr lang="en-US" altLang="zh-CN" sz="2000" i="1">
                              <a:latin typeface="Cambria Math" panose="02040503050406030204" pitchFamily="18" charset="0"/>
                              <a:ea typeface="微软雅黑" panose="020B0503020204020204" pitchFamily="34" charset="-122"/>
                            </a:rPr>
                          </m:ctrlPr>
                        </m:fPr>
                        <m:num>
                          <m:r>
                            <a:rPr lang="en-US" altLang="zh-CN" sz="2000" i="1">
                              <a:latin typeface="Cambria Math" panose="02040503050406030204" pitchFamily="18" charset="0"/>
                              <a:ea typeface="微软雅黑" panose="020B0503020204020204" pitchFamily="34" charset="-122"/>
                            </a:rPr>
                            <m:t>1</m:t>
                          </m:r>
                        </m:num>
                        <m:den>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den>
                      </m:f>
                      <m:sSup>
                        <m:sSupPr>
                          <m:ctrlPr>
                            <a:rPr lang="en-US" altLang="zh-CN" sz="2000" i="1">
                              <a:latin typeface="Cambria Math" panose="02040503050406030204" pitchFamily="18" charset="0"/>
                              <a:ea typeface="微软雅黑" panose="020B0503020204020204" pitchFamily="34" charset="-122"/>
                            </a:rPr>
                          </m:ctrlPr>
                        </m:sSupPr>
                        <m:e>
                          <m:r>
                            <a:rPr lang="en-US" altLang="zh-CN" sz="2000" i="1">
                              <a:latin typeface="Cambria Math" panose="02040503050406030204" pitchFamily="18" charset="0"/>
                              <a:ea typeface="微软雅黑" panose="020B0503020204020204" pitchFamily="34" charset="-122"/>
                            </a:rPr>
                            <m:t>𝑒</m:t>
                          </m:r>
                        </m:e>
                        <m:sup>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𝑖</m:t>
                          </m:r>
                          <m:r>
                            <a:rPr lang="en-US" altLang="zh-CN" sz="2000" i="1">
                              <a:latin typeface="Cambria Math" panose="02040503050406030204" pitchFamily="18" charset="0"/>
                              <a:ea typeface="微软雅黑" panose="020B0503020204020204" pitchFamily="34" charset="-122"/>
                            </a:rPr>
                            <m:t>𝜔</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𝑥</m:t>
                              </m:r>
                            </m:e>
                            <m:sub>
                              <m:r>
                                <a:rPr lang="en-US" altLang="zh-CN" sz="2000" b="0" i="1" smtClean="0">
                                  <a:latin typeface="Cambria Math" panose="02040503050406030204" pitchFamily="18" charset="0"/>
                                  <a:ea typeface="微软雅黑" panose="020B0503020204020204" pitchFamily="34" charset="-122"/>
                                </a:rPr>
                                <m:t>0</m:t>
                              </m:r>
                            </m:sub>
                          </m:sSub>
                        </m:sup>
                      </m:sSup>
                    </m:oMath>
                  </m:oMathPara>
                </a14:m>
                <a:endParaRPr lang="en-US" altLang="zh-CN" sz="2000" dirty="0" smtClean="0"/>
              </a:p>
              <a:p>
                <a:pPr>
                  <a:lnSpc>
                    <a:spcPct val="150000"/>
                  </a:lnSpc>
                </a:pPr>
                <a:r>
                  <a:rPr lang="zh-CN" altLang="en-US" sz="2000" dirty="0">
                    <a:latin typeface="微软雅黑" panose="020B0503020204020204" pitchFamily="34" charset="-122"/>
                    <a:ea typeface="微软雅黑" panose="020B0503020204020204" pitchFamily="34" charset="-122"/>
                  </a:rPr>
                  <a:t>特别</a:t>
                </a:r>
                <a:r>
                  <a:rPr lang="zh-CN" altLang="en-US" sz="2000" dirty="0" smtClean="0">
                    <a:latin typeface="微软雅黑" panose="020B0503020204020204" pitchFamily="34" charset="-122"/>
                    <a:ea typeface="微软雅黑" panose="020B0503020204020204" pitchFamily="34" charset="-122"/>
                  </a:rPr>
                  <a:t>有</a:t>
                </a:r>
                <a14:m>
                  <m:oMath xmlns:m="http://schemas.openxmlformats.org/officeDocument/2006/math">
                    <m:r>
                      <a:rPr lang="en-US" altLang="zh-CN" sz="2000" i="1">
                        <a:latin typeface="Cambria Math" panose="02040503050406030204" pitchFamily="18" charset="0"/>
                        <a:ea typeface="微软雅黑" panose="020B0503020204020204" pitchFamily="34" charset="-122"/>
                      </a:rPr>
                      <m:t>𝐹</m:t>
                    </m:r>
                    <m:d>
                      <m:dPr>
                        <m:ctrlPr>
                          <a:rPr lang="en-US" altLang="zh-CN" sz="2000" b="0" i="0" smtClean="0">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𝜔</m:t>
                        </m:r>
                      </m:e>
                    </m:d>
                    <m:r>
                      <a:rPr lang="en-US" altLang="zh-CN" sz="2000" b="0" i="1" smtClean="0">
                        <a:latin typeface="Cambria Math" panose="02040503050406030204" pitchFamily="18" charset="0"/>
                        <a:ea typeface="微软雅黑" panose="020B0503020204020204" pitchFamily="34" charset="-122"/>
                      </a:rPr>
                      <m:t>=</m:t>
                    </m:r>
                    <m:f>
                      <m:fPr>
                        <m:ctrlPr>
                          <a:rPr lang="en-US" altLang="zh-CN" sz="2000" i="1">
                            <a:latin typeface="Cambria Math" panose="02040503050406030204" pitchFamily="18" charset="0"/>
                            <a:ea typeface="微软雅黑" panose="020B0503020204020204" pitchFamily="34" charset="-122"/>
                          </a:rPr>
                        </m:ctrlPr>
                      </m:fPr>
                      <m:num>
                        <m:r>
                          <a:rPr lang="en-US" altLang="zh-CN" sz="2000" i="1">
                            <a:latin typeface="Cambria Math" panose="02040503050406030204" pitchFamily="18" charset="0"/>
                            <a:ea typeface="微软雅黑" panose="020B0503020204020204" pitchFamily="34" charset="-122"/>
                          </a:rPr>
                          <m:t>1</m:t>
                        </m:r>
                      </m:num>
                      <m:den>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den>
                    </m:f>
                    <m:nary>
                      <m:naryPr>
                        <m:ctrlPr>
                          <a:rPr lang="en-US" altLang="zh-CN" sz="2000" i="1">
                            <a:latin typeface="Cambria Math" panose="02040503050406030204" pitchFamily="18" charset="0"/>
                            <a:ea typeface="微软雅黑" panose="020B0503020204020204" pitchFamily="34" charset="-122"/>
                          </a:rPr>
                        </m:ctrlPr>
                      </m:naryPr>
                      <m:sub>
                        <m:r>
                          <m:rPr>
                            <m:brk m:alnAt="23"/>
                          </m:rP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m:t>
                        </m:r>
                      </m:sub>
                      <m:sup>
                        <m:r>
                          <a:rPr lang="en-US" altLang="zh-CN" sz="2000" i="1">
                            <a:latin typeface="Cambria Math" panose="02040503050406030204" pitchFamily="18" charset="0"/>
                            <a:ea typeface="微软雅黑" panose="020B0503020204020204" pitchFamily="34" charset="-122"/>
                          </a:rPr>
                          <m:t>∞</m:t>
                        </m:r>
                      </m:sup>
                      <m:e>
                        <m:r>
                          <a:rPr lang="en-US" altLang="zh-CN" sz="2000" i="1">
                            <a:latin typeface="Cambria Math" panose="02040503050406030204" pitchFamily="18" charset="0"/>
                            <a:ea typeface="微软雅黑" panose="020B0503020204020204" pitchFamily="34" charset="-122"/>
                          </a:rPr>
                          <m:t>𝛿</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sSup>
                          <m:sSupPr>
                            <m:ctrlPr>
                              <a:rPr lang="en-US" altLang="zh-CN" sz="2000" i="1">
                                <a:latin typeface="Cambria Math" panose="02040503050406030204" pitchFamily="18" charset="0"/>
                                <a:ea typeface="微软雅黑" panose="020B0503020204020204" pitchFamily="34" charset="-122"/>
                              </a:rPr>
                            </m:ctrlPr>
                          </m:sSupPr>
                          <m:e>
                            <m:r>
                              <a:rPr lang="en-US" altLang="zh-CN" sz="2000" i="1">
                                <a:latin typeface="Cambria Math" panose="02040503050406030204" pitchFamily="18" charset="0"/>
                                <a:ea typeface="微软雅黑" panose="020B0503020204020204" pitchFamily="34" charset="-122"/>
                              </a:rPr>
                              <m:t>𝑒</m:t>
                            </m:r>
                          </m:e>
                          <m:sup>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𝑖</m:t>
                            </m:r>
                            <m:r>
                              <a:rPr lang="en-US" altLang="zh-CN" sz="2000" i="1">
                                <a:latin typeface="Cambria Math" panose="02040503050406030204" pitchFamily="18" charset="0"/>
                                <a:ea typeface="微软雅黑" panose="020B0503020204020204" pitchFamily="34" charset="-122"/>
                              </a:rPr>
                              <m:t>𝜔</m:t>
                            </m:r>
                            <m:r>
                              <a:rPr lang="en-US" altLang="zh-CN" sz="2000" i="1">
                                <a:latin typeface="Cambria Math" panose="02040503050406030204" pitchFamily="18" charset="0"/>
                                <a:ea typeface="微软雅黑" panose="020B0503020204020204" pitchFamily="34" charset="-122"/>
                              </a:rPr>
                              <m:t>𝑥</m:t>
                            </m:r>
                          </m:sup>
                        </m:sSup>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e>
                    </m:nary>
                    <m:r>
                      <a:rPr lang="en-US" altLang="zh-CN" sz="2000" b="0" i="1" smtClean="0">
                        <a:latin typeface="Cambria Math" panose="02040503050406030204" pitchFamily="18" charset="0"/>
                        <a:ea typeface="微软雅黑" panose="020B0503020204020204" pitchFamily="34" charset="-122"/>
                      </a:rPr>
                      <m:t>=</m:t>
                    </m:r>
                    <m:f>
                      <m:fPr>
                        <m:ctrlPr>
                          <a:rPr lang="en-US" altLang="zh-CN" sz="2000" i="1">
                            <a:latin typeface="Cambria Math" panose="02040503050406030204" pitchFamily="18" charset="0"/>
                            <a:ea typeface="微软雅黑" panose="020B0503020204020204" pitchFamily="34" charset="-122"/>
                          </a:rPr>
                        </m:ctrlPr>
                      </m:fPr>
                      <m:num>
                        <m:r>
                          <a:rPr lang="en-US" altLang="zh-CN" sz="2000" i="1">
                            <a:latin typeface="Cambria Math" panose="02040503050406030204" pitchFamily="18" charset="0"/>
                            <a:ea typeface="微软雅黑" panose="020B0503020204020204" pitchFamily="34" charset="-122"/>
                          </a:rPr>
                          <m:t>1</m:t>
                        </m:r>
                      </m:num>
                      <m:den>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den>
                    </m:f>
                  </m:oMath>
                </a14:m>
                <a:endParaRPr lang="en-US" altLang="zh-CN" sz="2000" dirty="0" smtClean="0"/>
              </a:p>
              <a:p>
                <a:pPr>
                  <a:lnSpc>
                    <a:spcPct val="150000"/>
                  </a:lnSpc>
                </a:pPr>
                <a:r>
                  <a:rPr lang="zh-CN" altLang="en-US" sz="2000" dirty="0" smtClean="0">
                    <a:latin typeface="微软雅黑" panose="020B0503020204020204" pitchFamily="34" charset="-122"/>
                    <a:ea typeface="微软雅黑" panose="020B0503020204020204" pitchFamily="34" charset="-122"/>
                  </a:rPr>
                  <a:t>再对</a:t>
                </a:r>
                <a14:m>
                  <m:oMath xmlns:m="http://schemas.openxmlformats.org/officeDocument/2006/math">
                    <m:r>
                      <a:rPr lang="en-US" altLang="zh-CN" sz="2000" i="1">
                        <a:latin typeface="Cambria Math" panose="02040503050406030204" pitchFamily="18" charset="0"/>
                        <a:ea typeface="微软雅黑" panose="020B0503020204020204" pitchFamily="34" charset="-122"/>
                      </a:rPr>
                      <m:t>𝐹</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𝜔</m:t>
                        </m:r>
                      </m:e>
                    </m:d>
                  </m:oMath>
                </a14:m>
                <a:r>
                  <a:rPr lang="zh-CN" altLang="en-US" sz="2000" dirty="0" smtClean="0">
                    <a:latin typeface="微软雅黑" panose="020B0503020204020204" pitchFamily="34" charset="-122"/>
                    <a:ea typeface="微软雅黑" panose="020B0503020204020204" pitchFamily="34" charset="-122"/>
                  </a:rPr>
                  <a:t>做傅里叶逆变换有</a:t>
                </a:r>
                <a:endParaRPr lang="en-US" altLang="zh-CN" sz="2000" dirty="0" smtClean="0">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微软雅黑" panose="020B0503020204020204" pitchFamily="34" charset="-122"/>
                        </a:rPr>
                        <m:t>𝛿</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r>
                        <a:rPr lang="en-US" altLang="zh-CN" sz="2000" b="0" i="1" smtClean="0">
                          <a:latin typeface="Cambria Math" panose="02040503050406030204" pitchFamily="18" charset="0"/>
                          <a:ea typeface="微软雅黑" panose="020B0503020204020204" pitchFamily="34" charset="-122"/>
                        </a:rPr>
                        <m:t>=</m:t>
                      </m:r>
                      <m:nary>
                        <m:naryPr>
                          <m:ctrlPr>
                            <a:rPr lang="en-US" altLang="zh-CN" sz="2000" i="1">
                              <a:latin typeface="Cambria Math" panose="02040503050406030204" pitchFamily="18" charset="0"/>
                              <a:ea typeface="微软雅黑" panose="020B0503020204020204" pitchFamily="34" charset="-122"/>
                            </a:rPr>
                          </m:ctrlPr>
                        </m:naryPr>
                        <m:sub>
                          <m:r>
                            <m:rPr>
                              <m:brk m:alnAt="23"/>
                            </m:rP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m:t>
                          </m:r>
                        </m:sub>
                        <m:sup>
                          <m:r>
                            <a:rPr lang="en-US" altLang="zh-CN" sz="2000" i="1">
                              <a:latin typeface="Cambria Math" panose="02040503050406030204" pitchFamily="18" charset="0"/>
                              <a:ea typeface="微软雅黑" panose="020B0503020204020204" pitchFamily="34" charset="-122"/>
                            </a:rPr>
                            <m:t>∞</m:t>
                          </m:r>
                        </m:sup>
                        <m:e>
                          <m:r>
                            <a:rPr lang="en-US" altLang="zh-CN" sz="2000" b="0" i="1" smtClean="0">
                              <a:latin typeface="Cambria Math" panose="02040503050406030204" pitchFamily="18" charset="0"/>
                              <a:ea typeface="微软雅黑" panose="020B0503020204020204" pitchFamily="34" charset="-122"/>
                            </a:rPr>
                            <m:t>𝐹</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𝜔</m:t>
                          </m:r>
                          <m:r>
                            <a:rPr lang="en-US" altLang="zh-CN" sz="2000" b="0" i="1" smtClean="0">
                              <a:latin typeface="Cambria Math" panose="02040503050406030204" pitchFamily="18" charset="0"/>
                              <a:ea typeface="微软雅黑" panose="020B0503020204020204" pitchFamily="34" charset="-122"/>
                            </a:rPr>
                            <m:t>)</m:t>
                          </m:r>
                          <m:sSup>
                            <m:sSupPr>
                              <m:ctrlPr>
                                <a:rPr lang="en-US" altLang="zh-CN" sz="2000" i="1">
                                  <a:latin typeface="Cambria Math" panose="02040503050406030204" pitchFamily="18" charset="0"/>
                                  <a:ea typeface="微软雅黑" panose="020B0503020204020204" pitchFamily="34" charset="-122"/>
                                </a:rPr>
                              </m:ctrlPr>
                            </m:sSupPr>
                            <m:e>
                              <m:r>
                                <a:rPr lang="en-US" altLang="zh-CN" sz="2000" i="1">
                                  <a:latin typeface="Cambria Math" panose="02040503050406030204" pitchFamily="18" charset="0"/>
                                  <a:ea typeface="微软雅黑" panose="020B0503020204020204" pitchFamily="34" charset="-122"/>
                                </a:rPr>
                                <m:t>𝑒</m:t>
                              </m:r>
                            </m:e>
                            <m:sup>
                              <m:r>
                                <a:rPr lang="en-US" altLang="zh-CN" sz="2000" i="1">
                                  <a:latin typeface="Cambria Math" panose="02040503050406030204" pitchFamily="18" charset="0"/>
                                  <a:ea typeface="微软雅黑" panose="020B0503020204020204" pitchFamily="34" charset="-122"/>
                                </a:rPr>
                                <m:t>𝑖</m:t>
                              </m:r>
                              <m:r>
                                <a:rPr lang="en-US" altLang="zh-CN" sz="2000" i="1">
                                  <a:latin typeface="Cambria Math" panose="02040503050406030204" pitchFamily="18" charset="0"/>
                                  <a:ea typeface="微软雅黑" panose="020B0503020204020204" pitchFamily="34" charset="-122"/>
                                </a:rPr>
                                <m:t>𝜔</m:t>
                              </m:r>
                              <m:r>
                                <a:rPr lang="en-US" altLang="zh-CN" sz="2000" i="1">
                                  <a:latin typeface="Cambria Math" panose="02040503050406030204" pitchFamily="18" charset="0"/>
                                  <a:ea typeface="微软雅黑" panose="020B0503020204020204" pitchFamily="34" charset="-122"/>
                                </a:rPr>
                                <m:t>𝑥</m:t>
                              </m:r>
                            </m:sup>
                          </m:sSup>
                          <m:r>
                            <m:rPr>
                              <m:sty m:val="p"/>
                            </m:rPr>
                            <a:rPr lang="en-US" altLang="zh-CN" sz="2000">
                              <a:latin typeface="Cambria Math" panose="02040503050406030204" pitchFamily="18" charset="0"/>
                              <a:ea typeface="微软雅黑" panose="020B0503020204020204" pitchFamily="34" charset="-122"/>
                            </a:rPr>
                            <m:t>d</m:t>
                          </m:r>
                          <m:r>
                            <a:rPr lang="en-US" altLang="zh-CN" sz="2000" b="0" i="1" smtClean="0">
                              <a:latin typeface="Cambria Math" panose="02040503050406030204" pitchFamily="18" charset="0"/>
                              <a:ea typeface="微软雅黑" panose="020B0503020204020204" pitchFamily="34" charset="-122"/>
                            </a:rPr>
                            <m:t>𝜔</m:t>
                          </m:r>
                        </m:e>
                      </m:nary>
                      <m:r>
                        <a:rPr lang="en-US" altLang="zh-CN" sz="2000" b="0" i="1" smtClean="0">
                          <a:latin typeface="Cambria Math" panose="02040503050406030204" pitchFamily="18" charset="0"/>
                          <a:ea typeface="微软雅黑" panose="020B0503020204020204" pitchFamily="34" charset="-122"/>
                        </a:rPr>
                        <m:t>=</m:t>
                      </m:r>
                      <m:f>
                        <m:fPr>
                          <m:ctrlPr>
                            <a:rPr lang="en-US" altLang="zh-CN" sz="2000" i="1" smtClean="0">
                              <a:solidFill>
                                <a:srgbClr val="FF0000"/>
                              </a:solidFill>
                              <a:latin typeface="Cambria Math" panose="02040503050406030204" pitchFamily="18" charset="0"/>
                              <a:ea typeface="微软雅黑" panose="020B0503020204020204" pitchFamily="34" charset="-122"/>
                            </a:rPr>
                          </m:ctrlPr>
                        </m:fPr>
                        <m:num>
                          <m:r>
                            <a:rPr lang="en-US" altLang="zh-CN" sz="2000" i="1">
                              <a:solidFill>
                                <a:srgbClr val="FF0000"/>
                              </a:solidFill>
                              <a:latin typeface="Cambria Math" panose="02040503050406030204" pitchFamily="18" charset="0"/>
                              <a:ea typeface="微软雅黑" panose="020B0503020204020204" pitchFamily="34" charset="-122"/>
                            </a:rPr>
                            <m:t>1</m:t>
                          </m:r>
                        </m:num>
                        <m:den>
                          <m:r>
                            <a:rPr lang="en-US" altLang="zh-CN" sz="2000" i="1">
                              <a:solidFill>
                                <a:srgbClr val="FF0000"/>
                              </a:solidFill>
                              <a:latin typeface="Cambria Math" panose="02040503050406030204" pitchFamily="18" charset="0"/>
                              <a:ea typeface="微软雅黑" panose="020B0503020204020204" pitchFamily="34" charset="-122"/>
                            </a:rPr>
                            <m:t>2</m:t>
                          </m:r>
                          <m:r>
                            <a:rPr lang="en-US" altLang="zh-CN" sz="2000" i="1">
                              <a:solidFill>
                                <a:srgbClr val="FF0000"/>
                              </a:solidFill>
                              <a:latin typeface="Cambria Math" panose="02040503050406030204" pitchFamily="18" charset="0"/>
                              <a:ea typeface="微软雅黑" panose="020B0503020204020204" pitchFamily="34" charset="-122"/>
                            </a:rPr>
                            <m:t>𝜋</m:t>
                          </m:r>
                        </m:den>
                      </m:f>
                      <m:nary>
                        <m:naryPr>
                          <m:ctrlPr>
                            <a:rPr lang="en-US" altLang="zh-CN" sz="2000" i="1">
                              <a:solidFill>
                                <a:srgbClr val="FF0000"/>
                              </a:solidFill>
                              <a:latin typeface="Cambria Math" panose="02040503050406030204" pitchFamily="18" charset="0"/>
                              <a:ea typeface="微软雅黑" panose="020B0503020204020204" pitchFamily="34" charset="-122"/>
                            </a:rPr>
                          </m:ctrlPr>
                        </m:naryPr>
                        <m:sub>
                          <m:r>
                            <m:rPr>
                              <m:brk m:alnAt="23"/>
                            </m:rPr>
                            <a:rPr lang="en-US" altLang="zh-CN" sz="2000" i="1">
                              <a:solidFill>
                                <a:srgbClr val="FF0000"/>
                              </a:solidFill>
                              <a:latin typeface="Cambria Math" panose="02040503050406030204" pitchFamily="18" charset="0"/>
                              <a:ea typeface="微软雅黑" panose="020B0503020204020204" pitchFamily="34" charset="-122"/>
                            </a:rPr>
                            <m:t>−</m:t>
                          </m:r>
                          <m:r>
                            <a:rPr lang="en-US" altLang="zh-CN" sz="2000" i="1">
                              <a:solidFill>
                                <a:srgbClr val="FF0000"/>
                              </a:solidFill>
                              <a:latin typeface="Cambria Math" panose="02040503050406030204" pitchFamily="18" charset="0"/>
                              <a:ea typeface="微软雅黑" panose="020B0503020204020204" pitchFamily="34" charset="-122"/>
                            </a:rPr>
                            <m:t>∞</m:t>
                          </m:r>
                        </m:sub>
                        <m:sup>
                          <m:r>
                            <a:rPr lang="en-US" altLang="zh-CN" sz="2000" i="1">
                              <a:solidFill>
                                <a:srgbClr val="FF0000"/>
                              </a:solidFill>
                              <a:latin typeface="Cambria Math" panose="02040503050406030204" pitchFamily="18" charset="0"/>
                              <a:ea typeface="微软雅黑" panose="020B0503020204020204" pitchFamily="34" charset="-122"/>
                            </a:rPr>
                            <m:t>∞</m:t>
                          </m:r>
                        </m:sup>
                        <m:e>
                          <m:sSup>
                            <m:sSupPr>
                              <m:ctrlPr>
                                <a:rPr lang="en-US" altLang="zh-CN" sz="2000" i="1">
                                  <a:solidFill>
                                    <a:srgbClr val="FF0000"/>
                                  </a:solidFill>
                                  <a:latin typeface="Cambria Math" panose="02040503050406030204" pitchFamily="18" charset="0"/>
                                  <a:ea typeface="微软雅黑" panose="020B0503020204020204" pitchFamily="34" charset="-122"/>
                                </a:rPr>
                              </m:ctrlPr>
                            </m:sSupPr>
                            <m:e>
                              <m:r>
                                <a:rPr lang="en-US" altLang="zh-CN" sz="2000" i="1">
                                  <a:solidFill>
                                    <a:srgbClr val="FF0000"/>
                                  </a:solidFill>
                                  <a:latin typeface="Cambria Math" panose="02040503050406030204" pitchFamily="18" charset="0"/>
                                  <a:ea typeface="微软雅黑" panose="020B0503020204020204" pitchFamily="34" charset="-122"/>
                                </a:rPr>
                                <m:t>𝑒</m:t>
                              </m:r>
                            </m:e>
                            <m:sup>
                              <m:r>
                                <a:rPr lang="en-US" altLang="zh-CN" sz="2000" i="1">
                                  <a:solidFill>
                                    <a:srgbClr val="FF0000"/>
                                  </a:solidFill>
                                  <a:latin typeface="Cambria Math" panose="02040503050406030204" pitchFamily="18" charset="0"/>
                                  <a:ea typeface="微软雅黑" panose="020B0503020204020204" pitchFamily="34" charset="-122"/>
                                </a:rPr>
                                <m:t>𝑖</m:t>
                              </m:r>
                              <m:r>
                                <a:rPr lang="en-US" altLang="zh-CN" sz="2000" i="1">
                                  <a:solidFill>
                                    <a:srgbClr val="FF0000"/>
                                  </a:solidFill>
                                  <a:latin typeface="Cambria Math" panose="02040503050406030204" pitchFamily="18" charset="0"/>
                                  <a:ea typeface="微软雅黑" panose="020B0503020204020204" pitchFamily="34" charset="-122"/>
                                </a:rPr>
                                <m:t>𝜔</m:t>
                              </m:r>
                              <m:r>
                                <a:rPr lang="en-US" altLang="zh-CN" sz="2000" i="1">
                                  <a:solidFill>
                                    <a:srgbClr val="FF0000"/>
                                  </a:solidFill>
                                  <a:latin typeface="Cambria Math" panose="02040503050406030204" pitchFamily="18" charset="0"/>
                                  <a:ea typeface="微软雅黑" panose="020B0503020204020204" pitchFamily="34" charset="-122"/>
                                </a:rPr>
                                <m:t>𝑥</m:t>
                              </m:r>
                            </m:sup>
                          </m:sSup>
                          <m:r>
                            <m:rPr>
                              <m:sty m:val="p"/>
                            </m:rPr>
                            <a:rPr lang="en-US" altLang="zh-CN" sz="2000">
                              <a:solidFill>
                                <a:srgbClr val="FF0000"/>
                              </a:solidFill>
                              <a:latin typeface="Cambria Math" panose="02040503050406030204" pitchFamily="18" charset="0"/>
                              <a:ea typeface="微软雅黑" panose="020B0503020204020204" pitchFamily="34" charset="-122"/>
                            </a:rPr>
                            <m:t>d</m:t>
                          </m:r>
                          <m:r>
                            <a:rPr lang="en-US" altLang="zh-CN" sz="2000" i="1">
                              <a:solidFill>
                                <a:srgbClr val="FF0000"/>
                              </a:solidFill>
                              <a:latin typeface="Cambria Math" panose="02040503050406030204" pitchFamily="18" charset="0"/>
                              <a:ea typeface="微软雅黑" panose="020B0503020204020204" pitchFamily="34" charset="-122"/>
                            </a:rPr>
                            <m:t>𝜔</m:t>
                          </m:r>
                        </m:e>
                      </m:nary>
                    </m:oMath>
                  </m:oMathPara>
                </a14:m>
                <a:endParaRPr lang="zh-CN" altLang="en-US" dirty="0">
                  <a:latin typeface="微软雅黑" panose="020B0503020204020204" pitchFamily="34" charset="-122"/>
                  <a:ea typeface="微软雅黑" panose="020B0503020204020204" pitchFamily="34"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1912540" y="1739205"/>
                <a:ext cx="8887460" cy="3330271"/>
              </a:xfrm>
              <a:prstGeom prst="rect">
                <a:avLst/>
              </a:prstGeom>
              <a:blipFill rotWithShape="0">
                <a:blip r:embed="rId5"/>
                <a:stretch>
                  <a:fillRect l="-75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75497171"/>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N-dimension Delta function</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mc:Choice xmlns:a14="http://schemas.microsoft.com/office/drawing/2010/main" Requires="a14">
          <p:sp>
            <p:nvSpPr>
              <p:cNvPr id="2" name="文本框 1"/>
              <p:cNvSpPr txBox="1"/>
              <p:nvPr/>
            </p:nvSpPr>
            <p:spPr>
              <a:xfrm>
                <a:off x="540384" y="1205805"/>
                <a:ext cx="10356215" cy="5119671"/>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最后讨论一下</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𝑛</m:t>
                    </m:r>
                  </m:oMath>
                </a14:m>
                <a:r>
                  <a:rPr lang="zh-CN" altLang="en-US" sz="2000" dirty="0" smtClean="0">
                    <a:latin typeface="微软雅黑" panose="020B0503020204020204" pitchFamily="34" charset="-122"/>
                    <a:ea typeface="微软雅黑" panose="020B0503020204020204" pitchFamily="34" charset="-122"/>
                  </a:rPr>
                  <a:t>维</a:t>
                </a:r>
                <a:r>
                  <a:rPr lang="en-US" altLang="zh-CN" sz="2000" dirty="0" smtClean="0">
                    <a:latin typeface="微软雅黑" panose="020B0503020204020204" pitchFamily="34" charset="-122"/>
                    <a:ea typeface="微软雅黑" panose="020B0503020204020204" pitchFamily="34" charset="-122"/>
                  </a:rPr>
                  <a:t>Delta</a:t>
                </a:r>
                <a:r>
                  <a:rPr lang="zh-CN" altLang="en-US" sz="2000" dirty="0" smtClean="0">
                    <a:latin typeface="微软雅黑" panose="020B0503020204020204" pitchFamily="34" charset="-122"/>
                    <a:ea typeface="微软雅黑" panose="020B0503020204020204" pitchFamily="34" charset="-122"/>
                  </a:rPr>
                  <a:t>函数的形式：</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设</a:t>
                </a:r>
                <a14:m>
                  <m:oMath xmlns:m="http://schemas.openxmlformats.org/officeDocument/2006/math">
                    <m:r>
                      <a:rPr lang="en-US" altLang="zh-CN" sz="2000" i="1">
                        <a:latin typeface="Cambria Math" panose="02040503050406030204" pitchFamily="18" charset="0"/>
                        <a:ea typeface="微软雅黑" panose="020B0503020204020204" pitchFamily="34" charset="-122"/>
                      </a:rPr>
                      <m:t>𝑛</m:t>
                    </m:r>
                  </m:oMath>
                </a14:m>
                <a:r>
                  <a:rPr lang="zh-CN" altLang="en-US" sz="2000" dirty="0" smtClean="0">
                    <a:latin typeface="微软雅黑" panose="020B0503020204020204" pitchFamily="34" charset="-122"/>
                    <a:ea typeface="微软雅黑" panose="020B0503020204020204" pitchFamily="34" charset="-122"/>
                  </a:rPr>
                  <a:t>维线性空间里一个向量</a:t>
                </a:r>
                <a14:m>
                  <m:oMath xmlns:m="http://schemas.openxmlformats.org/officeDocument/2006/math">
                    <m:r>
                      <a:rPr lang="en-US" altLang="zh-CN" sz="2000" b="1" i="1" smtClean="0">
                        <a:latin typeface="Cambria Math" panose="02040503050406030204" pitchFamily="18" charset="0"/>
                        <a:ea typeface="微软雅黑" panose="020B0503020204020204" pitchFamily="34" charset="-122"/>
                      </a:rPr>
                      <m:t>𝒙</m:t>
                    </m:r>
                    <m:r>
                      <a:rPr lang="en-US" altLang="zh-CN" sz="2000" b="1" i="1" smtClean="0">
                        <a:latin typeface="Cambria Math" panose="02040503050406030204" pitchFamily="18" charset="0"/>
                        <a:ea typeface="微软雅黑" panose="020B0503020204020204" pitchFamily="34" charset="-122"/>
                      </a:rPr>
                      <m:t>=(</m:t>
                    </m:r>
                    <m:sSub>
                      <m:sSubPr>
                        <m:ctrlPr>
                          <a:rPr lang="en-US" altLang="zh-CN" sz="200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𝑥</m:t>
                        </m:r>
                      </m:e>
                      <m:sub>
                        <m:r>
                          <a:rPr lang="en-US" altLang="zh-CN" sz="2000" b="0" i="1" smtClean="0">
                            <a:latin typeface="Cambria Math" panose="02040503050406030204" pitchFamily="18" charset="0"/>
                            <a:ea typeface="微软雅黑" panose="020B0503020204020204" pitchFamily="34" charset="-122"/>
                          </a:rPr>
                          <m:t>1</m:t>
                        </m:r>
                      </m:sub>
                    </m:sSub>
                    <m:r>
                      <a:rPr lang="en-US" altLang="zh-CN" sz="2000" b="0" i="1" smtClean="0">
                        <a:latin typeface="Cambria Math" panose="02040503050406030204" pitchFamily="18" charset="0"/>
                        <a:ea typeface="微软雅黑" panose="020B0503020204020204" pitchFamily="34" charset="-122"/>
                      </a:rPr>
                      <m:t>, </m:t>
                    </m:r>
                    <m:sSub>
                      <m:sSubPr>
                        <m:ctrlPr>
                          <a:rPr lang="en-US" altLang="zh-CN" sz="200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𝑥</m:t>
                        </m:r>
                      </m:e>
                      <m:sub>
                        <m:r>
                          <a:rPr lang="en-US" altLang="zh-CN" sz="2000" b="0" i="1" smtClean="0">
                            <a:latin typeface="Cambria Math" panose="02040503050406030204" pitchFamily="18" charset="0"/>
                            <a:ea typeface="微软雅黑" panose="020B0503020204020204" pitchFamily="34" charset="-122"/>
                          </a:rPr>
                          <m:t>2</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𝑥</m:t>
                        </m:r>
                      </m:e>
                      <m:sub>
                        <m:r>
                          <a:rPr lang="en-US" altLang="zh-CN" sz="2000" b="0" i="1" smtClean="0">
                            <a:latin typeface="Cambria Math" panose="02040503050406030204" pitchFamily="18" charset="0"/>
                            <a:ea typeface="微软雅黑" panose="020B0503020204020204" pitchFamily="34" charset="-122"/>
                          </a:rPr>
                          <m:t>𝑛</m:t>
                        </m:r>
                      </m:sub>
                    </m:sSub>
                    <m:r>
                      <a:rPr lang="en-US" altLang="zh-CN" sz="2000" b="1" i="1" smtClean="0">
                        <a:latin typeface="Cambria Math" panose="02040503050406030204" pitchFamily="18" charset="0"/>
                        <a:ea typeface="微软雅黑" panose="020B0503020204020204" pitchFamily="34" charset="-122"/>
                      </a:rPr>
                      <m:t>)</m:t>
                    </m:r>
                  </m:oMath>
                </a14:m>
                <a:r>
                  <a:rPr lang="zh-CN" altLang="en-US" sz="2000" dirty="0" smtClean="0">
                    <a:latin typeface="微软雅黑" panose="020B0503020204020204" pitchFamily="34" charset="-122"/>
                    <a:ea typeface="微软雅黑" panose="020B0503020204020204" pitchFamily="34" charset="-122"/>
                  </a:rPr>
                  <a:t>，定义</a:t>
                </a:r>
                <a:r>
                  <a:rPr lang="en-US" altLang="zh-CN" sz="2000" dirty="0">
                    <a:latin typeface="微软雅黑" panose="020B0503020204020204" pitchFamily="34" charset="-122"/>
                    <a:ea typeface="微软雅黑" panose="020B0503020204020204" pitchFamily="34" charset="-122"/>
                  </a:rPr>
                  <a:t>Delta</a:t>
                </a:r>
                <a:r>
                  <a:rPr lang="zh-CN" altLang="en-US" sz="2000" dirty="0" smtClean="0">
                    <a:latin typeface="微软雅黑" panose="020B0503020204020204" pitchFamily="34" charset="-122"/>
                    <a:ea typeface="微软雅黑" panose="020B0503020204020204" pitchFamily="34" charset="-122"/>
                  </a:rPr>
                  <a:t>函数为</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𝛿</m:t>
                      </m:r>
                      <m:d>
                        <m:dPr>
                          <m:ctrlPr>
                            <a:rPr lang="en-US" altLang="zh-CN" sz="2000" b="0" i="1" smtClean="0">
                              <a:latin typeface="Cambria Math" panose="02040503050406030204" pitchFamily="18" charset="0"/>
                              <a:ea typeface="微软雅黑" panose="020B0503020204020204" pitchFamily="34" charset="-122"/>
                            </a:rPr>
                          </m:ctrlPr>
                        </m:dPr>
                        <m:e>
                          <m:r>
                            <a:rPr lang="en-US" altLang="zh-CN" sz="2000" b="1" i="1" smtClean="0">
                              <a:latin typeface="Cambria Math" panose="02040503050406030204" pitchFamily="18" charset="0"/>
                              <a:ea typeface="微软雅黑" panose="020B0503020204020204" pitchFamily="34" charset="-122"/>
                            </a:rPr>
                            <m:t>𝒙</m:t>
                          </m:r>
                          <m:r>
                            <a:rPr lang="en-US" altLang="zh-CN" sz="2000" b="0" i="1" smtClean="0">
                              <a:latin typeface="Cambria Math" panose="02040503050406030204" pitchFamily="18" charset="0"/>
                              <a:ea typeface="微软雅黑" panose="020B0503020204020204" pitchFamily="34" charset="-122"/>
                            </a:rPr>
                            <m:t> −</m:t>
                          </m:r>
                          <m:sSub>
                            <m:sSubPr>
                              <m:ctrlPr>
                                <a:rPr lang="en-US" altLang="zh-CN" sz="2000" b="1" i="1" smtClean="0">
                                  <a:latin typeface="Cambria Math" panose="02040503050406030204" pitchFamily="18" charset="0"/>
                                  <a:ea typeface="微软雅黑" panose="020B0503020204020204" pitchFamily="34" charset="-122"/>
                                </a:rPr>
                              </m:ctrlPr>
                            </m:sSubPr>
                            <m:e>
                              <m:r>
                                <a:rPr lang="en-US" altLang="zh-CN" sz="2000" b="1" i="1" smtClean="0">
                                  <a:latin typeface="Cambria Math" panose="02040503050406030204" pitchFamily="18" charset="0"/>
                                  <a:ea typeface="微软雅黑" panose="020B0503020204020204" pitchFamily="34" charset="-122"/>
                                </a:rPr>
                                <m:t>𝒙</m:t>
                              </m:r>
                            </m:e>
                            <m:sub>
                              <m:r>
                                <a:rPr lang="en-US" altLang="zh-CN" sz="2000" b="1" i="1" smtClean="0">
                                  <a:latin typeface="Cambria Math" panose="02040503050406030204" pitchFamily="18" charset="0"/>
                                  <a:ea typeface="微软雅黑" panose="020B0503020204020204" pitchFamily="34" charset="-122"/>
                                </a:rPr>
                                <m:t>𝟎</m:t>
                              </m:r>
                            </m:sub>
                          </m:sSub>
                        </m:e>
                      </m:d>
                      <m:r>
                        <a:rPr lang="en-US" altLang="zh-CN" sz="2000" b="1"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𝛿</m:t>
                      </m:r>
                      <m:d>
                        <m:dPr>
                          <m:ctrlPr>
                            <a:rPr lang="en-US" altLang="zh-CN" sz="2000" b="0" i="1" smtClean="0">
                              <a:latin typeface="Cambria Math" panose="02040503050406030204" pitchFamily="18" charset="0"/>
                              <a:ea typeface="微软雅黑" panose="020B0503020204020204" pitchFamily="34" charset="-122"/>
                            </a:rPr>
                          </m:ctrlPr>
                        </m:dPr>
                        <m:e>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𝑥</m:t>
                              </m:r>
                            </m:e>
                            <m:sub>
                              <m:r>
                                <a:rPr lang="en-US" altLang="zh-CN" sz="2000" b="0" i="1" smtClean="0">
                                  <a:latin typeface="Cambria Math" panose="02040503050406030204" pitchFamily="18" charset="0"/>
                                  <a:ea typeface="微软雅黑" panose="020B0503020204020204" pitchFamily="34" charset="-122"/>
                                </a:rPr>
                                <m:t>1</m:t>
                              </m:r>
                            </m:sub>
                          </m:sSub>
                          <m:r>
                            <a:rPr lang="en-US" altLang="zh-CN" sz="2000" b="0" i="1" smtClean="0">
                              <a:latin typeface="Cambria Math" panose="02040503050406030204" pitchFamily="18" charset="0"/>
                              <a:ea typeface="微软雅黑" panose="020B0503020204020204" pitchFamily="34" charset="-122"/>
                            </a:rPr>
                            <m:t> −</m:t>
                          </m:r>
                          <m:sSubSup>
                            <m:sSubSupPr>
                              <m:ctrlPr>
                                <a:rPr lang="en-US" altLang="zh-CN" sz="2000" b="0" i="1" smtClean="0">
                                  <a:latin typeface="Cambria Math" panose="02040503050406030204" pitchFamily="18" charset="0"/>
                                  <a:ea typeface="微软雅黑" panose="020B0503020204020204" pitchFamily="34" charset="-122"/>
                                </a:rPr>
                              </m:ctrlPr>
                            </m:sSubSupPr>
                            <m:e>
                              <m:r>
                                <a:rPr lang="en-US" altLang="zh-CN" sz="2000" b="0" i="1" smtClean="0">
                                  <a:latin typeface="Cambria Math" panose="02040503050406030204" pitchFamily="18" charset="0"/>
                                  <a:ea typeface="微软雅黑" panose="020B0503020204020204" pitchFamily="34" charset="-122"/>
                                </a:rPr>
                                <m:t>𝑥</m:t>
                              </m:r>
                            </m:e>
                            <m:sub>
                              <m:r>
                                <a:rPr lang="en-US" altLang="zh-CN" sz="2000" b="0" i="1" smtClean="0">
                                  <a:latin typeface="Cambria Math" panose="02040503050406030204" pitchFamily="18" charset="0"/>
                                  <a:ea typeface="微软雅黑" panose="020B0503020204020204" pitchFamily="34" charset="-122"/>
                                </a:rPr>
                                <m:t>1</m:t>
                              </m:r>
                            </m:sub>
                            <m:sup>
                              <m:r>
                                <a:rPr lang="en-US" altLang="zh-CN" sz="2000" b="0" i="1" smtClean="0">
                                  <a:latin typeface="Cambria Math" panose="02040503050406030204" pitchFamily="18" charset="0"/>
                                  <a:ea typeface="微软雅黑" panose="020B0503020204020204" pitchFamily="34" charset="-122"/>
                                </a:rPr>
                                <m:t>0</m:t>
                              </m:r>
                            </m:sup>
                          </m:sSubSup>
                        </m:e>
                      </m:d>
                      <m:r>
                        <a:rPr lang="en-US" altLang="zh-CN" sz="2000" b="0" i="1" smtClean="0">
                          <a:latin typeface="Cambria Math" panose="02040503050406030204" pitchFamily="18" charset="0"/>
                          <a:ea typeface="微软雅黑" panose="020B0503020204020204" pitchFamily="34" charset="-122"/>
                        </a:rPr>
                        <m:t>𝛿</m:t>
                      </m:r>
                      <m:d>
                        <m:dPr>
                          <m:ctrlPr>
                            <a:rPr lang="en-US" altLang="zh-CN" sz="2000" b="0" i="1" smtClean="0">
                              <a:latin typeface="Cambria Math" panose="02040503050406030204" pitchFamily="18" charset="0"/>
                              <a:ea typeface="微软雅黑" panose="020B0503020204020204" pitchFamily="34" charset="-122"/>
                            </a:rPr>
                          </m:ctrlPr>
                        </m:dPr>
                        <m:e>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𝑥</m:t>
                              </m:r>
                            </m:e>
                            <m:sub>
                              <m:r>
                                <a:rPr lang="en-US" altLang="zh-CN" sz="2000" b="0" i="1" smtClean="0">
                                  <a:latin typeface="Cambria Math" panose="02040503050406030204" pitchFamily="18" charset="0"/>
                                  <a:ea typeface="微软雅黑" panose="020B0503020204020204" pitchFamily="34" charset="-122"/>
                                </a:rPr>
                                <m:t>2</m:t>
                              </m:r>
                            </m:sub>
                          </m:sSub>
                          <m:r>
                            <a:rPr lang="en-US" altLang="zh-CN" sz="2000" b="0" i="1" smtClean="0">
                              <a:latin typeface="Cambria Math" panose="02040503050406030204" pitchFamily="18" charset="0"/>
                              <a:ea typeface="微软雅黑" panose="020B0503020204020204" pitchFamily="34" charset="-122"/>
                            </a:rPr>
                            <m:t>−</m:t>
                          </m:r>
                          <m:sSubSup>
                            <m:sSubSupPr>
                              <m:ctrlPr>
                                <a:rPr lang="en-US" altLang="zh-CN" sz="2000" b="0" i="1" smtClean="0">
                                  <a:latin typeface="Cambria Math" panose="02040503050406030204" pitchFamily="18" charset="0"/>
                                  <a:ea typeface="微软雅黑" panose="020B0503020204020204" pitchFamily="34" charset="-122"/>
                                </a:rPr>
                              </m:ctrlPr>
                            </m:sSubSupPr>
                            <m:e>
                              <m:r>
                                <a:rPr lang="en-US" altLang="zh-CN" sz="2000" b="0" i="1" smtClean="0">
                                  <a:latin typeface="Cambria Math" panose="02040503050406030204" pitchFamily="18" charset="0"/>
                                  <a:ea typeface="微软雅黑" panose="020B0503020204020204" pitchFamily="34" charset="-122"/>
                                </a:rPr>
                                <m:t>𝑥</m:t>
                              </m:r>
                            </m:e>
                            <m:sub>
                              <m:r>
                                <a:rPr lang="en-US" altLang="zh-CN" sz="2000" b="0" i="1" smtClean="0">
                                  <a:latin typeface="Cambria Math" panose="02040503050406030204" pitchFamily="18" charset="0"/>
                                  <a:ea typeface="微软雅黑" panose="020B0503020204020204" pitchFamily="34" charset="-122"/>
                                </a:rPr>
                                <m:t>2</m:t>
                              </m:r>
                            </m:sub>
                            <m:sup>
                              <m:r>
                                <a:rPr lang="en-US" altLang="zh-CN" sz="2000" b="0" i="1" smtClean="0">
                                  <a:latin typeface="Cambria Math" panose="02040503050406030204" pitchFamily="18" charset="0"/>
                                  <a:ea typeface="微软雅黑" panose="020B0503020204020204" pitchFamily="34" charset="-122"/>
                                </a:rPr>
                                <m:t>0</m:t>
                              </m:r>
                            </m:sup>
                          </m:sSubSup>
                        </m:e>
                      </m:d>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𝛿</m:t>
                      </m:r>
                      <m:d>
                        <m:dPr>
                          <m:ctrlPr>
                            <a:rPr lang="en-US" altLang="zh-CN" sz="2000" b="0" i="1" smtClean="0">
                              <a:latin typeface="Cambria Math" panose="02040503050406030204" pitchFamily="18" charset="0"/>
                              <a:ea typeface="微软雅黑" panose="020B0503020204020204" pitchFamily="34" charset="-122"/>
                            </a:rPr>
                          </m:ctrlPr>
                        </m:dPr>
                        <m:e>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𝑥</m:t>
                              </m:r>
                            </m:e>
                            <m:sub>
                              <m:r>
                                <a:rPr lang="en-US" altLang="zh-CN" sz="2000" b="0" i="1" smtClean="0">
                                  <a:latin typeface="Cambria Math" panose="02040503050406030204" pitchFamily="18" charset="0"/>
                                  <a:ea typeface="微软雅黑" panose="020B0503020204020204" pitchFamily="34" charset="-122"/>
                                </a:rPr>
                                <m:t>𝑛</m:t>
                              </m:r>
                            </m:sub>
                          </m:sSub>
                          <m:r>
                            <a:rPr lang="en-US" altLang="zh-CN" sz="2000" b="0" i="1" smtClean="0">
                              <a:latin typeface="Cambria Math" panose="02040503050406030204" pitchFamily="18" charset="0"/>
                              <a:ea typeface="微软雅黑" panose="020B0503020204020204" pitchFamily="34" charset="-122"/>
                            </a:rPr>
                            <m:t>−</m:t>
                          </m:r>
                          <m:sSubSup>
                            <m:sSubSupPr>
                              <m:ctrlPr>
                                <a:rPr lang="en-US" altLang="zh-CN" sz="2000" b="0" i="1" smtClean="0">
                                  <a:latin typeface="Cambria Math" panose="02040503050406030204" pitchFamily="18" charset="0"/>
                                  <a:ea typeface="微软雅黑" panose="020B0503020204020204" pitchFamily="34" charset="-122"/>
                                </a:rPr>
                              </m:ctrlPr>
                            </m:sSubSupPr>
                            <m:e>
                              <m:r>
                                <a:rPr lang="en-US" altLang="zh-CN" sz="2000" b="0" i="1" smtClean="0">
                                  <a:latin typeface="Cambria Math" panose="02040503050406030204" pitchFamily="18" charset="0"/>
                                  <a:ea typeface="微软雅黑" panose="020B0503020204020204" pitchFamily="34" charset="-122"/>
                                </a:rPr>
                                <m:t>𝑥</m:t>
                              </m:r>
                            </m:e>
                            <m:sub>
                              <m:r>
                                <a:rPr lang="en-US" altLang="zh-CN" sz="2000" b="0" i="1" smtClean="0">
                                  <a:latin typeface="Cambria Math" panose="02040503050406030204" pitchFamily="18" charset="0"/>
                                  <a:ea typeface="微软雅黑" panose="020B0503020204020204" pitchFamily="34" charset="-122"/>
                                </a:rPr>
                                <m:t>𝑛</m:t>
                              </m:r>
                            </m:sub>
                            <m:sup>
                              <m:r>
                                <a:rPr lang="en-US" altLang="zh-CN" sz="2000" b="0" i="1" smtClean="0">
                                  <a:latin typeface="Cambria Math" panose="02040503050406030204" pitchFamily="18" charset="0"/>
                                  <a:ea typeface="微软雅黑" panose="020B0503020204020204" pitchFamily="34" charset="-122"/>
                                </a:rPr>
                                <m:t>0</m:t>
                              </m:r>
                            </m:sup>
                          </m:sSubSup>
                        </m:e>
                      </m:d>
                      <m:r>
                        <a:rPr lang="en-US" altLang="zh-CN" sz="2000" b="0" i="1" smtClean="0">
                          <a:latin typeface="Cambria Math" panose="02040503050406030204" pitchFamily="18" charset="0"/>
                          <a:ea typeface="微软雅黑" panose="020B0503020204020204" pitchFamily="34" charset="-122"/>
                        </a:rPr>
                        <m:t>= </m:t>
                      </m:r>
                      <m:nary>
                        <m:naryPr>
                          <m:chr m:val="∏"/>
                          <m:ctrlPr>
                            <a:rPr lang="en-US" altLang="zh-CN" sz="2000" b="0" i="1" smtClean="0">
                              <a:latin typeface="Cambria Math" panose="02040503050406030204" pitchFamily="18" charset="0"/>
                              <a:ea typeface="微软雅黑" panose="020B0503020204020204" pitchFamily="34" charset="-122"/>
                            </a:rPr>
                          </m:ctrlPr>
                        </m:naryPr>
                        <m:sub>
                          <m:r>
                            <m:rPr>
                              <m:brk m:alnAt="23"/>
                            </m:rPr>
                            <a:rPr lang="en-US" altLang="zh-CN" sz="2000" b="0" i="1" smtClean="0">
                              <a:latin typeface="Cambria Math" panose="02040503050406030204" pitchFamily="18" charset="0"/>
                              <a:ea typeface="微软雅黑" panose="020B0503020204020204" pitchFamily="34" charset="-122"/>
                            </a:rPr>
                            <m:t>𝑖</m:t>
                          </m:r>
                          <m:r>
                            <a:rPr lang="en-US" altLang="zh-CN" sz="2000" b="0" i="1" smtClean="0">
                              <a:latin typeface="Cambria Math" panose="02040503050406030204" pitchFamily="18" charset="0"/>
                              <a:ea typeface="微软雅黑" panose="020B0503020204020204" pitchFamily="34" charset="-122"/>
                            </a:rPr>
                            <m:t>=1</m:t>
                          </m:r>
                        </m:sub>
                        <m:sup>
                          <m:r>
                            <a:rPr lang="en-US" altLang="zh-CN" sz="2000" b="0" i="1" smtClean="0">
                              <a:latin typeface="Cambria Math" panose="02040503050406030204" pitchFamily="18" charset="0"/>
                              <a:ea typeface="微软雅黑" panose="020B0503020204020204" pitchFamily="34" charset="-122"/>
                            </a:rPr>
                            <m:t>𝑛</m:t>
                          </m:r>
                        </m:sup>
                        <m:e>
                          <m:r>
                            <a:rPr lang="en-US" altLang="zh-CN" sz="2000" i="1">
                              <a:latin typeface="Cambria Math" panose="02040503050406030204" pitchFamily="18" charset="0"/>
                              <a:ea typeface="微软雅黑" panose="020B0503020204020204" pitchFamily="34" charset="-122"/>
                            </a:rPr>
                            <m:t>𝛿</m:t>
                          </m:r>
                          <m:d>
                            <m:dPr>
                              <m:ctrlPr>
                                <a:rPr lang="en-US" altLang="zh-CN" sz="2000" i="1">
                                  <a:latin typeface="Cambria Math" panose="02040503050406030204" pitchFamily="18" charset="0"/>
                                  <a:ea typeface="微软雅黑" panose="020B0503020204020204" pitchFamily="34" charset="-122"/>
                                </a:rPr>
                              </m:ctrlPr>
                            </m:dPr>
                            <m:e>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𝑥</m:t>
                                  </m:r>
                                </m:e>
                                <m:sub>
                                  <m:r>
                                    <a:rPr lang="en-US" altLang="zh-CN" sz="2000" b="0" i="1" smtClean="0">
                                      <a:latin typeface="Cambria Math" panose="02040503050406030204" pitchFamily="18" charset="0"/>
                                      <a:ea typeface="微软雅黑" panose="020B0503020204020204" pitchFamily="34" charset="-122"/>
                                    </a:rPr>
                                    <m:t>𝑖</m:t>
                                  </m:r>
                                </m:sub>
                              </m:sSub>
                              <m:r>
                                <a:rPr lang="en-US" altLang="zh-CN" sz="2000" i="1">
                                  <a:latin typeface="Cambria Math" panose="02040503050406030204" pitchFamily="18" charset="0"/>
                                  <a:ea typeface="微软雅黑" panose="020B0503020204020204" pitchFamily="34" charset="-122"/>
                                </a:rPr>
                                <m:t> −</m:t>
                              </m:r>
                              <m:sSubSup>
                                <m:sSubSupPr>
                                  <m:ctrlPr>
                                    <a:rPr lang="en-US" altLang="zh-CN" sz="2000" i="1">
                                      <a:latin typeface="Cambria Math" panose="02040503050406030204" pitchFamily="18" charset="0"/>
                                      <a:ea typeface="微软雅黑" panose="020B0503020204020204" pitchFamily="34" charset="-122"/>
                                    </a:rPr>
                                  </m:ctrlPr>
                                </m:sSubSupPr>
                                <m:e>
                                  <m:r>
                                    <a:rPr lang="en-US" altLang="zh-CN" sz="2000" i="1">
                                      <a:latin typeface="Cambria Math" panose="02040503050406030204" pitchFamily="18" charset="0"/>
                                      <a:ea typeface="微软雅黑" panose="020B0503020204020204" pitchFamily="34" charset="-122"/>
                                    </a:rPr>
                                    <m:t>𝑥</m:t>
                                  </m:r>
                                </m:e>
                                <m:sub>
                                  <m:r>
                                    <a:rPr lang="en-US" altLang="zh-CN" sz="2000" b="0" i="1" smtClean="0">
                                      <a:latin typeface="Cambria Math" panose="02040503050406030204" pitchFamily="18" charset="0"/>
                                      <a:ea typeface="微软雅黑" panose="020B0503020204020204" pitchFamily="34" charset="-122"/>
                                    </a:rPr>
                                    <m:t>𝑖</m:t>
                                  </m:r>
                                </m:sub>
                                <m:sup>
                                  <m:r>
                                    <a:rPr lang="en-US" altLang="zh-CN" sz="2000" i="1">
                                      <a:latin typeface="Cambria Math" panose="02040503050406030204" pitchFamily="18" charset="0"/>
                                      <a:ea typeface="微软雅黑" panose="020B0503020204020204" pitchFamily="34" charset="-122"/>
                                    </a:rPr>
                                    <m:t>0</m:t>
                                  </m:r>
                                </m:sup>
                              </m:sSubSup>
                            </m:e>
                          </m:d>
                        </m:e>
                      </m:nary>
                    </m:oMath>
                  </m:oMathPara>
                </a14:m>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满足</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nary>
                        <m:naryPr>
                          <m:subHide m:val="on"/>
                          <m:supHide m:val="on"/>
                          <m:ctrlPr>
                            <a:rPr lang="en-US" altLang="zh-CN" sz="2000" b="0" i="1" dirty="0" smtClean="0">
                              <a:latin typeface="Cambria Math" panose="02040503050406030204" pitchFamily="18" charset="0"/>
                              <a:ea typeface="微软雅黑" panose="020B0503020204020204" pitchFamily="34" charset="-122"/>
                            </a:rPr>
                          </m:ctrlPr>
                        </m:naryPr>
                        <m:sub/>
                        <m:sup/>
                        <m:e>
                          <m:r>
                            <a:rPr lang="en-US" altLang="zh-CN" sz="2000" i="1" dirty="0">
                              <a:latin typeface="Cambria Math" panose="02040503050406030204" pitchFamily="18" charset="0"/>
                              <a:ea typeface="微软雅黑" panose="020B0503020204020204" pitchFamily="34" charset="-122"/>
                            </a:rPr>
                            <m:t>⋯</m:t>
                          </m:r>
                        </m:e>
                      </m:nary>
                      <m:nary>
                        <m:naryPr>
                          <m:subHide m:val="on"/>
                          <m:supHide m:val="on"/>
                          <m:ctrlPr>
                            <a:rPr lang="en-US" altLang="zh-CN" sz="2000" b="0" i="1" dirty="0" smtClean="0">
                              <a:latin typeface="Cambria Math" panose="02040503050406030204" pitchFamily="18" charset="0"/>
                              <a:ea typeface="微软雅黑" panose="020B0503020204020204" pitchFamily="34" charset="-122"/>
                            </a:rPr>
                          </m:ctrlPr>
                        </m:naryPr>
                        <m:sub/>
                        <m:sup/>
                        <m:e>
                          <m:r>
                            <a:rPr lang="en-US" altLang="zh-CN" sz="2000" i="1">
                              <a:latin typeface="Cambria Math" panose="02040503050406030204" pitchFamily="18" charset="0"/>
                              <a:ea typeface="微软雅黑" panose="020B0503020204020204" pitchFamily="34" charset="-122"/>
                            </a:rPr>
                            <m:t>𝛿</m:t>
                          </m:r>
                          <m:d>
                            <m:dPr>
                              <m:ctrlPr>
                                <a:rPr lang="en-US" altLang="zh-CN" sz="2000" i="1">
                                  <a:latin typeface="Cambria Math" panose="02040503050406030204" pitchFamily="18" charset="0"/>
                                  <a:ea typeface="微软雅黑" panose="020B0503020204020204" pitchFamily="34" charset="-122"/>
                                </a:rPr>
                              </m:ctrlPr>
                            </m:dPr>
                            <m:e>
                              <m:r>
                                <a:rPr lang="en-US" altLang="zh-CN" sz="2000" b="1" i="1">
                                  <a:latin typeface="Cambria Math" panose="02040503050406030204" pitchFamily="18" charset="0"/>
                                  <a:ea typeface="微软雅黑" panose="020B0503020204020204" pitchFamily="34" charset="-122"/>
                                </a:rPr>
                                <m:t>𝒙</m:t>
                              </m:r>
                              <m:r>
                                <a:rPr lang="en-US" altLang="zh-CN" sz="2000" i="1">
                                  <a:latin typeface="Cambria Math" panose="02040503050406030204" pitchFamily="18" charset="0"/>
                                  <a:ea typeface="微软雅黑" panose="020B0503020204020204" pitchFamily="34" charset="-122"/>
                                </a:rPr>
                                <m:t> −</m:t>
                              </m:r>
                              <m:sSub>
                                <m:sSubPr>
                                  <m:ctrlPr>
                                    <a:rPr lang="en-US" altLang="zh-CN" sz="2000" b="1"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𝒙</m:t>
                                  </m:r>
                                </m:e>
                                <m:sub>
                                  <m:r>
                                    <a:rPr lang="en-US" altLang="zh-CN" sz="2000" b="1" i="1">
                                      <a:latin typeface="Cambria Math" panose="02040503050406030204" pitchFamily="18" charset="0"/>
                                      <a:ea typeface="微软雅黑" panose="020B0503020204020204" pitchFamily="34" charset="-122"/>
                                    </a:rPr>
                                    <m:t>𝟎</m:t>
                                  </m:r>
                                </m:sub>
                              </m:sSub>
                            </m:e>
                          </m:d>
                        </m:e>
                      </m:nary>
                      <m:sSup>
                        <m:sSupPr>
                          <m:ctrlPr>
                            <a:rPr lang="en-US" altLang="zh-CN" sz="2000" b="0" i="1" dirty="0" smtClean="0">
                              <a:latin typeface="Cambria Math" panose="02040503050406030204" pitchFamily="18" charset="0"/>
                              <a:ea typeface="微软雅黑" panose="020B0503020204020204" pitchFamily="34" charset="-122"/>
                            </a:rPr>
                          </m:ctrlPr>
                        </m:sSupPr>
                        <m:e>
                          <m:r>
                            <m:rPr>
                              <m:sty m:val="p"/>
                            </m:rPr>
                            <a:rPr lang="en-US" altLang="zh-CN" sz="2000" b="0" i="0" dirty="0" smtClean="0">
                              <a:latin typeface="Cambria Math" panose="02040503050406030204" pitchFamily="18" charset="0"/>
                              <a:ea typeface="微软雅黑" panose="020B0503020204020204" pitchFamily="34" charset="-122"/>
                            </a:rPr>
                            <m:t>d</m:t>
                          </m:r>
                        </m:e>
                        <m:sup>
                          <m:r>
                            <a:rPr lang="en-US" altLang="zh-CN" sz="2000" b="0" i="1" dirty="0" smtClean="0">
                              <a:latin typeface="Cambria Math" panose="02040503050406030204" pitchFamily="18" charset="0"/>
                              <a:ea typeface="微软雅黑" panose="020B0503020204020204" pitchFamily="34" charset="-122"/>
                            </a:rPr>
                            <m:t>𝑛</m:t>
                          </m:r>
                        </m:sup>
                      </m:sSup>
                      <m:r>
                        <a:rPr lang="en-US" altLang="zh-CN" sz="2000" b="1" i="1" dirty="0" smtClean="0">
                          <a:latin typeface="Cambria Math" panose="02040503050406030204" pitchFamily="18" charset="0"/>
                          <a:ea typeface="微软雅黑" panose="020B0503020204020204" pitchFamily="34" charset="-122"/>
                        </a:rPr>
                        <m:t>𝒙</m:t>
                      </m:r>
                      <m:r>
                        <a:rPr lang="en-US" altLang="zh-CN" sz="2000" b="1" i="1" dirty="0" smtClean="0">
                          <a:latin typeface="Cambria Math" panose="02040503050406030204" pitchFamily="18" charset="0"/>
                          <a:ea typeface="微软雅黑" panose="020B0503020204020204" pitchFamily="34" charset="-122"/>
                        </a:rPr>
                        <m:t>=</m:t>
                      </m:r>
                      <m:r>
                        <a:rPr lang="en-US" altLang="zh-CN" sz="2000" b="0" i="1" dirty="0" smtClean="0">
                          <a:latin typeface="Cambria Math" panose="02040503050406030204" pitchFamily="18" charset="0"/>
                          <a:ea typeface="微软雅黑" panose="020B0503020204020204" pitchFamily="34" charset="-122"/>
                        </a:rPr>
                        <m:t>1</m:t>
                      </m:r>
                    </m:oMath>
                  </m:oMathPara>
                </a14:m>
                <a:endParaRPr lang="en-US" altLang="zh-CN" sz="2000" i="1"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nary>
                        <m:naryPr>
                          <m:subHide m:val="on"/>
                          <m:supHide m:val="on"/>
                          <m:ctrlPr>
                            <a:rPr lang="en-US" altLang="zh-CN" sz="2000" i="1" dirty="0">
                              <a:latin typeface="Cambria Math" panose="02040503050406030204" pitchFamily="18" charset="0"/>
                              <a:ea typeface="微软雅黑" panose="020B0503020204020204" pitchFamily="34" charset="-122"/>
                            </a:rPr>
                          </m:ctrlPr>
                        </m:naryPr>
                        <m:sub/>
                        <m:sup/>
                        <m:e>
                          <m:r>
                            <a:rPr lang="en-US" altLang="zh-CN" sz="2000" i="1" dirty="0">
                              <a:latin typeface="Cambria Math" panose="02040503050406030204" pitchFamily="18" charset="0"/>
                              <a:ea typeface="微软雅黑" panose="020B0503020204020204" pitchFamily="34" charset="-122"/>
                            </a:rPr>
                            <m:t>⋯</m:t>
                          </m:r>
                        </m:e>
                      </m:nary>
                      <m:nary>
                        <m:naryPr>
                          <m:subHide m:val="on"/>
                          <m:supHide m:val="on"/>
                          <m:ctrlPr>
                            <a:rPr lang="en-US" altLang="zh-CN" sz="2000" i="1" dirty="0">
                              <a:latin typeface="Cambria Math" panose="02040503050406030204" pitchFamily="18" charset="0"/>
                              <a:ea typeface="微软雅黑" panose="020B0503020204020204" pitchFamily="34" charset="-122"/>
                            </a:rPr>
                          </m:ctrlPr>
                        </m:naryPr>
                        <m:sub/>
                        <m:sup/>
                        <m:e>
                          <m:r>
                            <a:rPr lang="en-US" altLang="zh-CN" sz="2000" b="0" i="1" dirty="0" smtClean="0">
                              <a:latin typeface="Cambria Math" panose="02040503050406030204" pitchFamily="18" charset="0"/>
                              <a:ea typeface="微软雅黑" panose="020B0503020204020204" pitchFamily="34" charset="-122"/>
                            </a:rPr>
                            <m:t>𝑓</m:t>
                          </m:r>
                          <m:r>
                            <a:rPr lang="en-US" altLang="zh-CN" sz="2000" b="0" i="1" dirty="0" smtClean="0">
                              <a:latin typeface="Cambria Math" panose="02040503050406030204" pitchFamily="18" charset="0"/>
                              <a:ea typeface="微软雅黑" panose="020B0503020204020204" pitchFamily="34" charset="-122"/>
                            </a:rPr>
                            <m:t>(</m:t>
                          </m:r>
                          <m:r>
                            <a:rPr lang="en-US" altLang="zh-CN" sz="2000" b="1" i="1" dirty="0" smtClean="0">
                              <a:latin typeface="Cambria Math" panose="02040503050406030204" pitchFamily="18" charset="0"/>
                              <a:ea typeface="微软雅黑" panose="020B0503020204020204" pitchFamily="34" charset="-122"/>
                            </a:rPr>
                            <m:t>𝒙</m:t>
                          </m:r>
                          <m:r>
                            <a:rPr lang="en-US" altLang="zh-CN" sz="2000" b="0" i="1" dirty="0" smtClean="0">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𝛿</m:t>
                          </m:r>
                          <m:d>
                            <m:dPr>
                              <m:ctrlPr>
                                <a:rPr lang="en-US" altLang="zh-CN" sz="2000" i="1">
                                  <a:latin typeface="Cambria Math" panose="02040503050406030204" pitchFamily="18" charset="0"/>
                                  <a:ea typeface="微软雅黑" panose="020B0503020204020204" pitchFamily="34" charset="-122"/>
                                </a:rPr>
                              </m:ctrlPr>
                            </m:dPr>
                            <m:e>
                              <m:r>
                                <a:rPr lang="en-US" altLang="zh-CN" sz="2000" b="1" i="1">
                                  <a:latin typeface="Cambria Math" panose="02040503050406030204" pitchFamily="18" charset="0"/>
                                  <a:ea typeface="微软雅黑" panose="020B0503020204020204" pitchFamily="34" charset="-122"/>
                                </a:rPr>
                                <m:t>𝒙</m:t>
                              </m:r>
                              <m:r>
                                <a:rPr lang="en-US" altLang="zh-CN" sz="2000" i="1">
                                  <a:latin typeface="Cambria Math" panose="02040503050406030204" pitchFamily="18" charset="0"/>
                                  <a:ea typeface="微软雅黑" panose="020B0503020204020204" pitchFamily="34" charset="-122"/>
                                </a:rPr>
                                <m:t> −</m:t>
                              </m:r>
                              <m:sSub>
                                <m:sSubPr>
                                  <m:ctrlPr>
                                    <a:rPr lang="en-US" altLang="zh-CN" sz="2000" b="1"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𝒙</m:t>
                                  </m:r>
                                </m:e>
                                <m:sub>
                                  <m:r>
                                    <a:rPr lang="en-US" altLang="zh-CN" sz="2000" b="1" i="1">
                                      <a:latin typeface="Cambria Math" panose="02040503050406030204" pitchFamily="18" charset="0"/>
                                      <a:ea typeface="微软雅黑" panose="020B0503020204020204" pitchFamily="34" charset="-122"/>
                                    </a:rPr>
                                    <m:t>𝟎</m:t>
                                  </m:r>
                                </m:sub>
                              </m:sSub>
                            </m:e>
                          </m:d>
                        </m:e>
                      </m:nary>
                      <m:sSup>
                        <m:sSupPr>
                          <m:ctrlPr>
                            <a:rPr lang="en-US" altLang="zh-CN" sz="2000" i="1" dirty="0">
                              <a:latin typeface="Cambria Math" panose="02040503050406030204" pitchFamily="18" charset="0"/>
                              <a:ea typeface="微软雅黑" panose="020B0503020204020204" pitchFamily="34" charset="-122"/>
                            </a:rPr>
                          </m:ctrlPr>
                        </m:sSupPr>
                        <m:e>
                          <m:r>
                            <m:rPr>
                              <m:sty m:val="p"/>
                            </m:rPr>
                            <a:rPr lang="en-US" altLang="zh-CN" sz="2000" dirty="0">
                              <a:latin typeface="Cambria Math" panose="02040503050406030204" pitchFamily="18" charset="0"/>
                              <a:ea typeface="微软雅黑" panose="020B0503020204020204" pitchFamily="34" charset="-122"/>
                            </a:rPr>
                            <m:t>d</m:t>
                          </m:r>
                        </m:e>
                        <m:sup>
                          <m:r>
                            <a:rPr lang="en-US" altLang="zh-CN" sz="2000" i="1" dirty="0">
                              <a:latin typeface="Cambria Math" panose="02040503050406030204" pitchFamily="18" charset="0"/>
                              <a:ea typeface="微软雅黑" panose="020B0503020204020204" pitchFamily="34" charset="-122"/>
                            </a:rPr>
                            <m:t>𝑛</m:t>
                          </m:r>
                        </m:sup>
                      </m:sSup>
                      <m:r>
                        <a:rPr lang="en-US" altLang="zh-CN" sz="2000" b="1" i="1" dirty="0">
                          <a:latin typeface="Cambria Math" panose="02040503050406030204" pitchFamily="18" charset="0"/>
                          <a:ea typeface="微软雅黑" panose="020B0503020204020204" pitchFamily="34" charset="-122"/>
                        </a:rPr>
                        <m:t>𝒙</m:t>
                      </m:r>
                      <m:r>
                        <a:rPr lang="en-US" altLang="zh-CN" sz="2000" b="1" i="1" dirty="0" smtClean="0">
                          <a:latin typeface="Cambria Math" panose="02040503050406030204" pitchFamily="18" charset="0"/>
                          <a:ea typeface="微软雅黑" panose="020B0503020204020204" pitchFamily="34" charset="-122"/>
                        </a:rPr>
                        <m:t>=</m:t>
                      </m:r>
                      <m:r>
                        <a:rPr lang="en-US" altLang="zh-CN" sz="2000" b="0" i="1" dirty="0" smtClean="0">
                          <a:latin typeface="Cambria Math" panose="02040503050406030204" pitchFamily="18" charset="0"/>
                          <a:ea typeface="微软雅黑" panose="020B0503020204020204" pitchFamily="34" charset="-122"/>
                        </a:rPr>
                        <m:t>𝑓</m:t>
                      </m:r>
                      <m:r>
                        <a:rPr lang="en-US" altLang="zh-CN" sz="2000" b="0" i="1" dirty="0" smtClean="0">
                          <a:latin typeface="Cambria Math" panose="02040503050406030204" pitchFamily="18" charset="0"/>
                          <a:ea typeface="微软雅黑" panose="020B0503020204020204" pitchFamily="34" charset="-122"/>
                        </a:rPr>
                        <m:t>(</m:t>
                      </m:r>
                      <m:sSub>
                        <m:sSubPr>
                          <m:ctrlPr>
                            <a:rPr lang="en-US" altLang="zh-CN" sz="2000" b="1" i="1" dirty="0" smtClean="0">
                              <a:latin typeface="Cambria Math" panose="02040503050406030204" pitchFamily="18" charset="0"/>
                              <a:ea typeface="微软雅黑" panose="020B0503020204020204" pitchFamily="34" charset="-122"/>
                            </a:rPr>
                          </m:ctrlPr>
                        </m:sSubPr>
                        <m:e>
                          <m:r>
                            <a:rPr lang="en-US" altLang="zh-CN" sz="2000" b="1" i="1" dirty="0" smtClean="0">
                              <a:latin typeface="Cambria Math" panose="02040503050406030204" pitchFamily="18" charset="0"/>
                              <a:ea typeface="微软雅黑" panose="020B0503020204020204" pitchFamily="34" charset="-122"/>
                            </a:rPr>
                            <m:t>𝒙</m:t>
                          </m:r>
                        </m:e>
                        <m:sub>
                          <m:r>
                            <a:rPr lang="en-US" altLang="zh-CN" sz="2000" b="1" i="1" dirty="0" smtClean="0">
                              <a:latin typeface="Cambria Math" panose="02040503050406030204" pitchFamily="18" charset="0"/>
                              <a:ea typeface="微软雅黑" panose="020B0503020204020204" pitchFamily="34" charset="-122"/>
                            </a:rPr>
                            <m:t>𝟎</m:t>
                          </m:r>
                        </m:sub>
                      </m:sSub>
                      <m:r>
                        <a:rPr lang="en-US" altLang="zh-CN" sz="2000" b="0" i="1" dirty="0" smtClean="0">
                          <a:latin typeface="Cambria Math" panose="02040503050406030204" pitchFamily="18" charset="0"/>
                          <a:ea typeface="微软雅黑" panose="020B0503020204020204" pitchFamily="34" charset="-122"/>
                        </a:rPr>
                        <m:t>)</m:t>
                      </m:r>
                    </m:oMath>
                  </m:oMathPara>
                </a14:m>
                <a:endParaRPr lang="en-US" altLang="zh-CN" sz="2000" i="1"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一般以三维形式出现居多</a:t>
                </a:r>
                <a:r>
                  <a:rPr lang="zh-CN" altLang="en-US" sz="2000" dirty="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即</a:t>
                </a:r>
                <a14:m>
                  <m:oMath xmlns:m="http://schemas.openxmlformats.org/officeDocument/2006/math">
                    <m:r>
                      <a:rPr lang="en-US" altLang="zh-CN" sz="2000" i="1">
                        <a:latin typeface="Cambria Math" panose="02040503050406030204" pitchFamily="18" charset="0"/>
                        <a:ea typeface="微软雅黑" panose="020B0503020204020204" pitchFamily="34" charset="-122"/>
                      </a:rPr>
                      <m:t>𝛿</m:t>
                    </m:r>
                    <m:d>
                      <m:dPr>
                        <m:ctrlPr>
                          <a:rPr lang="en-US" altLang="zh-CN" sz="2000" i="1">
                            <a:latin typeface="Cambria Math" panose="02040503050406030204" pitchFamily="18" charset="0"/>
                            <a:ea typeface="微软雅黑" panose="020B0503020204020204" pitchFamily="34" charset="-122"/>
                          </a:rPr>
                        </m:ctrlPr>
                      </m:dPr>
                      <m:e>
                        <m:acc>
                          <m:accPr>
                            <m:chr m:val="⃗"/>
                            <m:ctrlPr>
                              <a:rPr lang="en-US" altLang="zh-CN" sz="2000" b="0" i="1" smtClean="0">
                                <a:latin typeface="Cambria Math" panose="02040503050406030204" pitchFamily="18" charset="0"/>
                                <a:ea typeface="微软雅黑" panose="020B0503020204020204" pitchFamily="34" charset="-122"/>
                              </a:rPr>
                            </m:ctrlPr>
                          </m:accPr>
                          <m:e>
                            <m:r>
                              <a:rPr lang="en-US" altLang="zh-CN" sz="2000" b="0" i="1">
                                <a:latin typeface="Cambria Math" panose="02040503050406030204" pitchFamily="18" charset="0"/>
                                <a:ea typeface="微软雅黑" panose="020B0503020204020204" pitchFamily="34" charset="-122"/>
                              </a:rPr>
                              <m:t>𝑥</m:t>
                            </m:r>
                          </m:e>
                        </m:acc>
                        <m:r>
                          <a:rPr lang="en-US" altLang="zh-CN" sz="2000" b="0" i="1">
                            <a:latin typeface="Cambria Math" panose="02040503050406030204" pitchFamily="18" charset="0"/>
                            <a:ea typeface="微软雅黑" panose="020B0503020204020204" pitchFamily="34" charset="-122"/>
                          </a:rPr>
                          <m:t> −</m:t>
                        </m:r>
                        <m:sSub>
                          <m:sSubPr>
                            <m:ctrlPr>
                              <a:rPr lang="en-US" altLang="zh-CN" sz="2000" i="1">
                                <a:latin typeface="Cambria Math" panose="02040503050406030204" pitchFamily="18" charset="0"/>
                                <a:ea typeface="微软雅黑" panose="020B0503020204020204" pitchFamily="34" charset="-122"/>
                              </a:rPr>
                            </m:ctrlPr>
                          </m:sSubPr>
                          <m:e>
                            <m:acc>
                              <m:accPr>
                                <m:chr m:val="⃗"/>
                                <m:ctrlPr>
                                  <a:rPr lang="en-US" altLang="zh-CN" sz="2000" b="0" i="1" smtClean="0">
                                    <a:latin typeface="Cambria Math" panose="02040503050406030204" pitchFamily="18" charset="0"/>
                                    <a:ea typeface="微软雅黑" panose="020B0503020204020204" pitchFamily="34" charset="-122"/>
                                  </a:rPr>
                                </m:ctrlPr>
                              </m:accPr>
                              <m:e>
                                <m:r>
                                  <a:rPr lang="en-US" altLang="zh-CN" sz="2000" b="0" i="1">
                                    <a:latin typeface="Cambria Math" panose="02040503050406030204" pitchFamily="18" charset="0"/>
                                    <a:ea typeface="微软雅黑" panose="020B0503020204020204" pitchFamily="34" charset="-122"/>
                                  </a:rPr>
                                  <m:t>𝑥</m:t>
                                </m:r>
                              </m:e>
                            </m:acc>
                          </m:e>
                          <m:sub>
                            <m:r>
                              <a:rPr lang="en-US" altLang="zh-CN" sz="2000" b="0" i="1">
                                <a:latin typeface="Cambria Math" panose="02040503050406030204" pitchFamily="18" charset="0"/>
                                <a:ea typeface="微软雅黑" panose="020B0503020204020204" pitchFamily="34" charset="-122"/>
                              </a:rPr>
                              <m:t>0</m:t>
                            </m:r>
                          </m:sub>
                        </m:sSub>
                      </m:e>
                    </m:d>
                    <m:r>
                      <a:rPr lang="en-US" altLang="zh-CN" sz="2000" b="1" i="1" smtClean="0">
                        <a:latin typeface="Cambria Math" panose="02040503050406030204" pitchFamily="18" charset="0"/>
                        <a:ea typeface="微软雅黑" panose="020B0503020204020204" pitchFamily="34" charset="-122"/>
                      </a:rPr>
                      <m:t>= </m:t>
                    </m:r>
                    <m:r>
                      <a:rPr lang="en-US" altLang="zh-CN" sz="2000" i="1">
                        <a:latin typeface="Cambria Math" panose="02040503050406030204" pitchFamily="18" charset="0"/>
                        <a:ea typeface="微软雅黑" panose="020B0503020204020204" pitchFamily="34" charset="-122"/>
                      </a:rPr>
                      <m:t>𝛿</m:t>
                    </m:r>
                    <m:d>
                      <m:dPr>
                        <m:ctrlPr>
                          <a:rPr lang="en-US" altLang="zh-CN" sz="2000" i="1">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 −</m:t>
                        </m:r>
                        <m:sSub>
                          <m:sSubPr>
                            <m:ctrlPr>
                              <a:rPr lang="en-US" altLang="zh-CN" sz="2000" i="1">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𝑥</m:t>
                            </m:r>
                          </m:e>
                          <m:sub>
                            <m:r>
                              <a:rPr lang="en-US" altLang="zh-CN" sz="2000" b="0" i="1">
                                <a:latin typeface="Cambria Math" panose="02040503050406030204" pitchFamily="18" charset="0"/>
                                <a:ea typeface="微软雅黑" panose="020B0503020204020204" pitchFamily="34" charset="-122"/>
                              </a:rPr>
                              <m:t>0</m:t>
                            </m:r>
                          </m:sub>
                        </m:sSub>
                      </m:e>
                    </m:d>
                    <m:r>
                      <a:rPr lang="en-US" altLang="zh-CN" sz="2000" i="1">
                        <a:latin typeface="Cambria Math" panose="02040503050406030204" pitchFamily="18" charset="0"/>
                        <a:ea typeface="微软雅黑" panose="020B0503020204020204" pitchFamily="34" charset="-122"/>
                      </a:rPr>
                      <m:t>𝛿</m:t>
                    </m:r>
                    <m:d>
                      <m:dPr>
                        <m:ctrlPr>
                          <a:rPr lang="en-US" altLang="zh-CN" sz="2000" i="1">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𝑦</m:t>
                        </m:r>
                        <m:r>
                          <a:rPr lang="en-US" altLang="zh-CN" sz="2000" i="1">
                            <a:latin typeface="Cambria Math" panose="02040503050406030204" pitchFamily="18" charset="0"/>
                            <a:ea typeface="微软雅黑" panose="020B0503020204020204" pitchFamily="34" charset="-122"/>
                          </a:rPr>
                          <m:t> −</m:t>
                        </m:r>
                        <m:sSub>
                          <m:sSubPr>
                            <m:ctrlPr>
                              <a:rPr lang="en-US" altLang="zh-CN" sz="2000" i="1">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𝑦</m:t>
                            </m:r>
                          </m:e>
                          <m:sub>
                            <m:r>
                              <a:rPr lang="en-US" altLang="zh-CN" sz="2000" i="1">
                                <a:latin typeface="Cambria Math" panose="02040503050406030204" pitchFamily="18" charset="0"/>
                                <a:ea typeface="微软雅黑" panose="020B0503020204020204" pitchFamily="34" charset="-122"/>
                              </a:rPr>
                              <m:t>0</m:t>
                            </m:r>
                          </m:sub>
                        </m:sSub>
                      </m:e>
                    </m:d>
                    <m:r>
                      <a:rPr lang="en-US" altLang="zh-CN" sz="2000" i="1">
                        <a:latin typeface="Cambria Math" panose="02040503050406030204" pitchFamily="18" charset="0"/>
                        <a:ea typeface="微软雅黑" panose="020B0503020204020204" pitchFamily="34" charset="-122"/>
                      </a:rPr>
                      <m:t>𝛿</m:t>
                    </m:r>
                    <m:d>
                      <m:dPr>
                        <m:ctrlPr>
                          <a:rPr lang="en-US" altLang="zh-CN" sz="2000" i="1">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𝑧</m:t>
                        </m:r>
                        <m:r>
                          <a:rPr lang="en-US" altLang="zh-CN" sz="2000" i="1">
                            <a:latin typeface="Cambria Math" panose="02040503050406030204" pitchFamily="18" charset="0"/>
                            <a:ea typeface="微软雅黑" panose="020B0503020204020204" pitchFamily="34" charset="-122"/>
                          </a:rPr>
                          <m:t> −</m:t>
                        </m:r>
                        <m:sSub>
                          <m:sSubPr>
                            <m:ctrlPr>
                              <a:rPr lang="en-US" altLang="zh-CN" sz="2000" i="1">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𝑧</m:t>
                            </m:r>
                          </m:e>
                          <m:sub>
                            <m:r>
                              <a:rPr lang="en-US" altLang="zh-CN" sz="2000" i="1">
                                <a:latin typeface="Cambria Math" panose="02040503050406030204" pitchFamily="18" charset="0"/>
                                <a:ea typeface="微软雅黑" panose="020B0503020204020204" pitchFamily="34" charset="-122"/>
                              </a:rPr>
                              <m:t>0</m:t>
                            </m:r>
                          </m:sub>
                        </m:sSub>
                      </m:e>
                    </m:d>
                  </m:oMath>
                </a14:m>
                <a:endParaRPr lang="en-US" altLang="zh-CN" sz="2000" dirty="0" smtClean="0">
                  <a:latin typeface="微软雅黑" panose="020B0503020204020204" pitchFamily="34" charset="-122"/>
                  <a:ea typeface="微软雅黑" panose="020B0503020204020204" pitchFamily="34"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540384" y="1205805"/>
                <a:ext cx="10356215" cy="5119671"/>
              </a:xfrm>
              <a:prstGeom prst="rect">
                <a:avLst/>
              </a:prstGeom>
              <a:blipFill rotWithShape="0">
                <a:blip r:embed="rId5"/>
                <a:stretch>
                  <a:fillRect l="-6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0073799"/>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xmlns="" id="{46136000-10E3-494A-9031-2038514A22C5}"/>
              </a:ext>
            </a:extLst>
          </p:cNvPr>
          <p:cNvSpPr/>
          <p:nvPr/>
        </p:nvSpPr>
        <p:spPr>
          <a:xfrm>
            <a:off x="742314" y="288319"/>
            <a:ext cx="7874147"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Reference and exercise</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a16="http://schemas.microsoft.com/office/drawing/2014/main" xmlns=""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a16="http://schemas.microsoft.com/office/drawing/2014/main" xmlns=""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a16="http://schemas.microsoft.com/office/drawing/2014/main" xmlns=""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6" name="文本框 5"/>
          <p:cNvSpPr txBox="1"/>
          <p:nvPr/>
        </p:nvSpPr>
        <p:spPr>
          <a:xfrm>
            <a:off x="199551" y="1017720"/>
            <a:ext cx="11376230" cy="1015663"/>
          </a:xfrm>
          <a:prstGeom prst="rect">
            <a:avLst/>
          </a:prstGeom>
          <a:noFill/>
        </p:spPr>
        <p:txBody>
          <a:bodyPr wrap="square" rtlCol="0">
            <a:spAutoFit/>
          </a:bodyPr>
          <a:lstStyle/>
          <a:p>
            <a:pPr>
              <a:lnSpc>
                <a:spcPct val="150000"/>
              </a:lnSpc>
            </a:pPr>
            <a:r>
              <a:rPr lang="zh-CN" altLang="en-US" sz="2000" dirty="0" smtClean="0">
                <a:latin typeface="Arial" panose="020B0604020202020204" pitchFamily="34" charset="0"/>
                <a:ea typeface="微软雅黑" panose="020B0503020204020204" pitchFamily="34" charset="-122"/>
                <a:cs typeface="Arial" panose="020B0604020202020204" pitchFamily="34" charset="0"/>
              </a:rPr>
              <a:t>顾樵</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 </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数学物理方法</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 </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北京：科学出版社，</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2018.</a:t>
            </a:r>
          </a:p>
          <a:p>
            <a:pPr>
              <a:lnSpc>
                <a:spcPct val="150000"/>
              </a:lnSpc>
            </a:pPr>
            <a:r>
              <a:rPr lang="zh-CN" altLang="en-US" sz="2000" dirty="0" smtClean="0">
                <a:latin typeface="Arial" panose="020B0604020202020204" pitchFamily="34" charset="0"/>
                <a:ea typeface="微软雅黑" panose="020B0503020204020204" pitchFamily="34" charset="-122"/>
                <a:cs typeface="Arial" panose="020B0604020202020204" pitchFamily="34" charset="0"/>
              </a:rPr>
              <a:t>梁昆淼</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 </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数学物理方法</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 </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第四版</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 </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北京：高等教育出版社，</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2010.</a:t>
            </a:r>
            <a:endParaRPr lang="en-US" altLang="zh-CN" sz="2000" dirty="0">
              <a:latin typeface="Arial" panose="020B0604020202020204" pitchFamily="34" charset="0"/>
              <a:ea typeface="微软雅黑" panose="020B0503020204020204" pitchFamily="34" charset="-122"/>
              <a:cs typeface="Arial" panose="020B0604020202020204" pitchFamily="34" charset="0"/>
            </a:endParaRPr>
          </a:p>
        </p:txBody>
      </p:sp>
      <mc:AlternateContent xmlns:mc="http://schemas.openxmlformats.org/markup-compatibility/2006">
        <mc:Choice xmlns:a14="http://schemas.microsoft.com/office/drawing/2010/main" Requires="a14">
          <p:sp>
            <p:nvSpPr>
              <p:cNvPr id="7" name="文本框 6"/>
              <p:cNvSpPr txBox="1"/>
              <p:nvPr/>
            </p:nvSpPr>
            <p:spPr>
              <a:xfrm>
                <a:off x="199551" y="2033383"/>
                <a:ext cx="11885611" cy="4468852"/>
              </a:xfrm>
              <a:prstGeom prst="rect">
                <a:avLst/>
              </a:prstGeom>
              <a:noFill/>
            </p:spPr>
            <p:txBody>
              <a:bodyPr wrap="square" rtlCol="0">
                <a:spAutoFit/>
              </a:bodyPr>
              <a:lstStyle/>
              <a:p>
                <a:pPr>
                  <a:lnSpc>
                    <a:spcPct val="150000"/>
                  </a:lnSpc>
                </a:pPr>
                <a:r>
                  <a:rPr lang="zh-CN" altLang="en-US" sz="2400" dirty="0" smtClean="0">
                    <a:latin typeface="微软雅黑" panose="020B0503020204020204" pitchFamily="34" charset="-122"/>
                    <a:ea typeface="微软雅黑" panose="020B0503020204020204" pitchFamily="34" charset="-122"/>
                  </a:rPr>
                  <a:t>练习：</a:t>
                </a:r>
                <a:endParaRPr lang="en-US" altLang="zh-CN" sz="2400" dirty="0" smtClean="0">
                  <a:latin typeface="微软雅黑" panose="020B0503020204020204" pitchFamily="34" charset="-122"/>
                  <a:ea typeface="微软雅黑" panose="020B0503020204020204" pitchFamily="34" charset="-122"/>
                </a:endParaRPr>
              </a:p>
              <a:p>
                <a:r>
                  <a:rPr lang="en-US" altLang="zh-CN" sz="2000" dirty="0" smtClean="0">
                    <a:latin typeface="微软雅黑" panose="020B0503020204020204" pitchFamily="34" charset="-122"/>
                    <a:ea typeface="微软雅黑" panose="020B0503020204020204" pitchFamily="34" charset="-122"/>
                  </a:rPr>
                  <a:t>1. </a:t>
                </a:r>
                <a:r>
                  <a:rPr lang="zh-CN" altLang="en-US" sz="2000" dirty="0" smtClean="0">
                    <a:latin typeface="微软雅黑" panose="020B0503020204020204" pitchFamily="34" charset="-122"/>
                    <a:ea typeface="微软雅黑" panose="020B0503020204020204" pitchFamily="34" charset="-122"/>
                  </a:rPr>
                  <a:t>验证以下关系：</a:t>
                </a:r>
                <a:endParaRPr lang="en-US" altLang="zh-CN" sz="2000" dirty="0" smtClean="0">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a:latin typeface="Cambria Math" panose="02040503050406030204" pitchFamily="18" charset="0"/>
                                  <a:ea typeface="微软雅黑" panose="020B0503020204020204" pitchFamily="34" charset="-122"/>
                                </a:rPr>
                                <m:t>sin</m:t>
                              </m:r>
                            </m:fName>
                            <m:e>
                              <m:r>
                                <a:rPr lang="en-US" altLang="zh-CN" sz="2000" i="1">
                                  <a:latin typeface="Cambria Math" panose="02040503050406030204" pitchFamily="18" charset="0"/>
                                  <a:ea typeface="微软雅黑" panose="020B0503020204020204" pitchFamily="34" charset="-122"/>
                                </a:rPr>
                                <m:t>𝑚</m:t>
                              </m:r>
                              <m:r>
                                <a:rPr lang="en-US" altLang="zh-CN" sz="2000" i="1">
                                  <a:latin typeface="Cambria Math" panose="02040503050406030204" pitchFamily="18" charset="0"/>
                                  <a:ea typeface="微软雅黑" panose="020B0503020204020204" pitchFamily="34" charset="-122"/>
                                </a:rPr>
                                <m:t>𝑥</m:t>
                              </m:r>
                            </m:e>
                          </m:func>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a:latin typeface="Cambria Math" panose="02040503050406030204" pitchFamily="18" charset="0"/>
                                  <a:ea typeface="微软雅黑" panose="020B0503020204020204" pitchFamily="34" charset="-122"/>
                                </a:rPr>
                                <m:t>cos</m:t>
                              </m:r>
                            </m:fName>
                            <m:e>
                              <m:r>
                                <a:rPr lang="en-US" altLang="zh-CN" sz="2000" i="1">
                                  <a:latin typeface="Cambria Math" panose="02040503050406030204" pitchFamily="18" charset="0"/>
                                  <a:ea typeface="微软雅黑" panose="020B0503020204020204" pitchFamily="34" charset="-122"/>
                                </a:rPr>
                                <m:t>𝑛𝑥</m:t>
                              </m:r>
                            </m:e>
                          </m:func>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=0,</m:t>
                      </m:r>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a:latin typeface="Cambria Math" panose="02040503050406030204" pitchFamily="18" charset="0"/>
                                  <a:ea typeface="微软雅黑" panose="020B0503020204020204" pitchFamily="34" charset="-122"/>
                                </a:rPr>
                                <m:t>sin</m:t>
                              </m:r>
                            </m:fName>
                            <m:e>
                              <m:r>
                                <a:rPr lang="en-US" altLang="zh-CN" sz="2000" i="1">
                                  <a:latin typeface="Cambria Math" panose="02040503050406030204" pitchFamily="18" charset="0"/>
                                  <a:ea typeface="微软雅黑" panose="020B0503020204020204" pitchFamily="34" charset="-122"/>
                                </a:rPr>
                                <m:t>𝑚𝑥</m:t>
                              </m:r>
                            </m:e>
                          </m:func>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a:latin typeface="Cambria Math" panose="02040503050406030204" pitchFamily="18" charset="0"/>
                                  <a:ea typeface="微软雅黑" panose="020B0503020204020204" pitchFamily="34" charset="-122"/>
                                </a:rPr>
                                <m:t>sin</m:t>
                              </m:r>
                            </m:fName>
                            <m:e>
                              <m:r>
                                <a:rPr lang="en-US" altLang="zh-CN" sz="2000" i="1">
                                  <a:latin typeface="Cambria Math" panose="02040503050406030204" pitchFamily="18" charset="0"/>
                                  <a:ea typeface="微软雅黑" panose="020B0503020204020204" pitchFamily="34" charset="-122"/>
                                </a:rPr>
                                <m:t>𝑛𝑥</m:t>
                              </m:r>
                            </m:e>
                          </m:func>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m:t>
                      </m:r>
                      <m:nary>
                        <m:naryPr>
                          <m:ctrlPr>
                            <a:rPr lang="en-US" altLang="zh-CN" sz="2000" i="1">
                              <a:latin typeface="Cambria Math" panose="02040503050406030204" pitchFamily="18" charset="0"/>
                              <a:ea typeface="微软雅黑" panose="020B0503020204020204" pitchFamily="34" charset="-122"/>
                            </a:rPr>
                          </m:ctrlPr>
                        </m:naryPr>
                        <m:sub>
                          <m:r>
                            <a:rPr lang="en-US" altLang="zh-CN" sz="2000" i="1">
                              <a:latin typeface="Cambria Math" panose="02040503050406030204" pitchFamily="18" charset="0"/>
                              <a:ea typeface="微软雅黑" panose="020B0503020204020204" pitchFamily="34" charset="-122"/>
                            </a:rPr>
                            <m:t>0</m:t>
                          </m:r>
                        </m:sub>
                        <m:sup>
                          <m:r>
                            <a:rPr lang="en-US" altLang="zh-CN" sz="2000" i="1">
                              <a:latin typeface="Cambria Math" panose="02040503050406030204" pitchFamily="18" charset="0"/>
                              <a:ea typeface="微软雅黑" panose="020B0503020204020204" pitchFamily="34" charset="-122"/>
                            </a:rPr>
                            <m:t>2</m:t>
                          </m:r>
                          <m:r>
                            <a:rPr lang="en-US" altLang="zh-CN" sz="2000" i="1">
                              <a:latin typeface="Cambria Math" panose="02040503050406030204" pitchFamily="18" charset="0"/>
                              <a:ea typeface="微软雅黑" panose="020B0503020204020204" pitchFamily="34" charset="-122"/>
                            </a:rPr>
                            <m:t>𝜋</m:t>
                          </m:r>
                        </m:sup>
                        <m:e>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a:latin typeface="Cambria Math" panose="02040503050406030204" pitchFamily="18" charset="0"/>
                                  <a:ea typeface="微软雅黑" panose="020B0503020204020204" pitchFamily="34" charset="-122"/>
                                </a:rPr>
                                <m:t>cos</m:t>
                              </m:r>
                            </m:fName>
                            <m:e>
                              <m:r>
                                <a:rPr lang="en-US" altLang="zh-CN" sz="2000" i="1">
                                  <a:latin typeface="Cambria Math" panose="02040503050406030204" pitchFamily="18" charset="0"/>
                                  <a:ea typeface="微软雅黑" panose="020B0503020204020204" pitchFamily="34" charset="-122"/>
                                </a:rPr>
                                <m:t>𝑚𝑥</m:t>
                              </m:r>
                            </m:e>
                          </m:func>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a:latin typeface="Cambria Math" panose="02040503050406030204" pitchFamily="18" charset="0"/>
                                  <a:ea typeface="微软雅黑" panose="020B0503020204020204" pitchFamily="34" charset="-122"/>
                                </a:rPr>
                                <m:t>cos</m:t>
                              </m:r>
                            </m:fName>
                            <m:e>
                              <m:r>
                                <a:rPr lang="en-US" altLang="zh-CN" sz="2000" i="1">
                                  <a:latin typeface="Cambria Math" panose="02040503050406030204" pitchFamily="18" charset="0"/>
                                  <a:ea typeface="微软雅黑" panose="020B0503020204020204" pitchFamily="34" charset="-122"/>
                                </a:rPr>
                                <m:t>𝑛𝑥</m:t>
                              </m:r>
                            </m:e>
                          </m:func>
                        </m:e>
                      </m:nary>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𝜋</m:t>
                      </m:r>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𝛿</m:t>
                          </m:r>
                        </m:e>
                        <m:sub>
                          <m:r>
                            <a:rPr lang="en-US" altLang="zh-CN" sz="2000" i="1">
                              <a:latin typeface="Cambria Math" panose="02040503050406030204" pitchFamily="18" charset="0"/>
                              <a:ea typeface="微软雅黑" panose="020B0503020204020204" pitchFamily="34" charset="-122"/>
                            </a:rPr>
                            <m:t>𝑚𝑛</m:t>
                          </m:r>
                        </m:sub>
                      </m:sSub>
                    </m:oMath>
                  </m:oMathPara>
                </a14:m>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en-US" altLang="zh-CN" sz="2000" dirty="0" smtClean="0">
                    <a:latin typeface="微软雅黑" panose="020B0503020204020204" pitchFamily="34" charset="-122"/>
                    <a:ea typeface="微软雅黑" panose="020B0503020204020204" pitchFamily="34" charset="-122"/>
                  </a:rPr>
                  <a:t>2. </a:t>
                </a:r>
                <a:r>
                  <a:rPr lang="zh-CN" altLang="en-US" sz="2000" dirty="0" smtClean="0">
                    <a:latin typeface="微软雅黑" panose="020B0503020204020204" pitchFamily="34" charset="-122"/>
                    <a:ea typeface="微软雅黑" panose="020B0503020204020204" pitchFamily="34" charset="-122"/>
                  </a:rPr>
                  <a:t>对于具有质量</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𝑚</m:t>
                    </m:r>
                  </m:oMath>
                </a14:m>
                <a:r>
                  <a:rPr lang="zh-CN" altLang="en-US" sz="2000" dirty="0" smtClean="0">
                    <a:latin typeface="微软雅黑" panose="020B0503020204020204" pitchFamily="34" charset="-122"/>
                    <a:ea typeface="微软雅黑" panose="020B0503020204020204" pitchFamily="34" charset="-122"/>
                  </a:rPr>
                  <a:t>的质点和具有质量的</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𝑞</m:t>
                    </m:r>
                  </m:oMath>
                </a14:m>
                <a:r>
                  <a:rPr lang="zh-CN" altLang="en-US" sz="2000" dirty="0" smtClean="0">
                    <a:latin typeface="微软雅黑" panose="020B0503020204020204" pitchFamily="34" charset="-122"/>
                    <a:ea typeface="微软雅黑" panose="020B0503020204020204" pitchFamily="34" charset="-122"/>
                  </a:rPr>
                  <a:t>的点电荷，其“密度”（分布函数）可以按</a:t>
                </a:r>
                <a:r>
                  <a:rPr lang="zh-CN" altLang="en-US" sz="2000" dirty="0" smtClean="0">
                    <a:latin typeface="微软雅黑" panose="020B0503020204020204" pitchFamily="34" charset="-122"/>
                    <a:ea typeface="微软雅黑" panose="020B0503020204020204" pitchFamily="34" charset="-122"/>
                  </a:rPr>
                  <a:t>如下方式定义：</a:t>
                </a:r>
                <a:endParaRPr lang="en-US" altLang="zh-CN" sz="2000" dirty="0" smtClean="0">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𝜌</m:t>
                          </m:r>
                        </m:e>
                        <m:sub>
                          <m:r>
                            <a:rPr lang="en-US" altLang="zh-CN" sz="2000" b="0" i="1" smtClean="0">
                              <a:latin typeface="Cambria Math" panose="02040503050406030204" pitchFamily="18" charset="0"/>
                              <a:ea typeface="微软雅黑" panose="020B0503020204020204" pitchFamily="34" charset="-122"/>
                            </a:rPr>
                            <m:t>𝑀</m:t>
                          </m:r>
                        </m:sub>
                      </m:sSub>
                      <m:d>
                        <m:dPr>
                          <m:ctrlPr>
                            <a:rPr lang="en-US" altLang="zh-CN" sz="2000" b="0" i="1" smtClean="0">
                              <a:latin typeface="Cambria Math" panose="02040503050406030204" pitchFamily="18" charset="0"/>
                              <a:ea typeface="微软雅黑" panose="020B0503020204020204" pitchFamily="34" charset="-122"/>
                            </a:rPr>
                          </m:ctrlPr>
                        </m:dPr>
                        <m:e>
                          <m:r>
                            <a:rPr lang="en-US" altLang="zh-CN" sz="2000" b="1" i="1" smtClean="0">
                              <a:latin typeface="Cambria Math" panose="02040503050406030204" pitchFamily="18" charset="0"/>
                              <a:ea typeface="微软雅黑" panose="020B0503020204020204" pitchFamily="34" charset="-122"/>
                            </a:rPr>
                            <m:t>𝒙</m:t>
                          </m:r>
                        </m:e>
                      </m:d>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𝑚</m:t>
                      </m:r>
                      <m:r>
                        <a:rPr lang="en-US" altLang="zh-CN" sz="2000" b="0" i="1" smtClean="0">
                          <a:latin typeface="Cambria Math" panose="02040503050406030204" pitchFamily="18" charset="0"/>
                          <a:ea typeface="微软雅黑" panose="020B0503020204020204" pitchFamily="34" charset="-122"/>
                        </a:rPr>
                        <m:t>𝛿</m:t>
                      </m:r>
                      <m:d>
                        <m:dPr>
                          <m:ctrlPr>
                            <a:rPr lang="en-US" altLang="zh-CN" sz="2000" b="0" i="1" smtClean="0">
                              <a:latin typeface="Cambria Math" panose="02040503050406030204" pitchFamily="18" charset="0"/>
                              <a:ea typeface="微软雅黑" panose="020B0503020204020204" pitchFamily="34" charset="-122"/>
                            </a:rPr>
                          </m:ctrlPr>
                        </m:dPr>
                        <m:e>
                          <m:r>
                            <a:rPr lang="en-US" altLang="zh-CN" sz="2000" b="1" i="1" smtClean="0">
                              <a:latin typeface="Cambria Math" panose="02040503050406030204" pitchFamily="18" charset="0"/>
                              <a:ea typeface="微软雅黑" panose="020B0503020204020204" pitchFamily="34" charset="-122"/>
                            </a:rPr>
                            <m:t>𝒙</m:t>
                          </m:r>
                          <m:r>
                            <a:rPr lang="en-US" altLang="zh-CN" sz="2000" b="1" i="1" smtClean="0">
                              <a:latin typeface="Cambria Math" panose="02040503050406030204" pitchFamily="18" charset="0"/>
                              <a:ea typeface="微软雅黑" panose="020B0503020204020204" pitchFamily="34" charset="-122"/>
                            </a:rPr>
                            <m:t>−</m:t>
                          </m:r>
                          <m:sSub>
                            <m:sSubPr>
                              <m:ctrlPr>
                                <a:rPr lang="en-US" altLang="zh-CN" sz="2000" b="1" i="1" smtClean="0">
                                  <a:latin typeface="Cambria Math" panose="02040503050406030204" pitchFamily="18" charset="0"/>
                                  <a:ea typeface="微软雅黑" panose="020B0503020204020204" pitchFamily="34" charset="-122"/>
                                </a:rPr>
                              </m:ctrlPr>
                            </m:sSubPr>
                            <m:e>
                              <m:r>
                                <a:rPr lang="en-US" altLang="zh-CN" sz="2000" b="1" i="1" smtClean="0">
                                  <a:latin typeface="Cambria Math" panose="02040503050406030204" pitchFamily="18" charset="0"/>
                                  <a:ea typeface="微软雅黑" panose="020B0503020204020204" pitchFamily="34" charset="-122"/>
                                </a:rPr>
                                <m:t>𝒙</m:t>
                              </m:r>
                            </m:e>
                            <m:sub>
                              <m:r>
                                <a:rPr lang="en-US" altLang="zh-CN" sz="2000" b="1" i="1" smtClean="0">
                                  <a:latin typeface="Cambria Math" panose="02040503050406030204" pitchFamily="18" charset="0"/>
                                  <a:ea typeface="微软雅黑" panose="020B0503020204020204" pitchFamily="34" charset="-122"/>
                                </a:rPr>
                                <m:t>𝟎</m:t>
                              </m:r>
                            </m:sub>
                          </m:sSub>
                        </m:e>
                      </m:d>
                      <m:r>
                        <a:rPr lang="en-US" altLang="zh-CN" sz="2000" b="0" i="1" smtClean="0">
                          <a:latin typeface="Cambria Math" panose="02040503050406030204" pitchFamily="18" charset="0"/>
                          <a:ea typeface="微软雅黑" panose="020B0503020204020204" pitchFamily="34" charset="-122"/>
                        </a:rPr>
                        <m:t>,    </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𝜌</m:t>
                          </m:r>
                        </m:e>
                        <m:sub>
                          <m:r>
                            <a:rPr lang="en-US" altLang="zh-CN" sz="2000" b="0" i="1" smtClean="0">
                              <a:latin typeface="Cambria Math" panose="02040503050406030204" pitchFamily="18" charset="0"/>
                              <a:ea typeface="微软雅黑" panose="020B0503020204020204" pitchFamily="34" charset="-122"/>
                            </a:rPr>
                            <m:t>𝑄</m:t>
                          </m:r>
                        </m:sub>
                      </m:sSub>
                      <m:d>
                        <m:dPr>
                          <m:ctrlPr>
                            <a:rPr lang="en-US" altLang="zh-CN" sz="2000" b="0" i="1" smtClean="0">
                              <a:latin typeface="Cambria Math" panose="02040503050406030204" pitchFamily="18" charset="0"/>
                              <a:ea typeface="微软雅黑" panose="020B0503020204020204" pitchFamily="34" charset="-122"/>
                            </a:rPr>
                          </m:ctrlPr>
                        </m:dPr>
                        <m:e>
                          <m:r>
                            <a:rPr lang="en-US" altLang="zh-CN" sz="2000" b="1" i="1" smtClean="0">
                              <a:latin typeface="Cambria Math" panose="02040503050406030204" pitchFamily="18" charset="0"/>
                              <a:ea typeface="微软雅黑" panose="020B0503020204020204" pitchFamily="34" charset="-122"/>
                            </a:rPr>
                            <m:t>𝒙</m:t>
                          </m:r>
                        </m:e>
                      </m:d>
                      <m:r>
                        <a:rPr lang="en-US" altLang="zh-CN" sz="2000" i="1">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𝑞</m:t>
                      </m:r>
                      <m:r>
                        <a:rPr lang="en-US" altLang="zh-CN" sz="2000" i="1">
                          <a:latin typeface="Cambria Math" panose="02040503050406030204" pitchFamily="18" charset="0"/>
                          <a:ea typeface="微软雅黑" panose="020B0503020204020204" pitchFamily="34" charset="-122"/>
                        </a:rPr>
                        <m:t>𝛿</m:t>
                      </m:r>
                      <m:d>
                        <m:dPr>
                          <m:ctrlPr>
                            <a:rPr lang="en-US" altLang="zh-CN" sz="2000" i="1">
                              <a:latin typeface="Cambria Math" panose="02040503050406030204" pitchFamily="18" charset="0"/>
                              <a:ea typeface="微软雅黑" panose="020B0503020204020204" pitchFamily="34" charset="-122"/>
                            </a:rPr>
                          </m:ctrlPr>
                        </m:dPr>
                        <m:e>
                          <m:r>
                            <a:rPr lang="en-US" altLang="zh-CN" sz="2000" b="1" i="1">
                              <a:latin typeface="Cambria Math" panose="02040503050406030204" pitchFamily="18" charset="0"/>
                              <a:ea typeface="微软雅黑" panose="020B0503020204020204" pitchFamily="34" charset="-122"/>
                            </a:rPr>
                            <m:t>𝒙</m:t>
                          </m:r>
                          <m:r>
                            <a:rPr lang="en-US" altLang="zh-CN" sz="2000" b="1" i="1">
                              <a:latin typeface="Cambria Math" panose="02040503050406030204" pitchFamily="18" charset="0"/>
                              <a:ea typeface="微软雅黑" panose="020B0503020204020204" pitchFamily="34" charset="-122"/>
                            </a:rPr>
                            <m:t>−</m:t>
                          </m:r>
                          <m:sSub>
                            <m:sSubPr>
                              <m:ctrlPr>
                                <a:rPr lang="en-US" altLang="zh-CN" sz="2000" b="1"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𝒙</m:t>
                              </m:r>
                            </m:e>
                            <m:sub>
                              <m:r>
                                <a:rPr lang="en-US" altLang="zh-CN" sz="2000" b="1" i="1">
                                  <a:latin typeface="Cambria Math" panose="02040503050406030204" pitchFamily="18" charset="0"/>
                                  <a:ea typeface="微软雅黑" panose="020B0503020204020204" pitchFamily="34" charset="-122"/>
                                </a:rPr>
                                <m:t>𝟎</m:t>
                              </m:r>
                            </m:sub>
                          </m:sSub>
                        </m:e>
                      </m:d>
                    </m:oMath>
                  </m:oMathPara>
                </a14:m>
                <a:endParaRPr lang="en-US" altLang="zh-CN" sz="2000" dirty="0" smtClean="0">
                  <a:latin typeface="微软雅黑" panose="020B0503020204020204" pitchFamily="34" charset="-122"/>
                  <a:ea typeface="微软雅黑" panose="020B0503020204020204" pitchFamily="34" charset="-122"/>
                </a:endParaRPr>
              </a:p>
              <a:p>
                <a:pPr marL="342900" indent="-342900">
                  <a:buAutoNum type="arabicParenBoth"/>
                </a:pPr>
                <a:r>
                  <a:rPr lang="zh-CN" altLang="en-US" sz="2000" dirty="0" smtClean="0">
                    <a:latin typeface="微软雅黑" panose="020B0503020204020204" pitchFamily="34" charset="-122"/>
                    <a:ea typeface="微软雅黑" panose="020B0503020204020204" pitchFamily="34" charset="-122"/>
                  </a:rPr>
                  <a:t>验证这样的定义满足密度的积分条件：</a:t>
                </a:r>
                <a:endParaRPr lang="en-US" altLang="zh-CN" sz="2000" dirty="0" smtClean="0">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nary>
                        <m:naryPr>
                          <m:supHide m:val="on"/>
                          <m:ctrlPr>
                            <a:rPr lang="en-US" altLang="zh-CN" sz="2000" b="0" i="1" dirty="0" smtClean="0">
                              <a:latin typeface="Cambria Math" panose="02040503050406030204" pitchFamily="18" charset="0"/>
                              <a:ea typeface="微软雅黑" panose="020B0503020204020204" pitchFamily="34" charset="-122"/>
                            </a:rPr>
                          </m:ctrlPr>
                        </m:naryPr>
                        <m:sub>
                          <m:r>
                            <a:rPr lang="en-US" altLang="zh-CN" sz="2000" b="0" i="1" dirty="0" smtClean="0">
                              <a:latin typeface="Cambria Math" panose="02040503050406030204" pitchFamily="18" charset="0"/>
                              <a:ea typeface="微软雅黑" panose="020B0503020204020204" pitchFamily="34" charset="-122"/>
                            </a:rPr>
                            <m:t>𝑉</m:t>
                          </m:r>
                        </m:sub>
                        <m:sup/>
                        <m:e>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𝜌</m:t>
                              </m:r>
                            </m:e>
                            <m:sub>
                              <m:r>
                                <a:rPr lang="en-US" altLang="zh-CN" sz="2000" i="1">
                                  <a:latin typeface="Cambria Math" panose="02040503050406030204" pitchFamily="18" charset="0"/>
                                  <a:ea typeface="微软雅黑" panose="020B0503020204020204" pitchFamily="34" charset="-122"/>
                                </a:rPr>
                                <m:t>𝑀</m:t>
                              </m:r>
                            </m:sub>
                          </m:sSub>
                          <m:d>
                            <m:dPr>
                              <m:ctrlPr>
                                <a:rPr lang="en-US" altLang="zh-CN" sz="2000" i="1">
                                  <a:latin typeface="Cambria Math" panose="02040503050406030204" pitchFamily="18" charset="0"/>
                                  <a:ea typeface="微软雅黑" panose="020B0503020204020204" pitchFamily="34" charset="-122"/>
                                </a:rPr>
                              </m:ctrlPr>
                            </m:dPr>
                            <m:e>
                              <m:r>
                                <a:rPr lang="en-US" altLang="zh-CN" sz="2000" b="1" i="1">
                                  <a:latin typeface="Cambria Math" panose="02040503050406030204" pitchFamily="18" charset="0"/>
                                  <a:ea typeface="微软雅黑" panose="020B0503020204020204" pitchFamily="34" charset="-122"/>
                                </a:rPr>
                                <m:t>𝒙</m:t>
                              </m:r>
                            </m:e>
                          </m:d>
                        </m:e>
                      </m:nary>
                      <m:r>
                        <m:rPr>
                          <m:sty m:val="p"/>
                        </m:rPr>
                        <a:rPr lang="en-US" altLang="zh-CN" sz="2000" b="0" i="0" dirty="0" smtClean="0">
                          <a:latin typeface="Cambria Math" panose="02040503050406030204" pitchFamily="18" charset="0"/>
                          <a:ea typeface="微软雅黑" panose="020B0503020204020204" pitchFamily="34" charset="-122"/>
                        </a:rPr>
                        <m:t>d</m:t>
                      </m:r>
                      <m:r>
                        <a:rPr lang="en-US" altLang="zh-CN" sz="2000" b="0" i="1" dirty="0" smtClean="0">
                          <a:latin typeface="Cambria Math" panose="02040503050406030204" pitchFamily="18" charset="0"/>
                          <a:ea typeface="微软雅黑" panose="020B0503020204020204" pitchFamily="34" charset="-122"/>
                        </a:rPr>
                        <m:t>𝑉</m:t>
                      </m:r>
                      <m:r>
                        <a:rPr lang="en-US" altLang="zh-CN" sz="2000" b="0" i="1" dirty="0" smtClean="0">
                          <a:latin typeface="Cambria Math" panose="02040503050406030204" pitchFamily="18" charset="0"/>
                          <a:ea typeface="微软雅黑" panose="020B0503020204020204" pitchFamily="34" charset="-122"/>
                        </a:rPr>
                        <m:t>=</m:t>
                      </m:r>
                      <m:r>
                        <a:rPr lang="en-US" altLang="zh-CN" sz="2000" b="0" i="1" dirty="0" smtClean="0">
                          <a:latin typeface="Cambria Math" panose="02040503050406030204" pitchFamily="18" charset="0"/>
                          <a:ea typeface="微软雅黑" panose="020B0503020204020204" pitchFamily="34" charset="-122"/>
                        </a:rPr>
                        <m:t>𝑚</m:t>
                      </m:r>
                    </m:oMath>
                  </m:oMathPara>
                </a14:m>
                <a:endParaRPr lang="en-US" altLang="zh-CN" sz="2000" dirty="0" smtClean="0">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nary>
                        <m:naryPr>
                          <m:supHide m:val="on"/>
                          <m:ctrlPr>
                            <a:rPr lang="en-US" altLang="zh-CN" sz="2000" i="1" dirty="0">
                              <a:latin typeface="Cambria Math" panose="02040503050406030204" pitchFamily="18" charset="0"/>
                              <a:ea typeface="微软雅黑" panose="020B0503020204020204" pitchFamily="34" charset="-122"/>
                            </a:rPr>
                          </m:ctrlPr>
                        </m:naryPr>
                        <m:sub>
                          <m:r>
                            <a:rPr lang="en-US" altLang="zh-CN" sz="2000" i="1" dirty="0">
                              <a:latin typeface="Cambria Math" panose="02040503050406030204" pitchFamily="18" charset="0"/>
                              <a:ea typeface="微软雅黑" panose="020B0503020204020204" pitchFamily="34" charset="-122"/>
                            </a:rPr>
                            <m:t>𝑉</m:t>
                          </m:r>
                        </m:sub>
                        <m:sup/>
                        <m:e>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𝜌</m:t>
                              </m:r>
                            </m:e>
                            <m:sub>
                              <m:r>
                                <a:rPr lang="en-US" altLang="zh-CN" sz="2000" b="0" i="1" smtClean="0">
                                  <a:latin typeface="Cambria Math" panose="02040503050406030204" pitchFamily="18" charset="0"/>
                                  <a:ea typeface="微软雅黑" panose="020B0503020204020204" pitchFamily="34" charset="-122"/>
                                </a:rPr>
                                <m:t>𝑄</m:t>
                              </m:r>
                            </m:sub>
                          </m:sSub>
                          <m:d>
                            <m:dPr>
                              <m:ctrlPr>
                                <a:rPr lang="en-US" altLang="zh-CN" sz="2000" i="1">
                                  <a:latin typeface="Cambria Math" panose="02040503050406030204" pitchFamily="18" charset="0"/>
                                  <a:ea typeface="微软雅黑" panose="020B0503020204020204" pitchFamily="34" charset="-122"/>
                                </a:rPr>
                              </m:ctrlPr>
                            </m:dPr>
                            <m:e>
                              <m:r>
                                <a:rPr lang="en-US" altLang="zh-CN" sz="2000" b="1" i="1">
                                  <a:latin typeface="Cambria Math" panose="02040503050406030204" pitchFamily="18" charset="0"/>
                                  <a:ea typeface="微软雅黑" panose="020B0503020204020204" pitchFamily="34" charset="-122"/>
                                </a:rPr>
                                <m:t>𝒙</m:t>
                              </m:r>
                            </m:e>
                          </m:d>
                        </m:e>
                      </m:nary>
                      <m:r>
                        <m:rPr>
                          <m:sty m:val="p"/>
                        </m:rPr>
                        <a:rPr lang="en-US" altLang="zh-CN" sz="2000" dirty="0">
                          <a:latin typeface="Cambria Math" panose="02040503050406030204" pitchFamily="18" charset="0"/>
                          <a:ea typeface="微软雅黑" panose="020B0503020204020204" pitchFamily="34" charset="-122"/>
                        </a:rPr>
                        <m:t>d</m:t>
                      </m:r>
                      <m:r>
                        <a:rPr lang="en-US" altLang="zh-CN" sz="2000" i="1" dirty="0">
                          <a:latin typeface="Cambria Math" panose="02040503050406030204" pitchFamily="18" charset="0"/>
                          <a:ea typeface="微软雅黑" panose="020B0503020204020204" pitchFamily="34" charset="-122"/>
                        </a:rPr>
                        <m:t>𝑉</m:t>
                      </m:r>
                      <m:r>
                        <a:rPr lang="en-US" altLang="zh-CN" sz="2000" i="1" dirty="0">
                          <a:latin typeface="Cambria Math" panose="02040503050406030204" pitchFamily="18" charset="0"/>
                          <a:ea typeface="微软雅黑" panose="020B0503020204020204" pitchFamily="34" charset="-122"/>
                        </a:rPr>
                        <m:t>=</m:t>
                      </m:r>
                      <m:r>
                        <a:rPr lang="en-US" altLang="zh-CN" sz="2000" b="0" i="1" dirty="0" smtClean="0">
                          <a:latin typeface="Cambria Math" panose="02040503050406030204" pitchFamily="18" charset="0"/>
                          <a:ea typeface="微软雅黑" panose="020B0503020204020204" pitchFamily="34" charset="-122"/>
                        </a:rPr>
                        <m:t>𝑞</m:t>
                      </m:r>
                    </m:oMath>
                  </m:oMathPara>
                </a14:m>
                <a:endParaRPr lang="en-US" altLang="zh-CN" sz="2000" dirty="0" smtClean="0">
                  <a:latin typeface="微软雅黑" panose="020B0503020204020204" pitchFamily="34" charset="-122"/>
                  <a:ea typeface="微软雅黑" panose="020B0503020204020204" pitchFamily="34" charset="-122"/>
                </a:endParaRPr>
              </a:p>
              <a:p>
                <a:r>
                  <a:rPr lang="en-US" altLang="zh-CN" sz="2000" dirty="0" smtClean="0">
                    <a:latin typeface="微软雅黑" panose="020B0503020204020204" pitchFamily="34" charset="-122"/>
                    <a:ea typeface="微软雅黑" panose="020B0503020204020204" pitchFamily="34" charset="-122"/>
                  </a:rPr>
                  <a:t>(2) </a:t>
                </a:r>
                <a:r>
                  <a:rPr lang="zh-CN" altLang="en-US" sz="2000" dirty="0" smtClean="0">
                    <a:latin typeface="微软雅黑" panose="020B0503020204020204" pitchFamily="34" charset="-122"/>
                    <a:ea typeface="微软雅黑" panose="020B0503020204020204" pitchFamily="34" charset="-122"/>
                  </a:rPr>
                  <a:t>如果在空间中点</a:t>
                </a:r>
                <a14:m>
                  <m:oMath xmlns:m="http://schemas.openxmlformats.org/officeDocument/2006/math">
                    <m:sSub>
                      <m:sSubPr>
                        <m:ctrlPr>
                          <a:rPr lang="en-US" altLang="zh-CN" sz="2000" b="1" i="1">
                            <a:latin typeface="Cambria Math" panose="02040503050406030204" pitchFamily="18" charset="0"/>
                            <a:ea typeface="微软雅黑" panose="020B0503020204020204" pitchFamily="34" charset="-122"/>
                          </a:rPr>
                        </m:ctrlPr>
                      </m:sSubPr>
                      <m:e>
                        <m:r>
                          <a:rPr lang="en-US" altLang="zh-CN" sz="2000" b="1" i="1">
                            <a:latin typeface="Cambria Math" panose="02040503050406030204" pitchFamily="18" charset="0"/>
                            <a:ea typeface="微软雅黑" panose="020B0503020204020204" pitchFamily="34" charset="-122"/>
                          </a:rPr>
                          <m:t>𝒙</m:t>
                        </m:r>
                      </m:e>
                      <m:sub>
                        <m:r>
                          <a:rPr lang="en-US" altLang="zh-CN" sz="2000" b="1" i="1" smtClean="0">
                            <a:latin typeface="Cambria Math" panose="02040503050406030204" pitchFamily="18" charset="0"/>
                            <a:ea typeface="微软雅黑" panose="020B0503020204020204" pitchFamily="34" charset="-122"/>
                          </a:rPr>
                          <m:t>𝟏</m:t>
                        </m:r>
                      </m:sub>
                    </m:sSub>
                    <m:r>
                      <a:rPr lang="en-US" altLang="zh-CN" sz="2000" b="1" i="1" smtClean="0">
                        <a:latin typeface="Cambria Math" panose="02040503050406030204" pitchFamily="18" charset="0"/>
                        <a:ea typeface="微软雅黑" panose="020B0503020204020204" pitchFamily="34" charset="-122"/>
                      </a:rPr>
                      <m:t>, …,</m:t>
                    </m:r>
                    <m:sSub>
                      <m:sSubPr>
                        <m:ctrlPr>
                          <a:rPr lang="en-US" altLang="zh-CN" sz="2000" b="1" i="1" smtClean="0">
                            <a:latin typeface="Cambria Math" panose="02040503050406030204" pitchFamily="18" charset="0"/>
                            <a:ea typeface="微软雅黑" panose="020B0503020204020204" pitchFamily="34" charset="-122"/>
                          </a:rPr>
                        </m:ctrlPr>
                      </m:sSubPr>
                      <m:e>
                        <m:r>
                          <a:rPr lang="en-US" altLang="zh-CN" sz="2000" b="1" i="1" smtClean="0">
                            <a:latin typeface="Cambria Math" panose="02040503050406030204" pitchFamily="18" charset="0"/>
                            <a:ea typeface="微软雅黑" panose="020B0503020204020204" pitchFamily="34" charset="-122"/>
                          </a:rPr>
                          <m:t>𝒙</m:t>
                        </m:r>
                      </m:e>
                      <m:sub>
                        <m:r>
                          <a:rPr lang="en-US" altLang="zh-CN" sz="2000" b="1" i="1" smtClean="0">
                            <a:latin typeface="Cambria Math" panose="02040503050406030204" pitchFamily="18" charset="0"/>
                            <a:ea typeface="微软雅黑" panose="020B0503020204020204" pitchFamily="34" charset="-122"/>
                          </a:rPr>
                          <m:t>𝒏</m:t>
                        </m:r>
                      </m:sub>
                    </m:sSub>
                  </m:oMath>
                </a14:m>
                <a:r>
                  <a:rPr lang="zh-CN" altLang="en-US" sz="2000" dirty="0" smtClean="0">
                    <a:latin typeface="微软雅黑" panose="020B0503020204020204" pitchFamily="34" charset="-122"/>
                    <a:ea typeface="微软雅黑" panose="020B0503020204020204" pitchFamily="34" charset="-122"/>
                  </a:rPr>
                  <a:t>分别放有质量为</a:t>
                </a:r>
                <a14:m>
                  <m:oMath xmlns:m="http://schemas.openxmlformats.org/officeDocument/2006/math">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𝑚</m:t>
                        </m:r>
                      </m:e>
                      <m:sub>
                        <m:r>
                          <a:rPr lang="en-US" altLang="zh-CN" sz="2000" b="0" i="1" smtClean="0">
                            <a:latin typeface="Cambria Math" panose="02040503050406030204" pitchFamily="18" charset="0"/>
                            <a:ea typeface="微软雅黑" panose="020B0503020204020204" pitchFamily="34" charset="-122"/>
                          </a:rPr>
                          <m:t>1</m:t>
                        </m:r>
                      </m:sub>
                    </m:sSub>
                    <m:r>
                      <a:rPr lang="en-US" altLang="zh-CN" sz="2000" b="0" i="1" smtClean="0">
                        <a:latin typeface="Cambria Math" panose="02040503050406030204" pitchFamily="18" charset="0"/>
                        <a:ea typeface="微软雅黑" panose="020B0503020204020204" pitchFamily="34" charset="-122"/>
                      </a:rPr>
                      <m:t>,…,</m:t>
                    </m:r>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𝑚</m:t>
                        </m:r>
                      </m:e>
                      <m:sub>
                        <m:r>
                          <a:rPr lang="en-US" altLang="zh-CN" sz="2000" b="0" i="1" smtClean="0">
                            <a:latin typeface="Cambria Math" panose="02040503050406030204" pitchFamily="18" charset="0"/>
                            <a:ea typeface="微软雅黑" panose="020B0503020204020204" pitchFamily="34" charset="-122"/>
                          </a:rPr>
                          <m:t>𝑛</m:t>
                        </m:r>
                      </m:sub>
                    </m:sSub>
                  </m:oMath>
                </a14:m>
                <a:r>
                  <a:rPr lang="zh-CN" altLang="en-US" sz="2000" dirty="0" smtClean="0">
                    <a:latin typeface="微软雅黑" panose="020B0503020204020204" pitchFamily="34" charset="-122"/>
                    <a:ea typeface="微软雅黑" panose="020B0503020204020204" pitchFamily="34" charset="-122"/>
                  </a:rPr>
                  <a:t>的质点，这个体系的“密度”该怎么定义？</a:t>
                </a:r>
                <a:endParaRPr lang="en-US" altLang="zh-CN" sz="2000" dirty="0" smtClean="0">
                  <a:latin typeface="微软雅黑" panose="020B0503020204020204" pitchFamily="34" charset="-122"/>
                  <a:ea typeface="微软雅黑" panose="020B0503020204020204" pitchFamily="34" charset="-122"/>
                </a:endParaRPr>
              </a:p>
            </p:txBody>
          </p:sp>
        </mc:Choice>
        <mc:Fallback>
          <p:sp>
            <p:nvSpPr>
              <p:cNvPr id="7" name="文本框 6"/>
              <p:cNvSpPr txBox="1">
                <a:spLocks noRot="1" noChangeAspect="1" noMove="1" noResize="1" noEditPoints="1" noAdjustHandles="1" noChangeArrowheads="1" noChangeShapeType="1" noTextEdit="1"/>
              </p:cNvSpPr>
              <p:nvPr/>
            </p:nvSpPr>
            <p:spPr>
              <a:xfrm>
                <a:off x="199551" y="2033383"/>
                <a:ext cx="11885611" cy="4468852"/>
              </a:xfrm>
              <a:prstGeom prst="rect">
                <a:avLst/>
              </a:prstGeom>
              <a:blipFill rotWithShape="0">
                <a:blip r:embed="rId5"/>
                <a:stretch>
                  <a:fillRect l="-821" b="-15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58316030"/>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4" y="288319"/>
            <a:ext cx="7874147"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Complement</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mc:Choice xmlns:a14="http://schemas.microsoft.com/office/drawing/2010/main" Requires="a14">
          <p:sp>
            <p:nvSpPr>
              <p:cNvPr id="2" name="文本框 1"/>
              <p:cNvSpPr txBox="1"/>
              <p:nvPr/>
            </p:nvSpPr>
            <p:spPr>
              <a:xfrm>
                <a:off x="540385" y="1701105"/>
                <a:ext cx="10794366" cy="3536289"/>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对于</a:t>
                </a:r>
                <a:r>
                  <a:rPr lang="en-US" altLang="zh-CN" sz="2000" dirty="0" smtClean="0">
                    <a:latin typeface="微软雅黑" panose="020B0503020204020204" pitchFamily="34" charset="-122"/>
                    <a:ea typeface="微软雅黑" panose="020B0503020204020204" pitchFamily="34" charset="-122"/>
                  </a:rPr>
                  <a:t>Delta</a:t>
                </a:r>
                <a:r>
                  <a:rPr lang="zh-CN" altLang="en-US" sz="2000" dirty="0" smtClean="0">
                    <a:latin typeface="微软雅黑" panose="020B0503020204020204" pitchFamily="34" charset="-122"/>
                    <a:ea typeface="微软雅黑" panose="020B0503020204020204" pitchFamily="34" charset="-122"/>
                  </a:rPr>
                  <a:t>函数，前面给出过傅里叶变换下的表示，还有没有其它表示</a:t>
                </a:r>
                <a:r>
                  <a:rPr lang="en-US" altLang="zh-CN" sz="2000" dirty="0">
                    <a:latin typeface="微软雅黑" panose="020B0503020204020204" pitchFamily="34" charset="-122"/>
                    <a:ea typeface="微软雅黑" panose="020B0503020204020204" pitchFamily="34" charset="-122"/>
                  </a:rPr>
                  <a:t>Delta</a:t>
                </a:r>
                <a:r>
                  <a:rPr lang="zh-CN" altLang="en-US" sz="2000" dirty="0" smtClean="0">
                    <a:latin typeface="微软雅黑" panose="020B0503020204020204" pitchFamily="34" charset="-122"/>
                    <a:ea typeface="微软雅黑" panose="020B0503020204020204" pitchFamily="34" charset="-122"/>
                  </a:rPr>
                  <a:t>函数的方法？</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其中一个方法是在常见的对称分布函数（比如高斯分布等）里加入可以调整的参数</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𝛽</m:t>
                    </m:r>
                    <m:r>
                      <a:rPr lang="en-US" altLang="zh-CN" sz="2000" i="1">
                        <a:latin typeface="Cambria Math" panose="02040503050406030204" pitchFamily="18" charset="0"/>
                        <a:ea typeface="微软雅黑" panose="020B0503020204020204" pitchFamily="34" charset="-122"/>
                      </a:rPr>
                      <m:t> </m:t>
                    </m:r>
                  </m:oMath>
                </a14:m>
                <a:r>
                  <a:rPr lang="zh-CN" altLang="en-US" sz="2000" dirty="0" smtClean="0">
                    <a:latin typeface="微软雅黑" panose="020B0503020204020204" pitchFamily="34" charset="-122"/>
                    <a:ea typeface="微软雅黑" panose="020B0503020204020204" pitchFamily="34" charset="-122"/>
                  </a:rPr>
                  <a:t>，使得这些函数在极端情况下满足</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smtClean="0"/>
                  <a:t> </a:t>
                </a:r>
                <a14:m>
                  <m:oMath xmlns:m="http://schemas.openxmlformats.org/officeDocument/2006/math">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𝐹</m:t>
                        </m:r>
                      </m:e>
                      <m:sub>
                        <m:r>
                          <a:rPr lang="en-US" altLang="zh-CN" sz="2000" b="0" i="1" smtClean="0">
                            <a:latin typeface="Cambria Math" panose="02040503050406030204" pitchFamily="18" charset="0"/>
                            <a:ea typeface="微软雅黑" panose="020B0503020204020204" pitchFamily="34" charset="-122"/>
                          </a:rPr>
                          <m:t>𝛽</m:t>
                        </m:r>
                      </m:sub>
                    </m:sSub>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r>
                      <a:rPr lang="en-US" altLang="zh-CN" sz="2000" b="1" i="1">
                        <a:latin typeface="Cambria Math" panose="02040503050406030204" pitchFamily="18" charset="0"/>
                        <a:ea typeface="微软雅黑" panose="020B0503020204020204" pitchFamily="34" charset="-122"/>
                      </a:rPr>
                      <m:t>= </m:t>
                    </m:r>
                    <m:d>
                      <m:dPr>
                        <m:begChr m:val="{"/>
                        <m:endChr m:val=""/>
                        <m:ctrlPr>
                          <a:rPr lang="en-US" altLang="zh-CN" sz="2000" b="1" i="1">
                            <a:latin typeface="Cambria Math" panose="02040503050406030204" pitchFamily="18" charset="0"/>
                            <a:ea typeface="微软雅黑" panose="020B0503020204020204" pitchFamily="34" charset="-122"/>
                          </a:rPr>
                        </m:ctrlPr>
                      </m:dPr>
                      <m:e>
                        <m:eqArr>
                          <m:eqArrPr>
                            <m:ctrlPr>
                              <a:rPr lang="en-US" altLang="zh-CN" sz="2000" i="1">
                                <a:latin typeface="Cambria Math" panose="02040503050406030204" pitchFamily="18" charset="0"/>
                                <a:ea typeface="微软雅黑" panose="020B0503020204020204" pitchFamily="34" charset="-122"/>
                              </a:rPr>
                            </m:ctrlPr>
                          </m:eqArrPr>
                          <m:e>
                            <m:r>
                              <a:rPr lang="en-US" altLang="zh-CN" sz="2000" i="1">
                                <a:latin typeface="Cambria Math" panose="02040503050406030204" pitchFamily="18" charset="0"/>
                                <a:ea typeface="微软雅黑" panose="020B0503020204020204" pitchFamily="34" charset="-122"/>
                              </a:rPr>
                              <m:t>∞,        </m:t>
                            </m:r>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=0</m:t>
                            </m:r>
                          </m:e>
                          <m:e>
                            <m:r>
                              <a:rPr lang="en-US" altLang="zh-CN" sz="2000" i="1">
                                <a:latin typeface="Cambria Math" panose="02040503050406030204" pitchFamily="18" charset="0"/>
                                <a:ea typeface="微软雅黑" panose="020B0503020204020204" pitchFamily="34" charset="-122"/>
                              </a:rPr>
                              <m:t>0,         </m:t>
                            </m:r>
                            <m:r>
                              <a:rPr lang="en-US" altLang="zh-CN" sz="2000" i="1">
                                <a:latin typeface="Cambria Math" panose="02040503050406030204" pitchFamily="18" charset="0"/>
                                <a:ea typeface="微软雅黑" panose="020B0503020204020204" pitchFamily="34" charset="-122"/>
                              </a:rPr>
                              <m:t>𝑥</m:t>
                            </m:r>
                            <m:r>
                              <a:rPr lang="en-US" altLang="zh-CN" sz="2000" i="1">
                                <a:latin typeface="Cambria Math" panose="02040503050406030204" pitchFamily="18" charset="0"/>
                                <a:ea typeface="微软雅黑" panose="020B0503020204020204" pitchFamily="34" charset="-122"/>
                              </a:rPr>
                              <m:t>≠0</m:t>
                            </m:r>
                          </m:e>
                        </m:eqArr>
                      </m:e>
                    </m:d>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和</a:t>
                </a:r>
                <a14:m>
                  <m:oMath xmlns:m="http://schemas.openxmlformats.org/officeDocument/2006/math">
                    <m:nary>
                      <m:naryPr>
                        <m:ctrlPr>
                          <a:rPr lang="en-US" altLang="zh-CN" i="1">
                            <a:latin typeface="Cambria Math" panose="02040503050406030204" pitchFamily="18" charset="0"/>
                            <a:ea typeface="微软雅黑" panose="020B0503020204020204" pitchFamily="34" charset="-122"/>
                          </a:rPr>
                        </m:ctrlPr>
                      </m:naryPr>
                      <m:sub>
                        <m:r>
                          <m:rPr>
                            <m:brk m:alnAt="23"/>
                          </m:rP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m:t>
                        </m:r>
                      </m:sub>
                      <m:sup>
                        <m:r>
                          <a:rPr lang="en-US" altLang="zh-CN" i="1">
                            <a:latin typeface="Cambria Math" panose="02040503050406030204" pitchFamily="18" charset="0"/>
                            <a:ea typeface="微软雅黑" panose="020B0503020204020204" pitchFamily="34" charset="-122"/>
                          </a:rPr>
                          <m:t>∞</m:t>
                        </m:r>
                      </m:sup>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𝐹</m:t>
                            </m:r>
                          </m:e>
                          <m:sub>
                            <m:r>
                              <a:rPr lang="en-US" altLang="zh-CN" i="1">
                                <a:latin typeface="Cambria Math" panose="02040503050406030204" pitchFamily="18" charset="0"/>
                                <a:ea typeface="微软雅黑" panose="020B0503020204020204" pitchFamily="34" charset="-122"/>
                              </a:rPr>
                              <m:t>𝛽</m:t>
                            </m:r>
                          </m:sub>
                        </m:sSub>
                        <m:d>
                          <m:dPr>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𝑥</m:t>
                            </m:r>
                          </m:e>
                        </m:d>
                        <m:r>
                          <m:rPr>
                            <m:sty m:val="p"/>
                          </m:rPr>
                          <a:rPr lang="en-US" altLang="zh-CN">
                            <a:latin typeface="Cambria Math" panose="02040503050406030204" pitchFamily="18" charset="0"/>
                            <a:ea typeface="微软雅黑" panose="020B0503020204020204" pitchFamily="34" charset="-122"/>
                          </a:rPr>
                          <m:t>d</m:t>
                        </m:r>
                        <m:r>
                          <a:rPr lang="en-US" altLang="zh-CN" i="1">
                            <a:latin typeface="Cambria Math" panose="02040503050406030204" pitchFamily="18" charset="0"/>
                            <a:ea typeface="微软雅黑" panose="020B0503020204020204" pitchFamily="34" charset="-122"/>
                          </a:rPr>
                          <m:t>𝑥</m:t>
                        </m:r>
                      </m:e>
                    </m:nary>
                    <m:r>
                      <a:rPr lang="en-US" altLang="zh-CN" i="1">
                        <a:latin typeface="Cambria Math" panose="02040503050406030204" pitchFamily="18" charset="0"/>
                        <a:ea typeface="微软雅黑" panose="020B0503020204020204" pitchFamily="34" charset="-122"/>
                      </a:rPr>
                      <m:t>=1</m:t>
                    </m:r>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称</a:t>
                </a:r>
                <a14:m>
                  <m:oMath xmlns:m="http://schemas.openxmlformats.org/officeDocument/2006/math">
                    <m:sSub>
                      <m:sSubPr>
                        <m:ctrlPr>
                          <a:rPr lang="en-US" altLang="zh-CN" sz="2000" i="1">
                            <a:latin typeface="Cambria Math" panose="02040503050406030204" pitchFamily="18" charset="0"/>
                            <a:ea typeface="微软雅黑" panose="020B0503020204020204" pitchFamily="34" charset="-122"/>
                          </a:rPr>
                        </m:ctrlPr>
                      </m:sSubPr>
                      <m:e>
                        <m:r>
                          <a:rPr lang="en-US" altLang="zh-CN" sz="2000" i="1">
                            <a:latin typeface="Cambria Math" panose="02040503050406030204" pitchFamily="18" charset="0"/>
                            <a:ea typeface="微软雅黑" panose="020B0503020204020204" pitchFamily="34" charset="-122"/>
                          </a:rPr>
                          <m:t>𝐹</m:t>
                        </m:r>
                      </m:e>
                      <m:sub>
                        <m:r>
                          <a:rPr lang="en-US" altLang="zh-CN" sz="2000" i="1">
                            <a:latin typeface="Cambria Math" panose="02040503050406030204" pitchFamily="18" charset="0"/>
                            <a:ea typeface="微软雅黑" panose="020B0503020204020204" pitchFamily="34" charset="-122"/>
                          </a:rPr>
                          <m:t>𝛽</m:t>
                        </m:r>
                      </m:sub>
                    </m:sSub>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oMath>
                </a14:m>
                <a:r>
                  <a:rPr lang="zh-CN" altLang="en-US" sz="2000" dirty="0" smtClean="0">
                    <a:latin typeface="微软雅黑" panose="020B0503020204020204" pitchFamily="34" charset="-122"/>
                    <a:ea typeface="微软雅黑" panose="020B0503020204020204" pitchFamily="34" charset="-122"/>
                  </a:rPr>
                  <a:t>是</a:t>
                </a:r>
                <a:r>
                  <a:rPr lang="en-US" altLang="zh-CN" sz="2000" dirty="0">
                    <a:latin typeface="微软雅黑" panose="020B0503020204020204" pitchFamily="34" charset="-122"/>
                    <a:ea typeface="微软雅黑" panose="020B0503020204020204" pitchFamily="34" charset="-122"/>
                  </a:rPr>
                  <a:t>Delta</a:t>
                </a:r>
                <a:r>
                  <a:rPr lang="zh-CN" altLang="en-US" sz="2000" dirty="0" smtClean="0">
                    <a:latin typeface="微软雅黑" panose="020B0503020204020204" pitchFamily="34" charset="-122"/>
                    <a:ea typeface="微软雅黑" panose="020B0503020204020204" pitchFamily="34" charset="-122"/>
                  </a:rPr>
                  <a:t>函数的</a:t>
                </a:r>
                <a:r>
                  <a:rPr lang="zh-CN" altLang="en-US" sz="2000" dirty="0" smtClean="0">
                    <a:solidFill>
                      <a:srgbClr val="FF0000"/>
                    </a:solidFill>
                    <a:latin typeface="微软雅黑" panose="020B0503020204020204" pitchFamily="34" charset="-122"/>
                    <a:ea typeface="微软雅黑" panose="020B0503020204020204" pitchFamily="34" charset="-122"/>
                  </a:rPr>
                  <a:t>生成函数</a:t>
                </a:r>
                <a:endParaRPr lang="en-US" altLang="zh-CN" sz="2000" dirty="0" smtClean="0">
                  <a:solidFill>
                    <a:srgbClr val="FF0000"/>
                  </a:solidFill>
                  <a:latin typeface="微软雅黑" panose="020B0503020204020204" pitchFamily="34" charset="-122"/>
                  <a:ea typeface="微软雅黑" panose="020B0503020204020204" pitchFamily="34"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540385" y="1701105"/>
                <a:ext cx="10794366" cy="3536289"/>
              </a:xfrm>
              <a:prstGeom prst="rect">
                <a:avLst/>
              </a:prstGeom>
              <a:blipFill rotWithShape="0">
                <a:blip r:embed="rId5"/>
                <a:stretch>
                  <a:fillRect l="-1695" b="-637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69083314"/>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4" y="288319"/>
            <a:ext cx="7874147"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Complement</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mc:Choice xmlns:a14="http://schemas.microsoft.com/office/drawing/2010/main" Requires="a14">
          <p:sp>
            <p:nvSpPr>
              <p:cNvPr id="2" name="文本框 1"/>
              <p:cNvSpPr txBox="1"/>
              <p:nvPr/>
            </p:nvSpPr>
            <p:spPr>
              <a:xfrm>
                <a:off x="540385" y="1010072"/>
                <a:ext cx="10794366" cy="3985835"/>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在此我们给出两个用生成函数构造</a:t>
                </a:r>
                <a:r>
                  <a:rPr lang="en-US" altLang="zh-CN" sz="2000" dirty="0" smtClean="0">
                    <a:latin typeface="微软雅黑" panose="020B0503020204020204" pitchFamily="34" charset="-122"/>
                    <a:ea typeface="微软雅黑" panose="020B0503020204020204" pitchFamily="34" charset="-122"/>
                  </a:rPr>
                  <a:t>Delta</a:t>
                </a:r>
                <a:r>
                  <a:rPr lang="zh-CN" altLang="en-US" sz="2000" dirty="0" smtClean="0">
                    <a:latin typeface="微软雅黑" panose="020B0503020204020204" pitchFamily="34" charset="-122"/>
                    <a:ea typeface="微软雅黑" panose="020B0503020204020204" pitchFamily="34" charset="-122"/>
                  </a:rPr>
                  <a:t>函数的例子：</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en-US" altLang="zh-CN" sz="2000" dirty="0" smtClean="0">
                    <a:latin typeface="微软雅黑" panose="020B0503020204020204" pitchFamily="34" charset="-122"/>
                    <a:ea typeface="微软雅黑" panose="020B0503020204020204" pitchFamily="34" charset="-122"/>
                  </a:rPr>
                  <a:t>1.</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𝑉</m:t>
                    </m:r>
                    <m:d>
                      <m:dPr>
                        <m:ctrlPr>
                          <a:rPr lang="en-US" altLang="zh-CN" sz="2000" b="0" i="1" smtClean="0">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𝑥</m:t>
                        </m:r>
                      </m:e>
                    </m:d>
                    <m:r>
                      <a:rPr lang="en-US" altLang="zh-CN" sz="2000" b="0" i="1" smtClean="0">
                        <a:latin typeface="Cambria Math" panose="02040503050406030204" pitchFamily="18" charset="0"/>
                        <a:ea typeface="微软雅黑" panose="020B0503020204020204" pitchFamily="34" charset="-122"/>
                      </a:rPr>
                      <m:t>=</m:t>
                    </m:r>
                    <m:f>
                      <m:fPr>
                        <m:ctrlPr>
                          <a:rPr lang="en-US" altLang="zh-CN" sz="2000" b="0" i="1" smtClean="0">
                            <a:latin typeface="Cambria Math" panose="02040503050406030204" pitchFamily="18" charset="0"/>
                            <a:ea typeface="微软雅黑" panose="020B0503020204020204" pitchFamily="34" charset="-122"/>
                          </a:rPr>
                        </m:ctrlPr>
                      </m:fPr>
                      <m:num>
                        <m:func>
                          <m:funcPr>
                            <m:ctrlPr>
                              <a:rPr lang="en-US" altLang="zh-CN" sz="2000" b="0" i="1" smtClean="0">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sin</m:t>
                            </m:r>
                          </m:fName>
                          <m:e>
                            <m:r>
                              <a:rPr lang="en-US" altLang="zh-CN" sz="2000" b="0" i="1" smtClean="0">
                                <a:latin typeface="Cambria Math" panose="02040503050406030204" pitchFamily="18" charset="0"/>
                                <a:ea typeface="微软雅黑" panose="020B0503020204020204" pitchFamily="34" charset="-122"/>
                              </a:rPr>
                              <m:t>𝛽</m:t>
                            </m:r>
                            <m:r>
                              <a:rPr lang="en-US" altLang="zh-CN" sz="2000" b="0" i="1" smtClean="0">
                                <a:latin typeface="Cambria Math" panose="02040503050406030204" pitchFamily="18" charset="0"/>
                                <a:ea typeface="微软雅黑" panose="020B0503020204020204" pitchFamily="34" charset="-122"/>
                              </a:rPr>
                              <m:t>𝑥</m:t>
                            </m:r>
                          </m:e>
                        </m:func>
                      </m:num>
                      <m:den>
                        <m:r>
                          <a:rPr lang="en-US" altLang="zh-CN" sz="2000" b="0" i="1" smtClean="0">
                            <a:latin typeface="Cambria Math" panose="02040503050406030204" pitchFamily="18" charset="0"/>
                            <a:ea typeface="微软雅黑" panose="020B0503020204020204" pitchFamily="34" charset="-122"/>
                          </a:rPr>
                          <m:t>𝜋</m:t>
                        </m:r>
                        <m:r>
                          <a:rPr lang="en-US" altLang="zh-CN" sz="2000" b="0" i="1" smtClean="0">
                            <a:latin typeface="Cambria Math" panose="02040503050406030204" pitchFamily="18" charset="0"/>
                            <a:ea typeface="微软雅黑" panose="020B0503020204020204" pitchFamily="34" charset="-122"/>
                          </a:rPr>
                          <m:t>𝑥</m:t>
                        </m:r>
                      </m:den>
                    </m:f>
                  </m:oMath>
                </a14:m>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满足</a:t>
                </a:r>
                <a14:m>
                  <m:oMath xmlns:m="http://schemas.openxmlformats.org/officeDocument/2006/math">
                    <m:func>
                      <m:funcPr>
                        <m:ctrlPr>
                          <a:rPr lang="en-US" altLang="zh-CN" sz="2000" i="1" smtClean="0">
                            <a:latin typeface="Cambria Math" panose="02040503050406030204" pitchFamily="18" charset="0"/>
                            <a:ea typeface="微软雅黑" panose="020B0503020204020204" pitchFamily="34" charset="-122"/>
                          </a:rPr>
                        </m:ctrlPr>
                      </m:funcPr>
                      <m:fName>
                        <m:limLow>
                          <m:limLowPr>
                            <m:ctrlPr>
                              <a:rPr lang="en-US" altLang="zh-CN" sz="2000" i="1" smtClean="0">
                                <a:latin typeface="Cambria Math" panose="02040503050406030204" pitchFamily="18" charset="0"/>
                                <a:ea typeface="微软雅黑" panose="020B0503020204020204" pitchFamily="34" charset="-122"/>
                              </a:rPr>
                            </m:ctrlPr>
                          </m:limLowPr>
                          <m:e>
                            <m:r>
                              <m:rPr>
                                <m:sty m:val="p"/>
                              </m:rPr>
                              <a:rPr lang="en-US" altLang="zh-CN" sz="2000" i="0" smtClean="0">
                                <a:latin typeface="Cambria Math" panose="02040503050406030204" pitchFamily="18" charset="0"/>
                                <a:ea typeface="微软雅黑" panose="020B0503020204020204" pitchFamily="34" charset="-122"/>
                              </a:rPr>
                              <m:t>lim</m:t>
                            </m:r>
                          </m:e>
                          <m:lim>
                            <m:r>
                              <a:rPr lang="en-US" altLang="zh-CN" sz="2000" b="0" i="1" smtClean="0">
                                <a:latin typeface="Cambria Math" panose="02040503050406030204" pitchFamily="18" charset="0"/>
                                <a:ea typeface="微软雅黑" panose="020B0503020204020204" pitchFamily="34" charset="-122"/>
                              </a:rPr>
                              <m:t>𝛽</m:t>
                            </m:r>
                            <m:r>
                              <a:rPr lang="en-US" altLang="zh-CN" sz="2000" b="0" i="1" smtClean="0">
                                <a:latin typeface="Cambria Math" panose="02040503050406030204" pitchFamily="18" charset="0"/>
                                <a:ea typeface="微软雅黑" panose="020B0503020204020204" pitchFamily="34" charset="-122"/>
                              </a:rPr>
                              <m:t>→∞</m:t>
                            </m:r>
                          </m:lim>
                        </m:limLow>
                      </m:fName>
                      <m:e>
                        <m:f>
                          <m:fPr>
                            <m:ctrlPr>
                              <a:rPr lang="en-US" altLang="zh-CN" sz="2000" i="1">
                                <a:latin typeface="Cambria Math" panose="02040503050406030204" pitchFamily="18" charset="0"/>
                                <a:ea typeface="微软雅黑" panose="020B0503020204020204" pitchFamily="34" charset="-122"/>
                              </a:rPr>
                            </m:ctrlPr>
                          </m:fPr>
                          <m:num>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a:latin typeface="Cambria Math" panose="02040503050406030204" pitchFamily="18" charset="0"/>
                                    <a:ea typeface="微软雅黑" panose="020B0503020204020204" pitchFamily="34" charset="-122"/>
                                  </a:rPr>
                                  <m:t>sin</m:t>
                                </m:r>
                              </m:fName>
                              <m:e>
                                <m:r>
                                  <a:rPr lang="en-US" altLang="zh-CN" sz="2000" i="1">
                                    <a:latin typeface="Cambria Math" panose="02040503050406030204" pitchFamily="18" charset="0"/>
                                    <a:ea typeface="微软雅黑" panose="020B0503020204020204" pitchFamily="34" charset="-122"/>
                                  </a:rPr>
                                  <m:t>𝛽</m:t>
                                </m:r>
                                <m:r>
                                  <a:rPr lang="en-US" altLang="zh-CN" sz="2000" i="1">
                                    <a:latin typeface="Cambria Math" panose="02040503050406030204" pitchFamily="18" charset="0"/>
                                    <a:ea typeface="微软雅黑" panose="020B0503020204020204" pitchFamily="34" charset="-122"/>
                                  </a:rPr>
                                  <m:t>𝑥</m:t>
                                </m:r>
                              </m:e>
                            </m:func>
                          </m:num>
                          <m:den>
                            <m:r>
                              <a:rPr lang="en-US" altLang="zh-CN" sz="2000" i="1">
                                <a:latin typeface="Cambria Math" panose="02040503050406030204" pitchFamily="18" charset="0"/>
                                <a:ea typeface="微软雅黑" panose="020B0503020204020204" pitchFamily="34" charset="-122"/>
                              </a:rPr>
                              <m:t>𝜋</m:t>
                            </m:r>
                            <m:r>
                              <a:rPr lang="en-US" altLang="zh-CN" sz="2000" i="1">
                                <a:latin typeface="Cambria Math" panose="02040503050406030204" pitchFamily="18" charset="0"/>
                                <a:ea typeface="微软雅黑" panose="020B0503020204020204" pitchFamily="34" charset="-122"/>
                              </a:rPr>
                              <m:t>𝑥</m:t>
                            </m:r>
                          </m:den>
                        </m:f>
                      </m:e>
                    </m:func>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𝛿</m:t>
                    </m:r>
                    <m:d>
                      <m:dPr>
                        <m:ctrlPr>
                          <a:rPr lang="en-US" altLang="zh-CN" sz="2000" b="0" i="1" smtClean="0">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𝑥</m:t>
                        </m:r>
                      </m:e>
                    </m:d>
                  </m:oMath>
                </a14:m>
                <a:endParaRPr lang="en-US" altLang="zh-CN" sz="2000" b="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验证：</a:t>
                </a:r>
                <a14:m>
                  <m:oMath xmlns:m="http://schemas.openxmlformats.org/officeDocument/2006/math">
                    <m:func>
                      <m:funcPr>
                        <m:ctrlPr>
                          <a:rPr lang="en-US" altLang="zh-CN" sz="2000" b="0" i="1" dirty="0" smtClean="0">
                            <a:latin typeface="Cambria Math" panose="02040503050406030204" pitchFamily="18" charset="0"/>
                            <a:ea typeface="微软雅黑" panose="020B0503020204020204" pitchFamily="34" charset="-122"/>
                          </a:rPr>
                        </m:ctrlPr>
                      </m:funcPr>
                      <m:fName>
                        <m:limLow>
                          <m:limLowPr>
                            <m:ctrlPr>
                              <a:rPr lang="en-US" altLang="zh-CN" sz="2000" b="0" i="1" dirty="0" smtClean="0">
                                <a:latin typeface="Cambria Math" panose="02040503050406030204" pitchFamily="18" charset="0"/>
                                <a:ea typeface="微软雅黑" panose="020B0503020204020204" pitchFamily="34" charset="-122"/>
                              </a:rPr>
                            </m:ctrlPr>
                          </m:limLowPr>
                          <m:e>
                            <m:r>
                              <m:rPr>
                                <m:sty m:val="p"/>
                              </m:rPr>
                              <a:rPr lang="en-US" altLang="zh-CN" sz="2000" i="0" dirty="0">
                                <a:latin typeface="Cambria Math" panose="02040503050406030204" pitchFamily="18" charset="0"/>
                                <a:ea typeface="微软雅黑" panose="020B0503020204020204" pitchFamily="34" charset="-122"/>
                              </a:rPr>
                              <m:t>lim</m:t>
                            </m:r>
                          </m:e>
                          <m:lim>
                            <m:r>
                              <a:rPr lang="en-US" altLang="zh-CN" sz="2000" b="0" i="1" dirty="0" smtClean="0">
                                <a:latin typeface="Cambria Math" panose="02040503050406030204" pitchFamily="18" charset="0"/>
                                <a:ea typeface="微软雅黑" panose="020B0503020204020204" pitchFamily="34" charset="-122"/>
                              </a:rPr>
                              <m:t>𝑥</m:t>
                            </m:r>
                            <m:r>
                              <a:rPr lang="en-US" altLang="zh-CN" sz="2000" i="1" dirty="0">
                                <a:latin typeface="Cambria Math" panose="02040503050406030204" pitchFamily="18" charset="0"/>
                                <a:ea typeface="微软雅黑" panose="020B0503020204020204" pitchFamily="34" charset="-122"/>
                              </a:rPr>
                              <m:t>→</m:t>
                            </m:r>
                            <m:r>
                              <a:rPr lang="en-US" altLang="zh-CN" sz="2000" b="0" i="1" dirty="0" smtClean="0">
                                <a:latin typeface="Cambria Math" panose="02040503050406030204" pitchFamily="18" charset="0"/>
                                <a:ea typeface="微软雅黑" panose="020B0503020204020204" pitchFamily="34" charset="-122"/>
                              </a:rPr>
                              <m:t>0</m:t>
                            </m:r>
                          </m:lim>
                        </m:limLow>
                      </m:fName>
                      <m:e>
                        <m:f>
                          <m:fPr>
                            <m:ctrlPr>
                              <a:rPr lang="en-US" altLang="zh-CN" sz="2000" i="1">
                                <a:latin typeface="Cambria Math" panose="02040503050406030204" pitchFamily="18" charset="0"/>
                                <a:ea typeface="微软雅黑" panose="020B0503020204020204" pitchFamily="34" charset="-122"/>
                              </a:rPr>
                            </m:ctrlPr>
                          </m:fPr>
                          <m:num>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a:latin typeface="Cambria Math" panose="02040503050406030204" pitchFamily="18" charset="0"/>
                                    <a:ea typeface="微软雅黑" panose="020B0503020204020204" pitchFamily="34" charset="-122"/>
                                  </a:rPr>
                                  <m:t>sin</m:t>
                                </m:r>
                              </m:fName>
                              <m:e>
                                <m:r>
                                  <a:rPr lang="en-US" altLang="zh-CN" sz="2000" i="1">
                                    <a:latin typeface="Cambria Math" panose="02040503050406030204" pitchFamily="18" charset="0"/>
                                    <a:ea typeface="微软雅黑" panose="020B0503020204020204" pitchFamily="34" charset="-122"/>
                                  </a:rPr>
                                  <m:t>𝛽</m:t>
                                </m:r>
                                <m:r>
                                  <a:rPr lang="en-US" altLang="zh-CN" sz="2000" i="1">
                                    <a:latin typeface="Cambria Math" panose="02040503050406030204" pitchFamily="18" charset="0"/>
                                    <a:ea typeface="微软雅黑" panose="020B0503020204020204" pitchFamily="34" charset="-122"/>
                                  </a:rPr>
                                  <m:t>𝑥</m:t>
                                </m:r>
                              </m:e>
                            </m:func>
                          </m:num>
                          <m:den>
                            <m:r>
                              <a:rPr lang="en-US" altLang="zh-CN" sz="2000" i="1">
                                <a:latin typeface="Cambria Math" panose="02040503050406030204" pitchFamily="18" charset="0"/>
                                <a:ea typeface="微软雅黑" panose="020B0503020204020204" pitchFamily="34" charset="-122"/>
                              </a:rPr>
                              <m:t>𝜋</m:t>
                            </m:r>
                            <m:r>
                              <a:rPr lang="en-US" altLang="zh-CN" sz="2000" i="1">
                                <a:latin typeface="Cambria Math" panose="02040503050406030204" pitchFamily="18" charset="0"/>
                                <a:ea typeface="微软雅黑" panose="020B0503020204020204" pitchFamily="34" charset="-122"/>
                              </a:rPr>
                              <m:t>𝑥</m:t>
                            </m:r>
                          </m:den>
                        </m:f>
                        <m:r>
                          <a:rPr lang="en-US" altLang="zh-CN" sz="2000" b="0" i="1" smtClean="0">
                            <a:latin typeface="Cambria Math" panose="02040503050406030204" pitchFamily="18" charset="0"/>
                            <a:ea typeface="微软雅黑" panose="020B0503020204020204" pitchFamily="34" charset="-122"/>
                          </a:rPr>
                          <m:t>=</m:t>
                        </m:r>
                        <m:f>
                          <m:fPr>
                            <m:ctrlPr>
                              <a:rPr lang="en-US" altLang="zh-CN" sz="2000" b="0" i="1" smtClean="0">
                                <a:latin typeface="Cambria Math" panose="02040503050406030204" pitchFamily="18" charset="0"/>
                                <a:ea typeface="微软雅黑" panose="020B0503020204020204" pitchFamily="34" charset="-122"/>
                              </a:rPr>
                            </m:ctrlPr>
                          </m:fPr>
                          <m:num>
                            <m:r>
                              <a:rPr lang="en-US" altLang="zh-CN" sz="2000" b="0" i="1" smtClean="0">
                                <a:latin typeface="Cambria Math" panose="02040503050406030204" pitchFamily="18" charset="0"/>
                                <a:ea typeface="微软雅黑" panose="020B0503020204020204" pitchFamily="34" charset="-122"/>
                              </a:rPr>
                              <m:t>𝛽</m:t>
                            </m:r>
                          </m:num>
                          <m:den>
                            <m:r>
                              <a:rPr lang="en-US" altLang="zh-CN" sz="2000" b="0" i="1" smtClean="0">
                                <a:latin typeface="Cambria Math" panose="02040503050406030204" pitchFamily="18" charset="0"/>
                                <a:ea typeface="微软雅黑" panose="020B0503020204020204" pitchFamily="34" charset="-122"/>
                              </a:rPr>
                              <m:t>𝜋</m:t>
                            </m:r>
                          </m:den>
                        </m:f>
                      </m:e>
                    </m:func>
                  </m:oMath>
                </a14:m>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en-US" altLang="zh-CN" sz="2000" dirty="0" smtClean="0">
                    <a:ea typeface="微软雅黑" panose="020B0503020204020204" pitchFamily="34" charset="-122"/>
                  </a:rPr>
                  <a:t> </a:t>
                </a:r>
                <a14:m>
                  <m:oMath xmlns:m="http://schemas.openxmlformats.org/officeDocument/2006/math">
                    <m:r>
                      <a:rPr lang="en-US" altLang="zh-CN" sz="2000" i="1">
                        <a:latin typeface="Cambria Math" panose="02040503050406030204" pitchFamily="18" charset="0"/>
                        <a:ea typeface="微软雅黑" panose="020B0503020204020204" pitchFamily="34" charset="-122"/>
                      </a:rPr>
                      <m:t>𝛽</m:t>
                    </m:r>
                    <m:r>
                      <a:rPr lang="en-US" altLang="zh-CN" sz="2000" i="1">
                        <a:latin typeface="Cambria Math" panose="02040503050406030204" pitchFamily="18" charset="0"/>
                        <a:ea typeface="微软雅黑" panose="020B0503020204020204" pitchFamily="34" charset="-122"/>
                      </a:rPr>
                      <m:t>→∞</m:t>
                    </m:r>
                  </m:oMath>
                </a14:m>
                <a:r>
                  <a:rPr lang="zh-CN" altLang="en-US" sz="2000" dirty="0" smtClean="0">
                    <a:latin typeface="微软雅黑" panose="020B0503020204020204" pitchFamily="34" charset="-122"/>
                    <a:ea typeface="微软雅黑" panose="020B0503020204020204" pitchFamily="34" charset="-122"/>
                  </a:rPr>
                  <a:t>时</a:t>
                </a:r>
                <a14:m>
                  <m:oMath xmlns:m="http://schemas.openxmlformats.org/officeDocument/2006/math">
                    <m:func>
                      <m:funcPr>
                        <m:ctrlPr>
                          <a:rPr lang="en-US" altLang="zh-CN" sz="2000" i="1" dirty="0">
                            <a:latin typeface="Cambria Math" panose="02040503050406030204" pitchFamily="18" charset="0"/>
                            <a:ea typeface="微软雅黑" panose="020B0503020204020204" pitchFamily="34" charset="-122"/>
                          </a:rPr>
                        </m:ctrlPr>
                      </m:funcPr>
                      <m:fName>
                        <m:limLow>
                          <m:limLowPr>
                            <m:ctrlPr>
                              <a:rPr lang="en-US" altLang="zh-CN" sz="2000" i="1" dirty="0">
                                <a:latin typeface="Cambria Math" panose="02040503050406030204" pitchFamily="18" charset="0"/>
                                <a:ea typeface="微软雅黑" panose="020B0503020204020204" pitchFamily="34" charset="-122"/>
                              </a:rPr>
                            </m:ctrlPr>
                          </m:limLowPr>
                          <m:e>
                            <m:r>
                              <m:rPr>
                                <m:sty m:val="p"/>
                              </m:rPr>
                              <a:rPr lang="en-US" altLang="zh-CN" sz="2000" dirty="0">
                                <a:latin typeface="Cambria Math" panose="02040503050406030204" pitchFamily="18" charset="0"/>
                                <a:ea typeface="微软雅黑" panose="020B0503020204020204" pitchFamily="34" charset="-122"/>
                              </a:rPr>
                              <m:t>lim</m:t>
                            </m:r>
                          </m:e>
                          <m:lim>
                            <m:r>
                              <a:rPr lang="en-US" altLang="zh-CN" sz="2000" i="1" dirty="0">
                                <a:latin typeface="Cambria Math" panose="02040503050406030204" pitchFamily="18" charset="0"/>
                                <a:ea typeface="微软雅黑" panose="020B0503020204020204" pitchFamily="34" charset="-122"/>
                              </a:rPr>
                              <m:t>𝑥</m:t>
                            </m:r>
                            <m:r>
                              <a:rPr lang="en-US" altLang="zh-CN" sz="2000" i="1" dirty="0">
                                <a:latin typeface="Cambria Math" panose="02040503050406030204" pitchFamily="18" charset="0"/>
                                <a:ea typeface="微软雅黑" panose="020B0503020204020204" pitchFamily="34" charset="-122"/>
                              </a:rPr>
                              <m:t>→</m:t>
                            </m:r>
                            <m:r>
                              <a:rPr lang="en-US" altLang="zh-CN" sz="2000" i="1" dirty="0">
                                <a:latin typeface="Cambria Math" panose="02040503050406030204" pitchFamily="18" charset="0"/>
                                <a:ea typeface="微软雅黑" panose="020B0503020204020204" pitchFamily="34" charset="-122"/>
                              </a:rPr>
                              <m:t>0</m:t>
                            </m:r>
                          </m:lim>
                        </m:limLow>
                      </m:fName>
                      <m:e>
                        <m:f>
                          <m:fPr>
                            <m:ctrlPr>
                              <a:rPr lang="en-US" altLang="zh-CN" sz="2000" i="1">
                                <a:latin typeface="Cambria Math" panose="02040503050406030204" pitchFamily="18" charset="0"/>
                                <a:ea typeface="微软雅黑" panose="020B0503020204020204" pitchFamily="34" charset="-122"/>
                              </a:rPr>
                            </m:ctrlPr>
                          </m:fPr>
                          <m:num>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a:latin typeface="Cambria Math" panose="02040503050406030204" pitchFamily="18" charset="0"/>
                                    <a:ea typeface="微软雅黑" panose="020B0503020204020204" pitchFamily="34" charset="-122"/>
                                  </a:rPr>
                                  <m:t>sin</m:t>
                                </m:r>
                              </m:fName>
                              <m:e>
                                <m:r>
                                  <a:rPr lang="en-US" altLang="zh-CN" sz="2000" i="1">
                                    <a:latin typeface="Cambria Math" panose="02040503050406030204" pitchFamily="18" charset="0"/>
                                    <a:ea typeface="微软雅黑" panose="020B0503020204020204" pitchFamily="34" charset="-122"/>
                                  </a:rPr>
                                  <m:t>𝛽</m:t>
                                </m:r>
                                <m:r>
                                  <a:rPr lang="en-US" altLang="zh-CN" sz="2000" i="1">
                                    <a:latin typeface="Cambria Math" panose="02040503050406030204" pitchFamily="18" charset="0"/>
                                    <a:ea typeface="微软雅黑" panose="020B0503020204020204" pitchFamily="34" charset="-122"/>
                                  </a:rPr>
                                  <m:t>𝑥</m:t>
                                </m:r>
                              </m:e>
                            </m:func>
                          </m:num>
                          <m:den>
                            <m:r>
                              <a:rPr lang="en-US" altLang="zh-CN" sz="2000" i="1">
                                <a:latin typeface="Cambria Math" panose="02040503050406030204" pitchFamily="18" charset="0"/>
                                <a:ea typeface="微软雅黑" panose="020B0503020204020204" pitchFamily="34" charset="-122"/>
                              </a:rPr>
                              <m:t>𝜋</m:t>
                            </m:r>
                            <m:r>
                              <a:rPr lang="en-US" altLang="zh-CN" sz="2000" i="1">
                                <a:latin typeface="Cambria Math" panose="02040503050406030204" pitchFamily="18" charset="0"/>
                                <a:ea typeface="微软雅黑" panose="020B0503020204020204" pitchFamily="34" charset="-122"/>
                              </a:rPr>
                              <m:t>𝑥</m:t>
                            </m:r>
                          </m:den>
                        </m:f>
                      </m:e>
                    </m:func>
                    <m:r>
                      <a:rPr lang="en-US" altLang="zh-CN" sz="2000" i="1">
                        <a:latin typeface="Cambria Math" panose="02040503050406030204" pitchFamily="18" charset="0"/>
                        <a:ea typeface="微软雅黑" panose="020B0503020204020204" pitchFamily="34" charset="-122"/>
                      </a:rPr>
                      <m:t>→∞</m:t>
                    </m:r>
                  </m:oMath>
                </a14:m>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且</a:t>
                </a:r>
                <a14:m>
                  <m:oMath xmlns:m="http://schemas.openxmlformats.org/officeDocument/2006/math">
                    <m:nary>
                      <m:naryPr>
                        <m:ctrlPr>
                          <a:rPr lang="en-US" altLang="zh-CN" sz="2000" i="1">
                            <a:latin typeface="Cambria Math" panose="02040503050406030204" pitchFamily="18" charset="0"/>
                            <a:ea typeface="微软雅黑" panose="020B0503020204020204" pitchFamily="34" charset="-122"/>
                          </a:rPr>
                        </m:ctrlPr>
                      </m:naryPr>
                      <m:sub>
                        <m:r>
                          <m:rPr>
                            <m:brk m:alnAt="23"/>
                          </m:rP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m:t>
                        </m:r>
                      </m:sub>
                      <m:sup>
                        <m:r>
                          <a:rPr lang="en-US" altLang="zh-CN" sz="2000" i="1">
                            <a:latin typeface="Cambria Math" panose="02040503050406030204" pitchFamily="18" charset="0"/>
                            <a:ea typeface="微软雅黑" panose="020B0503020204020204" pitchFamily="34" charset="-122"/>
                          </a:rPr>
                          <m:t>∞</m:t>
                        </m:r>
                      </m:sup>
                      <m:e>
                        <m:f>
                          <m:fPr>
                            <m:ctrlPr>
                              <a:rPr lang="en-US" altLang="zh-CN" sz="2000" i="1">
                                <a:latin typeface="Cambria Math" panose="02040503050406030204" pitchFamily="18" charset="0"/>
                                <a:ea typeface="微软雅黑" panose="020B0503020204020204" pitchFamily="34" charset="-122"/>
                              </a:rPr>
                            </m:ctrlPr>
                          </m:fPr>
                          <m:num>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a:latin typeface="Cambria Math" panose="02040503050406030204" pitchFamily="18" charset="0"/>
                                    <a:ea typeface="微软雅黑" panose="020B0503020204020204" pitchFamily="34" charset="-122"/>
                                  </a:rPr>
                                  <m:t>sin</m:t>
                                </m:r>
                              </m:fName>
                              <m:e>
                                <m:r>
                                  <a:rPr lang="en-US" altLang="zh-CN" sz="2000" i="1">
                                    <a:latin typeface="Cambria Math" panose="02040503050406030204" pitchFamily="18" charset="0"/>
                                    <a:ea typeface="微软雅黑" panose="020B0503020204020204" pitchFamily="34" charset="-122"/>
                                  </a:rPr>
                                  <m:t>𝛽</m:t>
                                </m:r>
                                <m:r>
                                  <a:rPr lang="en-US" altLang="zh-CN" sz="2000" i="1">
                                    <a:latin typeface="Cambria Math" panose="02040503050406030204" pitchFamily="18" charset="0"/>
                                    <a:ea typeface="微软雅黑" panose="020B0503020204020204" pitchFamily="34" charset="-122"/>
                                  </a:rPr>
                                  <m:t>𝑥</m:t>
                                </m:r>
                              </m:e>
                            </m:func>
                          </m:num>
                          <m:den>
                            <m:r>
                              <a:rPr lang="en-US" altLang="zh-CN" sz="2000" i="1">
                                <a:latin typeface="Cambria Math" panose="02040503050406030204" pitchFamily="18" charset="0"/>
                                <a:ea typeface="微软雅黑" panose="020B0503020204020204" pitchFamily="34" charset="-122"/>
                              </a:rPr>
                              <m:t>𝜋</m:t>
                            </m:r>
                            <m:r>
                              <a:rPr lang="en-US" altLang="zh-CN" sz="2000" i="1">
                                <a:latin typeface="Cambria Math" panose="02040503050406030204" pitchFamily="18" charset="0"/>
                                <a:ea typeface="微软雅黑" panose="020B0503020204020204" pitchFamily="34" charset="-122"/>
                              </a:rPr>
                              <m:t>𝑥</m:t>
                            </m:r>
                          </m:den>
                        </m:f>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e>
                    </m:nary>
                    <m:r>
                      <a:rPr lang="en-US" altLang="zh-CN" sz="2000" b="0" i="1" smtClean="0">
                        <a:latin typeface="Cambria Math" panose="02040503050406030204" pitchFamily="18" charset="0"/>
                        <a:ea typeface="微软雅黑" panose="020B0503020204020204" pitchFamily="34" charset="-122"/>
                      </a:rPr>
                      <m:t>=1</m:t>
                    </m:r>
                  </m:oMath>
                </a14:m>
                <a:endParaRPr lang="en-US" altLang="zh-CN" sz="2000" dirty="0" smtClean="0">
                  <a:latin typeface="微软雅黑" panose="020B0503020204020204" pitchFamily="34" charset="-122"/>
                  <a:ea typeface="微软雅黑" panose="020B0503020204020204" pitchFamily="34"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540385" y="1010072"/>
                <a:ext cx="10794366" cy="3985835"/>
              </a:xfrm>
              <a:prstGeom prst="rect">
                <a:avLst/>
              </a:prstGeom>
              <a:blipFill rotWithShape="0">
                <a:blip r:embed="rId5"/>
                <a:stretch>
                  <a:fillRect l="-621"/>
                </a:stretch>
              </a:blipFill>
            </p:spPr>
            <p:txBody>
              <a:bodyPr/>
              <a:lstStyle/>
              <a:p>
                <a:r>
                  <a:rPr lang="zh-CN" altLang="en-US">
                    <a:noFill/>
                  </a:rPr>
                  <a:t> </a:t>
                </a:r>
              </a:p>
            </p:txBody>
          </p:sp>
        </mc:Fallback>
      </mc:AlternateContent>
      <p:pic>
        <p:nvPicPr>
          <p:cNvPr id="3" name="图片 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024766" y="2045979"/>
            <a:ext cx="5974248" cy="3600000"/>
          </a:xfrm>
          <a:prstGeom prst="rect">
            <a:avLst/>
          </a:prstGeom>
        </p:spPr>
      </p:pic>
    </p:spTree>
    <p:extLst>
      <p:ext uri="{BB962C8B-B14F-4D97-AF65-F5344CB8AC3E}">
        <p14:creationId xmlns:p14="http://schemas.microsoft.com/office/powerpoint/2010/main" val="2818636774"/>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4" y="288319"/>
            <a:ext cx="7874147"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Complement</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mc:Choice xmlns:a14="http://schemas.microsoft.com/office/drawing/2010/main" Requires="a14">
          <p:sp>
            <p:nvSpPr>
              <p:cNvPr id="2" name="文本框 1"/>
              <p:cNvSpPr txBox="1"/>
              <p:nvPr/>
            </p:nvSpPr>
            <p:spPr>
              <a:xfrm>
                <a:off x="499110" y="1054934"/>
                <a:ext cx="6616065" cy="3447290"/>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在此我们给出两个用生成函数构造</a:t>
                </a:r>
                <a:r>
                  <a:rPr lang="en-US" altLang="zh-CN" sz="2000" dirty="0" smtClean="0">
                    <a:latin typeface="微软雅黑" panose="020B0503020204020204" pitchFamily="34" charset="-122"/>
                    <a:ea typeface="微软雅黑" panose="020B0503020204020204" pitchFamily="34" charset="-122"/>
                  </a:rPr>
                  <a:t>Delta</a:t>
                </a:r>
                <a:r>
                  <a:rPr lang="zh-CN" altLang="en-US" sz="2000" dirty="0" smtClean="0">
                    <a:latin typeface="微软雅黑" panose="020B0503020204020204" pitchFamily="34" charset="-122"/>
                    <a:ea typeface="微软雅黑" panose="020B0503020204020204" pitchFamily="34" charset="-122"/>
                  </a:rPr>
                  <a:t>函数的例子：</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en-US" altLang="zh-CN" sz="2000" dirty="0" smtClean="0">
                    <a:latin typeface="微软雅黑" panose="020B0503020204020204" pitchFamily="34" charset="-122"/>
                    <a:ea typeface="微软雅黑" panose="020B0503020204020204" pitchFamily="34" charset="-122"/>
                  </a:rPr>
                  <a:t>2.</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𝐺</m:t>
                    </m:r>
                    <m:d>
                      <m:dPr>
                        <m:ctrlPr>
                          <a:rPr lang="en-US" altLang="zh-CN" sz="2000" b="0" i="1" smtClean="0">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𝑥</m:t>
                        </m:r>
                      </m:e>
                    </m:d>
                    <m:r>
                      <a:rPr lang="en-US" altLang="zh-CN" sz="2000" b="0" i="1" smtClean="0">
                        <a:latin typeface="Cambria Math" panose="02040503050406030204" pitchFamily="18" charset="0"/>
                        <a:ea typeface="微软雅黑" panose="020B0503020204020204" pitchFamily="34" charset="-122"/>
                      </a:rPr>
                      <m:t>=</m:t>
                    </m:r>
                    <m:f>
                      <m:fPr>
                        <m:ctrlPr>
                          <a:rPr lang="en-US" altLang="zh-CN" sz="2000" b="0" i="1" smtClean="0">
                            <a:latin typeface="Cambria Math" panose="02040503050406030204" pitchFamily="18" charset="0"/>
                            <a:ea typeface="微软雅黑" panose="020B0503020204020204" pitchFamily="34" charset="-122"/>
                          </a:rPr>
                        </m:ctrlPr>
                      </m:fPr>
                      <m:num>
                        <m:r>
                          <a:rPr lang="en-US" altLang="zh-CN" sz="2000" b="0" i="1" smtClean="0">
                            <a:latin typeface="Cambria Math" panose="02040503050406030204" pitchFamily="18" charset="0"/>
                            <a:ea typeface="微软雅黑" panose="020B0503020204020204" pitchFamily="34" charset="-122"/>
                          </a:rPr>
                          <m:t>1</m:t>
                        </m:r>
                      </m:num>
                      <m:den>
                        <m:rad>
                          <m:radPr>
                            <m:degHide m:val="on"/>
                            <m:ctrlPr>
                              <a:rPr lang="en-US" altLang="zh-CN" sz="2000" b="0" i="1" smtClean="0">
                                <a:latin typeface="Cambria Math" panose="02040503050406030204" pitchFamily="18" charset="0"/>
                                <a:ea typeface="微软雅黑" panose="020B0503020204020204" pitchFamily="34" charset="-122"/>
                              </a:rPr>
                            </m:ctrlPr>
                          </m:radPr>
                          <m:deg/>
                          <m:e>
                            <m:r>
                              <a:rPr lang="en-US" altLang="zh-CN" sz="2000" b="0" i="1" smtClean="0">
                                <a:latin typeface="Cambria Math" panose="02040503050406030204" pitchFamily="18" charset="0"/>
                                <a:ea typeface="微软雅黑" panose="020B0503020204020204" pitchFamily="34" charset="-122"/>
                              </a:rPr>
                              <m:t>𝜋𝛽</m:t>
                            </m:r>
                          </m:e>
                        </m:rad>
                      </m:den>
                    </m:f>
                    <m:func>
                      <m:funcPr>
                        <m:ctrlPr>
                          <a:rPr lang="en-US" altLang="zh-CN" sz="2000" b="0" i="1" smtClean="0">
                            <a:latin typeface="Cambria Math" panose="02040503050406030204" pitchFamily="18" charset="0"/>
                            <a:ea typeface="微软雅黑" panose="020B0503020204020204" pitchFamily="34" charset="-122"/>
                          </a:rPr>
                        </m:ctrlPr>
                      </m:funcPr>
                      <m:fName>
                        <m:r>
                          <m:rPr>
                            <m:sty m:val="p"/>
                          </m:rPr>
                          <a:rPr lang="en-US" altLang="zh-CN" sz="2000" b="0" i="0" smtClean="0">
                            <a:latin typeface="Cambria Math" panose="02040503050406030204" pitchFamily="18" charset="0"/>
                            <a:ea typeface="微软雅黑" panose="020B0503020204020204" pitchFamily="34" charset="-122"/>
                          </a:rPr>
                          <m:t>exp</m:t>
                        </m:r>
                      </m:fName>
                      <m:e>
                        <m:d>
                          <m:dPr>
                            <m:ctrlPr>
                              <a:rPr lang="en-US" altLang="zh-CN" sz="2000" b="0" i="1" smtClean="0">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m:t>
                            </m:r>
                            <m:f>
                              <m:fPr>
                                <m:ctrlPr>
                                  <a:rPr lang="en-US" altLang="zh-CN" sz="2000" b="0" i="1" smtClean="0">
                                    <a:latin typeface="Cambria Math" panose="02040503050406030204" pitchFamily="18" charset="0"/>
                                    <a:ea typeface="微软雅黑" panose="020B0503020204020204" pitchFamily="34" charset="-122"/>
                                  </a:rPr>
                                </m:ctrlPr>
                              </m:fPr>
                              <m:num>
                                <m:sSup>
                                  <m:sSupPr>
                                    <m:ctrlPr>
                                      <a:rPr lang="en-US" altLang="zh-CN" sz="2000" b="0" i="1" smtClean="0">
                                        <a:latin typeface="Cambria Math" panose="02040503050406030204" pitchFamily="18" charset="0"/>
                                        <a:ea typeface="微软雅黑" panose="020B0503020204020204" pitchFamily="34" charset="-122"/>
                                      </a:rPr>
                                    </m:ctrlPr>
                                  </m:sSupPr>
                                  <m:e>
                                    <m:r>
                                      <a:rPr lang="en-US" altLang="zh-CN" sz="2000" b="0" i="1" smtClean="0">
                                        <a:latin typeface="Cambria Math" panose="02040503050406030204" pitchFamily="18" charset="0"/>
                                        <a:ea typeface="微软雅黑" panose="020B0503020204020204" pitchFamily="34" charset="-122"/>
                                      </a:rPr>
                                      <m:t> </m:t>
                                    </m:r>
                                    <m:r>
                                      <a:rPr lang="en-US" altLang="zh-CN" sz="2000" b="0" i="1" smtClean="0">
                                        <a:latin typeface="Cambria Math" panose="02040503050406030204" pitchFamily="18" charset="0"/>
                                        <a:ea typeface="微软雅黑" panose="020B0503020204020204" pitchFamily="34" charset="-122"/>
                                      </a:rPr>
                                      <m:t>𝑥</m:t>
                                    </m:r>
                                  </m:e>
                                  <m:sup>
                                    <m:r>
                                      <a:rPr lang="en-US" altLang="zh-CN" sz="2000" b="0" i="1" smtClean="0">
                                        <a:latin typeface="Cambria Math" panose="02040503050406030204" pitchFamily="18" charset="0"/>
                                        <a:ea typeface="微软雅黑" panose="020B0503020204020204" pitchFamily="34" charset="-122"/>
                                      </a:rPr>
                                      <m:t>2</m:t>
                                    </m:r>
                                  </m:sup>
                                </m:sSup>
                              </m:num>
                              <m:den>
                                <m:r>
                                  <a:rPr lang="en-US" altLang="zh-CN" sz="2000" b="0" i="1" smtClean="0">
                                    <a:latin typeface="Cambria Math" panose="02040503050406030204" pitchFamily="18" charset="0"/>
                                    <a:ea typeface="微软雅黑" panose="020B0503020204020204" pitchFamily="34" charset="-122"/>
                                  </a:rPr>
                                  <m:t>𝛽</m:t>
                                </m:r>
                              </m:den>
                            </m:f>
                          </m:e>
                        </m:d>
                      </m:e>
                    </m:func>
                  </m:oMath>
                </a14:m>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满足</a:t>
                </a:r>
                <a14:m>
                  <m:oMath xmlns:m="http://schemas.openxmlformats.org/officeDocument/2006/math">
                    <m:func>
                      <m:funcPr>
                        <m:ctrlPr>
                          <a:rPr lang="en-US" altLang="zh-CN" sz="2000" i="1" smtClean="0">
                            <a:latin typeface="Cambria Math" panose="02040503050406030204" pitchFamily="18" charset="0"/>
                            <a:ea typeface="微软雅黑" panose="020B0503020204020204" pitchFamily="34" charset="-122"/>
                          </a:rPr>
                        </m:ctrlPr>
                      </m:funcPr>
                      <m:fName>
                        <m:limLow>
                          <m:limLowPr>
                            <m:ctrlPr>
                              <a:rPr lang="en-US" altLang="zh-CN" sz="2000" i="1" smtClean="0">
                                <a:latin typeface="Cambria Math" panose="02040503050406030204" pitchFamily="18" charset="0"/>
                                <a:ea typeface="微软雅黑" panose="020B0503020204020204" pitchFamily="34" charset="-122"/>
                              </a:rPr>
                            </m:ctrlPr>
                          </m:limLowPr>
                          <m:e>
                            <m:r>
                              <m:rPr>
                                <m:sty m:val="p"/>
                              </m:rPr>
                              <a:rPr lang="en-US" altLang="zh-CN" sz="2000" i="0" smtClean="0">
                                <a:latin typeface="Cambria Math" panose="02040503050406030204" pitchFamily="18" charset="0"/>
                                <a:ea typeface="微软雅黑" panose="020B0503020204020204" pitchFamily="34" charset="-122"/>
                              </a:rPr>
                              <m:t>lim</m:t>
                            </m:r>
                          </m:e>
                          <m:lim>
                            <m:r>
                              <a:rPr lang="en-US" altLang="zh-CN" sz="2000" b="0" i="1" smtClean="0">
                                <a:latin typeface="Cambria Math" panose="02040503050406030204" pitchFamily="18" charset="0"/>
                                <a:ea typeface="微软雅黑" panose="020B0503020204020204" pitchFamily="34" charset="-122"/>
                              </a:rPr>
                              <m:t>𝛽</m:t>
                            </m:r>
                            <m:r>
                              <a:rPr lang="en-US" altLang="zh-CN" sz="2000" b="0" i="1" smtClean="0">
                                <a:latin typeface="Cambria Math" panose="02040503050406030204" pitchFamily="18" charset="0"/>
                                <a:ea typeface="微软雅黑" panose="020B0503020204020204" pitchFamily="34" charset="-122"/>
                              </a:rPr>
                              <m:t>→0</m:t>
                            </m:r>
                          </m:lim>
                        </m:limLow>
                      </m:fName>
                      <m:e>
                        <m:r>
                          <a:rPr lang="en-US" altLang="zh-CN" sz="2000" i="1">
                            <a:latin typeface="Cambria Math" panose="02040503050406030204" pitchFamily="18" charset="0"/>
                            <a:ea typeface="微软雅黑" panose="020B0503020204020204" pitchFamily="34" charset="-122"/>
                          </a:rPr>
                          <m:t>𝐺</m:t>
                        </m:r>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𝑥</m:t>
                            </m:r>
                          </m:e>
                        </m:d>
                      </m:e>
                    </m:func>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𝛿</m:t>
                    </m:r>
                    <m:d>
                      <m:dPr>
                        <m:ctrlPr>
                          <a:rPr lang="en-US" altLang="zh-CN" sz="2000" b="0" i="1" smtClean="0">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𝑥</m:t>
                        </m:r>
                      </m:e>
                    </m:d>
                  </m:oMath>
                </a14:m>
                <a:endParaRPr lang="en-US" altLang="zh-CN" sz="2000" b="0" dirty="0" smtClean="0">
                  <a:latin typeface="微软雅黑" panose="020B0503020204020204" pitchFamily="34" charset="-122"/>
                  <a:ea typeface="微软雅黑" panose="020B0503020204020204" pitchFamily="34" charset="-122"/>
                </a:endParaRPr>
              </a:p>
              <a:p>
                <a:pPr>
                  <a:lnSpc>
                    <a:spcPct val="150000"/>
                  </a:lnSpc>
                </a:pPr>
                <a:r>
                  <a:rPr lang="zh-CN" altLang="en-US" sz="2000" b="0" dirty="0" smtClean="0">
                    <a:latin typeface="微软雅黑" panose="020B0503020204020204" pitchFamily="34" charset="-122"/>
                    <a:ea typeface="微软雅黑" panose="020B0503020204020204" pitchFamily="34" charset="-122"/>
                  </a:rPr>
                  <a:t>验证：</a:t>
                </a:r>
                <a14:m>
                  <m:oMath xmlns:m="http://schemas.openxmlformats.org/officeDocument/2006/math">
                    <m:r>
                      <a:rPr lang="en-US" altLang="zh-CN" sz="2000" i="1">
                        <a:latin typeface="Cambria Math" panose="02040503050406030204" pitchFamily="18" charset="0"/>
                        <a:ea typeface="微软雅黑" panose="020B0503020204020204" pitchFamily="34" charset="-122"/>
                      </a:rPr>
                      <m:t>𝐺</m:t>
                    </m:r>
                    <m:d>
                      <m:dPr>
                        <m:ctrlPr>
                          <a:rPr lang="en-US" altLang="zh-CN" sz="2000" i="1">
                            <a:latin typeface="Cambria Math" panose="02040503050406030204" pitchFamily="18" charset="0"/>
                            <a:ea typeface="微软雅黑" panose="020B0503020204020204" pitchFamily="34" charset="-122"/>
                          </a:rPr>
                        </m:ctrlPr>
                      </m:dPr>
                      <m:e>
                        <m:r>
                          <a:rPr lang="en-US" altLang="zh-CN" sz="2000" b="0" i="1" smtClean="0">
                            <a:latin typeface="Cambria Math" panose="02040503050406030204" pitchFamily="18" charset="0"/>
                            <a:ea typeface="微软雅黑" panose="020B0503020204020204" pitchFamily="34" charset="-122"/>
                          </a:rPr>
                          <m:t>0</m:t>
                        </m:r>
                      </m:e>
                    </m:d>
                    <m:r>
                      <a:rPr lang="en-US" altLang="zh-CN" sz="2000" b="0" i="1" smtClean="0">
                        <a:latin typeface="Cambria Math" panose="02040503050406030204" pitchFamily="18" charset="0"/>
                        <a:ea typeface="微软雅黑" panose="020B0503020204020204" pitchFamily="34" charset="-122"/>
                      </a:rPr>
                      <m:t>=</m:t>
                    </m:r>
                    <m:f>
                      <m:fPr>
                        <m:ctrlPr>
                          <a:rPr lang="en-US" altLang="zh-CN" sz="2000" i="1">
                            <a:latin typeface="Cambria Math" panose="02040503050406030204" pitchFamily="18" charset="0"/>
                            <a:ea typeface="微软雅黑" panose="020B0503020204020204" pitchFamily="34" charset="-122"/>
                          </a:rPr>
                        </m:ctrlPr>
                      </m:fPr>
                      <m:num>
                        <m:r>
                          <a:rPr lang="en-US" altLang="zh-CN" sz="2000" i="1">
                            <a:latin typeface="Cambria Math" panose="02040503050406030204" pitchFamily="18" charset="0"/>
                            <a:ea typeface="微软雅黑" panose="020B0503020204020204" pitchFamily="34" charset="-122"/>
                          </a:rPr>
                          <m:t>1</m:t>
                        </m:r>
                      </m:num>
                      <m:den>
                        <m:rad>
                          <m:radPr>
                            <m:degHide m:val="on"/>
                            <m:ctrlPr>
                              <a:rPr lang="en-US" altLang="zh-CN" sz="2000" i="1">
                                <a:latin typeface="Cambria Math" panose="02040503050406030204" pitchFamily="18" charset="0"/>
                                <a:ea typeface="微软雅黑" panose="020B0503020204020204" pitchFamily="34" charset="-122"/>
                              </a:rPr>
                            </m:ctrlPr>
                          </m:radPr>
                          <m:deg/>
                          <m:e>
                            <m:r>
                              <a:rPr lang="en-US" altLang="zh-CN" sz="2000" i="1">
                                <a:latin typeface="Cambria Math" panose="02040503050406030204" pitchFamily="18" charset="0"/>
                                <a:ea typeface="微软雅黑" panose="020B0503020204020204" pitchFamily="34" charset="-122"/>
                              </a:rPr>
                              <m:t>𝜋𝛽</m:t>
                            </m:r>
                          </m:e>
                        </m:rad>
                      </m:den>
                    </m:f>
                  </m:oMath>
                </a14:m>
                <a:r>
                  <a:rPr lang="zh-CN" altLang="en-US" sz="2000" b="0" dirty="0" smtClean="0">
                    <a:latin typeface="微软雅黑" panose="020B0503020204020204" pitchFamily="34" charset="-122"/>
                    <a:ea typeface="微软雅黑" panose="020B0503020204020204" pitchFamily="34" charset="-122"/>
                  </a:rPr>
                  <a:t>，</a:t>
                </a:r>
                <a:r>
                  <a:rPr lang="en-US" altLang="zh-CN" sz="2000" dirty="0">
                    <a:ea typeface="微软雅黑" panose="020B0503020204020204" pitchFamily="34" charset="-122"/>
                  </a:rPr>
                  <a:t> </a:t>
                </a:r>
                <a14:m>
                  <m:oMath xmlns:m="http://schemas.openxmlformats.org/officeDocument/2006/math">
                    <m:r>
                      <a:rPr lang="en-US" altLang="zh-CN" sz="2000" i="1">
                        <a:latin typeface="Cambria Math" panose="02040503050406030204" pitchFamily="18" charset="0"/>
                        <a:ea typeface="微软雅黑" panose="020B0503020204020204" pitchFamily="34" charset="-122"/>
                      </a:rPr>
                      <m:t>𝛽</m:t>
                    </m:r>
                    <m:r>
                      <a:rPr lang="en-US" altLang="zh-CN" sz="2000" i="1">
                        <a:latin typeface="Cambria Math" panose="02040503050406030204" pitchFamily="18" charset="0"/>
                        <a:ea typeface="微软雅黑" panose="020B0503020204020204" pitchFamily="34" charset="-122"/>
                      </a:rPr>
                      <m:t>→∞</m:t>
                    </m:r>
                  </m:oMath>
                </a14:m>
                <a:r>
                  <a:rPr lang="zh-CN" altLang="en-US" sz="2000" dirty="0">
                    <a:latin typeface="微软雅黑" panose="020B0503020204020204" pitchFamily="34" charset="-122"/>
                    <a:ea typeface="微软雅黑" panose="020B0503020204020204" pitchFamily="34" charset="-122"/>
                  </a:rPr>
                  <a:t>时</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𝐺</m:t>
                    </m:r>
                    <m:r>
                      <a:rPr lang="en-US" altLang="zh-CN" sz="2000" b="0" i="1" smtClean="0">
                        <a:latin typeface="Cambria Math" panose="02040503050406030204" pitchFamily="18" charset="0"/>
                        <a:ea typeface="微软雅黑" panose="020B0503020204020204" pitchFamily="34" charset="-122"/>
                      </a:rPr>
                      <m:t>(0)→∞</m:t>
                    </m:r>
                  </m:oMath>
                </a14:m>
                <a:endParaRPr lang="en-US" altLang="zh-CN" sz="2000" b="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ea typeface="微软雅黑" panose="020B0503020204020204" pitchFamily="34" charset="-122"/>
                  </a:rPr>
                  <a:t>且</a:t>
                </a:r>
                <a14:m>
                  <m:oMath xmlns:m="http://schemas.openxmlformats.org/officeDocument/2006/math">
                    <m:nary>
                      <m:naryPr>
                        <m:ctrlPr>
                          <a:rPr lang="en-US" altLang="zh-CN" sz="2000" i="1">
                            <a:latin typeface="Cambria Math" panose="02040503050406030204" pitchFamily="18" charset="0"/>
                            <a:ea typeface="微软雅黑" panose="020B0503020204020204" pitchFamily="34" charset="-122"/>
                          </a:rPr>
                        </m:ctrlPr>
                      </m:naryPr>
                      <m:sub>
                        <m:r>
                          <m:rPr>
                            <m:brk m:alnAt="23"/>
                          </m:rPr>
                          <a:rPr lang="en-US" altLang="zh-CN" sz="2000" i="1">
                            <a:latin typeface="Cambria Math" panose="02040503050406030204" pitchFamily="18" charset="0"/>
                            <a:ea typeface="微软雅黑" panose="020B0503020204020204" pitchFamily="34" charset="-122"/>
                          </a:rPr>
                          <m:t>−</m:t>
                        </m:r>
                        <m:r>
                          <a:rPr lang="en-US" altLang="zh-CN" sz="2000" i="1">
                            <a:latin typeface="Cambria Math" panose="02040503050406030204" pitchFamily="18" charset="0"/>
                            <a:ea typeface="微软雅黑" panose="020B0503020204020204" pitchFamily="34" charset="-122"/>
                          </a:rPr>
                          <m:t>∞</m:t>
                        </m:r>
                      </m:sub>
                      <m:sup>
                        <m:r>
                          <a:rPr lang="en-US" altLang="zh-CN" sz="2000" i="1">
                            <a:latin typeface="Cambria Math" panose="02040503050406030204" pitchFamily="18" charset="0"/>
                            <a:ea typeface="微软雅黑" panose="020B0503020204020204" pitchFamily="34" charset="-122"/>
                          </a:rPr>
                          <m:t>∞</m:t>
                        </m:r>
                      </m:sup>
                      <m:e>
                        <m:f>
                          <m:fPr>
                            <m:ctrlPr>
                              <a:rPr lang="en-US" altLang="zh-CN" sz="2000" i="1">
                                <a:latin typeface="Cambria Math" panose="02040503050406030204" pitchFamily="18" charset="0"/>
                                <a:ea typeface="微软雅黑" panose="020B0503020204020204" pitchFamily="34" charset="-122"/>
                              </a:rPr>
                            </m:ctrlPr>
                          </m:fPr>
                          <m:num>
                            <m:r>
                              <a:rPr lang="en-US" altLang="zh-CN" sz="2000" i="1">
                                <a:latin typeface="Cambria Math" panose="02040503050406030204" pitchFamily="18" charset="0"/>
                                <a:ea typeface="微软雅黑" panose="020B0503020204020204" pitchFamily="34" charset="-122"/>
                              </a:rPr>
                              <m:t>1</m:t>
                            </m:r>
                          </m:num>
                          <m:den>
                            <m:rad>
                              <m:radPr>
                                <m:degHide m:val="on"/>
                                <m:ctrlPr>
                                  <a:rPr lang="en-US" altLang="zh-CN" sz="2000" i="1">
                                    <a:latin typeface="Cambria Math" panose="02040503050406030204" pitchFamily="18" charset="0"/>
                                    <a:ea typeface="微软雅黑" panose="020B0503020204020204" pitchFamily="34" charset="-122"/>
                                  </a:rPr>
                                </m:ctrlPr>
                              </m:radPr>
                              <m:deg/>
                              <m:e>
                                <m:r>
                                  <a:rPr lang="en-US" altLang="zh-CN" sz="2000" i="1">
                                    <a:latin typeface="Cambria Math" panose="02040503050406030204" pitchFamily="18" charset="0"/>
                                    <a:ea typeface="微软雅黑" panose="020B0503020204020204" pitchFamily="34" charset="-122"/>
                                  </a:rPr>
                                  <m:t>𝜋𝛽</m:t>
                                </m:r>
                              </m:e>
                            </m:rad>
                          </m:den>
                        </m:f>
                        <m:func>
                          <m:funcPr>
                            <m:ctrlPr>
                              <a:rPr lang="en-US" altLang="zh-CN" sz="2000" i="1">
                                <a:latin typeface="Cambria Math" panose="02040503050406030204" pitchFamily="18" charset="0"/>
                                <a:ea typeface="微软雅黑" panose="020B0503020204020204" pitchFamily="34" charset="-122"/>
                              </a:rPr>
                            </m:ctrlPr>
                          </m:funcPr>
                          <m:fName>
                            <m:r>
                              <m:rPr>
                                <m:sty m:val="p"/>
                              </m:rPr>
                              <a:rPr lang="en-US" altLang="zh-CN" sz="2000">
                                <a:latin typeface="Cambria Math" panose="02040503050406030204" pitchFamily="18" charset="0"/>
                                <a:ea typeface="微软雅黑" panose="020B0503020204020204" pitchFamily="34" charset="-122"/>
                              </a:rPr>
                              <m:t>exp</m:t>
                            </m:r>
                          </m:fName>
                          <m:e>
                            <m:d>
                              <m:dPr>
                                <m:ctrlPr>
                                  <a:rPr lang="en-US" altLang="zh-CN" sz="2000" i="1">
                                    <a:latin typeface="Cambria Math" panose="02040503050406030204" pitchFamily="18" charset="0"/>
                                    <a:ea typeface="微软雅黑" panose="020B0503020204020204" pitchFamily="34" charset="-122"/>
                                  </a:rPr>
                                </m:ctrlPr>
                              </m:dPr>
                              <m:e>
                                <m:r>
                                  <a:rPr lang="en-US" altLang="zh-CN" sz="2000" i="1">
                                    <a:latin typeface="Cambria Math" panose="02040503050406030204" pitchFamily="18" charset="0"/>
                                    <a:ea typeface="微软雅黑" panose="020B0503020204020204" pitchFamily="34" charset="-122"/>
                                  </a:rPr>
                                  <m:t>−</m:t>
                                </m:r>
                                <m:f>
                                  <m:fPr>
                                    <m:ctrlPr>
                                      <a:rPr lang="en-US" altLang="zh-CN" sz="2000" i="1">
                                        <a:latin typeface="Cambria Math" panose="02040503050406030204" pitchFamily="18" charset="0"/>
                                        <a:ea typeface="微软雅黑" panose="020B0503020204020204" pitchFamily="34" charset="-122"/>
                                      </a:rPr>
                                    </m:ctrlPr>
                                  </m:fPr>
                                  <m:num>
                                    <m:sSup>
                                      <m:sSupPr>
                                        <m:ctrlPr>
                                          <a:rPr lang="en-US" altLang="zh-CN" sz="2000" i="1">
                                            <a:latin typeface="Cambria Math" panose="02040503050406030204" pitchFamily="18" charset="0"/>
                                            <a:ea typeface="微软雅黑" panose="020B0503020204020204" pitchFamily="34" charset="-122"/>
                                          </a:rPr>
                                        </m:ctrlPr>
                                      </m:sSupPr>
                                      <m:e>
                                        <m:r>
                                          <a:rPr lang="en-US" altLang="zh-CN" sz="2000" i="1">
                                            <a:latin typeface="Cambria Math" panose="02040503050406030204" pitchFamily="18" charset="0"/>
                                            <a:ea typeface="微软雅黑" panose="020B0503020204020204" pitchFamily="34" charset="-122"/>
                                          </a:rPr>
                                          <m:t> </m:t>
                                        </m:r>
                                        <m:r>
                                          <a:rPr lang="en-US" altLang="zh-CN" sz="2000" i="1">
                                            <a:latin typeface="Cambria Math" panose="02040503050406030204" pitchFamily="18" charset="0"/>
                                            <a:ea typeface="微软雅黑" panose="020B0503020204020204" pitchFamily="34" charset="-122"/>
                                          </a:rPr>
                                          <m:t>𝑥</m:t>
                                        </m:r>
                                      </m:e>
                                      <m:sup>
                                        <m:r>
                                          <a:rPr lang="en-US" altLang="zh-CN" sz="2000" i="1">
                                            <a:latin typeface="Cambria Math" panose="02040503050406030204" pitchFamily="18" charset="0"/>
                                            <a:ea typeface="微软雅黑" panose="020B0503020204020204" pitchFamily="34" charset="-122"/>
                                          </a:rPr>
                                          <m:t>2</m:t>
                                        </m:r>
                                      </m:sup>
                                    </m:sSup>
                                  </m:num>
                                  <m:den>
                                    <m:r>
                                      <a:rPr lang="en-US" altLang="zh-CN" sz="2000" i="1">
                                        <a:latin typeface="Cambria Math" panose="02040503050406030204" pitchFamily="18" charset="0"/>
                                        <a:ea typeface="微软雅黑" panose="020B0503020204020204" pitchFamily="34" charset="-122"/>
                                      </a:rPr>
                                      <m:t>𝛽</m:t>
                                    </m:r>
                                  </m:den>
                                </m:f>
                              </m:e>
                            </m:d>
                          </m:e>
                        </m:func>
                        <m:r>
                          <m:rPr>
                            <m:sty m:val="p"/>
                          </m:rPr>
                          <a:rPr lang="en-US" altLang="zh-CN" sz="2000">
                            <a:latin typeface="Cambria Math" panose="02040503050406030204" pitchFamily="18" charset="0"/>
                            <a:ea typeface="微软雅黑" panose="020B0503020204020204" pitchFamily="34" charset="-122"/>
                          </a:rPr>
                          <m:t>d</m:t>
                        </m:r>
                        <m:r>
                          <a:rPr lang="en-US" altLang="zh-CN" sz="2000" i="1">
                            <a:latin typeface="Cambria Math" panose="02040503050406030204" pitchFamily="18" charset="0"/>
                            <a:ea typeface="微软雅黑" panose="020B0503020204020204" pitchFamily="34" charset="-122"/>
                          </a:rPr>
                          <m:t>𝑥</m:t>
                        </m:r>
                      </m:e>
                    </m:nary>
                    <m:r>
                      <a:rPr lang="en-US" altLang="zh-CN" sz="2000" i="1">
                        <a:latin typeface="Cambria Math" panose="02040503050406030204" pitchFamily="18" charset="0"/>
                        <a:ea typeface="微软雅黑" panose="020B0503020204020204" pitchFamily="34" charset="-122"/>
                      </a:rPr>
                      <m:t>=1</m:t>
                    </m:r>
                  </m:oMath>
                </a14:m>
                <a:endParaRPr lang="en-US" altLang="zh-CN" sz="2000" dirty="0">
                  <a:latin typeface="微软雅黑" panose="020B0503020204020204" pitchFamily="34" charset="-122"/>
                  <a:ea typeface="微软雅黑" panose="020B0503020204020204" pitchFamily="34"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499110" y="1054934"/>
                <a:ext cx="6616065" cy="3447290"/>
              </a:xfrm>
              <a:prstGeom prst="rect">
                <a:avLst/>
              </a:prstGeom>
              <a:blipFill rotWithShape="0">
                <a:blip r:embed="rId5"/>
                <a:stretch>
                  <a:fillRect l="-1014"/>
                </a:stretch>
              </a:blipFill>
            </p:spPr>
            <p:txBody>
              <a:bodyPr/>
              <a:lstStyle/>
              <a:p>
                <a:r>
                  <a:rPr lang="zh-CN" altLang="en-US">
                    <a:noFill/>
                  </a:rPr>
                  <a:t> </a:t>
                </a:r>
              </a:p>
            </p:txBody>
          </p:sp>
        </mc:Fallback>
      </mc:AlternateContent>
      <p:pic>
        <p:nvPicPr>
          <p:cNvPr id="4" name="图片 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45422" y="2262701"/>
            <a:ext cx="6153518" cy="3600000"/>
          </a:xfrm>
          <a:prstGeom prst="rect">
            <a:avLst/>
          </a:prstGeom>
        </p:spPr>
      </p:pic>
    </p:spTree>
    <p:extLst>
      <p:ext uri="{BB962C8B-B14F-4D97-AF65-F5344CB8AC3E}">
        <p14:creationId xmlns:p14="http://schemas.microsoft.com/office/powerpoint/2010/main" val="655183941"/>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9282</TotalTime>
  <Words>651</Words>
  <Application>Microsoft Office PowerPoint</Application>
  <PresentationFormat>宽屏</PresentationFormat>
  <Paragraphs>207</Paragraphs>
  <Slides>22</Slides>
  <Notes>22</Notes>
  <HiddenSlides>3</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22</vt:i4>
      </vt:variant>
    </vt:vector>
  </HeadingPairs>
  <TitlesOfParts>
    <vt:vector size="31" baseType="lpstr">
      <vt:lpstr>Arial Unicode MS</vt:lpstr>
      <vt:lpstr>等线</vt:lpstr>
      <vt:lpstr>宋体</vt:lpstr>
      <vt:lpstr>微软雅黑</vt:lpstr>
      <vt:lpstr>Arial</vt:lpstr>
      <vt:lpstr>Calibri</vt:lpstr>
      <vt:lpstr>Calibri Light</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445</cp:revision>
  <dcterms:created xsi:type="dcterms:W3CDTF">2026-04-13T12:58:51Z</dcterms:created>
  <dcterms:modified xsi:type="dcterms:W3CDTF">2026-06-28T16:04:34Z</dcterms:modified>
</cp:coreProperties>
</file>