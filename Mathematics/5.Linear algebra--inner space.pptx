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9" r:id="rId10"/>
    <p:sldId id="267" r:id="rId11"/>
    <p:sldId id="268" r:id="rId12"/>
    <p:sldId id="270" r:id="rId13"/>
    <p:sldId id="278" r:id="rId14"/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7B2A35-880B-4AE7-AE32-18E6A21C8290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66D68D-A7C1-4290-AD6C-9C7A1602F2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06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701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132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057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528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463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558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719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367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253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676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447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153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08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084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529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488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709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0982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C1F624-D565-4B52-954C-70A2A0C22C3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0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947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20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92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97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5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82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62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33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98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15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421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43D60-2F16-4611-8E5E-B0ADB8630989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66A11-FABE-4A2F-8F1E-A621844B23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86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6035010B-2434-47C2-8100-5A5F5450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87034" y="484388"/>
            <a:ext cx="1617921" cy="1617921"/>
          </a:xfrm>
          <a:prstGeom prst="rect">
            <a:avLst/>
          </a:prstGeom>
        </p:spPr>
      </p:pic>
      <p:sp>
        <p:nvSpPr>
          <p:cNvPr id="3" name="矩形 12"/>
          <p:cNvSpPr/>
          <p:nvPr/>
        </p:nvSpPr>
        <p:spPr>
          <a:xfrm>
            <a:off x="2889789" y="4196487"/>
            <a:ext cx="6412417" cy="8170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 eaLnBrk="1" hangingPunct="1"/>
            <a:endParaRPr lang="zh-CN" altLang="en-US" sz="2400" dirty="0">
              <a:solidFill>
                <a:srgbClr val="0070C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6657" y="2377744"/>
            <a:ext cx="995867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4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Introduction to Quantum Chemistry</a:t>
            </a:r>
          </a:p>
          <a:p>
            <a:pPr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——Linear Algebra 4</a:t>
            </a:r>
            <a:endParaRPr lang="zh-CN" altLang="en-US" sz="4000" b="1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54370" y="4553630"/>
            <a:ext cx="4883252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张冀鹏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北京师范大学化学学院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2026. 7. 13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343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55"/>
    </mc:Choice>
    <mc:Fallback xmlns="">
      <p:transition spd="slow" advTm="885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Review: 3D-vectors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8147" y="1025236"/>
            <a:ext cx="8672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原先讨论三维向量时，没有讨论向量的度量性质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886502" y="1577488"/>
                <a:ext cx="10568307" cy="537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设向量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的长度分别是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 |</m:t>
                    </m:r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，夹角为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𝜃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，那么向量的内积定义为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特别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分别用一组不共面的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单位基向量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如果选一组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正交单位基向量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，内积形式得到大大化简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502" y="1577488"/>
                <a:ext cx="10568307" cy="5378973"/>
              </a:xfrm>
              <a:prstGeom prst="rect">
                <a:avLst/>
              </a:prstGeom>
              <a:blipFill rotWithShape="0">
                <a:blip r:embed="rId5"/>
                <a:stretch>
                  <a:fillRect l="-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/>
          <p:cNvGrpSpPr>
            <a:grpSpLocks noChangeAspect="1"/>
          </p:cNvGrpSpPr>
          <p:nvPr/>
        </p:nvGrpSpPr>
        <p:grpSpPr>
          <a:xfrm>
            <a:off x="418147" y="2138144"/>
            <a:ext cx="1280533" cy="1800000"/>
            <a:chOff x="1314075" y="1866036"/>
            <a:chExt cx="849980" cy="1194787"/>
          </a:xfrm>
        </p:grpSpPr>
        <p:grpSp>
          <p:nvGrpSpPr>
            <p:cNvPr id="8" name="组合 7"/>
            <p:cNvGrpSpPr/>
            <p:nvPr/>
          </p:nvGrpSpPr>
          <p:grpSpPr>
            <a:xfrm>
              <a:off x="1314075" y="1866036"/>
              <a:ext cx="849980" cy="1194787"/>
              <a:chOff x="6386089" y="1127103"/>
              <a:chExt cx="849980" cy="1194787"/>
            </a:xfrm>
          </p:grpSpPr>
          <p:cxnSp>
            <p:nvCxnSpPr>
              <p:cNvPr id="9" name="直接箭头连接符 8"/>
              <p:cNvCxnSpPr/>
              <p:nvPr/>
            </p:nvCxnSpPr>
            <p:spPr>
              <a:xfrm flipV="1">
                <a:off x="6437885" y="1127103"/>
                <a:ext cx="578377" cy="754631"/>
              </a:xfrm>
              <a:prstGeom prst="straightConnector1">
                <a:avLst/>
              </a:prstGeom>
              <a:ln w="571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/>
              <p:cNvCxnSpPr/>
              <p:nvPr/>
            </p:nvCxnSpPr>
            <p:spPr>
              <a:xfrm flipV="1">
                <a:off x="6437885" y="1881734"/>
                <a:ext cx="798184" cy="10795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/>
              <p:cNvSpPr txBox="1"/>
              <p:nvPr/>
            </p:nvSpPr>
            <p:spPr>
              <a:xfrm>
                <a:off x="6386089" y="1197927"/>
                <a:ext cx="447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/>
                  <a:t>a</a:t>
                </a:r>
                <a:endParaRPr lang="zh-CN" altLang="en-US" b="1" baseline="-25000" dirty="0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6609622" y="1952558"/>
                <a:ext cx="447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/>
                  <a:t>b</a:t>
                </a:r>
                <a:endParaRPr lang="zh-CN" altLang="en-US" b="1" baseline="-25000" dirty="0"/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 flipH="1">
              <a:off x="1893455" y="1911927"/>
              <a:ext cx="0" cy="720437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315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Review: 3D-vectors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840922" y="1008165"/>
                <a:ext cx="9791014" cy="49527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现在我们已经掌握了线性代数的语言，可以重写内积为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b="0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b="0" i="1" dirty="0" smtClean="0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𝐀𝐛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单位正交基下矩阵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的对角元直接为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𝐛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内积的形式主要与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的选取，或者说基的选取密切相关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下面将概念推广到一般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维线性空间上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922" y="1008165"/>
                <a:ext cx="9791014" cy="4952702"/>
              </a:xfrm>
              <a:prstGeom prst="rect">
                <a:avLst/>
              </a:prstGeom>
              <a:blipFill rotWithShape="0">
                <a:blip r:embed="rId5"/>
                <a:stretch>
                  <a:fillRect l="-685" b="-9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346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Inner product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751249" y="832373"/>
                <a:ext cx="10048751" cy="57742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ea typeface="微软雅黑" panose="020B0503020204020204" pitchFamily="34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维线性空间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𝐕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上取一组基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b="0" i="1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b="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</a:t>
                </a:r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𝐀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</a:rPr>
                        <m:t>𝐀𝐛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内积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度量矩阵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下面根据讨论的具体情况（实数域和复数域）来讨论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的选取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49" y="832373"/>
                <a:ext cx="10048751" cy="5774209"/>
              </a:xfrm>
              <a:prstGeom prst="rect">
                <a:avLst/>
              </a:prstGeom>
              <a:blipFill rotWithShape="0">
                <a:blip r:embed="rId5"/>
                <a:stretch>
                  <a:fillRect l="-485" b="-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165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Real inner 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99110" y="1340412"/>
                <a:ext cx="10048751" cy="50766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400" b="1">
                          <a:latin typeface="Cambria Math" panose="02040503050406030204" pitchFamily="18" charset="0"/>
                        </a:rPr>
                        <m:t>𝐀𝐛</m:t>
                      </m:r>
                    </m:oMath>
                  </m:oMathPara>
                </a14:m>
                <a:endParaRPr lang="en-US" altLang="zh-CN" sz="2000" b="1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b="1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𝒆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的坐标均取实数，在三维空间里有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b="1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体现在度量矩阵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上表现为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均取实数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是对称矩阵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𝐕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sup>
                    </m:sSup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𝒂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≥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具有满足上述条件度量矩阵的内积，可以作为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实数域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上的一个内积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340412"/>
                <a:ext cx="10048751" cy="5076646"/>
              </a:xfrm>
              <a:prstGeom prst="rect">
                <a:avLst/>
              </a:prstGeom>
              <a:blipFill rotWithShape="0">
                <a:blip r:embed="rId5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7013721" y="1340412"/>
                <a:ext cx="3341812" cy="12420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721" y="1340412"/>
                <a:ext cx="3341812" cy="124200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31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Real inner 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99110" y="1340412"/>
                <a:ext cx="10048751" cy="444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𝐀𝐛</m:t>
                      </m:r>
                    </m:oMath>
                  </m:oMathPara>
                </a14:m>
                <a:endParaRPr lang="en-US" altLang="zh-CN" sz="2000" b="1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选取一组特殊的基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eqArr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1, 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=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e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0, 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𝑖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≠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𝑗</m:t>
                            </m:r>
                          </m:e>
                        </m:eqAr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（克罗内克记号）</a:t>
                </a:r>
                <a:endParaRPr lang="en-US" altLang="zh-CN" sz="2000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b="1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此时度量矩阵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𝐈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内积简化为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𝐈</m:t>
                    </m:r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CN" sz="20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是一组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正交归一基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340412"/>
                <a:ext cx="10048751" cy="4441665"/>
              </a:xfrm>
              <a:prstGeom prst="rect">
                <a:avLst/>
              </a:prstGeom>
              <a:blipFill rotWithShape="0">
                <a:blip r:embed="rId5"/>
                <a:stretch>
                  <a:fillRect l="-667" b="-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69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Orthogonal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37184" y="1025236"/>
                <a:ext cx="11407561" cy="57151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在实数域下通常都选择一组正交归一向量作为基：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其中坐标根据向量的正交归一性有特殊的计算方法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两侧同时点乘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…+0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+0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+…+0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获得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</m:oMath>
                  </m:oMathPara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利用正交关系还可以证明任意两两正交的向量间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一定线性无关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证明：取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…, 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+…+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两侧同时点乘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+…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+1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⋯+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  <m:r>
                      <a:rPr lang="en-US" altLang="zh-CN" sz="16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=0, 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𝑖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=1,2,…,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</m:oMath>
                </a14:m>
                <a:endPara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因此在实数域下，选一组正交归一向量可以充当线性空间的一组基，还可以大大简化内积的形式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4" y="1025236"/>
                <a:ext cx="11407561" cy="5715154"/>
              </a:xfrm>
              <a:prstGeom prst="rect">
                <a:avLst/>
              </a:prstGeom>
              <a:blipFill rotWithShape="0">
                <a:blip r:embed="rId5"/>
                <a:stretch>
                  <a:fillRect l="-427" t="-5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86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Orthogonal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9110" y="873094"/>
                <a:ext cx="11407561" cy="58031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选取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一组正交归一基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，和两个向量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根据前面讨论可定义内积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sup>
                    </m:sSup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𝒃</m:t>
                    </m:r>
                  </m:oMath>
                </a14:m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现在讨论一种特殊的线性变换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，满足保内积不变的性质：</a:t>
                </a:r>
                <a:endParaRPr lang="en-US" altLang="zh-CN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</m:oMath>
                  </m:oMathPara>
                </a14:m>
                <a:endParaRPr lang="en-US" altLang="zh-CN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即保内积变换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+⋯+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</m:t>
                      </m:r>
                    </m:oMath>
                  </m:oMathPara>
                </a14:m>
                <a:endParaRPr lang="en-US" altLang="zh-CN" sz="20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对比可得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𝐈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称变换矩阵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正交矩阵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873094"/>
                <a:ext cx="11407561" cy="5803127"/>
              </a:xfrm>
              <a:prstGeom prst="rect">
                <a:avLst/>
              </a:prstGeom>
              <a:blipFill rotWithShape="0">
                <a:blip r:embed="rId5"/>
                <a:stretch>
                  <a:fillRect l="-588" b="-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77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Orthogonal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9110" y="1408803"/>
                <a:ext cx="10567323" cy="4009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正交归一基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，取任意两个基做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正交变换：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𝑗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altLang="zh-CN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sub>
                        <m:sup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bSup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𝝀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𝒋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altLang="zh-CN" sz="2000" i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𝝀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</m:oMath>
                  </m:oMathPara>
                </a14:m>
                <a:endParaRPr lang="en-US" altLang="zh-CN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说明正交矩阵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中任意两列之间作为向量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相互正交</a:t>
                </a:r>
                <a:endParaRPr lang="en-US" altLang="zh-CN" sz="20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408803"/>
                <a:ext cx="10567323" cy="4009624"/>
              </a:xfrm>
              <a:prstGeom prst="rect">
                <a:avLst/>
              </a:prstGeom>
              <a:blipFill rotWithShape="0">
                <a:blip r:embed="rId5"/>
                <a:stretch>
                  <a:fillRect l="-635" b="-4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85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Symmetry 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499110" y="1304746"/>
                <a:ext cx="10567323" cy="3802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下再研究一类特殊线性变换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，满足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对称变换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在对称变换下，选一组正交归一基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</m:t>
                      </m:r>
                      <m:sSup>
                        <m:sSupPr>
                          <m:ctrlPr>
                            <a:rPr lang="en-US" altLang="zh-CN" sz="2000" b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𝒂</m:t>
                      </m:r>
                      <m:r>
                        <a:rPr lang="en-US" altLang="zh-CN" sz="2000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对比后得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T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对称矩阵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下面研究对称矩阵的本征值问题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304746"/>
                <a:ext cx="10567323" cy="3802195"/>
              </a:xfrm>
              <a:prstGeom prst="rect">
                <a:avLst/>
              </a:prstGeom>
              <a:blipFill rotWithShape="0">
                <a:blip r:embed="rId5"/>
                <a:stretch>
                  <a:fillRect l="-635" b="-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70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Eigenvalue problem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701040" y="1209527"/>
            <a:ext cx="9569796" cy="157018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840509" y="1304746"/>
                <a:ext cx="9301018" cy="4613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对于对称变换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，其本征值问题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所有复本征值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实数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证明：对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</m:d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取复共轭有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根据对称变换性质有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对比结果后有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1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lang="en-US" altLang="zh-CN" b="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09" y="1304746"/>
                <a:ext cx="9301018" cy="4613892"/>
              </a:xfrm>
              <a:prstGeom prst="rect">
                <a:avLst/>
              </a:prstGeom>
              <a:blipFill rotWithShape="0">
                <a:blip r:embed="rId5"/>
                <a:stretch>
                  <a:fillRect l="-721" b="-1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867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Diagonalization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90427" y="1304746"/>
                <a:ext cx="9301018" cy="57368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对所有本征向量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，选取一组正交归一基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𝝃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𝐀𝐏</m:t>
                    </m:r>
                  </m:oMath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按照一般思路，有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𝐀𝐏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𝐀𝐏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对两头同时取转置有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  <m:sSup>
                        <m:sSupPr>
                          <m:ctrlPr>
                            <a:rPr lang="en-US" altLang="zh-CN" b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𝚲</m:t>
                          </m:r>
                        </m:e>
                        <m:sup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𝐓</m:t>
                          </m:r>
                        </m:sup>
                      </m:s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sSup>
                        <m:sSupPr>
                          <m:ctrlP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𝐏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T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从而有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正交矩阵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在对实对称矩阵对角化时，可以求解一组完全正交的本征向量，此时转移矩阵是正交矩阵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27" y="1304746"/>
                <a:ext cx="9301018" cy="5736892"/>
              </a:xfrm>
              <a:prstGeom prst="rect">
                <a:avLst/>
              </a:prstGeom>
              <a:blipFill rotWithShape="0">
                <a:blip r:embed="rId5"/>
                <a:stretch>
                  <a:fillRect l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540385" y="801703"/>
            <a:ext cx="2492990" cy="4991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Cambria Math" panose="02040503050406030204" pitchFamily="18" charset="0"/>
                <a:ea typeface="微软雅黑" panose="020B0503020204020204" pitchFamily="34" charset="-122"/>
              </a:rPr>
              <a:t>实对称矩阵的对角化</a:t>
            </a:r>
            <a:endParaRPr lang="en-US" altLang="zh-CN" sz="2000" b="1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1785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Diagonalization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540385" y="1752865"/>
                <a:ext cx="9301018" cy="43396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定理：对称变换属于不同本征值的本征向量间相互正交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证明：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 smtClean="0"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𝜼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𝜼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𝜼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𝜼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𝜼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𝜼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𝜼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对比得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−</m:t>
                        </m:r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𝜼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≠0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那么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𝝃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𝜼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0</m:t>
                    </m:r>
                  </m:oMath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的话对不同本征值间的本征向量，只需要做归一化即可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属于同一本征值的本征向量，需要手动进行正交化（</a:t>
                </a: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Schmidt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方法）和归一化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5" y="1752865"/>
                <a:ext cx="9301018" cy="4339650"/>
              </a:xfrm>
              <a:prstGeom prst="rect">
                <a:avLst/>
              </a:prstGeom>
              <a:blipFill rotWithShape="0">
                <a:blip r:embed="rId5"/>
                <a:stretch>
                  <a:fillRect l="-1049" b="-4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540385" y="801703"/>
            <a:ext cx="300595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Cambria Math" panose="02040503050406030204" pitchFamily="18" charset="0"/>
                <a:ea typeface="微软雅黑" panose="020B0503020204020204" pitchFamily="34" charset="-122"/>
              </a:rPr>
              <a:t>正交归一本征向量的选取</a:t>
            </a:r>
            <a:endParaRPr lang="en-US" altLang="zh-CN" sz="2000" b="1" dirty="0">
              <a:latin typeface="Cambria Math" panose="020405030504060302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856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Complex inner 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499110" y="1307165"/>
                <a:ext cx="10048751" cy="46986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𝐀𝐛</m:t>
                      </m:r>
                    </m:oMath>
                  </m:oMathPara>
                </a14:m>
                <a:endParaRPr lang="en-US" altLang="zh-CN" sz="2000" b="1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复数域下，对于任意复数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𝑏𝑖</m:t>
                    </m:r>
                    <m:r>
                      <a:rPr lang="en-US" altLang="zh-CN" sz="2000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，想保证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结果一定非负，只有</a:t>
                </a: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取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0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altLang="zh-CN" sz="2000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因此取正交归一基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时，条件变为满足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𝛿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𝑖𝑗</m:t>
                        </m:r>
                      </m:sub>
                    </m:sSub>
                  </m:oMath>
                </a14:m>
                <a:endParaRPr lang="en-US" altLang="zh-CN" sz="2000" b="0" i="1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000" b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这一要求是为了满足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𝒊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1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2000" b="0" dirty="0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，即模长还是非负的</a:t>
                </a:r>
                <a:endParaRPr lang="en-US" altLang="zh-CN" sz="2000" b="0" dirty="0" smtClean="0">
                  <a:solidFill>
                    <a:schemeClr val="tx1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b="0" i="1" dirty="0" smtClean="0"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+…+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𝜺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内积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定义也变为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ϯ</m:t>
                        </m:r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ϯ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endParaRPr lang="en-US" altLang="zh-CN" sz="20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ϯ</m:t>
                        </m:r>
                      </m:sup>
                    </m:sSup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表示对各分量先取复共轭后再做转置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按此定义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𝜷</m:t>
                            </m:r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</m:d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b="0" i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ϯ</m:t>
                                </m:r>
                              </m:sup>
                            </m:s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  <m:sup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+⋯+</m:t>
                    </m:r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Sup>
                      <m:sSub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ϯ</m:t>
                        </m:r>
                      </m:sup>
                    </m:sSup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endParaRPr lang="en-US" altLang="zh-CN" sz="20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" y="1307165"/>
                <a:ext cx="10048751" cy="4698659"/>
              </a:xfrm>
              <a:prstGeom prst="rect">
                <a:avLst/>
              </a:prstGeom>
              <a:blipFill rotWithShape="0">
                <a:blip r:embed="rId5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7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Complex inner space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540385" y="2267747"/>
                <a:ext cx="10048751" cy="24802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altLang="zh-CN" sz="2000" b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altLang="zh-CN" sz="2000" b="1" i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复数域下内积还满足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𝜷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d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zh-CN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𝜶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𝑘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⋅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和实数域下内积相比，复数域内积对左向量满足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共轭线性性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85" y="2267747"/>
                <a:ext cx="10048751" cy="2480231"/>
              </a:xfrm>
              <a:prstGeom prst="rect">
                <a:avLst/>
              </a:prstGeom>
              <a:blipFill rotWithShape="0">
                <a:blip r:embed="rId5"/>
                <a:stretch>
                  <a:fillRect l="-667" b="-1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8480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Unitary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337185" y="2034480"/>
                <a:ext cx="10330815" cy="36671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选取一组正交归一基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，和两个向量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𝜶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𝜷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对于保内积不变的线性变换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d>
                        <m:d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1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1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ϯ</m:t>
                          </m:r>
                          <m:r>
                            <m:rPr>
                              <m:nor/>
                            </m:rPr>
                            <a:rPr lang="zh-CN" altLang="en-US" sz="2000" b="1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m:t> </m:t>
                          </m:r>
                        </m:sup>
                      </m:sSup>
                      <m:r>
                        <a:rPr lang="en-US" altLang="zh-CN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en-US" altLang="zh-CN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 b="1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这样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的话有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 b="1">
                            <a:latin typeface="Cambria Math" panose="02040503050406030204" pitchFamily="18" charset="0"/>
                          </a:rPr>
                          <m:t>ϯ</m:t>
                        </m:r>
                        <m:r>
                          <m:rPr>
                            <m:nor/>
                          </m:rPr>
                          <a:rPr lang="zh-CN" altLang="en-US" sz="2000" b="1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rPr>
                          <m:t> </m:t>
                        </m:r>
                      </m:sup>
                    </m:sSup>
                    <m:r>
                      <a:rPr lang="en-US" altLang="zh-CN" sz="2000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𝟏</m:t>
                    </m:r>
                  </m:oMath>
                </a14:m>
              </a:p>
              <a:p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幺正变换</a:t>
                </a: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幺正矩阵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类似于正交矩阵，可以证幺正矩阵里任意两列作为列向量相互正交</a:t>
                </a: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2034480"/>
                <a:ext cx="10330815" cy="3667158"/>
              </a:xfrm>
              <a:prstGeom prst="rect">
                <a:avLst/>
              </a:prstGeom>
              <a:blipFill rotWithShape="0">
                <a:blip r:embed="rId5"/>
                <a:stretch>
                  <a:fillRect l="-590" t="-998" b="-2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699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err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Hermite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418147" y="1203207"/>
                <a:ext cx="10330815" cy="57050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类似于对称变换，如果在复内积空间中定义变换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满足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sz="2000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厄米变换</a:t>
                </a:r>
                <a:endParaRPr lang="en-US" altLang="zh-CN" sz="20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选正交归一基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后有</a:t>
                </a:r>
                <a:endParaRPr lang="en-US" altLang="zh-CN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𝜶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𝐀</m:t>
                              </m:r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𝒂</m:t>
                              </m:r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en-US" altLang="zh-CN" sz="2000" b="1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𝜷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𝒂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sz="2000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𝒃</m:t>
                      </m:r>
                    </m:oMath>
                  </m:oMathPara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对比后有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b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 panose="02040503050406030204" pitchFamily="18" charset="0"/>
                          </a:rPr>
                          <m:t>ϯ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𝐀</m:t>
                    </m:r>
                  </m:oMath>
                </a14:m>
                <a:endParaRPr lang="en-US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称为厄米矩阵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同理所有厄米变换的本征值是实数：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∗</m:t>
                          </m:r>
                        </m:sup>
                      </m:sSup>
                      <m:sSup>
                        <m:sSup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𝑓</m:t>
                      </m:r>
                      <m:d>
                        <m:d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𝝃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𝜆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𝝃</m:t>
                          </m:r>
                        </m:e>
                      </m:d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𝜆</m:t>
                      </m:r>
                      <m:sSup>
                        <m:sSup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𝝃</m:t>
                              </m:r>
                            </m:e>
                          </m:d>
                        </m:e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𝜆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𝜆</m:t>
                    </m:r>
                  </m:oMath>
                </a14:m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是实数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47" y="1203207"/>
                <a:ext cx="10330815" cy="5705088"/>
              </a:xfrm>
              <a:prstGeom prst="rect">
                <a:avLst/>
              </a:prstGeom>
              <a:blipFill rotWithShape="0">
                <a:blip r:embed="rId5"/>
                <a:stretch>
                  <a:fillRect l="-649" b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4695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5" y="288319"/>
            <a:ext cx="7524484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err="1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Hermite</a:t>
            </a:r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transformation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7185" y="1120080"/>
            <a:ext cx="854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在量子力学里，对厄米矩阵对角化，或求解厄米算符的本征值问题是极为常见的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337185" y="1646316"/>
                <a:ext cx="11042015" cy="4776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对所有本征向量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𝝃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，选取一组正交归一基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𝜺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𝐀𝐏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𝐏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𝐀𝐏</m:t>
                      </m:r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对两头同时取复共轭和转置有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sSup>
                        <m:sSupPr>
                          <m:ctrlPr>
                            <a:rPr lang="en-US" altLang="zh-CN" b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𝐀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𝚲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sSup>
                        <m:sSupPr>
                          <m:ctrlP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</m:oMath>
                  </m:oMathPara>
                </a14:m>
                <a:endPara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𝚲</m:t>
                      </m:r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  <m:r>
                        <a:rPr lang="en-US" altLang="zh-CN" b="1" i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𝐀</m:t>
                      </m:r>
                      <m:sSup>
                        <m:sSupPr>
                          <m:ctrlPr>
                            <a:rPr lang="en-US" altLang="zh-CN" b="1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0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𝐏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ϯ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从而有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a:rPr lang="en-US" altLang="zh-CN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𝐏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ϯ</m:t>
                          </m:r>
                        </m:sup>
                      </m:sSup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</a:t>
                </a:r>
                <a:r>
                  <a:rPr lang="zh-CN" altLang="en-US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幺正</a:t>
                </a:r>
                <a:r>
                  <a:rPr lang="zh-CN" altLang="en-US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矩阵</a:t>
                </a:r>
                <a:endParaRPr lang="en-US" altLang="zh-CN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同理，对厄米矩阵对角化，也可得到一组相互正交的本征向量，此时转移矩阵是幺正矩阵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同理，属于不同本征值的本征向量相互正交（可仿照实数域的情况自行证明），属于同一本征值的本征向量可以通过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Schmidt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方法手动正交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185" y="1646316"/>
                <a:ext cx="11042015" cy="4776244"/>
              </a:xfrm>
              <a:prstGeom prst="rect">
                <a:avLst/>
              </a:prstGeom>
              <a:blipFill rotWithShape="0">
                <a:blip r:embed="rId5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80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46136000-10E3-494A-9031-2038514A22C5}"/>
              </a:ext>
            </a:extLst>
          </p:cNvPr>
          <p:cNvSpPr/>
          <p:nvPr/>
        </p:nvSpPr>
        <p:spPr>
          <a:xfrm>
            <a:off x="742314" y="288319"/>
            <a:ext cx="7874147" cy="584775"/>
          </a:xfrm>
          <a:prstGeom prst="rect">
            <a:avLst/>
          </a:prstGeom>
          <a:noFill/>
          <a:effectLst/>
        </p:spPr>
        <p:txBody>
          <a:bodyPr vert="horz" wrap="square">
            <a:spAutoFit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Reference and exercise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1" name="矩形 1">
            <a:extLst>
              <a:ext uri="{FF2B5EF4-FFF2-40B4-BE49-F238E27FC236}">
                <a16:creationId xmlns="" xmlns:a16="http://schemas.microsoft.com/office/drawing/2014/main" id="{2C3ABD72-5F78-472A-80BC-7B5B2FEDEB9B}"/>
              </a:ext>
            </a:extLst>
          </p:cNvPr>
          <p:cNvSpPr/>
          <p:nvPr/>
        </p:nvSpPr>
        <p:spPr>
          <a:xfrm>
            <a:off x="337185" y="-10795"/>
            <a:ext cx="161925" cy="789305"/>
          </a:xfrm>
          <a:prstGeom prst="rect">
            <a:avLst/>
          </a:prstGeom>
          <a:solidFill>
            <a:srgbClr val="D8D8D8"/>
          </a:solidFill>
          <a:ln w="9525">
            <a:noFill/>
          </a:ln>
        </p:spPr>
        <p:txBody>
          <a:bodyPr anchor="ctr"/>
          <a:lstStyle/>
          <a:p>
            <a:pPr algn="ctr"/>
            <a:endParaRPr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2">
            <a:extLst>
              <a:ext uri="{FF2B5EF4-FFF2-40B4-BE49-F238E27FC236}">
                <a16:creationId xmlns="" xmlns:a16="http://schemas.microsoft.com/office/drawing/2014/main" id="{E851A490-38B4-4170-AE30-FE853CDF0A15}"/>
              </a:ext>
            </a:extLst>
          </p:cNvPr>
          <p:cNvSpPr/>
          <p:nvPr/>
        </p:nvSpPr>
        <p:spPr>
          <a:xfrm>
            <a:off x="540385" y="383540"/>
            <a:ext cx="160655" cy="394335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  <p:txBody>
          <a:bodyPr anchor="ctr"/>
          <a:lstStyle/>
          <a:p>
            <a:pPr algn="ctr"/>
            <a:endParaRPr sz="16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sym typeface="微软雅黑" panose="020B050302020402020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D0EEB9B2-3160-400E-89BA-0D43C6A829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00000" y="360000"/>
            <a:ext cx="944746" cy="94474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8517" y="777875"/>
            <a:ext cx="11376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丘维声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高等代数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第二版，上、下册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北京：清华大学出版社，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2018.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丘维声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高等代数学习指导书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第二版，上、下册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北京：清华大学出版社，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2018</a:t>
            </a:r>
            <a:r>
              <a:rPr lang="en-US" altLang="zh-CN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13826" y="1661764"/>
                <a:ext cx="11885611" cy="51617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练习：</a:t>
                </a:r>
                <a:endParaRPr lang="en-US" altLang="zh-CN" sz="20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对于矩阵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𝐀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 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buAutoNum type="arabicParenBoth"/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做对角化，求出对角阵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𝚲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和相似变换矩阵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457200" indent="-457200">
                  <a:buFontTx/>
                  <a:buAutoNum type="arabicParenBoth"/>
                </a:pP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验证本征向量是否正交，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𝐏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是否是幺正矩阵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证明厄米变换不同本征值的本征向量相互正交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 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在有限维线性空间里，每个向量的分量个数是有限的，反映到标准内积的定义中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𝜶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⋅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𝜷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𝑖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∗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是有限个分量的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指标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求和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如果现在把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定义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在某个固定区间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，看成是具有无限不可数分量的“向量”</a:t>
                </a:r>
                <a:r>
                  <a:rPr lang="en-US" altLang="zh-CN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试定义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𝑎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]</m:t>
                    </m:r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上两个复函数之间的内积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（一种典型的定义方法为：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，可以从积分的定义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𝑎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𝑏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d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limLow>
                      <m:limLow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lim</m:t>
                        </m:r>
                      </m:e>
                      <m:lim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→0</m:t>
                        </m:r>
                      </m:lim>
                    </m:limLow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𝑁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</m:nary>
                  </m:oMath>
                </a14:m>
                <a:r>
                  <a:rPr lang="zh-CN" altLang="en-US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角度出发这样定义内积与有限维向量内积的联系）</a:t>
                </a:r>
                <a:endParaRPr lang="en-US" altLang="zh-CN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26" y="1661764"/>
                <a:ext cx="11885611" cy="5161734"/>
              </a:xfrm>
              <a:prstGeom prst="rect">
                <a:avLst/>
              </a:prstGeom>
              <a:blipFill rotWithShape="0">
                <a:blip r:embed="rId5"/>
                <a:stretch>
                  <a:fillRect l="-564" b="-8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45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375"/>
    </mc:Choice>
    <mc:Fallback xmlns="">
      <p:transition spd="slow" advTm="20375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</TotalTime>
  <Words>313</Words>
  <Application>Microsoft Office PowerPoint</Application>
  <PresentationFormat>宽屏</PresentationFormat>
  <Paragraphs>242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 Unicode MS</vt:lpstr>
      <vt:lpstr>等线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87</cp:revision>
  <dcterms:created xsi:type="dcterms:W3CDTF">2026-06-11T13:37:49Z</dcterms:created>
  <dcterms:modified xsi:type="dcterms:W3CDTF">2026-06-27T10:30:20Z</dcterms:modified>
</cp:coreProperties>
</file>