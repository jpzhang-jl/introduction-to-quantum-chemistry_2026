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98" r:id="rId4"/>
    <p:sldId id="295" r:id="rId5"/>
    <p:sldId id="285" r:id="rId6"/>
    <p:sldId id="296" r:id="rId7"/>
    <p:sldId id="300" r:id="rId8"/>
    <p:sldId id="301" r:id="rId9"/>
    <p:sldId id="302" r:id="rId10"/>
    <p:sldId id="303" r:id="rId11"/>
    <p:sldId id="297" r:id="rId12"/>
    <p:sldId id="304" r:id="rId13"/>
    <p:sldId id="305" r:id="rId14"/>
    <p:sldId id="306" r:id="rId15"/>
    <p:sldId id="307" r:id="rId16"/>
    <p:sldId id="309" r:id="rId17"/>
    <p:sldId id="308" r:id="rId18"/>
    <p:sldId id="31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D0B4-0D93-4925-9AE5-BE338DE0EB77}" type="datetimeFigureOut">
              <a:rPr lang="zh-CN" altLang="en-US" smtClean="0"/>
              <a:t>2026/5/31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1C58D-F6D9-4444-8C6C-9BE396A37525}" type="slidenum">
              <a:rPr lang="zh-CN" altLang="en-US" smtClean="0"/>
              <a:t>‹#›</a:t>
            </a:fld>
            <a:endParaRPr lang="zh-CN" altLang="en-US"/>
          </a:p>
        </p:txBody>
      </p:sp>
    </p:spTree>
    <p:extLst>
      <p:ext uri="{BB962C8B-B14F-4D97-AF65-F5344CB8AC3E}">
        <p14:creationId xmlns:p14="http://schemas.microsoft.com/office/powerpoint/2010/main" val="2989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a:t>
            </a:fld>
            <a:endParaRPr lang="zh-CN" altLang="en-US"/>
          </a:p>
        </p:txBody>
      </p:sp>
    </p:spTree>
    <p:extLst>
      <p:ext uri="{BB962C8B-B14F-4D97-AF65-F5344CB8AC3E}">
        <p14:creationId xmlns:p14="http://schemas.microsoft.com/office/powerpoint/2010/main" val="766719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a:t>
            </a:fld>
            <a:endParaRPr lang="zh-CN" altLang="en-US"/>
          </a:p>
        </p:txBody>
      </p:sp>
    </p:spTree>
    <p:extLst>
      <p:ext uri="{BB962C8B-B14F-4D97-AF65-F5344CB8AC3E}">
        <p14:creationId xmlns:p14="http://schemas.microsoft.com/office/powerpoint/2010/main" val="489319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3</a:t>
            </a:fld>
            <a:endParaRPr lang="zh-CN" altLang="en-US"/>
          </a:p>
        </p:txBody>
      </p:sp>
    </p:spTree>
    <p:extLst>
      <p:ext uri="{BB962C8B-B14F-4D97-AF65-F5344CB8AC3E}">
        <p14:creationId xmlns:p14="http://schemas.microsoft.com/office/powerpoint/2010/main" val="4282752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4</a:t>
            </a:fld>
            <a:endParaRPr lang="zh-CN" altLang="en-US"/>
          </a:p>
        </p:txBody>
      </p:sp>
    </p:spTree>
    <p:extLst>
      <p:ext uri="{BB962C8B-B14F-4D97-AF65-F5344CB8AC3E}">
        <p14:creationId xmlns:p14="http://schemas.microsoft.com/office/powerpoint/2010/main" val="4055173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5</a:t>
            </a:fld>
            <a:endParaRPr lang="zh-CN" altLang="en-US"/>
          </a:p>
        </p:txBody>
      </p:sp>
    </p:spTree>
    <p:extLst>
      <p:ext uri="{BB962C8B-B14F-4D97-AF65-F5344CB8AC3E}">
        <p14:creationId xmlns:p14="http://schemas.microsoft.com/office/powerpoint/2010/main" val="748161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6</a:t>
            </a:fld>
            <a:endParaRPr lang="zh-CN" altLang="en-US"/>
          </a:p>
        </p:txBody>
      </p:sp>
    </p:spTree>
    <p:extLst>
      <p:ext uri="{BB962C8B-B14F-4D97-AF65-F5344CB8AC3E}">
        <p14:creationId xmlns:p14="http://schemas.microsoft.com/office/powerpoint/2010/main" val="767408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7</a:t>
            </a:fld>
            <a:endParaRPr lang="zh-CN" altLang="en-US"/>
          </a:p>
        </p:txBody>
      </p:sp>
    </p:spTree>
    <p:extLst>
      <p:ext uri="{BB962C8B-B14F-4D97-AF65-F5344CB8AC3E}">
        <p14:creationId xmlns:p14="http://schemas.microsoft.com/office/powerpoint/2010/main" val="20181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8</a:t>
            </a:fld>
            <a:endParaRPr lang="zh-CN" altLang="en-US"/>
          </a:p>
        </p:txBody>
      </p:sp>
    </p:spTree>
    <p:extLst>
      <p:ext uri="{BB962C8B-B14F-4D97-AF65-F5344CB8AC3E}">
        <p14:creationId xmlns:p14="http://schemas.microsoft.com/office/powerpoint/2010/main" val="3685698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9</a:t>
            </a:fld>
            <a:endParaRPr lang="zh-CN" altLang="en-US"/>
          </a:p>
        </p:txBody>
      </p:sp>
    </p:spTree>
    <p:extLst>
      <p:ext uri="{BB962C8B-B14F-4D97-AF65-F5344CB8AC3E}">
        <p14:creationId xmlns:p14="http://schemas.microsoft.com/office/powerpoint/2010/main" val="710205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10</a:t>
            </a:fld>
            <a:endParaRPr lang="zh-CN" altLang="en-US"/>
          </a:p>
        </p:txBody>
      </p:sp>
    </p:spTree>
    <p:extLst>
      <p:ext uri="{BB962C8B-B14F-4D97-AF65-F5344CB8AC3E}">
        <p14:creationId xmlns:p14="http://schemas.microsoft.com/office/powerpoint/2010/main" val="422553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11</a:t>
            </a:fld>
            <a:endParaRPr lang="zh-CN" altLang="en-US"/>
          </a:p>
        </p:txBody>
      </p:sp>
    </p:spTree>
    <p:extLst>
      <p:ext uri="{BB962C8B-B14F-4D97-AF65-F5344CB8AC3E}">
        <p14:creationId xmlns:p14="http://schemas.microsoft.com/office/powerpoint/2010/main" val="2376099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12</a:t>
            </a:fld>
            <a:endParaRPr lang="zh-CN" altLang="en-US"/>
          </a:p>
        </p:txBody>
      </p:sp>
    </p:spTree>
    <p:extLst>
      <p:ext uri="{BB962C8B-B14F-4D97-AF65-F5344CB8AC3E}">
        <p14:creationId xmlns:p14="http://schemas.microsoft.com/office/powerpoint/2010/main" val="1623224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13</a:t>
            </a:fld>
            <a:endParaRPr lang="zh-CN" altLang="en-US"/>
          </a:p>
        </p:txBody>
      </p:sp>
    </p:spTree>
    <p:extLst>
      <p:ext uri="{BB962C8B-B14F-4D97-AF65-F5344CB8AC3E}">
        <p14:creationId xmlns:p14="http://schemas.microsoft.com/office/powerpoint/2010/main" val="554633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14</a:t>
            </a:fld>
            <a:endParaRPr lang="zh-CN" altLang="en-US"/>
          </a:p>
        </p:txBody>
      </p:sp>
    </p:spTree>
    <p:extLst>
      <p:ext uri="{BB962C8B-B14F-4D97-AF65-F5344CB8AC3E}">
        <p14:creationId xmlns:p14="http://schemas.microsoft.com/office/powerpoint/2010/main" val="916889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15</a:t>
            </a:fld>
            <a:endParaRPr lang="zh-CN" altLang="en-US"/>
          </a:p>
        </p:txBody>
      </p:sp>
    </p:spTree>
    <p:extLst>
      <p:ext uri="{BB962C8B-B14F-4D97-AF65-F5344CB8AC3E}">
        <p14:creationId xmlns:p14="http://schemas.microsoft.com/office/powerpoint/2010/main" val="1512009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16</a:t>
            </a:fld>
            <a:endParaRPr lang="zh-CN" altLang="en-US"/>
          </a:p>
        </p:txBody>
      </p:sp>
    </p:spTree>
    <p:extLst>
      <p:ext uri="{BB962C8B-B14F-4D97-AF65-F5344CB8AC3E}">
        <p14:creationId xmlns:p14="http://schemas.microsoft.com/office/powerpoint/2010/main" val="891577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17</a:t>
            </a:fld>
            <a:endParaRPr lang="zh-CN" altLang="en-US"/>
          </a:p>
        </p:txBody>
      </p:sp>
    </p:spTree>
    <p:extLst>
      <p:ext uri="{BB962C8B-B14F-4D97-AF65-F5344CB8AC3E}">
        <p14:creationId xmlns:p14="http://schemas.microsoft.com/office/powerpoint/2010/main" val="78299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18</a:t>
            </a:fld>
            <a:endParaRPr lang="zh-CN" altLang="en-US"/>
          </a:p>
        </p:txBody>
      </p:sp>
    </p:spTree>
    <p:extLst>
      <p:ext uri="{BB962C8B-B14F-4D97-AF65-F5344CB8AC3E}">
        <p14:creationId xmlns:p14="http://schemas.microsoft.com/office/powerpoint/2010/main" val="1215095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D04F24E-D5DB-4E44-B9C1-1C9F966D9DE0}" type="datetime1">
              <a:rPr lang="zh-CN" altLang="en-US" smtClean="0"/>
              <a:t>2026/5/31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08042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C644C8-A75A-4271-B806-197E7CBB3043}" type="datetime1">
              <a:rPr lang="zh-CN" altLang="en-US" smtClean="0"/>
              <a:t>2026/5/31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374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E0EAEB6-6817-4662-A1D3-3BC44BA693B7}" type="datetime1">
              <a:rPr lang="zh-CN" altLang="en-US" smtClean="0"/>
              <a:t>2026/5/31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25973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712959-142D-4B7D-99C2-885C08D89CC3}" type="datetime1">
              <a:rPr lang="zh-CN" altLang="en-US" smtClean="0"/>
              <a:t>2026/5/31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05098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B0402A6-6B27-4F12-88C3-26F3AADB1B4A}" type="datetime1">
              <a:rPr lang="zh-CN" altLang="en-US" smtClean="0"/>
              <a:t>2026/5/31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144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A08A87C-D3D9-4098-8262-38F46DBFE130}" type="datetime1">
              <a:rPr lang="zh-CN" altLang="en-US" smtClean="0"/>
              <a:t>2026/5/31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9260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A405D1-58D2-499A-8919-5CFDC4F042E9}" type="datetime1">
              <a:rPr lang="zh-CN" altLang="en-US" smtClean="0"/>
              <a:t>2026/5/31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247771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83647B-B16E-4175-BFE9-E10D077C5782}" type="datetime1">
              <a:rPr lang="zh-CN" altLang="en-US" smtClean="0"/>
              <a:t>2026/5/31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506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E63D96-C799-489A-9DE7-F5DBBF900548}" type="datetime1">
              <a:rPr lang="zh-CN" altLang="en-US" smtClean="0"/>
              <a:t>2026/5/31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645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C37679-E711-45F2-B537-122BD96A4634}" type="datetime1">
              <a:rPr lang="zh-CN" altLang="en-US" smtClean="0"/>
              <a:t>2026/5/31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72393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260A1E-7A35-43E8-B9E2-C715633E112E}" type="datetime1">
              <a:rPr lang="zh-CN" altLang="en-US" smtClean="0"/>
              <a:t>2026/5/31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33159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EBADF-EE84-4603-B97B-F3FFE6AB9912}" type="datetime1">
              <a:rPr lang="zh-CN" altLang="en-US" smtClean="0"/>
              <a:t>2026/5/31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74579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10"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1.png"/><Relationship Id="rId7" Type="http://schemas.openxmlformats.org/officeDocument/2006/relationships/image" Target="../media/image24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0.png"/><Relationship Id="rId5" Type="http://schemas.microsoft.com/office/2007/relationships/hdphoto" Target="../media/hdphoto1.wdp"/><Relationship Id="rId10" Type="http://schemas.openxmlformats.org/officeDocument/2006/relationships/image" Target="../media/image270.png"/><Relationship Id="rId4" Type="http://schemas.openxmlformats.org/officeDocument/2006/relationships/image" Target="../media/image3.png"/><Relationship Id="rId9" Type="http://schemas.openxmlformats.org/officeDocument/2006/relationships/image" Target="../media/image260.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microsoft.com/office/2007/relationships/hdphoto" Target="../media/hdphoto1.wdp"/><Relationship Id="rId9"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2.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3.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7.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 xmlns:a16="http://schemas.microsoft.com/office/drawing/2014/main" id="{6035010B-2434-47C2-8100-5A5F5450EB77}"/>
              </a:ext>
            </a:extLst>
          </p:cNvPr>
          <p:cNvPicPr>
            <a:picLocks noChangeAspect="1"/>
          </p:cNvPicPr>
          <p:nvPr/>
        </p:nvPicPr>
        <p:blipFill>
          <a:blip r:embed="rId3"/>
          <a:stretch>
            <a:fillRect/>
          </a:stretch>
        </p:blipFill>
        <p:spPr>
          <a:xfrm>
            <a:off x="0" y="0"/>
            <a:ext cx="12192000" cy="6857999"/>
          </a:xfrm>
          <a:prstGeom prst="rect">
            <a:avLst/>
          </a:prstGeom>
        </p:spPr>
      </p:pic>
      <p:pic>
        <p:nvPicPr>
          <p:cNvPr id="2" name="图片 1">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034" y="484388"/>
            <a:ext cx="1617921" cy="1617921"/>
          </a:xfrm>
          <a:prstGeom prst="rect">
            <a:avLst/>
          </a:prstGeom>
        </p:spPr>
      </p:pic>
      <p:sp>
        <p:nvSpPr>
          <p:cNvPr id="3" name="矩形 12"/>
          <p:cNvSpPr/>
          <p:nvPr/>
        </p:nvSpPr>
        <p:spPr>
          <a:xfrm>
            <a:off x="2889789" y="4196487"/>
            <a:ext cx="6412417" cy="81708"/>
          </a:xfrm>
          <a:prstGeom prst="rect">
            <a:avLst/>
          </a:prstGeom>
          <a:solidFill>
            <a:srgbClr val="002060"/>
          </a:solidFill>
          <a:ln w="9525">
            <a:noFill/>
          </a:ln>
        </p:spPr>
        <p:txBody>
          <a:bodyPr anchor="ctr"/>
          <a:lstStyle/>
          <a:p>
            <a:pPr algn="ctr" eaLnBrk="1" hangingPunct="1"/>
            <a:endParaRPr lang="zh-CN" altLang="en-US" sz="2400" dirty="0">
              <a:solidFill>
                <a:srgbClr val="0070C0"/>
              </a:solidFill>
              <a:latin typeface="等线" panose="02010600030101010101" pitchFamily="2" charset="-122"/>
              <a:ea typeface="等线" panose="02010600030101010101" pitchFamily="2" charset="-122"/>
            </a:endParaRPr>
          </a:p>
        </p:txBody>
      </p:sp>
      <p:sp>
        <p:nvSpPr>
          <p:cNvPr id="5" name="矩形 4"/>
          <p:cNvSpPr/>
          <p:nvPr/>
        </p:nvSpPr>
        <p:spPr>
          <a:xfrm>
            <a:off x="1116657" y="2377744"/>
            <a:ext cx="9958674" cy="1692771"/>
          </a:xfrm>
          <a:prstGeom prst="rect">
            <a:avLst/>
          </a:prstGeom>
        </p:spPr>
        <p:txBody>
          <a:bodyPr wrap="square">
            <a:spAutoFit/>
          </a:bodyPr>
          <a:lstStyle/>
          <a:p>
            <a:pPr algn="ctr" fontAlgn="base">
              <a:spcBef>
                <a:spcPct val="0"/>
              </a:spcBef>
              <a:spcAft>
                <a:spcPct val="0"/>
              </a:spcAft>
            </a:pPr>
            <a:r>
              <a:rPr lang="en-US" altLang="zh-CN" sz="4400" b="1" dirty="0" smtClean="0">
                <a:latin typeface="Arial" panose="020B0604020202020204" pitchFamily="34" charset="0"/>
                <a:ea typeface="Arial Unicode MS" panose="020B0604020202020204" pitchFamily="34" charset="-122"/>
                <a:cs typeface="Arial" panose="020B0604020202020204" pitchFamily="34" charset="0"/>
              </a:rPr>
              <a:t>Introduction to Quantum Chemistry</a:t>
            </a:r>
          </a:p>
          <a:p>
            <a:pPr algn="ctr" fontAlgn="base">
              <a:lnSpc>
                <a:spcPct val="150000"/>
              </a:lnSpc>
              <a:spcBef>
                <a:spcPct val="0"/>
              </a:spcBef>
              <a:spcAft>
                <a:spcPct val="0"/>
              </a:spcAft>
            </a:pPr>
            <a:r>
              <a:rPr lang="en-US" altLang="zh-CN" sz="4000" b="1" dirty="0" smtClean="0">
                <a:latin typeface="Arial" panose="020B0604020202020204" pitchFamily="34" charset="0"/>
                <a:ea typeface="Arial Unicode MS" panose="020B0604020202020204" pitchFamily="34" charset="-122"/>
                <a:cs typeface="Arial" panose="020B0604020202020204" pitchFamily="34" charset="0"/>
              </a:rPr>
              <a:t>——Linear Algebra</a:t>
            </a:r>
            <a:endParaRPr lang="zh-CN" altLang="en-US" sz="40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6" name="矩形 5"/>
          <p:cNvSpPr/>
          <p:nvPr/>
        </p:nvSpPr>
        <p:spPr>
          <a:xfrm>
            <a:off x="3654370" y="4553630"/>
            <a:ext cx="4883252" cy="1421928"/>
          </a:xfrm>
          <a:prstGeom prst="rect">
            <a:avLst/>
          </a:prstGeom>
        </p:spPr>
        <p:txBody>
          <a:bodyPr wrap="square">
            <a:spAutoFit/>
          </a:bodyPr>
          <a:lstStyle/>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张冀鹏</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北京师范大学化学学院</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en-US" altLang="zh-CN" sz="2400" dirty="0" smtClean="0">
                <a:latin typeface="微软雅黑" panose="020B0503020204020204" pitchFamily="34" charset="-122"/>
                <a:ea typeface="微软雅黑" panose="020B0503020204020204" pitchFamily="34" charset="-122"/>
                <a:sym typeface="微软雅黑" panose="020B0503020204020204" charset="-122"/>
              </a:rPr>
              <a:t>2026. 7. 13</a:t>
            </a:r>
            <a:endParaRPr lang="zh-CN" altLang="en-US" sz="2400" dirty="0">
              <a:latin typeface="微软雅黑" panose="020B0503020204020204" pitchFamily="34" charset="-122"/>
              <a:ea typeface="微软雅黑" panose="020B0503020204020204" pitchFamily="34" charset="-122"/>
              <a:sym typeface="微软雅黑" panose="020B0503020204020204" charset="-122"/>
            </a:endParaRPr>
          </a:p>
        </p:txBody>
      </p:sp>
    </p:spTree>
    <p:extLst>
      <p:ext uri="{BB962C8B-B14F-4D97-AF65-F5344CB8AC3E}">
        <p14:creationId xmlns:p14="http://schemas.microsoft.com/office/powerpoint/2010/main" val="3978655946"/>
      </p:ext>
    </p:extLst>
  </p:cSld>
  <p:clrMapOvr>
    <a:masterClrMapping/>
  </p:clrMapOvr>
  <mc:AlternateContent xmlns:mc="http://schemas.openxmlformats.org/markup-compatibility/2006" xmlns:p14="http://schemas.microsoft.com/office/powerpoint/2010/main">
    <mc:Choice Requires="p14">
      <p:transition spd="slow" p14:dur="2000" advTm="8855"/>
    </mc:Choice>
    <mc:Fallback xmlns="">
      <p:transition spd="slow" advTm="885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Arrangement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9" name="文本框 8"/>
          <p:cNvSpPr txBox="1"/>
          <p:nvPr/>
        </p:nvSpPr>
        <p:spPr>
          <a:xfrm>
            <a:off x="212643" y="1020268"/>
            <a:ext cx="6990383" cy="5555367"/>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绪论 （</a:t>
            </a:r>
            <a:r>
              <a:rPr lang="en-US" altLang="zh-CN" sz="2000" dirty="0" smtClean="0">
                <a:latin typeface="微软雅黑" panose="020B0503020204020204" pitchFamily="34" charset="-122"/>
                <a:ea typeface="微软雅黑" panose="020B0503020204020204" pitchFamily="34" charset="-122"/>
              </a:rPr>
              <a:t>1 h</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数学基础 （</a:t>
            </a:r>
            <a:r>
              <a:rPr lang="en-US" altLang="zh-CN" sz="2000" dirty="0" smtClean="0">
                <a:latin typeface="微软雅黑" panose="020B0503020204020204" pitchFamily="34" charset="-122"/>
                <a:ea typeface="微软雅黑" panose="020B0503020204020204" pitchFamily="34" charset="-122"/>
              </a:rPr>
              <a:t>7 h)</a:t>
            </a:r>
          </a:p>
          <a:p>
            <a:pPr>
              <a:spcBef>
                <a:spcPts val="600"/>
              </a:spcBef>
            </a:pPr>
            <a:r>
              <a:rPr lang="zh-CN" altLang="en-US" dirty="0" smtClean="0">
                <a:solidFill>
                  <a:srgbClr val="FF0000"/>
                </a:solidFill>
                <a:latin typeface="微软雅黑" panose="020B0503020204020204" pitchFamily="34" charset="-122"/>
                <a:ea typeface="微软雅黑" panose="020B0503020204020204" pitchFamily="34" charset="-122"/>
              </a:rPr>
              <a:t>线性代数基础 </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6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Delta</a:t>
            </a:r>
            <a:r>
              <a:rPr lang="zh-CN" altLang="en-US" dirty="0" smtClean="0">
                <a:latin typeface="微软雅黑" panose="020B0503020204020204" pitchFamily="34" charset="-122"/>
                <a:ea typeface="微软雅黑" panose="020B0503020204020204" pitchFamily="34" charset="-122"/>
              </a:rPr>
              <a:t>函数、</a:t>
            </a:r>
            <a:r>
              <a:rPr lang="en-US" altLang="zh-CN" dirty="0" smtClean="0">
                <a:latin typeface="微软雅黑" panose="020B0503020204020204" pitchFamily="34" charset="-122"/>
                <a:ea typeface="微软雅黑" panose="020B0503020204020204" pitchFamily="34" charset="-122"/>
              </a:rPr>
              <a:t>Fourier</a:t>
            </a:r>
            <a:r>
              <a:rPr lang="zh-CN" altLang="en-US" dirty="0" smtClean="0">
                <a:latin typeface="微软雅黑" panose="020B0503020204020204" pitchFamily="34" charset="-122"/>
                <a:ea typeface="微软雅黑" panose="020B0503020204020204" pitchFamily="34" charset="-122"/>
              </a:rPr>
              <a:t>变换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量子力学初步 （</a:t>
            </a:r>
            <a:r>
              <a:rPr lang="en-US" altLang="zh-CN" sz="2000" dirty="0">
                <a:latin typeface="微软雅黑" panose="020B0503020204020204" pitchFamily="34" charset="-122"/>
                <a:ea typeface="微软雅黑" panose="020B0503020204020204" pitchFamily="34" charset="-122"/>
              </a:rPr>
              <a:t>6</a:t>
            </a:r>
            <a:r>
              <a:rPr lang="en-US" altLang="zh-CN" sz="2000" dirty="0" smtClean="0">
                <a:latin typeface="微软雅黑" panose="020B0503020204020204" pitchFamily="34" charset="-122"/>
                <a:ea typeface="微软雅黑" panose="020B0503020204020204" pitchFamily="34" charset="-122"/>
              </a:rPr>
              <a:t> h</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spcBef>
                <a:spcPts val="600"/>
              </a:spcBef>
            </a:pPr>
            <a:r>
              <a:rPr lang="zh-CN" altLang="en-US" dirty="0" smtClean="0">
                <a:latin typeface="微软雅黑" panose="020B0503020204020204" pitchFamily="34" charset="-122"/>
                <a:ea typeface="微软雅黑" panose="020B0503020204020204" pitchFamily="34" charset="-122"/>
              </a:rPr>
              <a:t>量子力学基本公设、数学形式 （</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h)</a:t>
            </a:r>
          </a:p>
          <a:p>
            <a:r>
              <a:rPr lang="zh-CN" altLang="en-US" dirty="0" smtClean="0">
                <a:latin typeface="微软雅黑" panose="020B0503020204020204" pitchFamily="34" charset="-122"/>
                <a:ea typeface="微软雅黑" panose="020B0503020204020204" pitchFamily="34" charset="-122"/>
              </a:rPr>
              <a:t>自旋</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角动量、</a:t>
            </a:r>
            <a:r>
              <a:rPr lang="en-US" altLang="zh-CN" dirty="0" smtClean="0">
                <a:latin typeface="微软雅黑" panose="020B0503020204020204" pitchFamily="34" charset="-122"/>
                <a:ea typeface="微软雅黑" panose="020B0503020204020204" pitchFamily="34" charset="-122"/>
              </a:rPr>
              <a:t>Pauli</a:t>
            </a:r>
            <a:r>
              <a:rPr lang="zh-CN" altLang="en-US" dirty="0" smtClean="0">
                <a:latin typeface="微软雅黑" panose="020B0503020204020204" pitchFamily="34" charset="-122"/>
                <a:ea typeface="微软雅黑" panose="020B0503020204020204" pitchFamily="34" charset="-122"/>
              </a:rPr>
              <a:t>矩阵 （</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双电子张量积、角动量的耦合 （</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连续谱、谐振子 （</a:t>
            </a:r>
            <a:r>
              <a:rPr lang="en-US" altLang="zh-CN" dirty="0" smtClean="0">
                <a:latin typeface="微软雅黑" panose="020B0503020204020204" pitchFamily="34" charset="-122"/>
                <a:ea typeface="微软雅黑" panose="020B0503020204020204" pitchFamily="34" charset="-122"/>
              </a:rPr>
              <a:t>2 h) (</a:t>
            </a:r>
            <a:r>
              <a:rPr lang="zh-CN" altLang="en-US" dirty="0" smtClean="0">
                <a:latin typeface="微软雅黑" panose="020B0503020204020204" pitchFamily="34" charset="-122"/>
                <a:ea typeface="微软雅黑" panose="020B0503020204020204" pitchFamily="34" charset="-122"/>
              </a:rPr>
              <a:t>视情况而定，若时间充裕会讲）</a:t>
            </a:r>
            <a:endParaRPr lang="en-US" altLang="zh-CN"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量子化学初步 （</a:t>
            </a:r>
            <a:r>
              <a:rPr lang="en-US" altLang="zh-CN" sz="2000" dirty="0" smtClean="0">
                <a:latin typeface="微软雅黑" panose="020B0503020204020204" pitchFamily="34" charset="-122"/>
                <a:ea typeface="微软雅黑" panose="020B0503020204020204" pitchFamily="34" charset="-122"/>
              </a:rPr>
              <a:t>6 h)</a:t>
            </a:r>
            <a:endParaRPr lang="en-US" altLang="zh-CN" sz="2000" dirty="0">
              <a:latin typeface="微软雅黑" panose="020B0503020204020204" pitchFamily="34" charset="-122"/>
              <a:ea typeface="微软雅黑" panose="020B0503020204020204" pitchFamily="34" charset="-122"/>
            </a:endParaRPr>
          </a:p>
          <a:p>
            <a:pPr>
              <a:spcBef>
                <a:spcPts val="600"/>
              </a:spcBef>
            </a:pPr>
            <a:r>
              <a:rPr lang="zh-CN" altLang="en-US" dirty="0" smtClean="0">
                <a:latin typeface="微软雅黑" panose="020B0503020204020204" pitchFamily="34" charset="-122"/>
                <a:ea typeface="微软雅黑" panose="020B0503020204020204" pitchFamily="34" charset="-122"/>
              </a:rPr>
              <a:t>氢原子模型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Born-Huang</a:t>
            </a:r>
            <a:r>
              <a:rPr lang="zh-CN" altLang="en-US" dirty="0" smtClean="0">
                <a:latin typeface="微软雅黑" panose="020B0503020204020204" pitchFamily="34" charset="-122"/>
                <a:ea typeface="微软雅黑" panose="020B0503020204020204" pitchFamily="34" charset="-122"/>
              </a:rPr>
              <a:t>展开、非绝热耦合、</a:t>
            </a:r>
            <a:r>
              <a:rPr lang="en-US" altLang="zh-CN" dirty="0" smtClean="0">
                <a:latin typeface="微软雅黑" panose="020B0503020204020204" pitchFamily="34" charset="-122"/>
                <a:ea typeface="微软雅黑" panose="020B0503020204020204" pitchFamily="34" charset="-122"/>
              </a:rPr>
              <a:t>Born-Oppenheimer</a:t>
            </a:r>
            <a:r>
              <a:rPr lang="zh-CN" altLang="en-US" dirty="0" smtClean="0">
                <a:latin typeface="微软雅黑" panose="020B0503020204020204" pitchFamily="34" charset="-122"/>
                <a:ea typeface="微软雅黑" panose="020B0503020204020204" pitchFamily="34" charset="-122"/>
              </a:rPr>
              <a:t>近似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变分原理、线性变分法、氢分子离子模型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Slater</a:t>
            </a:r>
            <a:r>
              <a:rPr lang="zh-CN" altLang="en-US" dirty="0" smtClean="0">
                <a:latin typeface="微软雅黑" panose="020B0503020204020204" pitchFamily="34" charset="-122"/>
                <a:ea typeface="微软雅黑" panose="020B0503020204020204" pitchFamily="34" charset="-122"/>
              </a:rPr>
              <a:t>行列式、</a:t>
            </a:r>
            <a:r>
              <a:rPr lang="en-US" altLang="zh-CN" dirty="0" smtClean="0">
                <a:latin typeface="微软雅黑" panose="020B0503020204020204" pitchFamily="34" charset="-122"/>
                <a:ea typeface="微软雅黑" panose="020B0503020204020204" pitchFamily="34" charset="-122"/>
              </a:rPr>
              <a:t>Slater-Condon</a:t>
            </a:r>
            <a:r>
              <a:rPr lang="zh-CN" altLang="en-US" dirty="0" smtClean="0">
                <a:latin typeface="微软雅黑" panose="020B0503020204020204" pitchFamily="34" charset="-122"/>
                <a:ea typeface="微软雅黑" panose="020B0503020204020204" pitchFamily="34" charset="-122"/>
              </a:rPr>
              <a:t>规则、</a:t>
            </a:r>
            <a:r>
              <a:rPr lang="en-US" altLang="zh-CN" dirty="0" smtClean="0">
                <a:latin typeface="微软雅黑" panose="020B0503020204020204" pitchFamily="34" charset="-122"/>
                <a:ea typeface="微软雅黑" panose="020B0503020204020204" pitchFamily="34" charset="-122"/>
              </a:rPr>
              <a:t>Hartree-Fock</a:t>
            </a:r>
            <a:r>
              <a:rPr lang="zh-CN" altLang="en-US" dirty="0" smtClean="0">
                <a:latin typeface="微软雅黑" panose="020B0503020204020204" pitchFamily="34" charset="-122"/>
                <a:ea typeface="微软雅黑" panose="020B0503020204020204" pitchFamily="34" charset="-122"/>
              </a:rPr>
              <a:t>方法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全组态相互作用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p:txBody>
      </p:sp>
      <p:sp>
        <p:nvSpPr>
          <p:cNvPr id="11" name="圆角矩形 10"/>
          <p:cNvSpPr/>
          <p:nvPr/>
        </p:nvSpPr>
        <p:spPr>
          <a:xfrm>
            <a:off x="212643" y="966289"/>
            <a:ext cx="6894931" cy="5609346"/>
          </a:xfrm>
          <a:prstGeom prst="roundRect">
            <a:avLst>
              <a:gd name="adj" fmla="val 6914"/>
            </a:avLst>
          </a:prstGeom>
          <a:noFill/>
          <a:ln w="38100">
            <a:prstDash val="dash"/>
          </a:ln>
          <a:effectLst/>
          <a:scene3d>
            <a:camera prst="orthographicFront">
              <a:rot lat="0" lon="21599984" rev="0"/>
            </a:camera>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cxnSp>
        <p:nvCxnSpPr>
          <p:cNvPr id="3" name="直接连接符 2"/>
          <p:cNvCxnSpPr/>
          <p:nvPr/>
        </p:nvCxnSpPr>
        <p:spPr>
          <a:xfrm flipV="1">
            <a:off x="2401455" y="1304746"/>
            <a:ext cx="5089236" cy="856563"/>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410691" y="2244436"/>
            <a:ext cx="5080000" cy="424873"/>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7490692" y="1120080"/>
            <a:ext cx="3044363" cy="1895494"/>
          </a:xfrm>
          <a:prstGeom prst="roundRect">
            <a:avLst>
              <a:gd name="adj" fmla="val 6914"/>
            </a:avLst>
          </a:prstGeom>
          <a:noFill/>
          <a:ln w="38100">
            <a:prstDash val="dash"/>
          </a:ln>
          <a:effectLst/>
          <a:scene3d>
            <a:camera prst="orthographicFront">
              <a:rot lat="0" lon="21599984" rev="0"/>
            </a:camera>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7" name="文本框 6"/>
          <p:cNvSpPr txBox="1"/>
          <p:nvPr/>
        </p:nvSpPr>
        <p:spPr>
          <a:xfrm>
            <a:off x="7607029" y="1120080"/>
            <a:ext cx="2928025" cy="1754326"/>
          </a:xfrm>
          <a:prstGeom prst="rect">
            <a:avLst/>
          </a:prstGeom>
          <a:noFill/>
        </p:spPr>
        <p:txBody>
          <a:bodyPr wrap="square" rtlCol="0">
            <a:spAutoFit/>
          </a:bodyPr>
          <a:lstStyle/>
          <a:p>
            <a:pPr>
              <a:lnSpc>
                <a:spcPct val="150000"/>
              </a:lnSpc>
            </a:pPr>
            <a:r>
              <a:rPr lang="en-US" altLang="zh-CN" dirty="0">
                <a:latin typeface="微软雅黑" panose="020B0503020204020204" pitchFamily="34" charset="-122"/>
                <a:ea typeface="微软雅黑" panose="020B0503020204020204" pitchFamily="34" charset="-122"/>
              </a:rPr>
              <a:t>n</a:t>
            </a:r>
            <a:r>
              <a:rPr lang="zh-CN" altLang="en-US" dirty="0" smtClean="0">
                <a:latin typeface="微软雅黑" panose="020B0503020204020204" pitchFamily="34" charset="-122"/>
                <a:ea typeface="微软雅黑" panose="020B0503020204020204" pitchFamily="34" charset="-122"/>
              </a:rPr>
              <a:t>维线性空间与子空间 </a:t>
            </a:r>
            <a:r>
              <a:rPr lang="en-US" altLang="zh-CN" dirty="0" smtClean="0">
                <a:latin typeface="微软雅黑" panose="020B0503020204020204" pitchFamily="34" charset="-122"/>
                <a:ea typeface="微软雅黑" panose="020B0503020204020204" pitchFamily="34" charset="-122"/>
              </a:rPr>
              <a:t>(1 h)</a:t>
            </a:r>
          </a:p>
          <a:p>
            <a:pPr>
              <a:lnSpc>
                <a:spcPct val="150000"/>
              </a:lnSpc>
            </a:pPr>
            <a:r>
              <a:rPr lang="zh-CN" altLang="en-US" dirty="0" smtClean="0">
                <a:latin typeface="微软雅黑" panose="020B0503020204020204" pitchFamily="34" charset="-122"/>
                <a:ea typeface="微软雅黑" panose="020B0503020204020204" pitchFamily="34" charset="-122"/>
              </a:rPr>
              <a:t>线性变换、矩阵运算（</a:t>
            </a:r>
            <a:r>
              <a:rPr lang="en-US" altLang="zh-CN" dirty="0" smtClean="0">
                <a:latin typeface="微软雅黑" panose="020B0503020204020204" pitchFamily="34" charset="-122"/>
                <a:ea typeface="微软雅黑" panose="020B0503020204020204" pitchFamily="34" charset="-122"/>
              </a:rPr>
              <a:t>2 h)</a:t>
            </a:r>
          </a:p>
          <a:p>
            <a:pPr>
              <a:lnSpc>
                <a:spcPct val="150000"/>
              </a:lnSpc>
            </a:pPr>
            <a:r>
              <a:rPr lang="zh-CN" altLang="en-US" dirty="0" smtClean="0">
                <a:latin typeface="微软雅黑" panose="020B0503020204020204" pitchFamily="34" charset="-122"/>
                <a:ea typeface="微软雅黑" panose="020B0503020204020204" pitchFamily="34" charset="-122"/>
              </a:rPr>
              <a:t>本征值与本征向量（</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实</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复内积空间（</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90746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 3D-vectors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3" name="文本框 42"/>
              <p:cNvSpPr txBox="1"/>
              <p:nvPr/>
            </p:nvSpPr>
            <p:spPr>
              <a:xfrm>
                <a:off x="546229" y="1104756"/>
                <a:ext cx="6207369" cy="2947987"/>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三维空间向量运算律：</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𝑏</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𝑏</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oMath>
                </a14:m>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（交换律）</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b="0" i="1" smtClean="0">
                            <a:latin typeface="Cambria Math" panose="02040503050406030204" pitchFamily="18" charset="0"/>
                            <a:ea typeface="微软雅黑" panose="020B0503020204020204" pitchFamily="34" charset="-122"/>
                          </a:rPr>
                          <m:t>+</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𝑏</m:t>
                            </m:r>
                          </m:e>
                        </m:acc>
                        <m:r>
                          <a:rPr lang="en-US" altLang="zh-CN" b="0" i="1" smtClean="0">
                            <a:latin typeface="Cambria Math" panose="02040503050406030204" pitchFamily="18" charset="0"/>
                            <a:ea typeface="微软雅黑" panose="020B0503020204020204" pitchFamily="34" charset="-122"/>
                          </a:rPr>
                          <m:t> </m:t>
                        </m:r>
                      </m:e>
                    </m:d>
                    <m:r>
                      <a:rPr lang="en-US" altLang="zh-CN" b="0" i="1" smtClean="0">
                        <a:latin typeface="Cambria Math" panose="02040503050406030204" pitchFamily="18" charset="0"/>
                        <a:ea typeface="微软雅黑" panose="020B0503020204020204" pitchFamily="34" charset="-122"/>
                      </a:rPr>
                      <m:t>+</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𝑐</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d>
                      <m:dPr>
                        <m:ctrlPr>
                          <a:rPr lang="en-US" altLang="zh-CN" sz="2000" b="0" i="1" dirty="0" smtClean="0">
                            <a:latin typeface="Cambria Math" panose="02040503050406030204" pitchFamily="18" charset="0"/>
                            <a:ea typeface="微软雅黑" panose="020B0503020204020204" pitchFamily="34" charset="-122"/>
                          </a:rPr>
                        </m:ctrlPr>
                      </m:dPr>
                      <m:e>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𝑏</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𝑐</m:t>
                            </m:r>
                          </m:e>
                        </m:acc>
                      </m:e>
                    </m:d>
                  </m:oMath>
                </a14:m>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（结合律）</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𝑘𝑙</m:t>
                        </m:r>
                      </m:e>
                    </m:d>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𝑘</m:t>
                    </m:r>
                    <m:d>
                      <m:dPr>
                        <m:ctrlPr>
                          <a:rPr lang="en-US" altLang="zh-CN" sz="2000" b="0" i="1" dirty="0" smtClean="0">
                            <a:latin typeface="Cambria Math" panose="02040503050406030204" pitchFamily="18" charset="0"/>
                            <a:ea typeface="微软雅黑" panose="020B0503020204020204" pitchFamily="34" charset="-122"/>
                          </a:rPr>
                        </m:ctrlPr>
                      </m:dPr>
                      <m:e>
                        <m:r>
                          <a:rPr lang="en-US" altLang="zh-CN" sz="2000" b="0" i="1" dirty="0" smtClean="0">
                            <a:latin typeface="Cambria Math" panose="02040503050406030204" pitchFamily="18" charset="0"/>
                            <a:ea typeface="微软雅黑" panose="020B0503020204020204" pitchFamily="34" charset="-122"/>
                          </a:rPr>
                          <m:t>𝑙</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e>
                    </m:d>
                  </m:oMath>
                </a14:m>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（结合律）</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e>
                    </m:d>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𝑘</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𝑙</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oMath>
                </a14:m>
                <a:r>
                  <a:rPr lang="zh-CN" altLang="en-US" dirty="0" smtClean="0">
                    <a:latin typeface="微软雅黑" panose="020B0503020204020204" pitchFamily="34" charset="-122"/>
                    <a:ea typeface="微软雅黑" panose="020B0503020204020204" pitchFamily="34" charset="-122"/>
                  </a:rPr>
                  <a:t>    </a:t>
                </a:r>
                <a14:m>
                  <m:oMath xmlns:m="http://schemas.openxmlformats.org/officeDocument/2006/math">
                    <m:r>
                      <a:rPr lang="en-US" altLang="zh-CN" sz="2000" b="0" i="1" dirty="0" smtClean="0">
                        <a:latin typeface="Cambria Math" panose="02040503050406030204" pitchFamily="18" charset="0"/>
                        <a:ea typeface="微软雅黑" panose="020B0503020204020204" pitchFamily="34" charset="-122"/>
                      </a:rPr>
                      <m:t>𝑘</m:t>
                    </m:r>
                    <m:d>
                      <m:dPr>
                        <m:ctrlPr>
                          <a:rPr lang="en-US" altLang="zh-CN" sz="2000" b="0" i="1" dirty="0" smtClean="0">
                            <a:latin typeface="Cambria Math" panose="02040503050406030204" pitchFamily="18" charset="0"/>
                            <a:ea typeface="微软雅黑" panose="020B0503020204020204" pitchFamily="34" charset="-122"/>
                          </a:rPr>
                        </m:ctrlPr>
                      </m:dPr>
                      <m:e>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𝑏</m:t>
                            </m:r>
                          </m:e>
                        </m:acc>
                      </m:e>
                    </m:d>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𝑘</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𝑘</m:t>
                    </m:r>
                    <m:acc>
                      <m:accPr>
                        <m:chr m:val="⃗"/>
                        <m:ctrlPr>
                          <a:rPr lang="en-US" altLang="zh-CN" sz="2000" b="0" i="1" dirty="0" smtClean="0">
                            <a:latin typeface="Cambria Math" panose="02040503050406030204" pitchFamily="18" charset="0"/>
                            <a:ea typeface="微软雅黑" panose="020B0503020204020204" pitchFamily="34" charset="-122"/>
                          </a:rPr>
                        </m:ctrlPr>
                      </m:accPr>
                      <m:e>
                        <m:r>
                          <a:rPr lang="en-US" altLang="zh-CN" sz="2000" b="0" i="1" dirty="0" smtClean="0">
                            <a:latin typeface="Cambria Math" panose="02040503050406030204" pitchFamily="18" charset="0"/>
                            <a:ea typeface="微软雅黑" panose="020B0503020204020204" pitchFamily="34" charset="-122"/>
                          </a:rPr>
                          <m:t>𝑏</m:t>
                        </m:r>
                      </m:e>
                    </m:acc>
                  </m:oMath>
                </a14:m>
                <a:r>
                  <a:rPr lang="zh-CN" altLang="en-US" sz="2000"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（分配律）</a:t>
                </a:r>
                <a:endParaRPr lang="zh-CN" altLang="en-US" dirty="0">
                  <a:latin typeface="微软雅黑" panose="020B0503020204020204" pitchFamily="34" charset="-122"/>
                  <a:ea typeface="微软雅黑" panose="020B0503020204020204" pitchFamily="34" charset="-122"/>
                </a:endParaRPr>
              </a:p>
            </p:txBody>
          </p:sp>
        </mc:Choice>
        <mc:Fallback xmlns="">
          <p:sp>
            <p:nvSpPr>
              <p:cNvPr id="43" name="文本框 42"/>
              <p:cNvSpPr txBox="1">
                <a:spLocks noRot="1" noChangeAspect="1" noMove="1" noResize="1" noEditPoints="1" noAdjustHandles="1" noChangeArrowheads="1" noChangeShapeType="1" noTextEdit="1"/>
              </p:cNvSpPr>
              <p:nvPr/>
            </p:nvSpPr>
            <p:spPr>
              <a:xfrm>
                <a:off x="546229" y="1104756"/>
                <a:ext cx="6207369" cy="2947987"/>
              </a:xfrm>
              <a:prstGeom prst="rect">
                <a:avLst/>
              </a:prstGeom>
              <a:blipFill rotWithShape="0">
                <a:blip r:embed="rId5"/>
                <a:stretch>
                  <a:fillRect l="-15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2716460" y="4772182"/>
                <a:ext cx="7472311" cy="101566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三维空间中任意一个向量可以被三个</a:t>
                </a:r>
                <a:r>
                  <a:rPr lang="zh-CN" altLang="en-US" sz="2000" dirty="0" smtClean="0">
                    <a:solidFill>
                      <a:srgbClr val="FF0000"/>
                    </a:solidFill>
                    <a:latin typeface="微软雅黑" panose="020B0503020204020204" pitchFamily="34" charset="-122"/>
                    <a:ea typeface="微软雅黑" panose="020B0503020204020204" pitchFamily="34" charset="-122"/>
                  </a:rPr>
                  <a:t>不共面</a:t>
                </a:r>
                <a:r>
                  <a:rPr lang="zh-CN" altLang="en-US" sz="2000" dirty="0" smtClean="0">
                    <a:latin typeface="微软雅黑" panose="020B0503020204020204" pitchFamily="34" charset="-122"/>
                    <a:ea typeface="微软雅黑" panose="020B0503020204020204" pitchFamily="34" charset="-122"/>
                  </a:rPr>
                  <a:t>的向量互相表出：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acc>
                        <m:accPr>
                          <m:chr m:val="⃗"/>
                          <m:ctrlPr>
                            <a:rPr lang="en-US" altLang="zh-CN" sz="2000" b="0" i="1" smtClean="0">
                              <a:latin typeface="Cambria Math" panose="02040503050406030204" pitchFamily="18" charset="0"/>
                              <a:ea typeface="微软雅黑" panose="020B0503020204020204" pitchFamily="34" charset="-122"/>
                            </a:rPr>
                          </m:ctrlPr>
                        </m:accPr>
                        <m:e>
                          <m:r>
                            <a:rPr lang="en-US" altLang="zh-CN" sz="2000" b="0" i="1"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1</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1</m:t>
                              </m:r>
                            </m:sub>
                          </m:sSub>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2</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2</m:t>
                              </m:r>
                            </m:sub>
                          </m:sSub>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3</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3</m:t>
                              </m:r>
                            </m:sub>
                          </m:sSub>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1</m:t>
                          </m:r>
                        </m:sub>
                      </m:sSub>
                      <m:r>
                        <a:rPr lang="en-US" altLang="zh-CN" sz="2000" b="0" i="1" dirty="0" smtClean="0">
                          <a:latin typeface="Cambria Math" panose="02040503050406030204" pitchFamily="18" charset="0"/>
                          <a:ea typeface="微软雅黑" panose="020B0503020204020204" pitchFamily="34" charset="-122"/>
                        </a:rPr>
                        <m:t>, </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2</m:t>
                          </m:r>
                        </m:sub>
                      </m:sSub>
                      <m:r>
                        <a:rPr lang="en-US" altLang="zh-CN" sz="2000" b="0" i="1" dirty="0" smtClean="0">
                          <a:latin typeface="Cambria Math" panose="02040503050406030204" pitchFamily="18" charset="0"/>
                          <a:ea typeface="微软雅黑" panose="020B0503020204020204" pitchFamily="34" charset="-122"/>
                        </a:rPr>
                        <m:t>, </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3</m:t>
                          </m:r>
                        </m:sub>
                      </m:sSub>
                      <m:r>
                        <a:rPr lang="en-US" altLang="zh-CN" sz="2000" b="0" i="1" dirty="0" smtClean="0">
                          <a:latin typeface="Cambria Math" panose="02040503050406030204" pitchFamily="18" charset="0"/>
                          <a:ea typeface="微软雅黑" panose="020B0503020204020204" pitchFamily="34" charset="-122"/>
                        </a:rPr>
                        <m:t>)</m:t>
                      </m:r>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2716460" y="4772182"/>
                <a:ext cx="7472311" cy="1015663"/>
              </a:xfrm>
              <a:prstGeom prst="rect">
                <a:avLst/>
              </a:prstGeom>
              <a:blipFill rotWithShape="0">
                <a:blip r:embed="rId6"/>
                <a:stretch>
                  <a:fillRect l="-898"/>
                </a:stretch>
              </a:blipFill>
            </p:spPr>
            <p:txBody>
              <a:bodyPr/>
              <a:lstStyle/>
              <a:p>
                <a:r>
                  <a:rPr lang="zh-CN" altLang="en-US">
                    <a:noFill/>
                  </a:rPr>
                  <a:t> </a:t>
                </a:r>
              </a:p>
            </p:txBody>
          </p:sp>
        </mc:Fallback>
      </mc:AlternateContent>
      <p:grpSp>
        <p:nvGrpSpPr>
          <p:cNvPr id="47" name="组合 46"/>
          <p:cNvGrpSpPr/>
          <p:nvPr/>
        </p:nvGrpSpPr>
        <p:grpSpPr>
          <a:xfrm>
            <a:off x="773112" y="4792046"/>
            <a:ext cx="1937201" cy="1667614"/>
            <a:chOff x="630495" y="4141265"/>
            <a:chExt cx="1937201" cy="1667614"/>
          </a:xfrm>
        </p:grpSpPr>
        <p:cxnSp>
          <p:nvCxnSpPr>
            <p:cNvPr id="60" name="直接箭头连接符 59"/>
            <p:cNvCxnSpPr/>
            <p:nvPr/>
          </p:nvCxnSpPr>
          <p:spPr>
            <a:xfrm flipV="1">
              <a:off x="1128408" y="4338187"/>
              <a:ext cx="992221" cy="107977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flipV="1">
              <a:off x="1157591" y="4668927"/>
              <a:ext cx="316148" cy="7393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1128408" y="5428752"/>
              <a:ext cx="99222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V="1">
              <a:off x="1128407" y="4338187"/>
              <a:ext cx="1" cy="108516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1466444" y="4335488"/>
              <a:ext cx="611627" cy="33343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V="1">
              <a:off x="1157591" y="4335488"/>
              <a:ext cx="963038" cy="2701"/>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2120629" y="4450056"/>
              <a:ext cx="0" cy="978696"/>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926078" y="5439547"/>
              <a:ext cx="389106" cy="369332"/>
            </a:xfrm>
            <a:prstGeom prst="rect">
              <a:avLst/>
            </a:prstGeom>
            <a:noFill/>
          </p:spPr>
          <p:txBody>
            <a:bodyPr wrap="square" rtlCol="0">
              <a:spAutoFit/>
            </a:bodyPr>
            <a:lstStyle/>
            <a:p>
              <a:r>
                <a:rPr lang="en-US" altLang="zh-CN" b="1" dirty="0"/>
                <a:t>e</a:t>
              </a:r>
              <a:r>
                <a:rPr lang="en-US" altLang="zh-CN" baseline="-25000" dirty="0"/>
                <a:t>1</a:t>
              </a:r>
              <a:endParaRPr lang="zh-CN" altLang="en-US" baseline="-25000" dirty="0"/>
            </a:p>
          </p:txBody>
        </p:sp>
        <p:sp>
          <p:nvSpPr>
            <p:cNvPr id="68" name="文本框 67"/>
            <p:cNvSpPr txBox="1"/>
            <p:nvPr/>
          </p:nvSpPr>
          <p:spPr>
            <a:xfrm>
              <a:off x="1062747" y="4482707"/>
              <a:ext cx="389106" cy="369332"/>
            </a:xfrm>
            <a:prstGeom prst="rect">
              <a:avLst/>
            </a:prstGeom>
            <a:noFill/>
          </p:spPr>
          <p:txBody>
            <a:bodyPr wrap="square" rtlCol="0">
              <a:spAutoFit/>
            </a:bodyPr>
            <a:lstStyle/>
            <a:p>
              <a:r>
                <a:rPr lang="en-US" altLang="zh-CN" b="1" dirty="0" smtClean="0"/>
                <a:t>e</a:t>
              </a:r>
              <a:r>
                <a:rPr lang="en-US" altLang="zh-CN" baseline="-25000" dirty="0" smtClean="0"/>
                <a:t>2</a:t>
              </a:r>
              <a:endParaRPr lang="zh-CN" altLang="en-US" baseline="-25000" dirty="0"/>
            </a:p>
          </p:txBody>
        </p:sp>
        <p:sp>
          <p:nvSpPr>
            <p:cNvPr id="69" name="文本框 68"/>
            <p:cNvSpPr txBox="1"/>
            <p:nvPr/>
          </p:nvSpPr>
          <p:spPr>
            <a:xfrm>
              <a:off x="630495" y="4151969"/>
              <a:ext cx="447067" cy="369332"/>
            </a:xfrm>
            <a:prstGeom prst="rect">
              <a:avLst/>
            </a:prstGeom>
            <a:noFill/>
          </p:spPr>
          <p:txBody>
            <a:bodyPr wrap="square" rtlCol="0">
              <a:spAutoFit/>
            </a:bodyPr>
            <a:lstStyle/>
            <a:p>
              <a:r>
                <a:rPr lang="en-US" altLang="zh-CN" b="1" dirty="0" smtClean="0"/>
                <a:t>e</a:t>
              </a:r>
              <a:r>
                <a:rPr lang="en-US" altLang="zh-CN" baseline="-25000" dirty="0" smtClean="0"/>
                <a:t>3</a:t>
              </a:r>
              <a:endParaRPr lang="zh-CN" altLang="en-US" baseline="-25000" dirty="0"/>
            </a:p>
          </p:txBody>
        </p:sp>
        <p:sp>
          <p:nvSpPr>
            <p:cNvPr id="70" name="文本框 69"/>
            <p:cNvSpPr txBox="1"/>
            <p:nvPr/>
          </p:nvSpPr>
          <p:spPr>
            <a:xfrm>
              <a:off x="2120629" y="4141265"/>
              <a:ext cx="447067" cy="369332"/>
            </a:xfrm>
            <a:prstGeom prst="rect">
              <a:avLst/>
            </a:prstGeom>
            <a:noFill/>
          </p:spPr>
          <p:txBody>
            <a:bodyPr wrap="square" rtlCol="0">
              <a:spAutoFit/>
            </a:bodyPr>
            <a:lstStyle/>
            <a:p>
              <a:r>
                <a:rPr lang="en-US" altLang="zh-CN" b="1" dirty="0" smtClean="0"/>
                <a:t>a</a:t>
              </a:r>
              <a:endParaRPr lang="zh-CN" altLang="en-US" b="1" baseline="-25000" dirty="0"/>
            </a:p>
          </p:txBody>
        </p:sp>
      </p:grpSp>
      <p:grpSp>
        <p:nvGrpSpPr>
          <p:cNvPr id="7" name="组合 6"/>
          <p:cNvGrpSpPr/>
          <p:nvPr/>
        </p:nvGrpSpPr>
        <p:grpSpPr>
          <a:xfrm>
            <a:off x="5887703" y="1523728"/>
            <a:ext cx="1331940" cy="1194787"/>
            <a:chOff x="6386089" y="1127103"/>
            <a:chExt cx="1331940" cy="1194787"/>
          </a:xfrm>
        </p:grpSpPr>
        <p:cxnSp>
          <p:nvCxnSpPr>
            <p:cNvPr id="35" name="直接箭头连接符 34"/>
            <p:cNvCxnSpPr/>
            <p:nvPr/>
          </p:nvCxnSpPr>
          <p:spPr>
            <a:xfrm flipV="1">
              <a:off x="6437885" y="1127103"/>
              <a:ext cx="578377" cy="75463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6437885" y="1881734"/>
              <a:ext cx="798184" cy="1079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6386089" y="1197927"/>
              <a:ext cx="447067" cy="369332"/>
            </a:xfrm>
            <a:prstGeom prst="rect">
              <a:avLst/>
            </a:prstGeom>
            <a:noFill/>
          </p:spPr>
          <p:txBody>
            <a:bodyPr wrap="square" rtlCol="0">
              <a:spAutoFit/>
            </a:bodyPr>
            <a:lstStyle/>
            <a:p>
              <a:r>
                <a:rPr lang="en-US" altLang="zh-CN" b="1" dirty="0" smtClean="0"/>
                <a:t>a</a:t>
              </a:r>
              <a:endParaRPr lang="zh-CN" altLang="en-US" b="1" baseline="-25000" dirty="0"/>
            </a:p>
          </p:txBody>
        </p:sp>
        <p:sp>
          <p:nvSpPr>
            <p:cNvPr id="71" name="文本框 70"/>
            <p:cNvSpPr txBox="1"/>
            <p:nvPr/>
          </p:nvSpPr>
          <p:spPr>
            <a:xfrm>
              <a:off x="6609622" y="1952558"/>
              <a:ext cx="447067" cy="369332"/>
            </a:xfrm>
            <a:prstGeom prst="rect">
              <a:avLst/>
            </a:prstGeom>
            <a:noFill/>
          </p:spPr>
          <p:txBody>
            <a:bodyPr wrap="square" rtlCol="0">
              <a:spAutoFit/>
            </a:bodyPr>
            <a:lstStyle/>
            <a:p>
              <a:r>
                <a:rPr lang="en-US" altLang="zh-CN" b="1" dirty="0" smtClean="0"/>
                <a:t>b</a:t>
              </a:r>
              <a:endParaRPr lang="zh-CN" altLang="en-US" b="1" baseline="-25000" dirty="0"/>
            </a:p>
          </p:txBody>
        </p:sp>
        <p:cxnSp>
          <p:nvCxnSpPr>
            <p:cNvPr id="72" name="直接箭头连接符 71"/>
            <p:cNvCxnSpPr/>
            <p:nvPr/>
          </p:nvCxnSpPr>
          <p:spPr>
            <a:xfrm flipV="1">
              <a:off x="6919845" y="1192529"/>
              <a:ext cx="798184" cy="1079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V="1">
              <a:off x="7125601" y="1127103"/>
              <a:ext cx="578377" cy="75463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flipV="1">
              <a:off x="6452615" y="1192529"/>
              <a:ext cx="1187900" cy="689205"/>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953673" y="1242447"/>
            <a:ext cx="1721657" cy="1073542"/>
            <a:chOff x="8147841" y="1023738"/>
            <a:chExt cx="1721657" cy="1073542"/>
          </a:xfrm>
        </p:grpSpPr>
        <p:cxnSp>
          <p:nvCxnSpPr>
            <p:cNvPr id="76" name="直接箭头连接符 75"/>
            <p:cNvCxnSpPr/>
            <p:nvPr/>
          </p:nvCxnSpPr>
          <p:spPr>
            <a:xfrm flipV="1">
              <a:off x="8199637" y="1331853"/>
              <a:ext cx="578377" cy="75463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flipV="1">
              <a:off x="8199637" y="2086484"/>
              <a:ext cx="1639475" cy="10796"/>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8147841" y="1402677"/>
              <a:ext cx="281941" cy="369332"/>
            </a:xfrm>
            <a:prstGeom prst="rect">
              <a:avLst/>
            </a:prstGeom>
            <a:noFill/>
          </p:spPr>
          <p:txBody>
            <a:bodyPr wrap="square" rtlCol="0">
              <a:spAutoFit/>
            </a:bodyPr>
            <a:lstStyle/>
            <a:p>
              <a:r>
                <a:rPr lang="en-US" altLang="zh-CN" b="1" dirty="0" smtClean="0"/>
                <a:t>a</a:t>
              </a:r>
              <a:endParaRPr lang="zh-CN" altLang="en-US" b="1" baseline="-25000" dirty="0"/>
            </a:p>
          </p:txBody>
        </p:sp>
        <p:sp>
          <p:nvSpPr>
            <p:cNvPr id="79" name="文本框 78"/>
            <p:cNvSpPr txBox="1"/>
            <p:nvPr/>
          </p:nvSpPr>
          <p:spPr>
            <a:xfrm>
              <a:off x="8917447" y="1023738"/>
              <a:ext cx="327797" cy="369332"/>
            </a:xfrm>
            <a:prstGeom prst="rect">
              <a:avLst/>
            </a:prstGeom>
            <a:noFill/>
          </p:spPr>
          <p:txBody>
            <a:bodyPr wrap="square" rtlCol="0">
              <a:spAutoFit/>
            </a:bodyPr>
            <a:lstStyle/>
            <a:p>
              <a:r>
                <a:rPr lang="en-US" altLang="zh-CN" b="1" dirty="0" smtClean="0"/>
                <a:t>b</a:t>
              </a:r>
              <a:endParaRPr lang="zh-CN" altLang="en-US" b="1" baseline="-25000" dirty="0"/>
            </a:p>
          </p:txBody>
        </p:sp>
        <p:cxnSp>
          <p:nvCxnSpPr>
            <p:cNvPr id="80" name="直接箭头连接符 79"/>
            <p:cNvCxnSpPr/>
            <p:nvPr/>
          </p:nvCxnSpPr>
          <p:spPr>
            <a:xfrm flipV="1">
              <a:off x="8681597" y="1397279"/>
              <a:ext cx="798184" cy="1079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9402267" y="1408074"/>
              <a:ext cx="412634" cy="68920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flipV="1">
              <a:off x="8214367" y="1397279"/>
              <a:ext cx="1187900" cy="689205"/>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9619650" y="1351298"/>
              <a:ext cx="249848" cy="369332"/>
            </a:xfrm>
            <a:prstGeom prst="rect">
              <a:avLst/>
            </a:prstGeom>
            <a:noFill/>
          </p:spPr>
          <p:txBody>
            <a:bodyPr wrap="square" rtlCol="0">
              <a:spAutoFit/>
            </a:bodyPr>
            <a:lstStyle/>
            <a:p>
              <a:r>
                <a:rPr lang="en-US" altLang="zh-CN" b="1" dirty="0" smtClean="0"/>
                <a:t>c</a:t>
              </a:r>
              <a:endParaRPr lang="zh-CN" altLang="en-US" b="1" baseline="-25000" dirty="0"/>
            </a:p>
          </p:txBody>
        </p:sp>
        <p:cxnSp>
          <p:nvCxnSpPr>
            <p:cNvPr id="84" name="直接箭头连接符 83"/>
            <p:cNvCxnSpPr/>
            <p:nvPr/>
          </p:nvCxnSpPr>
          <p:spPr>
            <a:xfrm>
              <a:off x="8713573" y="1418869"/>
              <a:ext cx="1058504" cy="607608"/>
            </a:xfrm>
            <a:prstGeom prst="straightConnector1">
              <a:avLst/>
            </a:prstGeom>
            <a:ln w="5715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9823578" y="2656731"/>
            <a:ext cx="1407880" cy="1295881"/>
            <a:chOff x="9684926" y="2655953"/>
            <a:chExt cx="1407880" cy="1295881"/>
          </a:xfrm>
        </p:grpSpPr>
        <p:cxnSp>
          <p:nvCxnSpPr>
            <p:cNvPr id="88" name="直接箭头连接符 87"/>
            <p:cNvCxnSpPr/>
            <p:nvPr/>
          </p:nvCxnSpPr>
          <p:spPr>
            <a:xfrm flipV="1">
              <a:off x="9890176" y="2784057"/>
              <a:ext cx="578377" cy="75463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flipV="1">
              <a:off x="9890176" y="3538688"/>
              <a:ext cx="798184" cy="1079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9684926" y="3028177"/>
              <a:ext cx="294344" cy="369332"/>
            </a:xfrm>
            <a:prstGeom prst="rect">
              <a:avLst/>
            </a:prstGeom>
            <a:noFill/>
          </p:spPr>
          <p:txBody>
            <a:bodyPr wrap="square" rtlCol="0">
              <a:spAutoFit/>
            </a:bodyPr>
            <a:lstStyle/>
            <a:p>
              <a:r>
                <a:rPr lang="en-US" altLang="zh-CN" b="1" dirty="0" smtClean="0"/>
                <a:t>a</a:t>
              </a:r>
              <a:endParaRPr lang="zh-CN" altLang="en-US" b="1" baseline="-25000" dirty="0"/>
            </a:p>
          </p:txBody>
        </p:sp>
        <p:sp>
          <p:nvSpPr>
            <p:cNvPr id="91" name="文本框 90"/>
            <p:cNvSpPr txBox="1"/>
            <p:nvPr/>
          </p:nvSpPr>
          <p:spPr>
            <a:xfrm>
              <a:off x="9890176" y="3582502"/>
              <a:ext cx="283865" cy="369332"/>
            </a:xfrm>
            <a:prstGeom prst="rect">
              <a:avLst/>
            </a:prstGeom>
            <a:noFill/>
          </p:spPr>
          <p:txBody>
            <a:bodyPr wrap="square" rtlCol="0">
              <a:spAutoFit/>
            </a:bodyPr>
            <a:lstStyle/>
            <a:p>
              <a:r>
                <a:rPr lang="en-US" altLang="zh-CN" b="1" dirty="0" smtClean="0"/>
                <a:t>b</a:t>
              </a:r>
              <a:endParaRPr lang="zh-CN" altLang="en-US" b="1" baseline="-25000" dirty="0"/>
            </a:p>
          </p:txBody>
        </p:sp>
        <p:cxnSp>
          <p:nvCxnSpPr>
            <p:cNvPr id="94" name="直接箭头连接符 93"/>
            <p:cNvCxnSpPr/>
            <p:nvPr/>
          </p:nvCxnSpPr>
          <p:spPr>
            <a:xfrm flipV="1">
              <a:off x="9904906" y="2849483"/>
              <a:ext cx="1187900" cy="689205"/>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V="1">
              <a:off x="9890176" y="3147956"/>
              <a:ext cx="298595" cy="390732"/>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V="1">
              <a:off x="9890176" y="3517288"/>
              <a:ext cx="395270" cy="26798"/>
            </a:xfrm>
            <a:prstGeom prst="straightConnector1">
              <a:avLst/>
            </a:prstGeom>
            <a:ln w="57150">
              <a:solidFill>
                <a:srgbClr val="923799"/>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flipV="1">
              <a:off x="9904906" y="3210278"/>
              <a:ext cx="563647" cy="322625"/>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a:xfrm>
              <a:off x="9923338" y="2655953"/>
              <a:ext cx="512052" cy="369332"/>
            </a:xfrm>
            <a:prstGeom prst="rect">
              <a:avLst/>
            </a:prstGeom>
            <a:noFill/>
          </p:spPr>
          <p:txBody>
            <a:bodyPr wrap="square" rtlCol="0">
              <a:spAutoFit/>
            </a:bodyPr>
            <a:lstStyle/>
            <a:p>
              <a:r>
                <a:rPr lang="en-US" altLang="zh-CN" dirty="0" err="1" smtClean="0"/>
                <a:t>k</a:t>
              </a:r>
              <a:r>
                <a:rPr lang="en-US" altLang="zh-CN" b="1" dirty="0" err="1" smtClean="0"/>
                <a:t>a</a:t>
              </a:r>
              <a:endParaRPr lang="zh-CN" altLang="en-US" b="1" baseline="-25000" dirty="0"/>
            </a:p>
          </p:txBody>
        </p:sp>
        <p:sp>
          <p:nvSpPr>
            <p:cNvPr id="105" name="文本框 104"/>
            <p:cNvSpPr txBox="1"/>
            <p:nvPr/>
          </p:nvSpPr>
          <p:spPr>
            <a:xfrm>
              <a:off x="10576466" y="3560088"/>
              <a:ext cx="447067" cy="369332"/>
            </a:xfrm>
            <a:prstGeom prst="rect">
              <a:avLst/>
            </a:prstGeom>
            <a:noFill/>
          </p:spPr>
          <p:txBody>
            <a:bodyPr wrap="square" rtlCol="0">
              <a:spAutoFit/>
            </a:bodyPr>
            <a:lstStyle/>
            <a:p>
              <a:r>
                <a:rPr lang="en-US" altLang="zh-CN" dirty="0" smtClean="0"/>
                <a:t>k</a:t>
              </a:r>
              <a:r>
                <a:rPr lang="en-US" altLang="zh-CN" b="1" dirty="0" smtClean="0"/>
                <a:t>b</a:t>
              </a:r>
              <a:endParaRPr lang="zh-CN" altLang="en-US" b="1" baseline="-25000" dirty="0"/>
            </a:p>
          </p:txBody>
        </p:sp>
      </p:grpSp>
      <p:grpSp>
        <p:nvGrpSpPr>
          <p:cNvPr id="85" name="组合 84"/>
          <p:cNvGrpSpPr/>
          <p:nvPr/>
        </p:nvGrpSpPr>
        <p:grpSpPr>
          <a:xfrm>
            <a:off x="6682162" y="2559089"/>
            <a:ext cx="1805267" cy="1381773"/>
            <a:chOff x="6477536" y="2973710"/>
            <a:chExt cx="1805267" cy="1381773"/>
          </a:xfrm>
        </p:grpSpPr>
        <p:cxnSp>
          <p:nvCxnSpPr>
            <p:cNvPr id="108" name="直接箭头连接符 107"/>
            <p:cNvCxnSpPr/>
            <p:nvPr/>
          </p:nvCxnSpPr>
          <p:spPr>
            <a:xfrm>
              <a:off x="6493011" y="3321188"/>
              <a:ext cx="494221"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6477536" y="3555468"/>
              <a:ext cx="798184" cy="1079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a:xfrm>
              <a:off x="6514512" y="2973710"/>
              <a:ext cx="253974" cy="369332"/>
            </a:xfrm>
            <a:prstGeom prst="rect">
              <a:avLst/>
            </a:prstGeom>
            <a:noFill/>
          </p:spPr>
          <p:txBody>
            <a:bodyPr wrap="square" rtlCol="0">
              <a:spAutoFit/>
            </a:bodyPr>
            <a:lstStyle/>
            <a:p>
              <a:r>
                <a:rPr lang="en-US" altLang="zh-CN" b="1" dirty="0" smtClean="0"/>
                <a:t>a</a:t>
              </a:r>
              <a:endParaRPr lang="zh-CN" altLang="en-US" b="1" baseline="-25000" dirty="0"/>
            </a:p>
          </p:txBody>
        </p:sp>
        <p:cxnSp>
          <p:nvCxnSpPr>
            <p:cNvPr id="114" name="直接箭头连接符 113"/>
            <p:cNvCxnSpPr/>
            <p:nvPr/>
          </p:nvCxnSpPr>
          <p:spPr>
            <a:xfrm flipV="1">
              <a:off x="7219643" y="3560865"/>
              <a:ext cx="1063160" cy="0"/>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a:xfrm>
              <a:off x="6532875" y="3496726"/>
              <a:ext cx="447067" cy="369332"/>
            </a:xfrm>
            <a:prstGeom prst="rect">
              <a:avLst/>
            </a:prstGeom>
            <a:noFill/>
          </p:spPr>
          <p:txBody>
            <a:bodyPr wrap="square" rtlCol="0">
              <a:spAutoFit/>
            </a:bodyPr>
            <a:lstStyle/>
            <a:p>
              <a:r>
                <a:rPr lang="en-US" altLang="zh-CN" dirty="0" err="1" smtClean="0"/>
                <a:t>k</a:t>
              </a:r>
              <a:r>
                <a:rPr lang="en-US" altLang="zh-CN" b="1" dirty="0" err="1" smtClean="0"/>
                <a:t>a</a:t>
              </a:r>
              <a:endParaRPr lang="zh-CN" altLang="en-US" b="1" baseline="-25000" dirty="0"/>
            </a:p>
          </p:txBody>
        </p:sp>
        <p:sp>
          <p:nvSpPr>
            <p:cNvPr id="119" name="文本框 118"/>
            <p:cNvSpPr txBox="1"/>
            <p:nvPr/>
          </p:nvSpPr>
          <p:spPr>
            <a:xfrm>
              <a:off x="7525499" y="3553221"/>
              <a:ext cx="447067" cy="369332"/>
            </a:xfrm>
            <a:prstGeom prst="rect">
              <a:avLst/>
            </a:prstGeom>
            <a:noFill/>
          </p:spPr>
          <p:txBody>
            <a:bodyPr wrap="square" rtlCol="0">
              <a:spAutoFit/>
            </a:bodyPr>
            <a:lstStyle/>
            <a:p>
              <a:r>
                <a:rPr lang="en-US" altLang="zh-CN" dirty="0" smtClean="0"/>
                <a:t>l</a:t>
              </a:r>
              <a:r>
                <a:rPr lang="en-US" altLang="zh-CN" b="1" dirty="0" smtClean="0"/>
                <a:t>a</a:t>
              </a:r>
              <a:endParaRPr lang="zh-CN" altLang="en-US" b="1" baseline="-25000" dirty="0"/>
            </a:p>
          </p:txBody>
        </p:sp>
        <p:sp>
          <p:nvSpPr>
            <p:cNvPr id="120" name="文本框 119"/>
            <p:cNvSpPr txBox="1"/>
            <p:nvPr/>
          </p:nvSpPr>
          <p:spPr>
            <a:xfrm>
              <a:off x="6916403" y="3986151"/>
              <a:ext cx="718234" cy="369332"/>
            </a:xfrm>
            <a:prstGeom prst="rect">
              <a:avLst/>
            </a:prstGeom>
            <a:noFill/>
          </p:spPr>
          <p:txBody>
            <a:bodyPr wrap="square" rtlCol="0">
              <a:spAutoFit/>
            </a:bodyPr>
            <a:lstStyle/>
            <a:p>
              <a:r>
                <a:rPr lang="en-US" altLang="zh-CN" dirty="0" smtClean="0"/>
                <a:t>(</a:t>
              </a:r>
              <a:r>
                <a:rPr lang="en-US" altLang="zh-CN" dirty="0" err="1" smtClean="0"/>
                <a:t>k+l</a:t>
              </a:r>
              <a:r>
                <a:rPr lang="en-US" altLang="zh-CN" dirty="0" smtClean="0"/>
                <a:t>)</a:t>
              </a:r>
              <a:r>
                <a:rPr lang="en-US" altLang="zh-CN" b="1" dirty="0" smtClean="0"/>
                <a:t>a</a:t>
              </a:r>
              <a:endParaRPr lang="zh-CN" altLang="en-US" b="1" baseline="-25000" dirty="0"/>
            </a:p>
          </p:txBody>
        </p:sp>
        <p:cxnSp>
          <p:nvCxnSpPr>
            <p:cNvPr id="121" name="直接箭头连接符 120"/>
            <p:cNvCxnSpPr/>
            <p:nvPr/>
          </p:nvCxnSpPr>
          <p:spPr>
            <a:xfrm flipV="1">
              <a:off x="6485721" y="3922553"/>
              <a:ext cx="1797082"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302660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 3D-vectors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3" name="文本框 42"/>
              <p:cNvSpPr txBox="1"/>
              <p:nvPr/>
            </p:nvSpPr>
            <p:spPr>
              <a:xfrm>
                <a:off x="2838063" y="1184921"/>
                <a:ext cx="7472311" cy="101566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三维空间中任意一个向量可以被三个</a:t>
                </a:r>
                <a:r>
                  <a:rPr lang="zh-CN" altLang="en-US" sz="2000" dirty="0" smtClean="0">
                    <a:solidFill>
                      <a:srgbClr val="FF0000"/>
                    </a:solidFill>
                    <a:latin typeface="微软雅黑" panose="020B0503020204020204" pitchFamily="34" charset="-122"/>
                    <a:ea typeface="微软雅黑" panose="020B0503020204020204" pitchFamily="34" charset="-122"/>
                  </a:rPr>
                  <a:t>不共面</a:t>
                </a:r>
                <a:r>
                  <a:rPr lang="zh-CN" altLang="en-US" sz="2000" dirty="0" smtClean="0">
                    <a:latin typeface="微软雅黑" panose="020B0503020204020204" pitchFamily="34" charset="-122"/>
                    <a:ea typeface="微软雅黑" panose="020B0503020204020204" pitchFamily="34" charset="-122"/>
                  </a:rPr>
                  <a:t>的向量互相表出：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acc>
                        <m:accPr>
                          <m:chr m:val="⃗"/>
                          <m:ctrlPr>
                            <a:rPr lang="en-US" altLang="zh-CN" sz="2000" b="0" i="1" smtClean="0">
                              <a:latin typeface="Cambria Math" panose="02040503050406030204" pitchFamily="18" charset="0"/>
                              <a:ea typeface="微软雅黑" panose="020B0503020204020204" pitchFamily="34" charset="-122"/>
                            </a:rPr>
                          </m:ctrlPr>
                        </m:accPr>
                        <m:e>
                          <m:r>
                            <a:rPr lang="en-US" altLang="zh-CN" sz="2000" b="0" i="1" smtClean="0">
                              <a:latin typeface="Cambria Math" panose="02040503050406030204" pitchFamily="18" charset="0"/>
                              <a:ea typeface="微软雅黑" panose="020B0503020204020204" pitchFamily="34" charset="-122"/>
                            </a:rPr>
                            <m:t>𝑎</m:t>
                          </m:r>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1</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1</m:t>
                              </m:r>
                            </m:sub>
                          </m:sSub>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2</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2</m:t>
                              </m:r>
                            </m:sub>
                          </m:sSub>
                        </m:e>
                      </m:acc>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𝑎</m:t>
                          </m:r>
                        </m:e>
                        <m:sub>
                          <m:r>
                            <a:rPr lang="en-US" altLang="zh-CN" sz="2000" b="0" i="1" dirty="0" smtClean="0">
                              <a:latin typeface="Cambria Math" panose="02040503050406030204" pitchFamily="18" charset="0"/>
                              <a:ea typeface="微软雅黑" panose="020B0503020204020204" pitchFamily="34" charset="-122"/>
                            </a:rPr>
                            <m:t>3</m:t>
                          </m:r>
                        </m:sub>
                      </m:sSub>
                      <m:acc>
                        <m:accPr>
                          <m:chr m:val="⃗"/>
                          <m:ctrlPr>
                            <a:rPr lang="en-US" altLang="zh-CN" sz="2000" b="0" i="1" dirty="0" smtClean="0">
                              <a:latin typeface="Cambria Math" panose="02040503050406030204" pitchFamily="18" charset="0"/>
                              <a:ea typeface="微软雅黑" panose="020B0503020204020204" pitchFamily="34" charset="-122"/>
                            </a:rPr>
                          </m:ctrlPr>
                        </m:acc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𝑒</m:t>
                              </m:r>
                            </m:e>
                            <m:sub>
                              <m:r>
                                <a:rPr lang="en-US" altLang="zh-CN" sz="2000" b="0" i="1" dirty="0" smtClean="0">
                                  <a:latin typeface="Cambria Math" panose="02040503050406030204" pitchFamily="18" charset="0"/>
                                  <a:ea typeface="微软雅黑" panose="020B0503020204020204" pitchFamily="34" charset="-122"/>
                                </a:rPr>
                                <m:t>3</m:t>
                              </m:r>
                            </m:sub>
                          </m:sSub>
                        </m:e>
                      </m:acc>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43" name="文本框 42"/>
              <p:cNvSpPr txBox="1">
                <a:spLocks noRot="1" noChangeAspect="1" noMove="1" noResize="1" noEditPoints="1" noAdjustHandles="1" noChangeArrowheads="1" noChangeShapeType="1" noTextEdit="1"/>
              </p:cNvSpPr>
              <p:nvPr/>
            </p:nvSpPr>
            <p:spPr>
              <a:xfrm>
                <a:off x="2838063" y="1184921"/>
                <a:ext cx="7472311" cy="1015663"/>
              </a:xfrm>
              <a:prstGeom prst="rect">
                <a:avLst/>
              </a:prstGeom>
              <a:blipFill rotWithShape="0">
                <a:blip r:embed="rId5"/>
                <a:stretch>
                  <a:fillRect l="-898"/>
                </a:stretch>
              </a:blipFill>
            </p:spPr>
            <p:txBody>
              <a:bodyPr/>
              <a:lstStyle/>
              <a:p>
                <a:r>
                  <a:rPr lang="zh-CN" altLang="en-US">
                    <a:noFill/>
                  </a:rPr>
                  <a:t> </a:t>
                </a:r>
              </a:p>
            </p:txBody>
          </p:sp>
        </mc:Fallback>
      </mc:AlternateContent>
      <p:grpSp>
        <p:nvGrpSpPr>
          <p:cNvPr id="48" name="组合 47"/>
          <p:cNvGrpSpPr/>
          <p:nvPr/>
        </p:nvGrpSpPr>
        <p:grpSpPr>
          <a:xfrm>
            <a:off x="742315" y="1052385"/>
            <a:ext cx="1937201" cy="1667614"/>
            <a:chOff x="630495" y="4141265"/>
            <a:chExt cx="1937201" cy="1667614"/>
          </a:xfrm>
        </p:grpSpPr>
        <p:cxnSp>
          <p:nvCxnSpPr>
            <p:cNvPr id="49" name="直接箭头连接符 48"/>
            <p:cNvCxnSpPr/>
            <p:nvPr/>
          </p:nvCxnSpPr>
          <p:spPr>
            <a:xfrm flipV="1">
              <a:off x="1128408" y="4338187"/>
              <a:ext cx="992221" cy="107977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V="1">
              <a:off x="1157591" y="4668927"/>
              <a:ext cx="316148" cy="7393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1128408" y="5428752"/>
              <a:ext cx="99222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1128407" y="4338187"/>
              <a:ext cx="1" cy="108516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1466444" y="4335488"/>
              <a:ext cx="611627" cy="33343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1157591" y="4335488"/>
              <a:ext cx="963038" cy="2701"/>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2120629" y="4450056"/>
              <a:ext cx="0" cy="978696"/>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926078" y="5439547"/>
              <a:ext cx="389106" cy="369332"/>
            </a:xfrm>
            <a:prstGeom prst="rect">
              <a:avLst/>
            </a:prstGeom>
            <a:noFill/>
          </p:spPr>
          <p:txBody>
            <a:bodyPr wrap="square" rtlCol="0">
              <a:spAutoFit/>
            </a:bodyPr>
            <a:lstStyle/>
            <a:p>
              <a:r>
                <a:rPr lang="en-US" altLang="zh-CN" b="1" dirty="0"/>
                <a:t>e</a:t>
              </a:r>
              <a:r>
                <a:rPr lang="en-US" altLang="zh-CN" baseline="-25000" dirty="0"/>
                <a:t>1</a:t>
              </a:r>
              <a:endParaRPr lang="zh-CN" altLang="en-US" baseline="-25000" dirty="0"/>
            </a:p>
          </p:txBody>
        </p:sp>
        <p:sp>
          <p:nvSpPr>
            <p:cNvPr id="57" name="文本框 56"/>
            <p:cNvSpPr txBox="1"/>
            <p:nvPr/>
          </p:nvSpPr>
          <p:spPr>
            <a:xfrm>
              <a:off x="1062747" y="4482707"/>
              <a:ext cx="389106" cy="369332"/>
            </a:xfrm>
            <a:prstGeom prst="rect">
              <a:avLst/>
            </a:prstGeom>
            <a:noFill/>
          </p:spPr>
          <p:txBody>
            <a:bodyPr wrap="square" rtlCol="0">
              <a:spAutoFit/>
            </a:bodyPr>
            <a:lstStyle/>
            <a:p>
              <a:r>
                <a:rPr lang="en-US" altLang="zh-CN" b="1" dirty="0" smtClean="0"/>
                <a:t>e</a:t>
              </a:r>
              <a:r>
                <a:rPr lang="en-US" altLang="zh-CN" baseline="-25000" dirty="0" smtClean="0"/>
                <a:t>2</a:t>
              </a:r>
              <a:endParaRPr lang="zh-CN" altLang="en-US" baseline="-25000" dirty="0"/>
            </a:p>
          </p:txBody>
        </p:sp>
        <p:sp>
          <p:nvSpPr>
            <p:cNvPr id="58" name="文本框 57"/>
            <p:cNvSpPr txBox="1"/>
            <p:nvPr/>
          </p:nvSpPr>
          <p:spPr>
            <a:xfrm>
              <a:off x="630495" y="4151969"/>
              <a:ext cx="447067" cy="369332"/>
            </a:xfrm>
            <a:prstGeom prst="rect">
              <a:avLst/>
            </a:prstGeom>
            <a:noFill/>
          </p:spPr>
          <p:txBody>
            <a:bodyPr wrap="square" rtlCol="0">
              <a:spAutoFit/>
            </a:bodyPr>
            <a:lstStyle/>
            <a:p>
              <a:r>
                <a:rPr lang="en-US" altLang="zh-CN" b="1" dirty="0" smtClean="0"/>
                <a:t>e</a:t>
              </a:r>
              <a:r>
                <a:rPr lang="en-US" altLang="zh-CN" baseline="-25000" dirty="0" smtClean="0"/>
                <a:t>3</a:t>
              </a:r>
              <a:endParaRPr lang="zh-CN" altLang="en-US" baseline="-25000" dirty="0"/>
            </a:p>
          </p:txBody>
        </p:sp>
        <p:sp>
          <p:nvSpPr>
            <p:cNvPr id="59" name="文本框 58"/>
            <p:cNvSpPr txBox="1"/>
            <p:nvPr/>
          </p:nvSpPr>
          <p:spPr>
            <a:xfrm>
              <a:off x="2120629" y="4141265"/>
              <a:ext cx="447067" cy="369332"/>
            </a:xfrm>
            <a:prstGeom prst="rect">
              <a:avLst/>
            </a:prstGeom>
            <a:noFill/>
          </p:spPr>
          <p:txBody>
            <a:bodyPr wrap="square" rtlCol="0">
              <a:spAutoFit/>
            </a:bodyPr>
            <a:lstStyle/>
            <a:p>
              <a:r>
                <a:rPr lang="en-US" altLang="zh-CN" b="1" dirty="0" smtClean="0"/>
                <a:t>a</a:t>
              </a:r>
              <a:endParaRPr lang="zh-CN" altLang="en-US" b="1" baseline="-25000" dirty="0"/>
            </a:p>
          </p:txBody>
        </p:sp>
      </p:grpSp>
      <p:sp>
        <p:nvSpPr>
          <p:cNvPr id="183" name="矩形 182"/>
          <p:cNvSpPr/>
          <p:nvPr/>
        </p:nvSpPr>
        <p:spPr>
          <a:xfrm>
            <a:off x="701040" y="2814593"/>
            <a:ext cx="2217351" cy="1795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9" name="组合 178"/>
          <p:cNvGrpSpPr/>
          <p:nvPr/>
        </p:nvGrpSpPr>
        <p:grpSpPr>
          <a:xfrm>
            <a:off x="1074904" y="3138452"/>
            <a:ext cx="1381078" cy="1342660"/>
            <a:chOff x="836865" y="3430435"/>
            <a:chExt cx="1381078" cy="1342660"/>
          </a:xfrm>
        </p:grpSpPr>
        <p:cxnSp>
          <p:nvCxnSpPr>
            <p:cNvPr id="162" name="直接箭头连接符 161"/>
            <p:cNvCxnSpPr/>
            <p:nvPr/>
          </p:nvCxnSpPr>
          <p:spPr>
            <a:xfrm flipV="1">
              <a:off x="1254905" y="3836404"/>
              <a:ext cx="782993" cy="4933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1225722" y="4350255"/>
              <a:ext cx="99222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p:cNvCxnSpPr/>
            <p:nvPr/>
          </p:nvCxnSpPr>
          <p:spPr>
            <a:xfrm flipV="1">
              <a:off x="1196629" y="3470359"/>
              <a:ext cx="333049" cy="88466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flipV="1">
              <a:off x="1473439" y="3838011"/>
              <a:ext cx="440424" cy="1526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V="1">
              <a:off x="1772817" y="3799767"/>
              <a:ext cx="231156" cy="52996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68" name="文本框 167"/>
            <p:cNvSpPr txBox="1"/>
            <p:nvPr/>
          </p:nvSpPr>
          <p:spPr>
            <a:xfrm>
              <a:off x="1578264" y="4403763"/>
              <a:ext cx="389106" cy="369332"/>
            </a:xfrm>
            <a:prstGeom prst="rect">
              <a:avLst/>
            </a:prstGeom>
            <a:noFill/>
          </p:spPr>
          <p:txBody>
            <a:bodyPr wrap="square" rtlCol="0">
              <a:spAutoFit/>
            </a:bodyPr>
            <a:lstStyle/>
            <a:p>
              <a:r>
                <a:rPr lang="en-US" altLang="zh-CN" b="1" dirty="0"/>
                <a:t>e</a:t>
              </a:r>
              <a:r>
                <a:rPr lang="en-US" altLang="zh-CN" baseline="-25000" dirty="0"/>
                <a:t>1</a:t>
              </a:r>
              <a:endParaRPr lang="zh-CN" altLang="en-US" baseline="-25000" dirty="0"/>
            </a:p>
          </p:txBody>
        </p:sp>
        <p:sp>
          <p:nvSpPr>
            <p:cNvPr id="169" name="文本框 168"/>
            <p:cNvSpPr txBox="1"/>
            <p:nvPr/>
          </p:nvSpPr>
          <p:spPr>
            <a:xfrm>
              <a:off x="1738815" y="3430435"/>
              <a:ext cx="389106" cy="369332"/>
            </a:xfrm>
            <a:prstGeom prst="rect">
              <a:avLst/>
            </a:prstGeom>
            <a:noFill/>
          </p:spPr>
          <p:txBody>
            <a:bodyPr wrap="square" rtlCol="0">
              <a:spAutoFit/>
            </a:bodyPr>
            <a:lstStyle/>
            <a:p>
              <a:r>
                <a:rPr lang="en-US" altLang="zh-CN" b="1" dirty="0" smtClean="0"/>
                <a:t>e</a:t>
              </a:r>
              <a:r>
                <a:rPr lang="en-US" altLang="zh-CN" baseline="-25000" dirty="0" smtClean="0"/>
                <a:t>3</a:t>
              </a:r>
              <a:endParaRPr lang="zh-CN" altLang="en-US" baseline="-25000" dirty="0"/>
            </a:p>
          </p:txBody>
        </p:sp>
        <p:sp>
          <p:nvSpPr>
            <p:cNvPr id="170" name="文本框 169"/>
            <p:cNvSpPr txBox="1"/>
            <p:nvPr/>
          </p:nvSpPr>
          <p:spPr>
            <a:xfrm>
              <a:off x="836865" y="3615101"/>
              <a:ext cx="447067" cy="369332"/>
            </a:xfrm>
            <a:prstGeom prst="rect">
              <a:avLst/>
            </a:prstGeom>
            <a:noFill/>
          </p:spPr>
          <p:txBody>
            <a:bodyPr wrap="square" rtlCol="0">
              <a:spAutoFit/>
            </a:bodyPr>
            <a:lstStyle/>
            <a:p>
              <a:r>
                <a:rPr lang="en-US" altLang="zh-CN" b="1" dirty="0" smtClean="0"/>
                <a:t>e</a:t>
              </a:r>
              <a:r>
                <a:rPr lang="en-US" altLang="zh-CN" baseline="-25000" dirty="0" smtClean="0"/>
                <a:t>2</a:t>
              </a:r>
              <a:endParaRPr lang="zh-CN" altLang="en-US" baseline="-25000" dirty="0"/>
            </a:p>
          </p:txBody>
        </p:sp>
      </p:grpSp>
      <mc:AlternateContent xmlns:mc="http://schemas.openxmlformats.org/markup-compatibility/2006" xmlns:a14="http://schemas.microsoft.com/office/drawing/2010/main">
        <mc:Choice Requires="a14">
          <p:sp>
            <p:nvSpPr>
              <p:cNvPr id="180" name="文本框 179"/>
              <p:cNvSpPr txBox="1"/>
              <p:nvPr/>
            </p:nvSpPr>
            <p:spPr>
              <a:xfrm>
                <a:off x="2974250" y="2399172"/>
                <a:ext cx="8864311" cy="3046988"/>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三向量</a:t>
                </a:r>
                <a:r>
                  <a:rPr lang="zh-CN" altLang="en-US" sz="2000" dirty="0" smtClean="0">
                    <a:solidFill>
                      <a:srgbClr val="FF0000"/>
                    </a:solidFill>
                    <a:latin typeface="微软雅黑" panose="020B0503020204020204" pitchFamily="34" charset="-122"/>
                    <a:ea typeface="微软雅黑" panose="020B0503020204020204" pitchFamily="34" charset="-122"/>
                  </a:rPr>
                  <a:t>共平面</a:t>
                </a:r>
                <a:r>
                  <a:rPr lang="zh-CN" altLang="en-US" sz="2000" dirty="0" smtClean="0">
                    <a:latin typeface="微软雅黑" panose="020B0503020204020204" pitchFamily="34" charset="-122"/>
                    <a:ea typeface="微软雅黑" panose="020B0503020204020204" pitchFamily="34" charset="-122"/>
                  </a:rPr>
                  <a:t>充要条件：</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1</m:t>
                            </m:r>
                          </m:sub>
                        </m:sSub>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𝑒</m:t>
                            </m:r>
                          </m:e>
                          <m:sub>
                            <m:r>
                              <a:rPr lang="en-US" altLang="zh-CN" b="0" i="1" dirty="0" smtClean="0">
                                <a:latin typeface="Cambria Math" panose="02040503050406030204" pitchFamily="18" charset="0"/>
                                <a:ea typeface="微软雅黑" panose="020B0503020204020204" pitchFamily="34" charset="-122"/>
                              </a:rPr>
                              <m:t>2</m:t>
                            </m:r>
                          </m:sub>
                        </m:sSub>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𝑒</m:t>
                            </m:r>
                          </m:e>
                          <m:sub>
                            <m:r>
                              <a:rPr lang="en-US" altLang="zh-CN" b="0" i="1" dirty="0" smtClean="0">
                                <a:latin typeface="Cambria Math" panose="02040503050406030204" pitchFamily="18" charset="0"/>
                                <a:ea typeface="微软雅黑" panose="020B0503020204020204" pitchFamily="34" charset="-122"/>
                              </a:rPr>
                              <m:t>3</m:t>
                            </m:r>
                          </m:sub>
                        </m:sSub>
                      </m:e>
                    </m:acc>
                  </m:oMath>
                </a14:m>
                <a:r>
                  <a:rPr lang="zh-CN" altLang="en-US" dirty="0" smtClean="0">
                    <a:latin typeface="微软雅黑" panose="020B0503020204020204" pitchFamily="34" charset="-122"/>
                    <a:ea typeface="微软雅黑" panose="020B0503020204020204" pitchFamily="34" charset="-122"/>
                  </a:rPr>
                  <a:t>中任意一个向量可以被另外两个线性表出</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例如，在左图中</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3</m:t>
                            </m:r>
                          </m:sub>
                        </m:sSub>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1</m:t>
                        </m:r>
                      </m:sub>
                    </m:sSub>
                    <m:acc>
                      <m:accPr>
                        <m:chr m:val="⃗"/>
                        <m:ctrlPr>
                          <a:rPr lang="en-US" altLang="zh-CN" b="0" i="1" dirty="0" smtClean="0">
                            <a:latin typeface="Cambria Math" panose="02040503050406030204" pitchFamily="18" charset="0"/>
                            <a:ea typeface="微软雅黑" panose="020B0503020204020204" pitchFamily="34" charset="-122"/>
                          </a:rPr>
                        </m:ctrlPr>
                      </m:acc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𝑒</m:t>
                            </m:r>
                          </m:e>
                          <m:sub>
                            <m:r>
                              <a:rPr lang="en-US" altLang="zh-CN" b="0" i="1" dirty="0" smtClean="0">
                                <a:latin typeface="Cambria Math" panose="02040503050406030204" pitchFamily="18" charset="0"/>
                                <a:ea typeface="微软雅黑" panose="020B0503020204020204" pitchFamily="34" charset="-122"/>
                              </a:rPr>
                              <m:t>1</m:t>
                            </m:r>
                          </m:sub>
                        </m:sSub>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2</m:t>
                        </m:r>
                      </m:sub>
                    </m:sSub>
                    <m:acc>
                      <m:accPr>
                        <m:chr m:val="⃗"/>
                        <m:ctrlPr>
                          <a:rPr lang="en-US" altLang="zh-CN" b="0" i="1" dirty="0" smtClean="0">
                            <a:latin typeface="Cambria Math" panose="02040503050406030204" pitchFamily="18" charset="0"/>
                            <a:ea typeface="微软雅黑" panose="020B0503020204020204" pitchFamily="34" charset="-122"/>
                          </a:rPr>
                        </m:ctrlPr>
                      </m:acc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𝑒</m:t>
                            </m:r>
                          </m:e>
                          <m:sub>
                            <m:r>
                              <a:rPr lang="en-US" altLang="zh-CN" b="0" i="1" dirty="0" smtClean="0">
                                <a:latin typeface="Cambria Math" panose="02040503050406030204" pitchFamily="18" charset="0"/>
                                <a:ea typeface="微软雅黑" panose="020B0503020204020204" pitchFamily="34" charset="-122"/>
                              </a:rPr>
                              <m:t>2</m:t>
                            </m:r>
                          </m:sub>
                        </m:sSub>
                      </m:e>
                    </m:acc>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1</m:t>
                        </m:r>
                      </m:sub>
                    </m:sSub>
                    <m:r>
                      <a:rPr lang="en-US" altLang="zh-CN" b="0" i="1" dirty="0" smtClean="0">
                        <a:latin typeface="Cambria Math" panose="02040503050406030204" pitchFamily="18" charset="0"/>
                        <a:ea typeface="微软雅黑" panose="020B0503020204020204" pitchFamily="34" charset="-122"/>
                      </a:rPr>
                      <m:t>, </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中至少有一个不是</a:t>
                </a:r>
                <a:r>
                  <a:rPr lang="en-US" altLang="zh-CN" dirty="0" smtClean="0">
                    <a:latin typeface="微软雅黑" panose="020B0503020204020204" pitchFamily="34" charset="-122"/>
                    <a:ea typeface="微软雅黑" panose="020B0503020204020204" pitchFamily="34" charset="-122"/>
                  </a:rPr>
                  <a:t>0</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移项得</a:t>
                </a:r>
                <a14:m>
                  <m:oMath xmlns:m="http://schemas.openxmlformats.org/officeDocument/2006/math">
                    <m:sSub>
                      <m:sSubPr>
                        <m:ctrlPr>
                          <a:rPr lang="en-US" altLang="zh-CN" i="1" dirty="0" smtClean="0">
                            <a:solidFill>
                              <a:srgbClr val="FF0000"/>
                            </a:solidFill>
                            <a:latin typeface="Cambria Math" panose="02040503050406030204" pitchFamily="18" charset="0"/>
                            <a:ea typeface="微软雅黑" panose="020B0503020204020204" pitchFamily="34" charset="-122"/>
                          </a:rPr>
                        </m:ctrlPr>
                      </m:sSubPr>
                      <m:e>
                        <m:r>
                          <a:rPr lang="en-US" altLang="zh-CN" i="1" dirty="0">
                            <a:solidFill>
                              <a:srgbClr val="FF0000"/>
                            </a:solidFill>
                            <a:latin typeface="Cambria Math" panose="02040503050406030204" pitchFamily="18" charset="0"/>
                            <a:ea typeface="微软雅黑" panose="020B0503020204020204" pitchFamily="34" charset="-122"/>
                          </a:rPr>
                          <m:t>𝑎</m:t>
                        </m:r>
                      </m:e>
                      <m:sub>
                        <m:r>
                          <a:rPr lang="en-US" altLang="zh-CN" i="1" dirty="0">
                            <a:solidFill>
                              <a:srgbClr val="FF0000"/>
                            </a:solidFill>
                            <a:latin typeface="Cambria Math" panose="02040503050406030204" pitchFamily="18" charset="0"/>
                            <a:ea typeface="微软雅黑" panose="020B0503020204020204" pitchFamily="34" charset="-122"/>
                          </a:rPr>
                          <m:t>1</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1</m:t>
                            </m:r>
                          </m:sub>
                        </m:sSub>
                      </m:e>
                    </m:acc>
                    <m:r>
                      <a:rPr lang="en-US" altLang="zh-CN" i="1" dirty="0">
                        <a:latin typeface="Cambria Math" panose="02040503050406030204" pitchFamily="18" charset="0"/>
                        <a:ea typeface="微软雅黑" panose="020B0503020204020204" pitchFamily="34" charset="-122"/>
                      </a:rPr>
                      <m:t>+</m:t>
                    </m:r>
                    <m:sSub>
                      <m:sSubPr>
                        <m:ctrlPr>
                          <a:rPr lang="en-US" altLang="zh-CN" i="1" dirty="0" smtClean="0">
                            <a:solidFill>
                              <a:srgbClr val="FF0000"/>
                            </a:solidFill>
                            <a:latin typeface="Cambria Math" panose="02040503050406030204" pitchFamily="18" charset="0"/>
                            <a:ea typeface="微软雅黑" panose="020B0503020204020204" pitchFamily="34" charset="-122"/>
                          </a:rPr>
                        </m:ctrlPr>
                      </m:sSubPr>
                      <m:e>
                        <m:r>
                          <a:rPr lang="en-US" altLang="zh-CN" i="1" dirty="0">
                            <a:solidFill>
                              <a:srgbClr val="FF0000"/>
                            </a:solidFill>
                            <a:latin typeface="Cambria Math" panose="02040503050406030204" pitchFamily="18" charset="0"/>
                            <a:ea typeface="微软雅黑" panose="020B0503020204020204" pitchFamily="34" charset="-122"/>
                          </a:rPr>
                          <m:t>𝑎</m:t>
                        </m:r>
                      </m:e>
                      <m:sub>
                        <m:r>
                          <a:rPr lang="en-US" altLang="zh-CN" i="1" dirty="0">
                            <a:solidFill>
                              <a:srgbClr val="FF0000"/>
                            </a:solidFill>
                            <a:latin typeface="Cambria Math" panose="02040503050406030204" pitchFamily="18" charset="0"/>
                            <a:ea typeface="微软雅黑" panose="020B0503020204020204" pitchFamily="34" charset="-122"/>
                          </a:rPr>
                          <m:t>2</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2</m:t>
                            </m:r>
                          </m:sub>
                        </m:sSub>
                      </m:e>
                    </m:acc>
                    <m:r>
                      <a:rPr lang="en-US" altLang="zh-CN" b="0" i="1" dirty="0" smtClean="0">
                        <a:latin typeface="Cambria Math" panose="02040503050406030204" pitchFamily="18" charset="0"/>
                        <a:ea typeface="微软雅黑" panose="020B0503020204020204" pitchFamily="34" charset="-122"/>
                      </a:rPr>
                      <m:t> −</m:t>
                    </m:r>
                    <m:r>
                      <a:rPr lang="en-US" altLang="zh-CN" b="0" i="1" dirty="0" smtClean="0">
                        <a:solidFill>
                          <a:srgbClr val="FF0000"/>
                        </a:solidFill>
                        <a:latin typeface="Cambria Math" panose="02040503050406030204" pitchFamily="18" charset="0"/>
                        <a:ea typeface="微软雅黑" panose="020B0503020204020204" pitchFamily="34" charset="-122"/>
                      </a:rPr>
                      <m:t>1</m:t>
                    </m:r>
                    <m:acc>
                      <m:accPr>
                        <m:chr m:val="⃗"/>
                        <m:ctrlPr>
                          <a:rPr lang="en-US" altLang="zh-CN" i="1">
                            <a:latin typeface="Cambria Math" panose="02040503050406030204" pitchFamily="18" charset="0"/>
                            <a:ea typeface="微软雅黑" panose="020B0503020204020204" pitchFamily="34" charset="-122"/>
                          </a:rPr>
                        </m:ctrlPr>
                      </m:acc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3</m:t>
                            </m:r>
                          </m:sub>
                        </m:sSub>
                      </m:e>
                    </m:acc>
                    <m:r>
                      <a:rPr lang="en-US" altLang="zh-CN" b="0" i="1" smtClean="0">
                        <a:latin typeface="Cambria Math" panose="02040503050406030204" pitchFamily="18" charset="0"/>
                        <a:ea typeface="微软雅黑" panose="020B0503020204020204" pitchFamily="34" charset="-122"/>
                      </a:rPr>
                      <m:t>=0</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以上表述可改写为，存在一组</a:t>
                </a:r>
                <a:r>
                  <a:rPr lang="zh-CN" altLang="en-US" dirty="0" smtClean="0">
                    <a:solidFill>
                      <a:srgbClr val="FF0000"/>
                    </a:solidFill>
                    <a:latin typeface="微软雅黑" panose="020B0503020204020204" pitchFamily="34" charset="-122"/>
                    <a:ea typeface="微软雅黑" panose="020B0503020204020204" pitchFamily="34" charset="-122"/>
                  </a:rPr>
                  <a:t>不全为</a:t>
                </a:r>
                <a:r>
                  <a:rPr lang="en-US" altLang="zh-CN" dirty="0" smtClean="0">
                    <a:solidFill>
                      <a:srgbClr val="FF0000"/>
                    </a:solidFill>
                    <a:latin typeface="微软雅黑" panose="020B0503020204020204" pitchFamily="34" charset="-122"/>
                    <a:ea typeface="微软雅黑" panose="020B0503020204020204" pitchFamily="34" charset="-122"/>
                  </a:rPr>
                  <a:t>0</a:t>
                </a:r>
                <a:r>
                  <a:rPr lang="zh-CN" altLang="en-US" dirty="0" smtClean="0">
                    <a:latin typeface="微软雅黑" panose="020B0503020204020204" pitchFamily="34" charset="-122"/>
                    <a:ea typeface="微软雅黑" panose="020B0503020204020204" pitchFamily="34" charset="-122"/>
                  </a:rPr>
                  <a:t>的系数</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1</m:t>
                        </m:r>
                      </m:sub>
                    </m:sSub>
                    <m:r>
                      <a:rPr lang="en-US" altLang="zh-CN" i="1" dirty="0">
                        <a:latin typeface="Cambria Math" panose="02040503050406030204" pitchFamily="18" charset="0"/>
                        <a:ea typeface="微软雅黑" panose="020B0503020204020204" pitchFamily="34" charset="-122"/>
                      </a:rPr>
                      <m:t>, </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2</m:t>
                        </m:r>
                      </m:sub>
                    </m:sSub>
                    <m:r>
                      <a:rPr lang="en-US" altLang="zh-CN" b="0" i="0" dirty="0" smtClean="0">
                        <a:latin typeface="Cambria Math" panose="02040503050406030204" pitchFamily="18" charset="0"/>
                        <a:ea typeface="微软雅黑" panose="020B0503020204020204" pitchFamily="34" charset="-122"/>
                      </a:rPr>
                      <m:t>, </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3</m:t>
                        </m:r>
                      </m:sub>
                    </m:sSub>
                  </m:oMath>
                </a14:m>
                <a:r>
                  <a:rPr lang="zh-CN" altLang="en-US" dirty="0" smtClean="0">
                    <a:latin typeface="微软雅黑" panose="020B0503020204020204" pitchFamily="34" charset="-122"/>
                    <a:ea typeface="微软雅黑" panose="020B0503020204020204" pitchFamily="34" charset="-122"/>
                  </a:rPr>
                  <a:t>，使得</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1</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1</m:t>
                            </m:r>
                          </m:sub>
                        </m:sSub>
                      </m:e>
                    </m:acc>
                    <m:r>
                      <a:rPr lang="en-US" altLang="zh-CN" i="1" dirty="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2</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2</m:t>
                            </m:r>
                          </m:sub>
                        </m:sSub>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3</m:t>
                        </m:r>
                      </m:sub>
                    </m:sSub>
                    <m:acc>
                      <m:accPr>
                        <m:chr m:val="⃗"/>
                        <m:ctrlPr>
                          <a:rPr lang="en-US" altLang="zh-CN" i="1">
                            <a:latin typeface="Cambria Math" panose="02040503050406030204" pitchFamily="18" charset="0"/>
                            <a:ea typeface="微软雅黑" panose="020B0503020204020204" pitchFamily="34" charset="-122"/>
                          </a:rPr>
                        </m:ctrlPr>
                      </m:acc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3</m:t>
                            </m:r>
                          </m:sub>
                        </m:sSub>
                      </m:e>
                    </m:acc>
                    <m:r>
                      <a:rPr lang="en-US" altLang="zh-CN" i="1">
                        <a:latin typeface="Cambria Math" panose="02040503050406030204" pitchFamily="18" charset="0"/>
                        <a:ea typeface="微软雅黑" panose="020B0503020204020204" pitchFamily="34" charset="-122"/>
                      </a:rPr>
                      <m:t>=0</m:t>
                    </m:r>
                  </m:oMath>
                </a14:m>
                <a:endParaRPr lang="en-US" altLang="zh-CN" dirty="0">
                  <a:latin typeface="微软雅黑" panose="020B0503020204020204" pitchFamily="34" charset="-122"/>
                  <a:ea typeface="微软雅黑" panose="020B0503020204020204" pitchFamily="34" charset="-122"/>
                </a:endParaRPr>
              </a:p>
            </p:txBody>
          </p:sp>
        </mc:Choice>
        <mc:Fallback xmlns="">
          <p:sp>
            <p:nvSpPr>
              <p:cNvPr id="180" name="文本框 179"/>
              <p:cNvSpPr txBox="1">
                <a:spLocks noRot="1" noChangeAspect="1" noMove="1" noResize="1" noEditPoints="1" noAdjustHandles="1" noChangeArrowheads="1" noChangeShapeType="1" noTextEdit="1"/>
              </p:cNvSpPr>
              <p:nvPr/>
            </p:nvSpPr>
            <p:spPr>
              <a:xfrm>
                <a:off x="2974250" y="2399172"/>
                <a:ext cx="8864311" cy="3046988"/>
              </a:xfrm>
              <a:prstGeom prst="rect">
                <a:avLst/>
              </a:prstGeom>
              <a:blipFill rotWithShape="0">
                <a:blip r:embed="rId6"/>
                <a:stretch>
                  <a:fillRect l="-757" b="-8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p:cNvSpPr txBox="1"/>
              <p:nvPr/>
            </p:nvSpPr>
            <p:spPr>
              <a:xfrm>
                <a:off x="701040" y="5294284"/>
                <a:ext cx="10864378" cy="92057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反之可以得到三向量</a:t>
                </a:r>
                <a:r>
                  <a:rPr lang="zh-CN" altLang="en-US" sz="2000" dirty="0" smtClean="0">
                    <a:solidFill>
                      <a:srgbClr val="FF0000"/>
                    </a:solidFill>
                    <a:latin typeface="微软雅黑" panose="020B0503020204020204" pitchFamily="34" charset="-122"/>
                    <a:ea typeface="微软雅黑" panose="020B0503020204020204" pitchFamily="34" charset="-122"/>
                  </a:rPr>
                  <a:t>不共面</a:t>
                </a:r>
                <a:r>
                  <a:rPr lang="zh-CN" altLang="en-US" sz="2000" dirty="0" smtClean="0">
                    <a:latin typeface="微软雅黑" panose="020B0503020204020204" pitchFamily="34" charset="-122"/>
                    <a:ea typeface="微软雅黑" panose="020B0503020204020204" pitchFamily="34" charset="-122"/>
                  </a:rPr>
                  <a:t>的充要条件：</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对于等式</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1</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1</m:t>
                            </m:r>
                          </m:sub>
                        </m:sSub>
                      </m:e>
                    </m:acc>
                    <m:r>
                      <a:rPr lang="en-US" altLang="zh-CN" i="1" dirty="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2</m:t>
                        </m:r>
                      </m:sub>
                    </m:sSub>
                    <m:acc>
                      <m:accPr>
                        <m:chr m:val="⃗"/>
                        <m:ctrlPr>
                          <a:rPr lang="en-US" altLang="zh-CN" i="1" dirty="0">
                            <a:latin typeface="Cambria Math" panose="02040503050406030204" pitchFamily="18" charset="0"/>
                            <a:ea typeface="微软雅黑" panose="020B0503020204020204" pitchFamily="34" charset="-122"/>
                          </a:rPr>
                        </m:ctrlPr>
                      </m:acc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𝑒</m:t>
                            </m:r>
                          </m:e>
                          <m:sub>
                            <m:r>
                              <a:rPr lang="en-US" altLang="zh-CN" i="1" dirty="0">
                                <a:latin typeface="Cambria Math" panose="02040503050406030204" pitchFamily="18" charset="0"/>
                                <a:ea typeface="微软雅黑" panose="020B0503020204020204" pitchFamily="34" charset="-122"/>
                              </a:rPr>
                              <m:t>2</m:t>
                            </m:r>
                          </m:sub>
                        </m:sSub>
                      </m:e>
                    </m:acc>
                    <m:r>
                      <a:rPr lang="en-US" altLang="zh-CN" i="1" dirty="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3</m:t>
                        </m:r>
                      </m:sub>
                    </m:sSub>
                    <m:acc>
                      <m:accPr>
                        <m:chr m:val="⃗"/>
                        <m:ctrlPr>
                          <a:rPr lang="en-US" altLang="zh-CN" i="1">
                            <a:latin typeface="Cambria Math" panose="02040503050406030204" pitchFamily="18" charset="0"/>
                            <a:ea typeface="微软雅黑" panose="020B0503020204020204" pitchFamily="34" charset="-122"/>
                          </a:rPr>
                        </m:ctrlPr>
                      </m:acc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3</m:t>
                            </m:r>
                          </m:sub>
                        </m:sSub>
                      </m:e>
                    </m:acc>
                    <m:r>
                      <a:rPr lang="en-US" altLang="zh-CN" i="1">
                        <a:latin typeface="Cambria Math" panose="02040503050406030204" pitchFamily="18" charset="0"/>
                        <a:ea typeface="微软雅黑" panose="020B0503020204020204" pitchFamily="34" charset="-122"/>
                      </a:rPr>
                      <m:t>=0</m:t>
                    </m:r>
                  </m:oMath>
                </a14:m>
                <a:r>
                  <a:rPr lang="zh-CN" altLang="en-US" dirty="0" smtClean="0">
                    <a:latin typeface="微软雅黑" panose="020B0503020204020204" pitchFamily="34" charset="-122"/>
                    <a:ea typeface="微软雅黑" panose="020B0503020204020204" pitchFamily="34" charset="-122"/>
                  </a:rPr>
                  <a:t>，</a:t>
                </a:r>
                <a:r>
                  <a:rPr lang="zh-CN" altLang="en-US" dirty="0" smtClean="0">
                    <a:solidFill>
                      <a:srgbClr val="FF0000"/>
                    </a:solidFill>
                    <a:latin typeface="微软雅黑" panose="020B0503020204020204" pitchFamily="34" charset="-122"/>
                    <a:ea typeface="微软雅黑" panose="020B0503020204020204" pitchFamily="34" charset="-122"/>
                  </a:rPr>
                  <a:t>只能得到</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=0</m:t>
                    </m:r>
                  </m:oMath>
                </a14:m>
                <a:endParaRPr lang="en-US" altLang="zh-CN" dirty="0">
                  <a:latin typeface="微软雅黑" panose="020B0503020204020204" pitchFamily="34" charset="-122"/>
                  <a:ea typeface="微软雅黑" panose="020B0503020204020204" pitchFamily="34" charset="-122"/>
                </a:endParaRPr>
              </a:p>
            </p:txBody>
          </p:sp>
        </mc:Choice>
        <mc:Fallback xmlns="">
          <p:sp>
            <p:nvSpPr>
              <p:cNvPr id="181" name="文本框 180"/>
              <p:cNvSpPr txBox="1">
                <a:spLocks noRot="1" noChangeAspect="1" noMove="1" noResize="1" noEditPoints="1" noAdjustHandles="1" noChangeArrowheads="1" noChangeShapeType="1" noTextEdit="1"/>
              </p:cNvSpPr>
              <p:nvPr/>
            </p:nvSpPr>
            <p:spPr>
              <a:xfrm>
                <a:off x="701040" y="5294284"/>
                <a:ext cx="10864378" cy="920573"/>
              </a:xfrm>
              <a:prstGeom prst="rect">
                <a:avLst/>
              </a:prstGeom>
              <a:blipFill rotWithShape="0">
                <a:blip r:embed="rId7"/>
                <a:stretch>
                  <a:fillRect l="-561" b="-99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p:cNvSpPr txBox="1"/>
              <p:nvPr/>
            </p:nvSpPr>
            <p:spPr>
              <a:xfrm>
                <a:off x="701040" y="6246305"/>
                <a:ext cx="4405981"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此时称</a:t>
                </a:r>
                <a14:m>
                  <m:oMath xmlns:m="http://schemas.openxmlformats.org/officeDocument/2006/math">
                    <m:acc>
                      <m:accPr>
                        <m:chr m:val="⃗"/>
                        <m:ctrlPr>
                          <a:rPr lang="en-US" altLang="zh-CN" sz="2000" b="0" i="1" smtClean="0">
                            <a:latin typeface="Cambria Math" panose="02040503050406030204" pitchFamily="18" charset="0"/>
                          </a:rPr>
                        </m:ctrlPr>
                      </m:acc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𝑒</m:t>
                            </m:r>
                          </m:e>
                          <m:sub>
                            <m:r>
                              <a:rPr lang="en-US" altLang="zh-CN" sz="2000" b="0" i="1" smtClean="0">
                                <a:latin typeface="Cambria Math" panose="02040503050406030204" pitchFamily="18" charset="0"/>
                              </a:rPr>
                              <m:t>1</m:t>
                            </m:r>
                          </m:sub>
                        </m:sSub>
                      </m:e>
                    </m:acc>
                    <m:r>
                      <a:rPr lang="en-US" altLang="zh-CN" sz="2000" b="0" i="1" dirty="0" smtClean="0">
                        <a:latin typeface="Cambria Math" panose="02040503050406030204" pitchFamily="18" charset="0"/>
                      </a:rPr>
                      <m:t>, </m:t>
                    </m:r>
                    <m:acc>
                      <m:accPr>
                        <m:chr m:val="⃗"/>
                        <m:ctrlPr>
                          <a:rPr lang="en-US" altLang="zh-CN" sz="2000" b="0" i="1" dirty="0" smtClean="0">
                            <a:latin typeface="Cambria Math" panose="02040503050406030204" pitchFamily="18" charset="0"/>
                          </a:rPr>
                        </m:ctrlPr>
                      </m:accPr>
                      <m:e>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𝑒</m:t>
                            </m:r>
                          </m:e>
                          <m:sub>
                            <m:r>
                              <a:rPr lang="en-US" altLang="zh-CN" sz="2000" b="0" i="1" dirty="0" smtClean="0">
                                <a:latin typeface="Cambria Math" panose="02040503050406030204" pitchFamily="18" charset="0"/>
                              </a:rPr>
                              <m:t>2</m:t>
                            </m:r>
                          </m:sub>
                        </m:sSub>
                      </m:e>
                    </m:acc>
                    <m:r>
                      <a:rPr lang="en-US" altLang="zh-CN" sz="2000" b="0" i="1" dirty="0" smtClean="0">
                        <a:latin typeface="Cambria Math" panose="02040503050406030204" pitchFamily="18" charset="0"/>
                      </a:rPr>
                      <m:t>, </m:t>
                    </m:r>
                    <m:acc>
                      <m:accPr>
                        <m:chr m:val="⃗"/>
                        <m:ctrlPr>
                          <a:rPr lang="en-US" altLang="zh-CN" sz="2000" b="0" i="1" dirty="0" smtClean="0">
                            <a:latin typeface="Cambria Math" panose="02040503050406030204" pitchFamily="18" charset="0"/>
                          </a:rPr>
                        </m:ctrlPr>
                      </m:accPr>
                      <m:e>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𝑒</m:t>
                            </m:r>
                          </m:e>
                          <m:sub>
                            <m:r>
                              <a:rPr lang="en-US" altLang="zh-CN" sz="2000" b="0" i="1" dirty="0" smtClean="0">
                                <a:latin typeface="Cambria Math" panose="02040503050406030204" pitchFamily="18" charset="0"/>
                              </a:rPr>
                              <m:t>3</m:t>
                            </m:r>
                          </m:sub>
                        </m:sSub>
                      </m:e>
                    </m:acc>
                  </m:oMath>
                </a14:m>
                <a:r>
                  <a:rPr lang="zh-CN" altLang="en-US" sz="2000" dirty="0" smtClean="0">
                    <a:latin typeface="微软雅黑" panose="020B0503020204020204" pitchFamily="34" charset="-122"/>
                    <a:ea typeface="微软雅黑" panose="020B0503020204020204" pitchFamily="34" charset="-122"/>
                  </a:rPr>
                  <a:t>构成三维空间的一组</a:t>
                </a:r>
                <a:r>
                  <a:rPr lang="zh-CN" altLang="en-US" sz="2000" dirty="0" smtClean="0">
                    <a:solidFill>
                      <a:srgbClr val="FF0000"/>
                    </a:solidFill>
                    <a:latin typeface="微软雅黑" panose="020B0503020204020204" pitchFamily="34" charset="-122"/>
                    <a:ea typeface="微软雅黑" panose="020B0503020204020204" pitchFamily="34" charset="-122"/>
                  </a:rPr>
                  <a:t>基</a:t>
                </a:r>
                <a:endParaRPr lang="zh-CN" altLang="en-US" sz="200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82" name="文本框 181"/>
              <p:cNvSpPr txBox="1">
                <a:spLocks noRot="1" noChangeAspect="1" noMove="1" noResize="1" noEditPoints="1" noAdjustHandles="1" noChangeArrowheads="1" noChangeShapeType="1" noTextEdit="1"/>
              </p:cNvSpPr>
              <p:nvPr/>
            </p:nvSpPr>
            <p:spPr>
              <a:xfrm>
                <a:off x="701040" y="6246305"/>
                <a:ext cx="4405981" cy="400110"/>
              </a:xfrm>
              <a:prstGeom prst="rect">
                <a:avLst/>
              </a:prstGeom>
              <a:blipFill rotWithShape="0">
                <a:blip r:embed="rId8"/>
                <a:stretch>
                  <a:fillRect l="-1383" t="-9231" r="-1107"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5656382" y="6246305"/>
                <a:ext cx="5220834" cy="369332"/>
              </a:xfrm>
              <a:prstGeom prst="rect">
                <a:avLst/>
              </a:prstGeom>
              <a:noFill/>
            </p:spPr>
            <p:txBody>
              <a:bodyPr wrap="square" rtlCol="0">
                <a:spAutoFit/>
              </a:bodyPr>
              <a:lstStyle/>
              <a:p>
                <a14:m>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e>
                    </m:acc>
                    <m:r>
                      <a:rPr lang="en-US" altLang="zh-CN" b="0" i="1" smtClean="0">
                        <a:latin typeface="Cambria Math" panose="02040503050406030204" pitchFamily="18" charset="0"/>
                      </a:rPr>
                      <m:t>=(1, 0, 0)</m:t>
                    </m:r>
                  </m:oMath>
                </a14:m>
                <a:r>
                  <a:rPr lang="zh-CN" altLang="en-US" dirty="0" smtClean="0"/>
                  <a:t>    </a:t>
                </a:r>
                <a14:m>
                  <m:oMath xmlns:m="http://schemas.openxmlformats.org/officeDocument/2006/math">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2</m:t>
                            </m:r>
                          </m:sub>
                        </m:sSub>
                      </m:e>
                    </m:acc>
                    <m:r>
                      <a:rPr lang="en-US" altLang="zh-CN" b="0" i="1" smtClean="0">
                        <a:latin typeface="Cambria Math" panose="02040503050406030204" pitchFamily="18" charset="0"/>
                      </a:rPr>
                      <m:t>=(0, 1, 0)</m:t>
                    </m:r>
                  </m:oMath>
                </a14:m>
                <a:r>
                  <a:rPr lang="zh-CN" altLang="en-US" dirty="0" smtClean="0"/>
                  <a:t>        </a:t>
                </a:r>
                <a14:m>
                  <m:oMath xmlns:m="http://schemas.openxmlformats.org/officeDocument/2006/math">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3</m:t>
                            </m:r>
                          </m:sub>
                        </m:sSub>
                      </m:e>
                    </m:acc>
                    <m:r>
                      <a:rPr lang="en-US" altLang="zh-CN" b="0" i="1" smtClean="0">
                        <a:latin typeface="Cambria Math" panose="02040503050406030204" pitchFamily="18" charset="0"/>
                      </a:rPr>
                      <m:t>=(0, 0, 1)</m:t>
                    </m:r>
                  </m:oMath>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5656382" y="6246305"/>
                <a:ext cx="5220834" cy="369332"/>
              </a:xfrm>
              <a:prstGeom prst="rect">
                <a:avLst/>
              </a:prstGeom>
              <a:blipFill rotWithShape="0">
                <a:blip r:embed="rId9"/>
                <a:stretch>
                  <a:fillRect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515289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n-dimension linear 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2" name="文本框 1"/>
          <p:cNvSpPr txBox="1"/>
          <p:nvPr/>
        </p:nvSpPr>
        <p:spPr>
          <a:xfrm>
            <a:off x="418147" y="930580"/>
            <a:ext cx="5031058"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下面将三维空间的情况推广到</a:t>
            </a:r>
            <a:r>
              <a:rPr lang="en-US" altLang="zh-CN" sz="2400" dirty="0" smtClean="0">
                <a:latin typeface="Arial" panose="020B0604020202020204" pitchFamily="34" charset="0"/>
                <a:ea typeface="微软雅黑" panose="020B0503020204020204" pitchFamily="34" charset="-122"/>
                <a:cs typeface="Arial" panose="020B0604020202020204" pitchFamily="34" charset="0"/>
              </a:rPr>
              <a:t>n</a:t>
            </a:r>
            <a:r>
              <a:rPr lang="zh-CN" altLang="en-US" sz="2400" dirty="0" smtClean="0">
                <a:latin typeface="微软雅黑" panose="020B0503020204020204" pitchFamily="34" charset="-122"/>
                <a:ea typeface="微软雅黑" panose="020B0503020204020204" pitchFamily="34" charset="-122"/>
              </a:rPr>
              <a:t>维</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p:cNvSpPr txBox="1"/>
              <p:nvPr/>
            </p:nvSpPr>
            <p:spPr>
              <a:xfrm>
                <a:off x="875489" y="1449731"/>
                <a:ext cx="6546715" cy="874407"/>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记</a:t>
                </a:r>
                <a14:m>
                  <m:oMath xmlns:m="http://schemas.openxmlformats.org/officeDocument/2006/math">
                    <m:r>
                      <m:rPr>
                        <m:sty m:val="p"/>
                      </m:rPr>
                      <a:rPr lang="en-US" altLang="zh-CN" i="1" dirty="0">
                        <a:latin typeface="Cambria Math" panose="02040503050406030204" pitchFamily="18" charset="0"/>
                      </a:rPr>
                      <m:t>n</m:t>
                    </m:r>
                  </m:oMath>
                </a14:m>
                <a:r>
                  <a:rPr lang="zh-CN" altLang="en-US" dirty="0" smtClean="0">
                    <a:latin typeface="微软雅黑" panose="020B0503020204020204" pitchFamily="34" charset="-122"/>
                    <a:ea typeface="微软雅黑" panose="020B0503020204020204" pitchFamily="34" charset="-122"/>
                  </a:rPr>
                  <a:t>个实数组成的序列构成的集合为</a:t>
                </a:r>
                <a14:m>
                  <m:oMath xmlns:m="http://schemas.openxmlformats.org/officeDocument/2006/math">
                    <m:sSup>
                      <m:sSupPr>
                        <m:ctrlPr>
                          <a:rPr lang="en-US" altLang="zh-CN" i="1">
                            <a:latin typeface="Cambria Math" panose="02040503050406030204" pitchFamily="18" charset="0"/>
                          </a:rPr>
                        </m:ctrlPr>
                      </m:sSupPr>
                      <m:e>
                        <m:r>
                          <a:rPr lang="en-US" altLang="zh-CN" b="1">
                            <a:latin typeface="Cambria Math" panose="02040503050406030204" pitchFamily="18" charset="0"/>
                          </a:rPr>
                          <m:t>𝐑</m:t>
                        </m:r>
                      </m:e>
                      <m:sup>
                        <m:r>
                          <a:rPr lang="en-US" altLang="zh-CN" i="1">
                            <a:latin typeface="Cambria Math" panose="02040503050406030204" pitchFamily="18" charset="0"/>
                          </a:rPr>
                          <m:t>𝑛</m:t>
                        </m:r>
                      </m:sup>
                    </m:sSup>
                  </m:oMath>
                </a14:m>
                <a:r>
                  <a:rPr lang="zh-CN" altLang="en-US" dirty="0" smtClean="0"/>
                  <a:t> </a:t>
                </a:r>
                <a:endParaRPr lang="en-US" altLang="zh-CN" dirty="0"/>
              </a:p>
              <a:p>
                <a:pPr>
                  <a:lnSpc>
                    <a:spcPct val="150000"/>
                  </a:lnSpc>
                </a:pPr>
                <a14:m>
                  <m:oMath xmlns:m="http://schemas.openxmlformats.org/officeDocument/2006/math">
                    <m:sSup>
                      <m:sSupPr>
                        <m:ctrlPr>
                          <a:rPr lang="en-US" altLang="zh-CN" i="1">
                            <a:latin typeface="Cambria Math" panose="02040503050406030204" pitchFamily="18" charset="0"/>
                          </a:rPr>
                        </m:ctrlPr>
                      </m:sSupPr>
                      <m:e>
                        <m:r>
                          <a:rPr lang="en-US" altLang="zh-CN" b="1">
                            <a:latin typeface="Cambria Math" panose="02040503050406030204" pitchFamily="18" charset="0"/>
                          </a:rPr>
                          <m:t>𝐑</m:t>
                        </m:r>
                      </m:e>
                      <m:sup>
                        <m:r>
                          <a:rPr lang="en-US" altLang="zh-CN" i="1">
                            <a:latin typeface="Cambria Math" panose="02040503050406030204" pitchFamily="18" charset="0"/>
                          </a:rPr>
                          <m:t>𝑛</m:t>
                        </m:r>
                      </m:sup>
                    </m:sSup>
                  </m:oMath>
                </a14:m>
                <a:r>
                  <a:rPr lang="zh-CN" altLang="en-US" dirty="0" smtClean="0">
                    <a:latin typeface="微软雅黑" panose="020B0503020204020204" pitchFamily="34" charset="-122"/>
                    <a:ea typeface="微软雅黑" panose="020B0503020204020204" pitchFamily="34" charset="-122"/>
                  </a:rPr>
                  <a:t>中元素形如</a:t>
                </a:r>
                <a14:m>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e>
                    </m:d>
                  </m:oMath>
                </a14:m>
                <a:r>
                  <a:rPr lang="en-US" altLang="zh-CN" dirty="0" smtClean="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oMath>
                </a14:m>
                <a:r>
                  <a:rPr lang="zh-CN" altLang="en-US" dirty="0" smtClean="0">
                    <a:latin typeface="微软雅黑" panose="020B0503020204020204" pitchFamily="34" charset="-122"/>
                    <a:ea typeface="微软雅黑" panose="020B0503020204020204" pitchFamily="34" charset="-122"/>
                  </a:rPr>
                  <a:t>均为实数</a:t>
                </a:r>
                <a:endParaRPr lang="zh-CN" altLang="en-US" dirty="0">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875489" y="1449731"/>
                <a:ext cx="6546715" cy="874407"/>
              </a:xfrm>
              <a:prstGeom prst="rect">
                <a:avLst/>
              </a:prstGeom>
              <a:blipFill rotWithShape="0">
                <a:blip r:embed="rId6"/>
                <a:stretch>
                  <a:fillRect l="-838" b="-10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875489" y="2452311"/>
                <a:ext cx="8745166" cy="1751570"/>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定义两个元素</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𝑛</m:t>
                            </m:r>
                          </m:sub>
                        </m:sSub>
                      </m:e>
                    </m:d>
                  </m:oMath>
                </a14:m>
                <a:r>
                  <a:rPr lang="zh-CN" altLang="en-US" sz="2000" dirty="0" smtClean="0">
                    <a:latin typeface="微软雅黑" panose="020B0503020204020204" pitchFamily="34" charset="-122"/>
                    <a:ea typeface="微软雅黑" panose="020B0503020204020204" pitchFamily="34" charset="-122"/>
                  </a:rPr>
                  <a:t>和</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i="1">
                                <a:latin typeface="Cambria Math" panose="02040503050406030204" pitchFamily="18" charset="0"/>
                              </a:rPr>
                              <m:t>𝑛</m:t>
                            </m:r>
                          </m:sub>
                        </m:sSub>
                      </m:e>
                    </m:d>
                  </m:oMath>
                </a14:m>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相等：当且仅当</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𝑛</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𝑛</m:t>
                        </m:r>
                      </m:sub>
                    </m:sSub>
                  </m:oMath>
                </a14:m>
                <a:endParaRPr lang="en-US" altLang="zh-CN" dirty="0" smtClean="0">
                  <a:latin typeface="微软雅黑" panose="020B0503020204020204" pitchFamily="34" charset="-122"/>
                  <a:ea typeface="微软雅黑" panose="020B0503020204020204" pitchFamily="34" charset="-122"/>
                </a:endParaRPr>
              </a:p>
              <a:p>
                <a:pPr indent="457200">
                  <a:lnSpc>
                    <a:spcPct val="150000"/>
                  </a:lnSpc>
                </a:pP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加法：</a:t>
                </a:r>
                <a14:m>
                  <m:oMath xmlns:m="http://schemas.openxmlformats.org/officeDocument/2006/math">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b="0" i="1" smtClean="0">
                        <a:latin typeface="Cambria Math" panose="02040503050406030204" pitchFamily="18" charset="0"/>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𝑛</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a14:m>
                <a:endParaRPr lang="en-US" altLang="zh-CN" dirty="0" smtClean="0">
                  <a:latin typeface="微软雅黑" panose="020B0503020204020204" pitchFamily="34" charset="-122"/>
                  <a:ea typeface="微软雅黑" panose="020B0503020204020204" pitchFamily="34" charset="-122"/>
                </a:endParaRPr>
              </a:p>
              <a:p>
                <a:pPr indent="457200">
                  <a:lnSpc>
                    <a:spcPct val="150000"/>
                  </a:lnSpc>
                </a:pP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数量乘法：</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𝑘</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𝑘</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r>
                      <a:rPr lang="en-US" altLang="zh-CN" b="0" i="1" smtClean="0">
                        <a:latin typeface="Cambria Math" panose="02040503050406030204" pitchFamily="18" charset="0"/>
                      </a:rPr>
                      <m:t>𝑘</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 </m:t>
                    </m:r>
                    <m:r>
                      <a:rPr lang="en-US" altLang="zh-CN" b="0" i="1" smtClean="0">
                        <a:latin typeface="Cambria Math" panose="02040503050406030204" pitchFamily="18" charset="0"/>
                      </a:rPr>
                      <m:t>𝑘</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a14:m>
                <a:endParaRPr lang="zh-CN" altLang="en-US"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875489" y="2452311"/>
                <a:ext cx="8745166" cy="1751570"/>
              </a:xfrm>
              <a:prstGeom prst="rect">
                <a:avLst/>
              </a:prstGeom>
              <a:blipFill rotWithShape="0">
                <a:blip r:embed="rId7"/>
                <a:stretch>
                  <a:fillRect l="-767" b="-4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46727" y="4744352"/>
                <a:ext cx="5680533" cy="2077492"/>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这种定义下容易验证</a:t>
                </a:r>
                <a:r>
                  <a:rPr lang="en-US" altLang="zh-CN" sz="2000" dirty="0" smtClean="0">
                    <a:latin typeface="微软雅黑" panose="020B0503020204020204" pitchFamily="34" charset="-122"/>
                    <a:ea typeface="微软雅黑" panose="020B0503020204020204" pitchFamily="34" charset="-122"/>
                  </a:rPr>
                  <a:t>:</a:t>
                </a:r>
              </a:p>
              <a:p>
                <a:pPr/>
                <a14:m>
                  <m:oMathPara xmlns:m="http://schemas.openxmlformats.org/officeDocument/2006/math">
                    <m:oMathParaPr>
                      <m:jc m:val="left"/>
                    </m:oMathParaPr>
                    <m:oMath xmlns:m="http://schemas.openxmlformats.org/officeDocument/2006/math">
                      <m:r>
                        <a:rPr lang="en-US" altLang="zh-CN" b="1" i="1" smtClean="0">
                          <a:latin typeface="Cambria Math" panose="02040503050406030204" pitchFamily="18" charset="0"/>
                          <a:ea typeface="微软雅黑" panose="020B0503020204020204" pitchFamily="34" charset="-122"/>
                        </a:rPr>
                        <m:t>𝜶</m:t>
                      </m:r>
                      <m:r>
                        <a:rPr lang="en-US" altLang="zh-CN" b="0"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𝜶</m:t>
                      </m:r>
                    </m:oMath>
                  </m:oMathPara>
                </a14:m>
                <a:endParaRPr lang="en-US" altLang="zh-CN" b="1" dirty="0" smtClean="0">
                  <a:latin typeface="微软雅黑" panose="020B0503020204020204" pitchFamily="34" charset="-122"/>
                  <a:ea typeface="微软雅黑" panose="020B0503020204020204" pitchFamily="34" charset="-122"/>
                </a:endParaRPr>
              </a:p>
              <a:p>
                <a:pPr indent="457200">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r>
                            <a:rPr lang="en-US" altLang="zh-CN" b="1" i="1">
                              <a:latin typeface="Cambria Math" panose="02040503050406030204" pitchFamily="18" charset="0"/>
                              <a:ea typeface="微软雅黑" panose="020B0503020204020204" pitchFamily="34" charset="-122"/>
                            </a:rPr>
                            <m:t>𝜶</m:t>
                          </m:r>
                          <m:r>
                            <a:rPr lang="en-US" altLang="zh-CN"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𝜷</m:t>
                          </m:r>
                        </m:e>
                      </m:d>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𝜸</m:t>
                      </m:r>
                      <m:r>
                        <a:rPr lang="en-US" altLang="zh-CN" b="1"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𝜶</m:t>
                      </m:r>
                      <m:r>
                        <a:rPr lang="en-US" altLang="zh-CN" b="1" i="1" smtClean="0">
                          <a:latin typeface="Cambria Math" panose="02040503050406030204" pitchFamily="18" charset="0"/>
                          <a:ea typeface="微软雅黑" panose="020B0503020204020204" pitchFamily="34" charset="-122"/>
                        </a:rPr>
                        <m:t>+</m:t>
                      </m:r>
                      <m:d>
                        <m:dPr>
                          <m:ctrlPr>
                            <a:rPr lang="en-US" altLang="zh-CN" b="1" i="1" smtClean="0">
                              <a:latin typeface="Cambria Math" panose="02040503050406030204" pitchFamily="18" charset="0"/>
                              <a:ea typeface="微软雅黑" panose="020B0503020204020204" pitchFamily="34" charset="-122"/>
                            </a:rPr>
                          </m:ctrlPr>
                        </m:dPr>
                        <m:e>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𝜸</m:t>
                          </m:r>
                        </m:e>
                      </m:d>
                    </m:oMath>
                  </m:oMathPara>
                </a14:m>
                <a:endParaRPr lang="en-US" altLang="zh-CN" b="1"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b="1" i="0" smtClean="0">
                        <a:latin typeface="Cambria Math" panose="02040503050406030204" pitchFamily="18" charset="0"/>
                        <a:ea typeface="微软雅黑" panose="020B0503020204020204" pitchFamily="34" charset="-122"/>
                      </a:rPr>
                      <m:t>𝟎</m:t>
                    </m:r>
                    <m:r>
                      <a:rPr lang="en-US" altLang="zh-CN" b="0" i="0"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(0, 0, …, 0)</m:t>
                    </m:r>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oMath>
                </a14:m>
                <a:endParaRPr lang="en-US" altLang="zh-CN" b="1"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b="1" i="0"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𝜶</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𝑛</m:t>
                        </m:r>
                      </m:sub>
                    </m:sSub>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d>
                      <m:dPr>
                        <m:ctrlPr>
                          <a:rPr lang="en-US" altLang="zh-CN" b="1" i="1" dirty="0" smtClean="0">
                            <a:latin typeface="Cambria Math" panose="02040503050406030204" pitchFamily="18" charset="0"/>
                            <a:ea typeface="微软雅黑" panose="020B0503020204020204" pitchFamily="34" charset="-122"/>
                          </a:rPr>
                        </m:ctrlPr>
                      </m:dPr>
                      <m:e>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e>
                    </m:d>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d>
                      <m:dPr>
                        <m:ctrlPr>
                          <a:rPr lang="en-US" altLang="zh-CN" b="1" i="1" dirty="0" smtClean="0">
                            <a:latin typeface="Cambria Math" panose="02040503050406030204" pitchFamily="18" charset="0"/>
                            <a:ea typeface="微软雅黑" panose="020B0503020204020204" pitchFamily="34" charset="-122"/>
                          </a:rPr>
                        </m:ctrlPr>
                      </m:dPr>
                      <m:e>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e>
                    </m:d>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oMath>
                </a14:m>
                <a:endParaRPr lang="en-US" altLang="zh-CN" b="1"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46727" y="4744352"/>
                <a:ext cx="5680533" cy="2077492"/>
              </a:xfrm>
              <a:prstGeom prst="rect">
                <a:avLst/>
              </a:prstGeom>
              <a:blipFill rotWithShape="0">
                <a:blip r:embed="rId8"/>
                <a:stretch>
                  <a:fillRect l="-1180" b="-14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46727" y="4315780"/>
                <a:ext cx="4602478"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令</a:t>
                </a:r>
                <a14:m>
                  <m:oMath xmlns:m="http://schemas.openxmlformats.org/officeDocument/2006/math">
                    <m:r>
                      <a:rPr lang="en-US" altLang="zh-CN" sz="2000" b="1" i="1" smtClean="0">
                        <a:latin typeface="Cambria Math" panose="02040503050406030204" pitchFamily="18" charset="0"/>
                      </a:rPr>
                      <m:t>𝜶</m:t>
                    </m:r>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𝑛</m:t>
                            </m:r>
                          </m:sub>
                        </m:sSub>
                      </m:e>
                    </m:d>
                  </m:oMath>
                </a14:m>
                <a:r>
                  <a:rPr lang="en-US" altLang="zh-CN" sz="2000" dirty="0" smtClean="0">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smtClean="0">
                        <a:latin typeface="Cambria Math" panose="02040503050406030204" pitchFamily="18" charset="0"/>
                      </a:rPr>
                      <m:t>𝜷</m:t>
                    </m:r>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𝑛</m:t>
                            </m:r>
                          </m:sub>
                        </m:sSub>
                      </m:e>
                    </m:d>
                  </m:oMath>
                </a14:m>
                <a:endParaRPr lang="zh-CN" altLang="en-US" dirty="0">
                  <a:latin typeface="微软雅黑" panose="020B0503020204020204" pitchFamily="34" charset="-122"/>
                  <a:ea typeface="微软雅黑"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46727" y="4315780"/>
                <a:ext cx="4602478" cy="400110"/>
              </a:xfrm>
              <a:prstGeom prst="rect">
                <a:avLst/>
              </a:prstGeom>
              <a:blipFill rotWithShape="0">
                <a:blip r:embed="rId9"/>
                <a:stretch>
                  <a:fillRect l="-1457" t="-909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682902" y="5064807"/>
                <a:ext cx="4173166" cy="1754326"/>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1</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1" i="1" smtClean="0">
                          <a:latin typeface="Cambria Math" panose="02040503050406030204" pitchFamily="18" charset="0"/>
                        </a:rPr>
                        <m:t>𝜶</m:t>
                      </m:r>
                    </m:oMath>
                  </m:oMathPara>
                </a14:m>
                <a:endParaRPr lang="en-US" altLang="zh-CN" b="1" dirty="0" smtClean="0"/>
              </a:p>
              <a:p>
                <a:pPr>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𝑘𝑙</m:t>
                          </m:r>
                        </m:e>
                      </m:d>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oMath>
                  </m:oMathPara>
                </a14:m>
                <a:endParaRPr lang="en-US" altLang="zh-CN" dirty="0" smtClean="0"/>
              </a:p>
              <a:p>
                <a:pPr>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e>
                      </m:d>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1" i="1" smtClean="0">
                          <a:latin typeface="Cambria Math" panose="02040503050406030204" pitchFamily="18" charset="0"/>
                        </a:rPr>
                        <m:t>𝜶</m:t>
                      </m:r>
                    </m:oMath>
                  </m:oMathPara>
                </a14:m>
                <a:endParaRPr lang="en-US" altLang="zh-CN" b="1" dirty="0" smtClean="0"/>
              </a:p>
              <a:p>
                <a:pPr>
                  <a:lnSpc>
                    <a:spcPct val="150000"/>
                  </a:lnSpc>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𝑘</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1" i="1" smtClean="0">
                              <a:latin typeface="Cambria Math" panose="02040503050406030204" pitchFamily="18" charset="0"/>
                            </a:rPr>
                            <m:t>𝜷</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𝜷</m:t>
                      </m:r>
                    </m:oMath>
                  </m:oMathPara>
                </a14:m>
                <a:endParaRPr lang="zh-CN" altLang="en-US"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6682902" y="5064807"/>
                <a:ext cx="4173166" cy="1754326"/>
              </a:xfrm>
              <a:prstGeom prst="rect">
                <a:avLst/>
              </a:prstGeom>
              <a:blipFill rotWithShape="0">
                <a:blip r:embed="rId10"/>
                <a:stretch>
                  <a:fillRect/>
                </a:stretch>
              </a:blipFill>
            </p:spPr>
            <p:txBody>
              <a:bodyPr/>
              <a:lstStyle/>
              <a:p>
                <a:r>
                  <a:rPr lang="zh-CN" altLang="en-US">
                    <a:noFill/>
                  </a:rPr>
                  <a:t> </a:t>
                </a:r>
              </a:p>
            </p:txBody>
          </p:sp>
        </mc:Fallback>
      </mc:AlternateContent>
      <p:sp>
        <p:nvSpPr>
          <p:cNvPr id="12" name="圆角矩形 11"/>
          <p:cNvSpPr/>
          <p:nvPr/>
        </p:nvSpPr>
        <p:spPr>
          <a:xfrm>
            <a:off x="742315" y="5194570"/>
            <a:ext cx="10269396" cy="1627274"/>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9926555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n-dimension linear 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grpSp>
        <p:nvGrpSpPr>
          <p:cNvPr id="5" name="组合 4"/>
          <p:cNvGrpSpPr/>
          <p:nvPr/>
        </p:nvGrpSpPr>
        <p:grpSpPr>
          <a:xfrm>
            <a:off x="418147" y="883889"/>
            <a:ext cx="10269396" cy="1781440"/>
            <a:chOff x="742315" y="5064807"/>
            <a:chExt cx="10269396" cy="1781440"/>
          </a:xfrm>
        </p:grpSpPr>
        <mc:AlternateContent xmlns:mc="http://schemas.openxmlformats.org/markup-compatibility/2006" xmlns:a14="http://schemas.microsoft.com/office/drawing/2010/main">
          <mc:Choice Requires="a14">
            <p:sp>
              <p:nvSpPr>
                <p:cNvPr id="6" name="文本框 5"/>
                <p:cNvSpPr txBox="1"/>
                <p:nvPr/>
              </p:nvSpPr>
              <p:spPr>
                <a:xfrm>
                  <a:off x="846726" y="5230420"/>
                  <a:ext cx="5680533" cy="161582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b="1" i="1" smtClean="0">
                            <a:latin typeface="Cambria Math" panose="02040503050406030204" pitchFamily="18" charset="0"/>
                            <a:ea typeface="微软雅黑" panose="020B0503020204020204" pitchFamily="34" charset="-122"/>
                          </a:rPr>
                          <m:t>𝜶</m:t>
                        </m:r>
                        <m:r>
                          <a:rPr lang="en-US" altLang="zh-CN" b="0"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𝜶</m:t>
                        </m:r>
                      </m:oMath>
                    </m:oMathPara>
                  </a14:m>
                  <a:endParaRPr lang="en-US" altLang="zh-CN" b="1" dirty="0" smtClean="0">
                    <a:latin typeface="微软雅黑" panose="020B0503020204020204" pitchFamily="34" charset="-122"/>
                    <a:ea typeface="微软雅黑" panose="020B0503020204020204" pitchFamily="34" charset="-122"/>
                  </a:endParaRPr>
                </a:p>
                <a:p>
                  <a:pPr indent="457200">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r>
                              <a:rPr lang="en-US" altLang="zh-CN" b="1" i="1">
                                <a:latin typeface="Cambria Math" panose="02040503050406030204" pitchFamily="18" charset="0"/>
                                <a:ea typeface="微软雅黑" panose="020B0503020204020204" pitchFamily="34" charset="-122"/>
                              </a:rPr>
                              <m:t>𝜶</m:t>
                            </m:r>
                            <m:r>
                              <a:rPr lang="en-US" altLang="zh-CN"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𝜷</m:t>
                            </m:r>
                          </m:e>
                        </m:d>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𝜸</m:t>
                        </m:r>
                        <m:r>
                          <a:rPr lang="en-US" altLang="zh-CN" b="1"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𝜶</m:t>
                        </m:r>
                        <m:r>
                          <a:rPr lang="en-US" altLang="zh-CN" b="1" i="1" smtClean="0">
                            <a:latin typeface="Cambria Math" panose="02040503050406030204" pitchFamily="18" charset="0"/>
                            <a:ea typeface="微软雅黑" panose="020B0503020204020204" pitchFamily="34" charset="-122"/>
                          </a:rPr>
                          <m:t>+</m:t>
                        </m:r>
                        <m:d>
                          <m:dPr>
                            <m:ctrlPr>
                              <a:rPr lang="en-US" altLang="zh-CN" b="1" i="1" smtClean="0">
                                <a:latin typeface="Cambria Math" panose="02040503050406030204" pitchFamily="18" charset="0"/>
                                <a:ea typeface="微软雅黑" panose="020B0503020204020204" pitchFamily="34" charset="-122"/>
                              </a:rPr>
                            </m:ctrlPr>
                          </m:dPr>
                          <m:e>
                            <m:r>
                              <a:rPr lang="en-US" altLang="zh-CN" b="1" i="1" smtClean="0">
                                <a:latin typeface="Cambria Math" panose="02040503050406030204" pitchFamily="18" charset="0"/>
                                <a:ea typeface="微软雅黑" panose="020B0503020204020204" pitchFamily="34" charset="-122"/>
                              </a:rPr>
                              <m:t>𝜷</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𝜸</m:t>
                            </m:r>
                          </m:e>
                        </m:d>
                      </m:oMath>
                    </m:oMathPara>
                  </a14:m>
                  <a:endParaRPr lang="en-US" altLang="zh-CN" b="1"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b="1" i="0" smtClean="0">
                          <a:latin typeface="Cambria Math" panose="02040503050406030204" pitchFamily="18" charset="0"/>
                          <a:ea typeface="微软雅黑" panose="020B0503020204020204" pitchFamily="34" charset="-122"/>
                        </a:rPr>
                        <m:t>𝟎</m:t>
                      </m:r>
                      <m:r>
                        <a:rPr lang="en-US" altLang="zh-CN" b="0" i="0"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(0, 0, …, 0)</m:t>
                      </m:r>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oMath>
                  </a14:m>
                  <a:endParaRPr lang="en-US" altLang="zh-CN" b="1"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b="1" i="0"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𝜶</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𝑛</m:t>
                          </m:r>
                        </m:sub>
                      </m:sSub>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d>
                        <m:dPr>
                          <m:ctrlPr>
                            <a:rPr lang="en-US" altLang="zh-CN" b="1" i="1" dirty="0" smtClean="0">
                              <a:latin typeface="Cambria Math" panose="02040503050406030204" pitchFamily="18" charset="0"/>
                              <a:ea typeface="微软雅黑" panose="020B0503020204020204" pitchFamily="34" charset="-122"/>
                            </a:rPr>
                          </m:ctrlPr>
                        </m:dPr>
                        <m:e>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e>
                      </m:d>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r>
                        <a:rPr lang="en-US" altLang="zh-CN" b="1" i="1" dirty="0" smtClean="0">
                          <a:latin typeface="Cambria Math" panose="02040503050406030204" pitchFamily="18" charset="0"/>
                          <a:ea typeface="微软雅黑" panose="020B0503020204020204" pitchFamily="34" charset="-122"/>
                        </a:rPr>
                        <m:t>+</m:t>
                      </m:r>
                      <m:d>
                        <m:dPr>
                          <m:ctrlPr>
                            <a:rPr lang="en-US" altLang="zh-CN" b="1" i="1" dirty="0" smtClean="0">
                              <a:latin typeface="Cambria Math" panose="02040503050406030204" pitchFamily="18" charset="0"/>
                              <a:ea typeface="微软雅黑" panose="020B0503020204020204" pitchFamily="34" charset="-122"/>
                            </a:rPr>
                          </m:ctrlPr>
                        </m:dPr>
                        <m:e>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𝜶</m:t>
                          </m:r>
                        </m:e>
                      </m:d>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𝟎</m:t>
                      </m:r>
                    </m:oMath>
                  </a14:m>
                  <a:endParaRPr lang="en-US" altLang="zh-CN" b="1"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46726" y="5230420"/>
                  <a:ext cx="5680533" cy="1615827"/>
                </a:xfrm>
                <a:prstGeom prst="rect">
                  <a:avLst/>
                </a:prstGeom>
                <a:blipFill rotWithShape="0">
                  <a:blip r:embed="rId6"/>
                  <a:stretch>
                    <a:fillRect b="-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682902" y="5064807"/>
                  <a:ext cx="4173166" cy="1754326"/>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1</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1" i="1" smtClean="0">
                            <a:latin typeface="Cambria Math" panose="02040503050406030204" pitchFamily="18" charset="0"/>
                          </a:rPr>
                          <m:t>𝜶</m:t>
                        </m:r>
                      </m:oMath>
                    </m:oMathPara>
                  </a14:m>
                  <a:endParaRPr lang="en-US" altLang="zh-CN" b="1" dirty="0" smtClean="0"/>
                </a:p>
                <a:p>
                  <a:pPr>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𝑘𝑙</m:t>
                            </m:r>
                          </m:e>
                        </m:d>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oMath>
                    </m:oMathPara>
                  </a14:m>
                  <a:endParaRPr lang="en-US" altLang="zh-CN" dirty="0" smtClean="0"/>
                </a:p>
                <a:p>
                  <a:pPr>
                    <a:lnSpc>
                      <a:spcPct val="150000"/>
                    </a:lnSpc>
                  </a:pPr>
                  <a14:m>
                    <m:oMathPara xmlns:m="http://schemas.openxmlformats.org/officeDocument/2006/math">
                      <m:oMathParaPr>
                        <m:jc m:val="left"/>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e>
                        </m:d>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1" i="1" smtClean="0">
                            <a:latin typeface="Cambria Math" panose="02040503050406030204" pitchFamily="18" charset="0"/>
                          </a:rPr>
                          <m:t>𝜶</m:t>
                        </m:r>
                      </m:oMath>
                    </m:oMathPara>
                  </a14:m>
                  <a:endParaRPr lang="en-US" altLang="zh-CN" b="1" dirty="0" smtClean="0"/>
                </a:p>
                <a:p>
                  <a:pPr>
                    <a:lnSpc>
                      <a:spcPct val="150000"/>
                    </a:lnSpc>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𝑘</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1" i="1" smtClean="0">
                                <a:latin typeface="Cambria Math" panose="02040503050406030204" pitchFamily="18" charset="0"/>
                              </a:rPr>
                              <m:t>𝜷</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𝜶</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1" i="1" smtClean="0">
                            <a:latin typeface="Cambria Math" panose="02040503050406030204" pitchFamily="18" charset="0"/>
                          </a:rPr>
                          <m:t>𝜷</m:t>
                        </m:r>
                      </m:oMath>
                    </m:oMathPara>
                  </a14:m>
                  <a:endParaRPr lang="zh-CN" altLang="en-US"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6682902" y="5064807"/>
                  <a:ext cx="4173166" cy="1754326"/>
                </a:xfrm>
                <a:prstGeom prst="rect">
                  <a:avLst/>
                </a:prstGeom>
                <a:blipFill rotWithShape="0">
                  <a:blip r:embed="rId7"/>
                  <a:stretch>
                    <a:fillRect/>
                  </a:stretch>
                </a:blipFill>
              </p:spPr>
              <p:txBody>
                <a:bodyPr/>
                <a:lstStyle/>
                <a:p>
                  <a:r>
                    <a:rPr lang="zh-CN" altLang="en-US">
                      <a:noFill/>
                    </a:rPr>
                    <a:t> </a:t>
                  </a:r>
                </a:p>
              </p:txBody>
            </p:sp>
          </mc:Fallback>
        </mc:AlternateContent>
        <p:sp>
          <p:nvSpPr>
            <p:cNvPr id="12" name="圆角矩形 11"/>
            <p:cNvSpPr/>
            <p:nvPr/>
          </p:nvSpPr>
          <p:spPr>
            <a:xfrm>
              <a:off x="742315" y="5194570"/>
              <a:ext cx="10269396" cy="1627274"/>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620711" y="3059667"/>
            <a:ext cx="8474651"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满足这</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8</a:t>
            </a:r>
            <a:r>
              <a:rPr lang="zh-CN" altLang="en-US" sz="2000" dirty="0" smtClean="0">
                <a:latin typeface="微软雅黑" panose="020B0503020204020204" pitchFamily="34" charset="-122"/>
                <a:ea typeface="微软雅黑" panose="020B0503020204020204" pitchFamily="34" charset="-122"/>
              </a:rPr>
              <a:t>条运算性质的集合连带定义的加法、数乘运算构成</a:t>
            </a:r>
            <a:r>
              <a:rPr lang="en-US" altLang="zh-CN" sz="2000" dirty="0" smtClean="0">
                <a:solidFill>
                  <a:srgbClr val="FF0000"/>
                </a:solidFill>
                <a:latin typeface="微软雅黑" panose="020B0503020204020204" pitchFamily="34" charset="-122"/>
                <a:ea typeface="微软雅黑" panose="020B0503020204020204" pitchFamily="34" charset="-122"/>
              </a:rPr>
              <a:t>n</a:t>
            </a:r>
            <a:r>
              <a:rPr lang="zh-CN" altLang="en-US" sz="2000" dirty="0" smtClean="0">
                <a:solidFill>
                  <a:srgbClr val="FF0000"/>
                </a:solidFill>
                <a:latin typeface="微软雅黑" panose="020B0503020204020204" pitchFamily="34" charset="-122"/>
                <a:ea typeface="微软雅黑" panose="020B0503020204020204" pitchFamily="34" charset="-122"/>
              </a:rPr>
              <a:t>维线性空间</a:t>
            </a:r>
            <a:endParaRPr lang="zh-CN" altLang="en-US" sz="2000"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p:cNvSpPr txBox="1"/>
              <p:nvPr/>
            </p:nvSpPr>
            <p:spPr>
              <a:xfrm>
                <a:off x="701039" y="3774332"/>
                <a:ext cx="4503259" cy="369332"/>
              </a:xfrm>
              <a:prstGeom prst="rect">
                <a:avLst/>
              </a:prstGeom>
              <a:noFill/>
            </p:spPr>
            <p:txBody>
              <a:bodyPr wrap="square" rtlCol="0">
                <a:spAutoFit/>
              </a:bodyPr>
              <a:lstStyle/>
              <a:p>
                <a:r>
                  <a:rPr lang="zh-CN" altLang="en-US" dirty="0" smtClean="0">
                    <a:latin typeface="Arial" panose="020B0604020202020204" pitchFamily="34" charset="0"/>
                    <a:ea typeface="微软雅黑" panose="020B0503020204020204" pitchFamily="34" charset="-122"/>
                    <a:cs typeface="Arial" panose="020B0604020202020204" pitchFamily="34" charset="0"/>
                  </a:rPr>
                  <a:t>行向量：</a:t>
                </a:r>
                <a14:m>
                  <m:oMath xmlns:m="http://schemas.openxmlformats.org/officeDocument/2006/math">
                    <m:r>
                      <a:rPr lang="en-US" altLang="zh-CN" b="1" i="1" smtClean="0">
                        <a:latin typeface="Cambria Math" panose="02040503050406030204" pitchFamily="18" charset="0"/>
                      </a:rPr>
                      <m:t>𝜶</m:t>
                    </m:r>
                    <m:r>
                      <a:rPr lang="en-US" altLang="zh-CN" b="1" i="1" smtClean="0">
                        <a:latin typeface="Cambria Math" panose="02040503050406030204" pitchFamily="18" charset="0"/>
                      </a:rPr>
                      <m:t>=</m:t>
                    </m:r>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为第</a:t>
                </a:r>
                <a:r>
                  <a:rPr lang="en-US" altLang="zh-CN" dirty="0" err="1" smtClean="0">
                    <a:latin typeface="Arial" panose="020B0604020202020204" pitchFamily="34" charset="0"/>
                    <a:ea typeface="微软雅黑" panose="020B0503020204020204" pitchFamily="34" charset="-122"/>
                    <a:cs typeface="Arial" panose="020B0604020202020204" pitchFamily="34" charset="0"/>
                  </a:rPr>
                  <a:t>i</a:t>
                </a:r>
                <a:r>
                  <a:rPr lang="zh-CN" altLang="en-US" dirty="0" smtClean="0">
                    <a:latin typeface="Arial" panose="020B0604020202020204" pitchFamily="34" charset="0"/>
                    <a:ea typeface="微软雅黑" panose="020B0503020204020204" pitchFamily="34" charset="-122"/>
                    <a:cs typeface="Arial" panose="020B0604020202020204" pitchFamily="34" charset="0"/>
                  </a:rPr>
                  <a:t>个分量</a:t>
                </a:r>
                <a:endParaRPr lang="zh-CN" altLang="en-US"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701039" y="3774332"/>
                <a:ext cx="4503259" cy="369332"/>
              </a:xfrm>
              <a:prstGeom prst="rect">
                <a:avLst/>
              </a:prstGeom>
              <a:blipFill rotWithShape="0">
                <a:blip r:embed="rId8"/>
                <a:stretch>
                  <a:fillRect l="-1083"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729592" y="3522104"/>
                <a:ext cx="4192621" cy="743473"/>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列向量：</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1" i="1" smtClean="0">
                            <a:latin typeface="Cambria Math" panose="02040503050406030204" pitchFamily="18" charset="0"/>
                            <a:ea typeface="微软雅黑" panose="020B0503020204020204" pitchFamily="34" charset="-122"/>
                          </a:rPr>
                          <m:t>𝜶</m:t>
                        </m:r>
                      </m:e>
                      <m:sup>
                        <m:r>
                          <m:rPr>
                            <m:sty m:val="p"/>
                          </m:rPr>
                          <a:rPr lang="en-US" altLang="zh-CN" b="0" i="0" smtClean="0">
                            <a:latin typeface="Cambria Math" panose="02040503050406030204" pitchFamily="18" charset="0"/>
                            <a:ea typeface="微软雅黑" panose="020B0503020204020204" pitchFamily="34" charset="-122"/>
                          </a:rPr>
                          <m:t>T</m:t>
                        </m:r>
                      </m:sup>
                    </m:sSup>
                    <m:r>
                      <a:rPr lang="en-US" altLang="zh-CN" b="0" i="1" smtClean="0">
                        <a:latin typeface="Cambria Math" panose="02040503050406030204" pitchFamily="18" charset="0"/>
                        <a:ea typeface="微软雅黑" panose="020B0503020204020204" pitchFamily="34" charset="-122"/>
                      </a:rPr>
                      <m:t>= </m:t>
                    </m:r>
                    <m:d>
                      <m:dPr>
                        <m:ctrlPr>
                          <a:rPr lang="en-US" altLang="zh-CN" b="0" i="1" smtClean="0">
                            <a:latin typeface="Cambria Math" panose="02040503050406030204" pitchFamily="18" charset="0"/>
                            <a:ea typeface="微软雅黑" panose="020B0503020204020204" pitchFamily="34" charset="-122"/>
                          </a:rPr>
                        </m:ctrlPr>
                      </m:dPr>
                      <m:e>
                        <m:f>
                          <m:fPr>
                            <m:type m:val="noBar"/>
                            <m:ctrlPr>
                              <a:rPr lang="en-US" altLang="zh-CN" b="0" i="1" smtClean="0">
                                <a:latin typeface="Cambria Math" panose="02040503050406030204" pitchFamily="18" charset="0"/>
                                <a:ea typeface="微软雅黑" panose="020B0503020204020204" pitchFamily="34" charset="-122"/>
                              </a:rPr>
                            </m:ctrlPr>
                          </m:fPr>
                          <m:num>
                            <m:eqArr>
                              <m:eqArrPr>
                                <m:ctrlPr>
                                  <a:rPr lang="en-US" altLang="zh-CN" b="0" i="1" smtClean="0">
                                    <a:latin typeface="Cambria Math" panose="02040503050406030204" pitchFamily="18" charset="0"/>
                                    <a:ea typeface="微软雅黑" panose="020B0503020204020204" pitchFamily="34" charset="-122"/>
                                  </a:rPr>
                                </m:ctrlPr>
                              </m:eqArr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e>
                              <m:e>
                                <m:r>
                                  <a:rPr lang="en-US" altLang="zh-CN" b="0" i="1" smtClean="0">
                                    <a:latin typeface="Cambria Math" panose="02040503050406030204" pitchFamily="18" charset="0"/>
                                    <a:ea typeface="Cambria Math" panose="02040503050406030204" pitchFamily="18" charset="0"/>
                                  </a:rPr>
                                  <m:t>⋮</m:t>
                                </m:r>
                              </m:e>
                            </m:eqArr>
                          </m:num>
                          <m:den>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𝑛</m:t>
                                </m:r>
                              </m:sub>
                            </m:sSub>
                          </m:den>
                        </m:f>
                      </m:e>
                    </m:d>
                  </m:oMath>
                </a14:m>
                <a:endParaRPr lang="zh-CN" altLang="en-US" dirty="0">
                  <a:latin typeface="微软雅黑" panose="020B0503020204020204" pitchFamily="34" charset="-122"/>
                  <a:ea typeface="微软雅黑" panose="020B0503020204020204" pitchFamily="34"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5729592" y="3522104"/>
                <a:ext cx="4192621" cy="743473"/>
              </a:xfrm>
              <a:prstGeom prst="rect">
                <a:avLst/>
              </a:prstGeom>
              <a:blipFill rotWithShape="0">
                <a:blip r:embed="rId9"/>
                <a:stretch>
                  <a:fillRect l="-1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20711" y="4458219"/>
                <a:ext cx="10945476" cy="1477328"/>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目标：使</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中的任意一个向量都可以</a:t>
                </a:r>
                <a:r>
                  <a:rPr lang="zh-CN" altLang="en-US" sz="2000" dirty="0" smtClean="0">
                    <a:solidFill>
                      <a:srgbClr val="FF0000"/>
                    </a:solidFill>
                    <a:latin typeface="微软雅黑" panose="020B0503020204020204" pitchFamily="34" charset="-122"/>
                    <a:ea typeface="微软雅黑" panose="020B0503020204020204" pitchFamily="34" charset="-122"/>
                  </a:rPr>
                  <a:t>用有限个向量表示</a:t>
                </a:r>
                <a:r>
                  <a:rPr lang="zh-CN" altLang="en-US" sz="2000" dirty="0" smtClean="0">
                    <a:latin typeface="微软雅黑" panose="020B0503020204020204" pitchFamily="34" charset="-122"/>
                    <a:ea typeface="微软雅黑" panose="020B0503020204020204" pitchFamily="34" charset="-122"/>
                  </a:rPr>
                  <a:t>，形如</a:t>
                </a:r>
                <a14:m>
                  <m:oMath xmlns:m="http://schemas.openxmlformats.org/officeDocument/2006/math">
                    <m:r>
                      <a:rPr lang="en-US" altLang="zh-CN" sz="2000" b="1" i="1" smtClean="0">
                        <a:latin typeface="Cambria Math" panose="02040503050406030204" pitchFamily="18" charset="0"/>
                      </a:rPr>
                      <m:t>𝜷</m:t>
                    </m:r>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𝑠</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𝑠</m:t>
                        </m:r>
                      </m:sub>
                    </m:sSub>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（称</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𝜷</m:t>
                    </m:r>
                  </m:oMath>
                </a14:m>
                <a:r>
                  <a:rPr lang="zh-CN" altLang="en-US" sz="2000" dirty="0" smtClean="0">
                    <a:latin typeface="微软雅黑" panose="020B0503020204020204" pitchFamily="34" charset="-122"/>
                    <a:ea typeface="微软雅黑" panose="020B0503020204020204" pitchFamily="34" charset="-122"/>
                  </a:rPr>
                  <a:t>可由</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 …,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𝑠</m:t>
                        </m:r>
                      </m:sub>
                    </m:sSub>
                  </m:oMath>
                </a14:m>
                <a:r>
                  <a:rPr lang="zh-CN" altLang="en-US" sz="2000" dirty="0" smtClean="0">
                    <a:latin typeface="微软雅黑" panose="020B0503020204020204" pitchFamily="34" charset="-122"/>
                    <a:ea typeface="微软雅黑" panose="020B0503020204020204" pitchFamily="34" charset="-122"/>
                  </a:rPr>
                  <a:t>线性表出）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且这样的表示方法是</a:t>
                </a:r>
                <a:r>
                  <a:rPr lang="zh-CN" altLang="en-US" sz="2000" dirty="0" smtClean="0">
                    <a:solidFill>
                      <a:srgbClr val="FF0000"/>
                    </a:solidFill>
                    <a:latin typeface="微软雅黑" panose="020B0503020204020204" pitchFamily="34" charset="-122"/>
                    <a:ea typeface="微软雅黑" panose="020B0503020204020204" pitchFamily="34" charset="-122"/>
                  </a:rPr>
                  <a:t>唯一</a:t>
                </a:r>
                <a:r>
                  <a:rPr lang="zh-CN" altLang="en-US" sz="2000" dirty="0" smtClean="0">
                    <a:latin typeface="微软雅黑" panose="020B0503020204020204" pitchFamily="34" charset="-122"/>
                    <a:ea typeface="微软雅黑" panose="020B0503020204020204" pitchFamily="34" charset="-122"/>
                  </a:rPr>
                  <a:t>的</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20711" y="4458219"/>
                <a:ext cx="10945476" cy="1477328"/>
              </a:xfrm>
              <a:prstGeom prst="rect">
                <a:avLst/>
              </a:prstGeom>
              <a:blipFill rotWithShape="0">
                <a:blip r:embed="rId10"/>
                <a:stretch>
                  <a:fillRect l="-613" b="-24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2273908"/>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Relations of 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1476057" y="1896367"/>
                <a:ext cx="9392286" cy="3323987"/>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如果</a:t>
                </a:r>
                <a14:m>
                  <m:oMath xmlns:m="http://schemas.openxmlformats.org/officeDocument/2006/math">
                    <m:r>
                      <a:rPr lang="en-US" altLang="zh-CN" sz="2000" b="1">
                        <a:latin typeface="Cambria Math" panose="02040503050406030204" pitchFamily="18" charset="0"/>
                      </a:rPr>
                      <m:t>𝐑</m:t>
                    </m:r>
                  </m:oMath>
                </a14:m>
                <a:r>
                  <a:rPr lang="zh-CN" altLang="en-US" sz="2000" dirty="0" smtClean="0">
                    <a:latin typeface="微软雅黑" panose="020B0503020204020204" pitchFamily="34" charset="-122"/>
                    <a:ea typeface="微软雅黑" panose="020B0503020204020204" pitchFamily="34" charset="-122"/>
                  </a:rPr>
                  <a:t>中有</a:t>
                </a:r>
                <a:r>
                  <a:rPr lang="zh-CN" altLang="en-US" sz="2000" dirty="0" smtClean="0">
                    <a:solidFill>
                      <a:srgbClr val="FF0000"/>
                    </a:solidFill>
                    <a:latin typeface="微软雅黑" panose="020B0503020204020204" pitchFamily="34" charset="-122"/>
                    <a:ea typeface="微软雅黑" panose="020B0503020204020204" pitchFamily="34" charset="-122"/>
                  </a:rPr>
                  <a:t>不全为</a:t>
                </a:r>
                <a:r>
                  <a:rPr lang="en-US" altLang="zh-CN" sz="2000" dirty="0" smtClean="0">
                    <a:solidFill>
                      <a:srgbClr val="FF0000"/>
                    </a:solidFill>
                    <a:latin typeface="微软雅黑" panose="020B0503020204020204" pitchFamily="34" charset="-122"/>
                    <a:ea typeface="微软雅黑" panose="020B0503020204020204" pitchFamily="34" charset="-122"/>
                  </a:rPr>
                  <a:t>0</a:t>
                </a:r>
                <a:r>
                  <a:rPr lang="zh-CN" altLang="en-US" sz="2000" dirty="0" smtClean="0">
                    <a:latin typeface="微软雅黑" panose="020B0503020204020204" pitchFamily="34" charset="-122"/>
                    <a:ea typeface="微软雅黑" panose="020B0503020204020204" pitchFamily="34" charset="-122"/>
                  </a:rPr>
                  <a:t>的数</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𝑠</m:t>
                        </m:r>
                      </m:sub>
                    </m:sSub>
                    <m:r>
                      <a:rPr lang="zh-CN" altLang="en-US" sz="2000" i="1">
                        <a:latin typeface="Cambria Math" panose="02040503050406030204" pitchFamily="18" charset="0"/>
                      </a:rPr>
                      <m:t>，</m:t>
                    </m:r>
                  </m:oMath>
                </a14:m>
                <a:r>
                  <a:rPr lang="zh-CN" altLang="en-US" sz="2000" dirty="0" smtClean="0">
                    <a:latin typeface="微软雅黑" panose="020B0503020204020204" pitchFamily="34" charset="-122"/>
                    <a:ea typeface="微软雅黑" panose="020B0503020204020204" pitchFamily="34" charset="-122"/>
                  </a:rPr>
                  <a:t>使得</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1</m:t>
                          </m:r>
                        </m:sub>
                      </m:sSub>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2</m:t>
                          </m:r>
                        </m:sub>
                      </m:sSub>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𝑠</m:t>
                          </m:r>
                        </m:sub>
                      </m:sSub>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𝑠</m:t>
                          </m:r>
                        </m:sub>
                      </m:sSub>
                      <m:r>
                        <a:rPr lang="en-US" altLang="zh-CN" sz="2000" b="0" i="1" smtClean="0">
                          <a:latin typeface="Cambria Math" panose="02040503050406030204" pitchFamily="18" charset="0"/>
                          <a:ea typeface="微软雅黑" panose="020B0503020204020204" pitchFamily="34" charset="-122"/>
                        </a:rPr>
                        <m:t>=0</m:t>
                      </m:r>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称</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 …,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𝑠</m:t>
                        </m:r>
                      </m:sub>
                    </m:sSub>
                  </m:oMath>
                </a14:m>
                <a:r>
                  <a:rPr lang="zh-CN" altLang="en-US" sz="2000" dirty="0" smtClean="0">
                    <a:solidFill>
                      <a:srgbClr val="FF0000"/>
                    </a:solidFill>
                    <a:latin typeface="微软雅黑" panose="020B0503020204020204" pitchFamily="34" charset="-122"/>
                    <a:ea typeface="微软雅黑" panose="020B0503020204020204" pitchFamily="34" charset="-122"/>
                  </a:rPr>
                  <a:t>线性相关</a:t>
                </a:r>
                <a:endParaRPr lang="en-US" altLang="zh-CN" sz="2000" dirty="0" smtClean="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如果从</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𝑘</m:t>
                        </m:r>
                      </m:e>
                      <m:sub>
                        <m:r>
                          <a:rPr lang="en-US" altLang="zh-CN" sz="2000" i="1">
                            <a:latin typeface="Cambria Math" panose="02040503050406030204" pitchFamily="18" charset="0"/>
                            <a:ea typeface="微软雅黑" panose="020B0503020204020204" pitchFamily="34" charset="-122"/>
                          </a:rPr>
                          <m:t>1</m:t>
                        </m:r>
                      </m:sub>
                    </m:sSub>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𝑘</m:t>
                        </m:r>
                      </m:e>
                      <m:sub>
                        <m:r>
                          <a:rPr lang="en-US" altLang="zh-CN" sz="2000" i="1">
                            <a:latin typeface="Cambria Math" panose="02040503050406030204" pitchFamily="18" charset="0"/>
                            <a:ea typeface="微软雅黑" panose="020B0503020204020204" pitchFamily="34" charset="-122"/>
                          </a:rPr>
                          <m:t>2</m:t>
                        </m:r>
                      </m:sub>
                    </m:sSub>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𝑠</m:t>
                        </m:r>
                      </m:sub>
                    </m:sSub>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b="0" i="1" smtClean="0">
                            <a:latin typeface="Cambria Math" panose="02040503050406030204" pitchFamily="18" charset="0"/>
                            <a:ea typeface="微软雅黑" panose="020B0503020204020204" pitchFamily="34" charset="-122"/>
                          </a:rPr>
                          <m:t>𝑠</m:t>
                        </m:r>
                      </m:sub>
                    </m:sSub>
                    <m:r>
                      <a:rPr lang="en-US" altLang="zh-CN" sz="2000" i="1">
                        <a:latin typeface="Cambria Math" panose="02040503050406030204" pitchFamily="18" charset="0"/>
                        <a:ea typeface="微软雅黑" panose="020B0503020204020204" pitchFamily="34" charset="-122"/>
                      </a:rPr>
                      <m:t>=0</m:t>
                    </m:r>
                  </m:oMath>
                </a14:m>
                <a:r>
                  <a:rPr lang="zh-CN" altLang="en-US" sz="2000" dirty="0" smtClean="0">
                    <a:latin typeface="微软雅黑" panose="020B0503020204020204" pitchFamily="34" charset="-122"/>
                    <a:ea typeface="微软雅黑" panose="020B0503020204020204" pitchFamily="34" charset="-122"/>
                  </a:rPr>
                  <a:t>能得到</a:t>
                </a: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𝑘</m:t>
                          </m:r>
                        </m:e>
                        <m:sub>
                          <m:r>
                            <a:rPr lang="en-US" altLang="zh-CN" sz="2000" b="0" i="1" smtClean="0">
                              <a:latin typeface="Cambria Math" panose="02040503050406030204" pitchFamily="18" charset="0"/>
                              <a:ea typeface="微软雅黑" panose="020B0503020204020204" pitchFamily="34" charset="-122"/>
                            </a:rPr>
                            <m:t>𝑠</m:t>
                          </m:r>
                        </m:sub>
                      </m:sSub>
                      <m:r>
                        <a:rPr lang="en-US" altLang="zh-CN" sz="2000" b="0" i="1" smtClean="0">
                          <a:latin typeface="Cambria Math" panose="02040503050406030204" pitchFamily="18" charset="0"/>
                          <a:ea typeface="微软雅黑" panose="020B0503020204020204" pitchFamily="34" charset="-122"/>
                        </a:rPr>
                        <m:t>=0</m:t>
                      </m:r>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称</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 …,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𝑠</m:t>
                        </m:r>
                      </m:sub>
                    </m:sSub>
                  </m:oMath>
                </a14:m>
                <a:r>
                  <a:rPr lang="zh-CN" altLang="en-US" sz="2000" dirty="0" smtClean="0">
                    <a:solidFill>
                      <a:srgbClr val="FF0000"/>
                    </a:solidFill>
                    <a:latin typeface="微软雅黑" panose="020B0503020204020204" pitchFamily="34" charset="-122"/>
                    <a:ea typeface="微软雅黑" panose="020B0503020204020204" pitchFamily="34" charset="-122"/>
                  </a:rPr>
                  <a:t>线性无关</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476057" y="1896367"/>
                <a:ext cx="9392286" cy="3323987"/>
              </a:xfrm>
              <a:prstGeom prst="rect">
                <a:avLst/>
              </a:prstGeom>
              <a:blipFill rotWithShape="0">
                <a:blip r:embed="rId6"/>
                <a:stretch>
                  <a:fillRect l="-649" b="-734"/>
                </a:stretch>
              </a:blipFill>
            </p:spPr>
            <p:txBody>
              <a:bodyPr/>
              <a:lstStyle/>
              <a:p>
                <a:r>
                  <a:rPr lang="zh-CN" altLang="en-US">
                    <a:noFill/>
                  </a:rPr>
                  <a:t> </a:t>
                </a:r>
              </a:p>
            </p:txBody>
          </p:sp>
        </mc:Fallback>
      </mc:AlternateContent>
      <p:sp>
        <p:nvSpPr>
          <p:cNvPr id="4" name="文本框 3"/>
          <p:cNvSpPr txBox="1"/>
          <p:nvPr/>
        </p:nvSpPr>
        <p:spPr>
          <a:xfrm>
            <a:off x="499110" y="1025801"/>
            <a:ext cx="421957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向量的线性相关与线性无关</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093750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Relations of 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499110" y="1025801"/>
            <a:ext cx="421957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线性无关</a:t>
            </a:r>
            <a:r>
              <a:rPr lang="zh-CN" altLang="en-US" sz="2400" b="1" dirty="0">
                <a:latin typeface="微软雅黑" panose="020B0503020204020204" pitchFamily="34" charset="-122"/>
                <a:ea typeface="微软雅黑" panose="020B0503020204020204" pitchFamily="34" charset="-122"/>
              </a:rPr>
              <a:t>向量</a:t>
            </a:r>
            <a:r>
              <a:rPr lang="zh-CN" altLang="en-US" sz="2400" b="1" dirty="0" smtClean="0">
                <a:latin typeface="微软雅黑" panose="020B0503020204020204" pitchFamily="34" charset="-122"/>
                <a:ea typeface="微软雅黑" panose="020B0503020204020204" pitchFamily="34" charset="-122"/>
              </a:rPr>
              <a:t>的性质</a:t>
            </a:r>
            <a:endParaRPr lang="zh-CN" altLang="en-US" sz="2400" b="1" dirty="0">
              <a:latin typeface="微软雅黑" panose="020B0503020204020204" pitchFamily="34" charset="-122"/>
              <a:ea typeface="微软雅黑" panose="020B0503020204020204" pitchFamily="34" charset="-122"/>
            </a:endParaRPr>
          </a:p>
        </p:txBody>
      </p:sp>
      <p:sp>
        <p:nvSpPr>
          <p:cNvPr id="15" name="圆角矩形 14"/>
          <p:cNvSpPr/>
          <p:nvPr/>
        </p:nvSpPr>
        <p:spPr>
          <a:xfrm>
            <a:off x="954699" y="2160667"/>
            <a:ext cx="7916739" cy="104322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954699" y="1588016"/>
                <a:ext cx="8224470" cy="1523494"/>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线性表出上看</a:t>
                </a:r>
                <a:r>
                  <a:rPr lang="zh-CN" altLang="en-US" sz="2000" dirty="0" smtClean="0"/>
                  <a:t>：</a:t>
                </a:r>
                <a:endParaRPr lang="en-US" altLang="zh-CN" sz="2000" dirty="0" smtClean="0"/>
              </a:p>
              <a:p>
                <a:pPr>
                  <a:lnSpc>
                    <a:spcPct val="150000"/>
                  </a:lnSpc>
                </a:pP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 …,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𝑠</m:t>
                        </m:r>
                      </m:sub>
                    </m:sSub>
                  </m:oMath>
                </a14:m>
                <a:r>
                  <a:rPr lang="zh-CN" altLang="en-US" sz="2000" dirty="0">
                    <a:latin typeface="微软雅黑" panose="020B0503020204020204" pitchFamily="34" charset="-122"/>
                    <a:ea typeface="微软雅黑" panose="020B0503020204020204" pitchFamily="34" charset="-122"/>
                  </a:rPr>
                  <a:t>线性</a:t>
                </a:r>
                <a:r>
                  <a:rPr lang="zh-CN" altLang="en-US" sz="2000" dirty="0" smtClean="0">
                    <a:latin typeface="微软雅黑" panose="020B0503020204020204" pitchFamily="34" charset="-122"/>
                    <a:ea typeface="微软雅黑" panose="020B0503020204020204" pitchFamily="34" charset="-122"/>
                  </a:rPr>
                  <a:t>相关</a:t>
                </a:r>
                <a14:m>
                  <m:oMath xmlns:m="http://schemas.openxmlformats.org/officeDocument/2006/math">
                    <m:r>
                      <a:rPr lang="en-US" altLang="zh-CN" sz="2000" i="1" dirty="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其中至少有一</a:t>
                </a:r>
                <a:r>
                  <a:rPr lang="zh-CN" altLang="en-US" sz="2000" dirty="0">
                    <a:latin typeface="微软雅黑" panose="020B0503020204020204" pitchFamily="34" charset="-122"/>
                    <a:ea typeface="微软雅黑" panose="020B0503020204020204" pitchFamily="34" charset="-122"/>
                  </a:rPr>
                  <a:t>个</a:t>
                </a:r>
                <a:r>
                  <a:rPr lang="zh-CN" altLang="en-US" sz="2000" dirty="0" smtClean="0">
                    <a:latin typeface="微软雅黑" panose="020B0503020204020204" pitchFamily="34" charset="-122"/>
                    <a:ea typeface="微软雅黑" panose="020B0503020204020204" pitchFamily="34" charset="-122"/>
                  </a:rPr>
                  <a:t>向量可以由</a:t>
                </a:r>
                <a:r>
                  <a:rPr lang="zh-CN" altLang="en-US" sz="2000" dirty="0">
                    <a:latin typeface="微软雅黑" panose="020B0503020204020204" pitchFamily="34" charset="-122"/>
                    <a:ea typeface="微软雅黑" panose="020B0503020204020204" pitchFamily="34" charset="-122"/>
                  </a:rPr>
                  <a:t>其它向量线性表</a:t>
                </a:r>
                <a:r>
                  <a:rPr lang="zh-CN" altLang="en-US" sz="2000" dirty="0" smtClean="0">
                    <a:latin typeface="微软雅黑" panose="020B0503020204020204" pitchFamily="34" charset="-122"/>
                    <a:ea typeface="微软雅黑" panose="020B0503020204020204" pitchFamily="34" charset="-122"/>
                  </a:rPr>
                  <a:t>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p>
            </p:txBody>
          </p:sp>
        </mc:Choice>
        <mc:Fallback xmlns="">
          <p:sp>
            <p:nvSpPr>
              <p:cNvPr id="2" name="文本框 1"/>
              <p:cNvSpPr txBox="1">
                <a:spLocks noRot="1" noChangeAspect="1" noMove="1" noResize="1" noEditPoints="1" noAdjustHandles="1" noChangeArrowheads="1" noChangeShapeType="1" noTextEdit="1"/>
              </p:cNvSpPr>
              <p:nvPr/>
            </p:nvSpPr>
            <p:spPr>
              <a:xfrm>
                <a:off x="954699" y="1588016"/>
                <a:ext cx="8224470" cy="1523494"/>
              </a:xfrm>
              <a:prstGeom prst="rect">
                <a:avLst/>
              </a:prstGeom>
              <a:blipFill rotWithShape="0">
                <a:blip r:embed="rId6"/>
                <a:stretch>
                  <a:fillRect l="-11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954699" y="2557512"/>
                <a:ext cx="7758807" cy="553998"/>
              </a:xfrm>
              <a:prstGeom prst="rect">
                <a:avLst/>
              </a:prstGeom>
            </p:spPr>
            <p:txBody>
              <a:bodyPr wrap="square">
                <a:spAutoFit/>
              </a:bodyPr>
              <a:lstStyle/>
              <a:p>
                <a:pPr>
                  <a:lnSpc>
                    <a:spcPct val="150000"/>
                  </a:lnSpc>
                </a:pP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 …,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𝑠</m:t>
                        </m:r>
                      </m:sub>
                    </m:sSub>
                  </m:oMath>
                </a14:m>
                <a:r>
                  <a:rPr lang="zh-CN" altLang="en-US" sz="2000" dirty="0">
                    <a:latin typeface="微软雅黑" panose="020B0503020204020204" pitchFamily="34" charset="-122"/>
                    <a:ea typeface="微软雅黑" panose="020B0503020204020204" pitchFamily="34" charset="-122"/>
                  </a:rPr>
                  <a:t>线性无关</a:t>
                </a:r>
                <a14:m>
                  <m:oMath xmlns:m="http://schemas.openxmlformats.org/officeDocument/2006/math">
                    <m:r>
                      <a:rPr lang="en-US" altLang="zh-CN" sz="2000" i="1" dirty="0">
                        <a:latin typeface="Cambria Math" panose="02040503050406030204" pitchFamily="18" charset="0"/>
                        <a:ea typeface="微软雅黑" panose="020B0503020204020204" pitchFamily="34" charset="-122"/>
                      </a:rPr>
                      <m:t>⟺</m:t>
                    </m:r>
                  </m:oMath>
                </a14:m>
                <a:r>
                  <a:rPr lang="zh-CN" altLang="en-US" sz="2000" dirty="0">
                    <a:latin typeface="微软雅黑" panose="020B0503020204020204" pitchFamily="34" charset="-122"/>
                    <a:ea typeface="微软雅黑" panose="020B0503020204020204" pitchFamily="34" charset="-122"/>
                  </a:rPr>
                  <a:t>其中每一个向量都不能由其它向量线性表出</a:t>
                </a:r>
              </a:p>
            </p:txBody>
          </p:sp>
        </mc:Choice>
        <mc:Fallback xmlns="">
          <p:sp>
            <p:nvSpPr>
              <p:cNvPr id="5" name="矩形 4"/>
              <p:cNvSpPr>
                <a:spLocks noRot="1" noChangeAspect="1" noMove="1" noResize="1" noEditPoints="1" noAdjustHandles="1" noChangeArrowheads="1" noChangeShapeType="1" noTextEdit="1"/>
              </p:cNvSpPr>
              <p:nvPr/>
            </p:nvSpPr>
            <p:spPr>
              <a:xfrm>
                <a:off x="954699" y="2557512"/>
                <a:ext cx="7758807" cy="553998"/>
              </a:xfrm>
              <a:prstGeom prst="rect">
                <a:avLst/>
              </a:prstGeom>
              <a:blipFill rotWithShape="0">
                <a:blip r:embed="rId7"/>
                <a:stretch>
                  <a:fillRect r="-157" b="-10000"/>
                </a:stretch>
              </a:blipFill>
            </p:spPr>
            <p:txBody>
              <a:bodyPr/>
              <a:lstStyle/>
              <a:p>
                <a:r>
                  <a:rPr lang="zh-CN" altLang="en-US">
                    <a:noFill/>
                  </a:rPr>
                  <a:t> </a:t>
                </a:r>
              </a:p>
            </p:txBody>
          </p:sp>
        </mc:Fallback>
      </mc:AlternateContent>
      <p:pic>
        <p:nvPicPr>
          <p:cNvPr id="6" name="图片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5436" y="3311357"/>
            <a:ext cx="7047619" cy="2133333"/>
          </a:xfrm>
          <a:prstGeom prst="rect">
            <a:avLst/>
          </a:prstGeom>
        </p:spPr>
      </p:pic>
      <p:sp>
        <p:nvSpPr>
          <p:cNvPr id="7" name="文本框 6"/>
          <p:cNvSpPr txBox="1"/>
          <p:nvPr/>
        </p:nvSpPr>
        <p:spPr>
          <a:xfrm>
            <a:off x="980747" y="5829300"/>
            <a:ext cx="4233091"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寻找</a:t>
            </a:r>
            <a:r>
              <a:rPr lang="zh-CN" altLang="en-US" sz="2000" dirty="0" smtClean="0">
                <a:solidFill>
                  <a:srgbClr val="FF0000"/>
                </a:solidFill>
                <a:latin typeface="微软雅黑" panose="020B0503020204020204" pitchFamily="34" charset="-122"/>
                <a:ea typeface="微软雅黑" panose="020B0503020204020204" pitchFamily="34" charset="-122"/>
              </a:rPr>
              <a:t>尽可能多</a:t>
            </a:r>
            <a:r>
              <a:rPr lang="zh-CN" altLang="en-US" sz="2000" dirty="0" smtClean="0">
                <a:latin typeface="微软雅黑" panose="020B0503020204020204" pitchFamily="34" charset="-122"/>
                <a:ea typeface="微软雅黑" panose="020B0503020204020204" pitchFamily="34" charset="-122"/>
              </a:rPr>
              <a:t>的线性无关向量</a:t>
            </a:r>
            <a:endParaRPr lang="zh-CN" altLang="en-US" sz="2000" dirty="0">
              <a:latin typeface="微软雅黑" panose="020B0503020204020204" pitchFamily="34" charset="-122"/>
              <a:ea typeface="微软雅黑" panose="020B0503020204020204" pitchFamily="34" charset="-122"/>
            </a:endParaRPr>
          </a:p>
        </p:txBody>
      </p:sp>
      <p:sp>
        <p:nvSpPr>
          <p:cNvPr id="13" name="圆角矩形 12"/>
          <p:cNvSpPr/>
          <p:nvPr/>
        </p:nvSpPr>
        <p:spPr>
          <a:xfrm>
            <a:off x="980747" y="5736918"/>
            <a:ext cx="3538499" cy="583857"/>
          </a:xfrm>
          <a:prstGeom prst="roundRect">
            <a:avLst/>
          </a:prstGeom>
          <a:noFill/>
          <a:ln w="381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144023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Relations of 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499110" y="1025801"/>
            <a:ext cx="421957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线性无关</a:t>
            </a:r>
            <a:r>
              <a:rPr lang="zh-CN" altLang="en-US" sz="2400" b="1" dirty="0">
                <a:latin typeface="微软雅黑" panose="020B0503020204020204" pitchFamily="34" charset="-122"/>
                <a:ea typeface="微软雅黑" panose="020B0503020204020204" pitchFamily="34" charset="-122"/>
              </a:rPr>
              <a:t>向量</a:t>
            </a:r>
            <a:r>
              <a:rPr lang="zh-CN" altLang="en-US" sz="2400" b="1" dirty="0" smtClean="0">
                <a:latin typeface="微软雅黑" panose="020B0503020204020204" pitchFamily="34" charset="-122"/>
                <a:ea typeface="微软雅黑" panose="020B0503020204020204" pitchFamily="34" charset="-122"/>
              </a:rPr>
              <a:t>的性质</a:t>
            </a:r>
            <a:endParaRPr lang="zh-CN" altLang="en-US" sz="2400" b="1" dirty="0">
              <a:latin typeface="微软雅黑" panose="020B0503020204020204" pitchFamily="34" charset="-122"/>
              <a:ea typeface="微软雅黑" panose="020B0503020204020204" pitchFamily="34" charset="-122"/>
            </a:endParaRPr>
          </a:p>
        </p:txBody>
      </p:sp>
      <p:sp>
        <p:nvSpPr>
          <p:cNvPr id="10" name="圆角矩形 9"/>
          <p:cNvSpPr/>
          <p:nvPr/>
        </p:nvSpPr>
        <p:spPr>
          <a:xfrm>
            <a:off x="980747" y="2626254"/>
            <a:ext cx="4602368" cy="96108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954699" y="1588016"/>
                <a:ext cx="4804263" cy="2031325"/>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表出方式上看</a:t>
                </a:r>
                <a:r>
                  <a:rPr lang="zh-CN" altLang="en-US" sz="2000" dirty="0" smtClean="0"/>
                  <a:t>：</a:t>
                </a:r>
                <a:endParaRPr lang="en-US" altLang="zh-CN" sz="2000" dirty="0" smtClean="0"/>
              </a:p>
              <a:p>
                <a:pPr>
                  <a:lnSpc>
                    <a:spcPct val="150000"/>
                  </a:lnSpc>
                </a:pPr>
                <a:r>
                  <a:rPr lang="zh-CN" altLang="en-US" sz="2000" dirty="0" smtClean="0">
                    <a:latin typeface="微软雅黑" panose="020B0503020204020204" pitchFamily="34" charset="-122"/>
                    <a:ea typeface="微软雅黑" panose="020B0503020204020204" pitchFamily="34" charset="-122"/>
                  </a:rPr>
                  <a:t>设向量</a:t>
                </a:r>
                <a14:m>
                  <m:oMath xmlns:m="http://schemas.openxmlformats.org/officeDocument/2006/math">
                    <m:r>
                      <a:rPr lang="en-US" altLang="zh-CN" sz="2000" b="1" i="1" smtClean="0">
                        <a:latin typeface="Cambria Math" panose="02040503050406030204" pitchFamily="18" charset="0"/>
                      </a:rPr>
                      <m:t>𝜷</m:t>
                    </m:r>
                  </m:oMath>
                </a14:m>
                <a:r>
                  <a:rPr lang="zh-CN" altLang="en-US" sz="2000" dirty="0" smtClean="0">
                    <a:latin typeface="微软雅黑" panose="020B0503020204020204" pitchFamily="34" charset="-122"/>
                    <a:ea typeface="微软雅黑" panose="020B0503020204020204" pitchFamily="34" charset="-122"/>
                  </a:rPr>
                  <a:t>可以被</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 …,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𝑠</m:t>
                        </m:r>
                      </m:sub>
                    </m:sSub>
                  </m:oMath>
                </a14:m>
                <a:r>
                  <a:rPr lang="zh-CN" altLang="en-US" sz="2000" dirty="0" smtClean="0">
                    <a:latin typeface="微软雅黑" panose="020B0503020204020204" pitchFamily="34" charset="-122"/>
                    <a:ea typeface="微软雅黑" panose="020B0503020204020204" pitchFamily="34" charset="-122"/>
                  </a:rPr>
                  <a:t>线性表出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 …,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𝜶</m:t>
                        </m:r>
                      </m:e>
                      <m:sub>
                        <m:r>
                          <a:rPr lang="en-US" altLang="zh-CN" sz="2000" i="1">
                            <a:latin typeface="Cambria Math" panose="02040503050406030204" pitchFamily="18" charset="0"/>
                            <a:ea typeface="微软雅黑" panose="020B0503020204020204" pitchFamily="34" charset="-122"/>
                          </a:rPr>
                          <m:t>𝑠</m:t>
                        </m:r>
                      </m:sub>
                    </m:sSub>
                  </m:oMath>
                </a14:m>
                <a:r>
                  <a:rPr lang="zh-CN" altLang="en-US" sz="2000" dirty="0">
                    <a:latin typeface="微软雅黑" panose="020B0503020204020204" pitchFamily="34" charset="-122"/>
                    <a:ea typeface="微软雅黑" panose="020B0503020204020204" pitchFamily="34" charset="-122"/>
                  </a:rPr>
                  <a:t>线性</a:t>
                </a:r>
                <a:r>
                  <a:rPr lang="zh-CN" altLang="en-US" sz="2000" dirty="0" smtClean="0">
                    <a:latin typeface="微软雅黑" panose="020B0503020204020204" pitchFamily="34" charset="-122"/>
                    <a:ea typeface="微软雅黑" panose="020B0503020204020204" pitchFamily="34" charset="-122"/>
                  </a:rPr>
                  <a:t>相关</a:t>
                </a:r>
                <a14:m>
                  <m:oMath xmlns:m="http://schemas.openxmlformats.org/officeDocument/2006/math">
                    <m:r>
                      <a:rPr lang="en-US" altLang="zh-CN" sz="2000" i="1" dirty="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表出方式不唯一</a:t>
                </a:r>
              </a:p>
              <a:p>
                <a:pPr>
                  <a:lnSpc>
                    <a:spcPct val="150000"/>
                  </a:lnSpc>
                </a:pPr>
                <a:r>
                  <a:rPr lang="zh-CN" altLang="en-US" sz="2000" dirty="0">
                    <a:latin typeface="微软雅黑" panose="020B0503020204020204" pitchFamily="34" charset="-122"/>
                    <a:ea typeface="微软雅黑" panose="020B0503020204020204" pitchFamily="34" charset="-122"/>
                  </a:rPr>
                  <a:t>线性无关</a:t>
                </a:r>
                <a14:m>
                  <m:oMath xmlns:m="http://schemas.openxmlformats.org/officeDocument/2006/math">
                    <m:r>
                      <a:rPr lang="en-US" altLang="zh-CN" sz="2000" i="1" dirty="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表出方式唯一</a:t>
                </a:r>
                <a:endParaRPr lang="en-US" altLang="zh-CN" sz="2000" dirty="0" smtClean="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954699" y="1588016"/>
                <a:ext cx="4804263" cy="2031325"/>
              </a:xfrm>
              <a:prstGeom prst="rect">
                <a:avLst/>
              </a:prstGeom>
              <a:blipFill rotWithShape="0">
                <a:blip r:embed="rId6"/>
                <a:stretch>
                  <a:fillRect l="-2030" b="-1802"/>
                </a:stretch>
              </a:blipFill>
            </p:spPr>
            <p:txBody>
              <a:bodyPr/>
              <a:lstStyle/>
              <a:p>
                <a:r>
                  <a:rPr lang="zh-CN" altLang="en-US">
                    <a:noFill/>
                  </a:rPr>
                  <a:t> </a:t>
                </a:r>
              </a:p>
            </p:txBody>
          </p:sp>
        </mc:Fallback>
      </mc:AlternateContent>
      <p:sp>
        <p:nvSpPr>
          <p:cNvPr id="5" name="矩形 4"/>
          <p:cNvSpPr/>
          <p:nvPr/>
        </p:nvSpPr>
        <p:spPr>
          <a:xfrm>
            <a:off x="980747" y="4859618"/>
            <a:ext cx="7758807" cy="499624"/>
          </a:xfrm>
          <a:prstGeom prst="rect">
            <a:avLst/>
          </a:prstGeom>
        </p:spPr>
        <p:txBody>
          <a:bodyPr wrap="square">
            <a:spAutoFit/>
          </a:bodyP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980747" y="5829300"/>
            <a:ext cx="4233091"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寻找</a:t>
            </a:r>
            <a:r>
              <a:rPr lang="zh-CN" altLang="en-US" sz="2000" dirty="0" smtClean="0">
                <a:solidFill>
                  <a:srgbClr val="FF0000"/>
                </a:solidFill>
                <a:latin typeface="微软雅黑" panose="020B0503020204020204" pitchFamily="34" charset="-122"/>
                <a:ea typeface="微软雅黑" panose="020B0503020204020204" pitchFamily="34" charset="-122"/>
              </a:rPr>
              <a:t>尽可能多</a:t>
            </a:r>
            <a:r>
              <a:rPr lang="zh-CN" altLang="en-US" sz="2000" dirty="0" smtClean="0">
                <a:latin typeface="微软雅黑" panose="020B0503020204020204" pitchFamily="34" charset="-122"/>
                <a:ea typeface="微软雅黑" panose="020B0503020204020204" pitchFamily="34" charset="-122"/>
              </a:rPr>
              <a:t>的线性无关向量</a:t>
            </a:r>
            <a:endParaRPr lang="zh-CN" altLang="en-US" sz="20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96183" y="2113371"/>
            <a:ext cx="5276190" cy="609524"/>
          </a:xfrm>
          <a:prstGeom prst="rect">
            <a:avLst/>
          </a:prstGeom>
        </p:spPr>
      </p:pic>
      <p:pic>
        <p:nvPicPr>
          <p:cNvPr id="9" name="图片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96183" y="2892762"/>
            <a:ext cx="5276190" cy="3333333"/>
          </a:xfrm>
          <a:prstGeom prst="rect">
            <a:avLst/>
          </a:prstGeom>
        </p:spPr>
      </p:pic>
      <p:sp>
        <p:nvSpPr>
          <p:cNvPr id="15" name="圆角矩形 14"/>
          <p:cNvSpPr/>
          <p:nvPr/>
        </p:nvSpPr>
        <p:spPr>
          <a:xfrm>
            <a:off x="1072662" y="5736918"/>
            <a:ext cx="3385038" cy="583857"/>
          </a:xfrm>
          <a:prstGeom prst="roundRect">
            <a:avLst/>
          </a:prstGeom>
          <a:noFill/>
          <a:ln w="381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0886065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Relations of vectors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499110" y="1025801"/>
            <a:ext cx="421957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极大线性无关组</a:t>
            </a:r>
            <a:endParaRPr lang="zh-CN" altLang="en-US" sz="2400" b="1" dirty="0">
              <a:latin typeface="微软雅黑" panose="020B0503020204020204" pitchFamily="34" charset="-122"/>
              <a:ea typeface="微软雅黑" panose="020B0503020204020204" pitchFamily="34" charset="-122"/>
            </a:endParaRPr>
          </a:p>
        </p:txBody>
      </p:sp>
      <p:sp>
        <p:nvSpPr>
          <p:cNvPr id="5" name="矩形 4"/>
          <p:cNvSpPr/>
          <p:nvPr/>
        </p:nvSpPr>
        <p:spPr>
          <a:xfrm>
            <a:off x="980747" y="4859618"/>
            <a:ext cx="7758807" cy="499624"/>
          </a:xfrm>
          <a:prstGeom prst="rect">
            <a:avLst/>
          </a:prstGeom>
        </p:spPr>
        <p:txBody>
          <a:bodyPr wrap="square">
            <a:spAutoFit/>
          </a:bodyP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6" name="圆角矩形 15"/>
          <p:cNvSpPr/>
          <p:nvPr/>
        </p:nvSpPr>
        <p:spPr>
          <a:xfrm>
            <a:off x="980747" y="1461157"/>
            <a:ext cx="8690791" cy="134062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p:cNvSpPr txBox="1"/>
              <p:nvPr/>
            </p:nvSpPr>
            <p:spPr>
              <a:xfrm>
                <a:off x="1081454" y="1615207"/>
                <a:ext cx="8449408" cy="1094915"/>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对于一个向量组</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r>
                      <a:rPr lang="en-US" altLang="zh-CN" sz="200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b="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取其中一个部分组</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1</m:t>
                            </m:r>
                          </m:sub>
                        </m:sSub>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2</m:t>
                            </m:r>
                          </m:sub>
                        </m:sSub>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𝑟</m:t>
                            </m:r>
                          </m:sub>
                        </m:sSub>
                      </m:sub>
                    </m:sSub>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&lt;</m:t>
                    </m:r>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oMath>
                </a14:m>
                <a:endParaRPr lang="en-US" altLang="zh-CN" sz="2000" b="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如果</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1</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2</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𝑟</m:t>
                            </m:r>
                          </m:sub>
                        </m:sSub>
                      </m:sub>
                    </m:sSub>
                  </m:oMath>
                </a14:m>
                <a:r>
                  <a:rPr lang="zh-CN" altLang="en-US" sz="2000" b="0" dirty="0" smtClean="0">
                    <a:latin typeface="微软雅黑" panose="020B0503020204020204" pitchFamily="34" charset="-122"/>
                    <a:ea typeface="微软雅黑" panose="020B0503020204020204" pitchFamily="34" charset="-122"/>
                  </a:rPr>
                  <a:t>线性无关，但加入向量组中其它</a:t>
                </a:r>
                <a:r>
                  <a:rPr lang="zh-CN" altLang="en-US" sz="2000" b="0" dirty="0" smtClean="0">
                    <a:solidFill>
                      <a:srgbClr val="FF0000"/>
                    </a:solidFill>
                    <a:latin typeface="微软雅黑" panose="020B0503020204020204" pitchFamily="34" charset="-122"/>
                    <a:ea typeface="微软雅黑" panose="020B0503020204020204" pitchFamily="34" charset="-122"/>
                  </a:rPr>
                  <a:t>任一向量</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𝜷</m:t>
                    </m:r>
                  </m:oMath>
                </a14:m>
                <a:r>
                  <a:rPr lang="zh-CN" altLang="en-US" sz="2000" b="0" dirty="0" smtClean="0">
                    <a:latin typeface="微软雅黑" panose="020B0503020204020204" pitchFamily="34" charset="-122"/>
                    <a:ea typeface="微软雅黑" panose="020B0503020204020204" pitchFamily="34" charset="-122"/>
                  </a:rPr>
                  <a:t>后，</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1</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2</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𝑟</m:t>
                            </m:r>
                          </m:sub>
                        </m:sSub>
                      </m:sub>
                    </m:sSub>
                    <m:r>
                      <a:rPr lang="en-US" altLang="zh-CN" sz="2000" b="0" i="1" smtClean="0">
                        <a:latin typeface="Cambria Math" panose="02040503050406030204" pitchFamily="18" charset="0"/>
                      </a:rPr>
                      <m:t>, </m:t>
                    </m:r>
                    <m:r>
                      <a:rPr lang="en-US" altLang="zh-CN" sz="2000" b="1" i="1" smtClean="0">
                        <a:latin typeface="Cambria Math" panose="02040503050406030204" pitchFamily="18" charset="0"/>
                      </a:rPr>
                      <m:t>𝜷</m:t>
                    </m:r>
                  </m:oMath>
                </a14:m>
                <a:r>
                  <a:rPr lang="zh-CN" altLang="en-US" sz="2000" dirty="0" smtClean="0">
                    <a:latin typeface="微软雅黑" panose="020B0503020204020204" pitchFamily="34" charset="-122"/>
                    <a:ea typeface="微软雅黑" panose="020B0503020204020204" pitchFamily="34" charset="-122"/>
                  </a:rPr>
                  <a:t>线性相关，称</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1</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2</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𝑟</m:t>
                            </m:r>
                          </m:sub>
                        </m:sSub>
                      </m:sub>
                    </m:sSub>
                  </m:oMath>
                </a14:m>
                <a:r>
                  <a:rPr lang="zh-CN" altLang="en-US" sz="2000" dirty="0" smtClean="0">
                    <a:latin typeface="微软雅黑" panose="020B0503020204020204" pitchFamily="34" charset="-122"/>
                    <a:ea typeface="微软雅黑" panose="020B0503020204020204" pitchFamily="34" charset="-122"/>
                  </a:rPr>
                  <a:t>是一个极大线性无关组</a:t>
                </a:r>
                <a:endParaRPr lang="en-US" altLang="zh-CN" sz="2000" dirty="0" smtClean="0">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081454" y="1615207"/>
                <a:ext cx="8449408" cy="1094915"/>
              </a:xfrm>
              <a:prstGeom prst="rect">
                <a:avLst/>
              </a:prstGeom>
              <a:blipFill rotWithShape="0">
                <a:blip r:embed="rId5"/>
                <a:stretch>
                  <a:fillRect l="-722" t="-3333" b="-6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80747" y="3087798"/>
                <a:ext cx="10243038" cy="428707"/>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对于</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r>
                      <a:rPr lang="en-US" altLang="zh-CN" sz="200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，极大线性无关组的选取方式不止一种，还可以选取</a:t>
                </a:r>
                <a14:m>
                  <m:oMath xmlns:m="http://schemas.openxmlformats.org/officeDocument/2006/math">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𝜷</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b="0" i="1" smtClean="0">
                                <a:latin typeface="Cambria Math" panose="02040503050406030204" pitchFamily="18" charset="0"/>
                              </a:rPr>
                              <m:t>1</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𝜷</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i="1">
                                <a:latin typeface="Cambria Math" panose="02040503050406030204" pitchFamily="18" charset="0"/>
                              </a:rPr>
                              <m:t>2</m:t>
                            </m:r>
                          </m:sub>
                        </m:sSub>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𝜷</m:t>
                        </m:r>
                      </m:e>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𝑖</m:t>
                            </m:r>
                          </m:e>
                          <m:sub>
                            <m:r>
                              <a:rPr lang="en-US" altLang="zh-CN" sz="2000" b="0" i="1" smtClean="0">
                                <a:latin typeface="Cambria Math" panose="02040503050406030204" pitchFamily="18" charset="0"/>
                              </a:rPr>
                              <m:t>𝑙</m:t>
                            </m:r>
                          </m:sub>
                        </m:sSub>
                      </m:sub>
                    </m:sSub>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&lt;</m:t>
                    </m:r>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80747" y="3087798"/>
                <a:ext cx="10243038" cy="428707"/>
              </a:xfrm>
              <a:prstGeom prst="rect">
                <a:avLst/>
              </a:prstGeom>
              <a:blipFill rotWithShape="0">
                <a:blip r:embed="rId6"/>
                <a:stretch>
                  <a:fillRect l="-655" t="-8571" r="-298" b="-18571"/>
                </a:stretch>
              </a:blipFill>
            </p:spPr>
            <p:txBody>
              <a:bodyPr/>
              <a:lstStyle/>
              <a:p>
                <a:r>
                  <a:rPr lang="zh-CN" altLang="en-US">
                    <a:noFill/>
                  </a:rPr>
                  <a:t> </a:t>
                </a:r>
              </a:p>
            </p:txBody>
          </p:sp>
        </mc:Fallback>
      </mc:AlternateContent>
      <p:sp>
        <p:nvSpPr>
          <p:cNvPr id="10" name="文本框 9"/>
          <p:cNvSpPr txBox="1"/>
          <p:nvPr/>
        </p:nvSpPr>
        <p:spPr>
          <a:xfrm>
            <a:off x="1081454" y="3546529"/>
            <a:ext cx="7112977" cy="961289"/>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定理：向量组任意两个极大线性无关组所含的向量</a:t>
            </a:r>
            <a:r>
              <a:rPr lang="zh-CN" altLang="en-US" sz="2000" dirty="0" smtClean="0">
                <a:solidFill>
                  <a:srgbClr val="FF0000"/>
                </a:solidFill>
                <a:latin typeface="微软雅黑" panose="020B0503020204020204" pitchFamily="34" charset="-122"/>
                <a:ea typeface="微软雅黑" panose="020B0503020204020204" pitchFamily="34" charset="-122"/>
              </a:rPr>
              <a:t>个数相等</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定义：向量组极大线性无关组所含向量</a:t>
            </a:r>
            <a:r>
              <a:rPr lang="zh-CN" altLang="en-US" sz="2000" dirty="0" smtClean="0">
                <a:solidFill>
                  <a:srgbClr val="FF0000"/>
                </a:solidFill>
                <a:latin typeface="微软雅黑" panose="020B0503020204020204" pitchFamily="34" charset="-122"/>
                <a:ea typeface="微软雅黑" panose="020B0503020204020204" pitchFamily="34" charset="-122"/>
              </a:rPr>
              <a:t>个数</a:t>
            </a:r>
            <a:r>
              <a:rPr lang="zh-CN" altLang="en-US" sz="2000" dirty="0" smtClean="0">
                <a:latin typeface="微软雅黑" panose="020B0503020204020204" pitchFamily="34" charset="-122"/>
                <a:ea typeface="微软雅黑" panose="020B0503020204020204" pitchFamily="34" charset="-122"/>
              </a:rPr>
              <a:t>称为向量组的</a:t>
            </a:r>
            <a:r>
              <a:rPr lang="zh-CN" altLang="en-US" sz="2000" dirty="0" smtClean="0">
                <a:solidFill>
                  <a:srgbClr val="FF0000"/>
                </a:solidFill>
                <a:latin typeface="微软雅黑" panose="020B0503020204020204" pitchFamily="34" charset="-122"/>
                <a:ea typeface="微软雅黑" panose="020B0503020204020204" pitchFamily="34" charset="-122"/>
              </a:rPr>
              <a:t>秩</a:t>
            </a:r>
            <a:endParaRPr lang="zh-CN" altLang="en-US" sz="2000"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文本框 11"/>
              <p:cNvSpPr txBox="1"/>
              <p:nvPr/>
            </p:nvSpPr>
            <p:spPr>
              <a:xfrm>
                <a:off x="1081454" y="4546990"/>
                <a:ext cx="7596555" cy="707886"/>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如果一个向量组的秩为</a:t>
                </a:r>
                <a14:m>
                  <m:oMath xmlns:m="http://schemas.openxmlformats.org/officeDocument/2006/math">
                    <m:r>
                      <a:rPr lang="en-US" altLang="zh-CN" sz="2000" b="0" i="1" smtClean="0">
                        <a:latin typeface="Cambria Math" panose="02040503050406030204" pitchFamily="18" charset="0"/>
                      </a:rPr>
                      <m:t>𝑟</m:t>
                    </m:r>
                  </m:oMath>
                </a14:m>
                <a:r>
                  <a:rPr lang="zh-CN" altLang="en-US" sz="2000" dirty="0" smtClean="0">
                    <a:latin typeface="微软雅黑" panose="020B0503020204020204" pitchFamily="34" charset="-122"/>
                    <a:ea typeface="微软雅黑" panose="020B0503020204020204" pitchFamily="34" charset="-122"/>
                  </a:rPr>
                  <a:t>，那么在向量组中</a:t>
                </a:r>
                <a:r>
                  <a:rPr lang="zh-CN" altLang="en-US" sz="2000" dirty="0" smtClean="0">
                    <a:solidFill>
                      <a:srgbClr val="FF0000"/>
                    </a:solidFill>
                    <a:latin typeface="微软雅黑" panose="020B0503020204020204" pitchFamily="34" charset="-122"/>
                    <a:ea typeface="微软雅黑" panose="020B0503020204020204" pitchFamily="34" charset="-122"/>
                  </a:rPr>
                  <a:t>任取</a:t>
                </a:r>
                <a14:m>
                  <m:oMath xmlns:m="http://schemas.openxmlformats.org/officeDocument/2006/math">
                    <m:r>
                      <a:rPr lang="en-US" altLang="zh-CN" sz="2000" i="1">
                        <a:solidFill>
                          <a:srgbClr val="FF0000"/>
                        </a:solidFill>
                        <a:latin typeface="Cambria Math" panose="02040503050406030204" pitchFamily="18" charset="0"/>
                      </a:rPr>
                      <m:t>𝑟</m:t>
                    </m:r>
                  </m:oMath>
                </a14:m>
                <a:r>
                  <a:rPr lang="zh-CN" altLang="en-US" sz="2000" dirty="0" smtClean="0">
                    <a:solidFill>
                      <a:srgbClr val="FF0000"/>
                    </a:solidFill>
                    <a:latin typeface="微软雅黑" panose="020B0503020204020204" pitchFamily="34" charset="-122"/>
                    <a:ea typeface="微软雅黑" panose="020B0503020204020204" pitchFamily="34" charset="-122"/>
                  </a:rPr>
                  <a:t>个线性无关的向量</a:t>
                </a:r>
                <a:r>
                  <a:rPr lang="zh-CN" altLang="en-US" sz="2000" dirty="0" smtClean="0">
                    <a:latin typeface="微软雅黑" panose="020B0503020204020204" pitchFamily="34" charset="-122"/>
                    <a:ea typeface="微软雅黑" panose="020B0503020204020204" pitchFamily="34" charset="-122"/>
                  </a:rPr>
                  <a:t>，就构成了向量组的一个极大线性无关组</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081454" y="4546990"/>
                <a:ext cx="7596555" cy="707886"/>
              </a:xfrm>
              <a:prstGeom prst="rect">
                <a:avLst/>
              </a:prstGeom>
              <a:blipFill rotWithShape="0">
                <a:blip r:embed="rId7"/>
                <a:stretch>
                  <a:fillRect l="-802" t="-5172" r="-4090" b="-14655"/>
                </a:stretch>
              </a:blipFill>
            </p:spPr>
            <p:txBody>
              <a:bodyPr/>
              <a:lstStyle/>
              <a:p>
                <a:r>
                  <a:rPr lang="zh-CN" altLang="en-US">
                    <a:noFill/>
                  </a:rPr>
                  <a:t> </a:t>
                </a:r>
              </a:p>
            </p:txBody>
          </p:sp>
        </mc:Fallback>
      </mc:AlternateContent>
      <p:sp>
        <p:nvSpPr>
          <p:cNvPr id="13" name="文本框 12"/>
          <p:cNvSpPr txBox="1"/>
          <p:nvPr/>
        </p:nvSpPr>
        <p:spPr>
          <a:xfrm>
            <a:off x="980747" y="5813895"/>
            <a:ext cx="7886700"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上述选取线性无关向量的方式能否迁移到有无限个向量的线性空间上？</a:t>
            </a:r>
            <a:endParaRPr lang="zh-CN" altLang="en-US" sz="2000" dirty="0">
              <a:latin typeface="微软雅黑" panose="020B0503020204020204" pitchFamily="34" charset="-122"/>
              <a:ea typeface="微软雅黑" panose="020B0503020204020204" pitchFamily="34" charset="-122"/>
            </a:endParaRPr>
          </a:p>
        </p:txBody>
      </p:sp>
      <p:sp>
        <p:nvSpPr>
          <p:cNvPr id="15" name="圆角矩形 14"/>
          <p:cNvSpPr/>
          <p:nvPr/>
        </p:nvSpPr>
        <p:spPr>
          <a:xfrm>
            <a:off x="1081454" y="5736918"/>
            <a:ext cx="7939454" cy="583857"/>
          </a:xfrm>
          <a:prstGeom prst="roundRect">
            <a:avLst/>
          </a:prstGeom>
          <a:noFill/>
          <a:ln w="381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7500215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n-dimension subspace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13" name="文本框 12"/>
              <p:cNvSpPr txBox="1"/>
              <p:nvPr/>
            </p:nvSpPr>
            <p:spPr>
              <a:xfrm>
                <a:off x="540385" y="963398"/>
                <a:ext cx="10945476" cy="1938992"/>
              </a:xfrm>
              <a:prstGeom prst="rect">
                <a:avLst/>
              </a:prstGeom>
              <a:noFill/>
            </p:spPr>
            <p:txBody>
              <a:bodyPr wrap="square" rtlCol="0">
                <a:spAutoFit/>
              </a:bodyPr>
              <a:lstStyle/>
              <a:p>
                <a:pPr>
                  <a:lnSpc>
                    <a:spcPct val="150000"/>
                  </a:lnSpc>
                </a:pPr>
                <a14:m>
                  <m:oMath xmlns:m="http://schemas.openxmlformats.org/officeDocument/2006/math">
                    <m:sSup>
                      <m:sSupPr>
                        <m:ctrlPr>
                          <a:rPr lang="en-US" altLang="zh-CN" sz="2000" i="1" smtClean="0">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中一个非空子集</a:t>
                </a:r>
                <a14:m>
                  <m:oMath xmlns:m="http://schemas.openxmlformats.org/officeDocument/2006/math">
                    <m:r>
                      <a:rPr lang="en-US" altLang="zh-CN" sz="2000" b="1" i="0" dirty="0" smtClean="0">
                        <a:latin typeface="Cambria Math" panose="02040503050406030204" pitchFamily="18" charset="0"/>
                        <a:ea typeface="微软雅黑" panose="020B0503020204020204" pitchFamily="34" charset="-122"/>
                      </a:rPr>
                      <m:t>𝐔</m:t>
                    </m:r>
                  </m:oMath>
                </a14:m>
                <a:r>
                  <a:rPr lang="zh-CN" altLang="en-US" sz="2000" dirty="0" smtClean="0">
                    <a:latin typeface="微软雅黑" panose="020B0503020204020204" pitchFamily="34" charset="-122"/>
                    <a:ea typeface="微软雅黑" panose="020B0503020204020204" pitchFamily="34" charset="-122"/>
                  </a:rPr>
                  <a:t>满足：</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加法封闭性：</a:t>
                </a:r>
                <a14:m>
                  <m:oMath xmlns:m="http://schemas.openxmlformats.org/officeDocument/2006/math">
                    <m:r>
                      <a:rPr lang="zh-CN" altLang="en-US" sz="2000" i="1" smtClean="0">
                        <a:latin typeface="Cambria Math" panose="02040503050406030204" pitchFamily="18" charset="0"/>
                        <a:ea typeface="微软雅黑" panose="020B0503020204020204" pitchFamily="34" charset="-122"/>
                      </a:rPr>
                      <m:t>∀</m:t>
                    </m:r>
                    <m:r>
                      <a:rPr lang="en-US" altLang="zh-CN" sz="2000" b="1" i="1" smtClean="0">
                        <a:latin typeface="Cambria Math" panose="02040503050406030204" pitchFamily="18" charset="0"/>
                        <a:ea typeface="微软雅黑" panose="020B0503020204020204" pitchFamily="34" charset="-122"/>
                      </a:rPr>
                      <m:t>𝜶</m:t>
                    </m:r>
                    <m:r>
                      <a:rPr lang="en-US" altLang="zh-CN" sz="2000" b="0" i="1" smtClean="0">
                        <a:latin typeface="Cambria Math" panose="02040503050406030204" pitchFamily="18" charset="0"/>
                        <a:ea typeface="微软雅黑" panose="020B0503020204020204" pitchFamily="34" charset="-122"/>
                      </a:rPr>
                      <m:t>,</m:t>
                    </m:r>
                    <m:r>
                      <a:rPr lang="en-US" altLang="zh-CN" sz="2000" b="1" i="1" smtClean="0">
                        <a:latin typeface="Cambria Math" panose="02040503050406030204" pitchFamily="18" charset="0"/>
                        <a:ea typeface="微软雅黑" panose="020B0503020204020204" pitchFamily="34" charset="-122"/>
                      </a:rPr>
                      <m:t>𝜷</m:t>
                    </m:r>
                    <m:r>
                      <a:rPr lang="en-US" altLang="zh-CN" sz="2000" b="0" i="1" smtClean="0">
                        <a:latin typeface="Cambria Math" panose="02040503050406030204" pitchFamily="18" charset="0"/>
                        <a:ea typeface="微软雅黑" panose="020B0503020204020204" pitchFamily="34" charset="-122"/>
                      </a:rPr>
                      <m:t>∈</m:t>
                    </m:r>
                    <m:r>
                      <a:rPr lang="en-US" altLang="zh-CN" sz="2000" b="1" i="0" smtClean="0">
                        <a:latin typeface="Cambria Math" panose="02040503050406030204" pitchFamily="18" charset="0"/>
                        <a:ea typeface="微软雅黑" panose="020B0503020204020204" pitchFamily="34" charset="-122"/>
                      </a:rPr>
                      <m:t>𝐔</m:t>
                    </m:r>
                    <m:r>
                      <a:rPr lang="en-US" altLang="zh-CN" sz="2000" b="1" i="0" smtClean="0">
                        <a:latin typeface="Cambria Math" panose="02040503050406030204" pitchFamily="18" charset="0"/>
                        <a:ea typeface="微软雅黑" panose="020B0503020204020204" pitchFamily="34" charset="-122"/>
                      </a:rPr>
                      <m:t>, </m:t>
                    </m:r>
                    <m:r>
                      <a:rPr lang="en-US" altLang="zh-CN" sz="2000" b="1" i="1" smtClean="0">
                        <a:latin typeface="Cambria Math" panose="02040503050406030204" pitchFamily="18" charset="0"/>
                        <a:ea typeface="微软雅黑" panose="020B0503020204020204" pitchFamily="34" charset="-122"/>
                      </a:rPr>
                      <m:t>𝜶</m:t>
                    </m:r>
                    <m:r>
                      <a:rPr lang="en-US" altLang="zh-CN" sz="2000" b="1" i="1" smtClean="0">
                        <a:latin typeface="Cambria Math" panose="02040503050406030204" pitchFamily="18" charset="0"/>
                        <a:ea typeface="微软雅黑" panose="020B0503020204020204" pitchFamily="34" charset="-122"/>
                      </a:rPr>
                      <m:t>+</m:t>
                    </m:r>
                    <m:r>
                      <a:rPr lang="en-US" altLang="zh-CN" sz="2000" b="1" i="1" smtClean="0">
                        <a:latin typeface="Cambria Math" panose="02040503050406030204" pitchFamily="18" charset="0"/>
                        <a:ea typeface="微软雅黑" panose="020B0503020204020204" pitchFamily="34" charset="-122"/>
                      </a:rPr>
                      <m:t>𝜷</m:t>
                    </m:r>
                    <m:r>
                      <a:rPr lang="en-US" altLang="zh-CN" sz="2000" b="1" i="1" smtClean="0">
                        <a:latin typeface="Cambria Math" panose="02040503050406030204" pitchFamily="18" charset="0"/>
                        <a:ea typeface="微软雅黑" panose="020B0503020204020204" pitchFamily="34" charset="-122"/>
                      </a:rPr>
                      <m:t>∈</m:t>
                    </m:r>
                    <m:r>
                      <a:rPr lang="en-US" altLang="zh-CN" sz="2000" b="1" i="0" smtClean="0">
                        <a:latin typeface="Cambria Math" panose="02040503050406030204" pitchFamily="18" charset="0"/>
                        <a:ea typeface="微软雅黑" panose="020B0503020204020204" pitchFamily="34" charset="-122"/>
                      </a:rPr>
                      <m:t>𝐔</m:t>
                    </m:r>
                  </m:oMath>
                </a14:m>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数乘封闭性：</a:t>
                </a:r>
                <a14:m>
                  <m:oMath xmlns:m="http://schemas.openxmlformats.org/officeDocument/2006/math">
                    <m:r>
                      <a:rPr lang="zh-CN" altLang="en-US" sz="2000" i="1" smtClean="0">
                        <a:latin typeface="Cambria Math" panose="02040503050406030204" pitchFamily="18" charset="0"/>
                        <a:ea typeface="微软雅黑" panose="020B0503020204020204" pitchFamily="34" charset="-122"/>
                      </a:rPr>
                      <m:t>∀</m:t>
                    </m:r>
                    <m:r>
                      <a:rPr lang="en-US" altLang="zh-CN" sz="2000" b="1" i="1" smtClean="0">
                        <a:latin typeface="Cambria Math" panose="02040503050406030204" pitchFamily="18" charset="0"/>
                        <a:ea typeface="微软雅黑" panose="020B0503020204020204" pitchFamily="34" charset="-122"/>
                      </a:rPr>
                      <m:t>𝜶</m:t>
                    </m:r>
                    <m:r>
                      <a:rPr lang="en-US" altLang="zh-CN" sz="2000" b="0" i="1" smtClean="0">
                        <a:latin typeface="Cambria Math" panose="02040503050406030204" pitchFamily="18" charset="0"/>
                        <a:ea typeface="微软雅黑" panose="020B0503020204020204" pitchFamily="34" charset="-122"/>
                      </a:rPr>
                      <m:t>∈</m:t>
                    </m:r>
                    <m:r>
                      <a:rPr lang="en-US" altLang="zh-CN" sz="2000" b="1" i="0" smtClean="0">
                        <a:latin typeface="Cambria Math" panose="02040503050406030204" pitchFamily="18" charset="0"/>
                        <a:ea typeface="微软雅黑" panose="020B0503020204020204" pitchFamily="34" charset="-122"/>
                      </a:rPr>
                      <m:t>𝐔</m:t>
                    </m:r>
                    <m:r>
                      <a:rPr lang="en-US" altLang="zh-CN"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𝑘</m:t>
                    </m:r>
                    <m:r>
                      <a:rPr lang="en-US" altLang="zh-CN" sz="2000" b="0" i="1" smtClean="0">
                        <a:latin typeface="Cambria Math" panose="02040503050406030204" pitchFamily="18" charset="0"/>
                        <a:ea typeface="微软雅黑" panose="020B0503020204020204" pitchFamily="34" charset="-122"/>
                      </a:rPr>
                      <m:t>∈</m:t>
                    </m:r>
                    <m:r>
                      <a:rPr lang="en-US" altLang="zh-CN" sz="2000" b="1" i="0" smtClean="0">
                        <a:latin typeface="Cambria Math" panose="02040503050406030204" pitchFamily="18" charset="0"/>
                        <a:ea typeface="微软雅黑" panose="020B0503020204020204" pitchFamily="34" charset="-122"/>
                      </a:rPr>
                      <m:t>𝐑</m:t>
                    </m:r>
                    <m:r>
                      <a:rPr lang="en-US" altLang="zh-CN" sz="2000" b="1" i="0"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𝑘</m:t>
                    </m:r>
                    <m:r>
                      <a:rPr lang="en-US" altLang="zh-CN" sz="2000" b="1" i="1" smtClean="0">
                        <a:latin typeface="Cambria Math" panose="02040503050406030204" pitchFamily="18" charset="0"/>
                        <a:ea typeface="微软雅黑" panose="020B0503020204020204" pitchFamily="34" charset="-122"/>
                      </a:rPr>
                      <m:t>𝜶</m:t>
                    </m:r>
                    <m:r>
                      <a:rPr lang="en-US" altLang="zh-CN" sz="2000" b="1" i="1" smtClean="0">
                        <a:latin typeface="Cambria Math" panose="02040503050406030204" pitchFamily="18" charset="0"/>
                        <a:ea typeface="微软雅黑" panose="020B0503020204020204" pitchFamily="34" charset="-122"/>
                      </a:rPr>
                      <m:t>∈</m:t>
                    </m:r>
                    <m:r>
                      <a:rPr lang="en-US" altLang="zh-CN" sz="2000" b="1" i="0" smtClean="0">
                        <a:latin typeface="Cambria Math" panose="02040503050406030204" pitchFamily="18" charset="0"/>
                        <a:ea typeface="微软雅黑" panose="020B0503020204020204" pitchFamily="34" charset="-122"/>
                      </a:rPr>
                      <m:t>𝐔</m:t>
                    </m:r>
                  </m:oMath>
                </a14:m>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则</a:t>
                </a:r>
                <a:r>
                  <a:rPr lang="zh-CN" altLang="en-US" sz="2000" dirty="0" smtClean="0">
                    <a:latin typeface="微软雅黑" panose="020B0503020204020204" pitchFamily="34" charset="-122"/>
                    <a:ea typeface="微软雅黑" panose="020B0503020204020204" pitchFamily="34" charset="-122"/>
                  </a:rPr>
                  <a:t>称</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𝐔</m:t>
                    </m:r>
                  </m:oMath>
                </a14:m>
                <a:r>
                  <a:rPr lang="zh-CN" altLang="en-US" sz="2000" dirty="0" smtClean="0">
                    <a:latin typeface="微软雅黑" panose="020B0503020204020204" pitchFamily="34" charset="-122"/>
                    <a:ea typeface="微软雅黑" panose="020B0503020204020204" pitchFamily="34" charset="-122"/>
                  </a:rPr>
                  <a:t>是</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的一个线性子空间（简记为子空间）</a:t>
                </a:r>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540385" y="963398"/>
                <a:ext cx="10945476" cy="1938992"/>
              </a:xfrm>
              <a:prstGeom prst="rect">
                <a:avLst/>
              </a:prstGeom>
              <a:blipFill rotWithShape="0">
                <a:blip r:embed="rId6"/>
                <a:stretch>
                  <a:fillRect l="-613" b="-1887"/>
                </a:stretch>
              </a:blipFill>
            </p:spPr>
            <p:txBody>
              <a:bodyPr/>
              <a:lstStyle/>
              <a:p>
                <a:r>
                  <a:rPr lang="zh-CN" altLang="en-US">
                    <a:noFill/>
                  </a:rPr>
                  <a:t> </a:t>
                </a:r>
              </a:p>
            </p:txBody>
          </p:sp>
        </mc:Fallback>
      </mc:AlternateContent>
      <p:sp>
        <p:nvSpPr>
          <p:cNvPr id="3" name="文本框 2"/>
          <p:cNvSpPr txBox="1"/>
          <p:nvPr/>
        </p:nvSpPr>
        <p:spPr>
          <a:xfrm>
            <a:off x="620712" y="3079121"/>
            <a:ext cx="4865688"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例：三维空间过（不过）原点的直线与平面</a:t>
            </a:r>
            <a:endParaRPr lang="zh-CN" altLang="en-US" dirty="0">
              <a:latin typeface="微软雅黑" panose="020B0503020204020204" pitchFamily="34" charset="-122"/>
              <a:ea typeface="微软雅黑" panose="020B0503020204020204" pitchFamily="34" charset="-122"/>
            </a:endParaRPr>
          </a:p>
        </p:txBody>
      </p:sp>
      <p:grpSp>
        <p:nvGrpSpPr>
          <p:cNvPr id="24" name="组合 23"/>
          <p:cNvGrpSpPr/>
          <p:nvPr/>
        </p:nvGrpSpPr>
        <p:grpSpPr>
          <a:xfrm>
            <a:off x="1924050" y="4933443"/>
            <a:ext cx="2240573" cy="1696786"/>
            <a:chOff x="866775" y="3285618"/>
            <a:chExt cx="2240573" cy="1696786"/>
          </a:xfrm>
        </p:grpSpPr>
        <p:sp>
          <p:nvSpPr>
            <p:cNvPr id="4" name="矩形 3"/>
            <p:cNvSpPr/>
            <p:nvPr/>
          </p:nvSpPr>
          <p:spPr>
            <a:xfrm>
              <a:off x="866775" y="3285618"/>
              <a:ext cx="2240573" cy="1696786"/>
            </a:xfrm>
            <a:prstGeom prst="rect">
              <a:avLst/>
            </a:prstGeom>
            <a:solidFill>
              <a:schemeClr val="accent1">
                <a:lumMod val="20000"/>
                <a:lumOff val="80000"/>
              </a:schemeClr>
            </a:solidFill>
            <a:ln>
              <a:noFill/>
            </a:ln>
            <a:scene3d>
              <a:camera prst="orthographicFront">
                <a:rot lat="17880095" lon="11743184" rev="21442081"/>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135248" y="4201584"/>
              <a:ext cx="476250" cy="369332"/>
            </a:xfrm>
            <a:prstGeom prst="rect">
              <a:avLst/>
            </a:prstGeom>
            <a:noFill/>
          </p:spPr>
          <p:txBody>
            <a:bodyPr wrap="square" rtlCol="0">
              <a:spAutoFit/>
            </a:bodyPr>
            <a:lstStyle/>
            <a:p>
              <a:r>
                <a:rPr lang="en-US" altLang="zh-CN" dirty="0" smtClean="0"/>
                <a:t>O</a:t>
              </a:r>
              <a:endParaRPr lang="zh-CN" altLang="en-US" dirty="0"/>
            </a:p>
          </p:txBody>
        </p:sp>
        <p:cxnSp>
          <p:nvCxnSpPr>
            <p:cNvPr id="16" name="直接箭头连接符 15"/>
            <p:cNvCxnSpPr/>
            <p:nvPr/>
          </p:nvCxnSpPr>
          <p:spPr>
            <a:xfrm flipH="1">
              <a:off x="1428750" y="4307088"/>
              <a:ext cx="712176" cy="18871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2143672" y="3924105"/>
              <a:ext cx="509954" cy="37638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941085" y="4083517"/>
              <a:ext cx="174563" cy="2367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7" name="文本框 36"/>
              <p:cNvSpPr txBox="1"/>
              <p:nvPr/>
            </p:nvSpPr>
            <p:spPr>
              <a:xfrm>
                <a:off x="2006661" y="5546676"/>
                <a:ext cx="4476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Π</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37" name="文本框 36"/>
              <p:cNvSpPr txBox="1">
                <a:spLocks noRot="1" noChangeAspect="1" noMove="1" noResize="1" noEditPoints="1" noAdjustHandles="1" noChangeArrowheads="1" noChangeShapeType="1" noTextEdit="1"/>
              </p:cNvSpPr>
              <p:nvPr/>
            </p:nvSpPr>
            <p:spPr>
              <a:xfrm>
                <a:off x="2006661" y="5546676"/>
                <a:ext cx="447675" cy="369332"/>
              </a:xfrm>
              <a:prstGeom prst="rect">
                <a:avLst/>
              </a:prstGeom>
              <a:blipFill rotWithShape="0">
                <a:blip r:embed="rId7"/>
                <a:stretch>
                  <a:fillRect/>
                </a:stretch>
              </a:blipFill>
            </p:spPr>
            <p:txBody>
              <a:bodyPr/>
              <a:lstStyle/>
              <a:p>
                <a:r>
                  <a:rPr lang="zh-CN" altLang="en-US">
                    <a:noFill/>
                  </a:rPr>
                  <a:t> </a:t>
                </a:r>
              </a:p>
            </p:txBody>
          </p:sp>
        </mc:Fallback>
      </mc:AlternateContent>
      <p:grpSp>
        <p:nvGrpSpPr>
          <p:cNvPr id="65" name="组合 64"/>
          <p:cNvGrpSpPr/>
          <p:nvPr/>
        </p:nvGrpSpPr>
        <p:grpSpPr>
          <a:xfrm>
            <a:off x="7452228" y="4874173"/>
            <a:ext cx="2240573" cy="1771902"/>
            <a:chOff x="8266799" y="4845391"/>
            <a:chExt cx="2240573" cy="1771902"/>
          </a:xfrm>
        </p:grpSpPr>
        <p:grpSp>
          <p:nvGrpSpPr>
            <p:cNvPr id="29" name="组合 28"/>
            <p:cNvGrpSpPr/>
            <p:nvPr/>
          </p:nvGrpSpPr>
          <p:grpSpPr>
            <a:xfrm>
              <a:off x="8266799" y="4845391"/>
              <a:ext cx="2240573" cy="1771902"/>
              <a:chOff x="752475" y="2799014"/>
              <a:chExt cx="2240573" cy="1771902"/>
            </a:xfrm>
          </p:grpSpPr>
          <p:sp>
            <p:nvSpPr>
              <p:cNvPr id="30" name="矩形 29"/>
              <p:cNvSpPr/>
              <p:nvPr/>
            </p:nvSpPr>
            <p:spPr>
              <a:xfrm>
                <a:off x="752475" y="2799014"/>
                <a:ext cx="2240573" cy="1696786"/>
              </a:xfrm>
              <a:prstGeom prst="rect">
                <a:avLst/>
              </a:prstGeom>
              <a:solidFill>
                <a:schemeClr val="accent1">
                  <a:lumMod val="20000"/>
                  <a:lumOff val="80000"/>
                </a:schemeClr>
              </a:solidFill>
              <a:ln>
                <a:noFill/>
              </a:ln>
              <a:scene3d>
                <a:camera prst="orthographicFront">
                  <a:rot lat="17880095" lon="11743184" rev="21442081"/>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135248" y="4201584"/>
                <a:ext cx="476250" cy="369332"/>
              </a:xfrm>
              <a:prstGeom prst="rect">
                <a:avLst/>
              </a:prstGeom>
              <a:noFill/>
            </p:spPr>
            <p:txBody>
              <a:bodyPr wrap="square" rtlCol="0">
                <a:spAutoFit/>
              </a:bodyPr>
              <a:lstStyle/>
              <a:p>
                <a:r>
                  <a:rPr lang="en-US" altLang="zh-CN" dirty="0" smtClean="0"/>
                  <a:t>O</a:t>
                </a:r>
                <a:endParaRPr lang="zh-CN" altLang="en-US" dirty="0"/>
              </a:p>
            </p:txBody>
          </p:sp>
          <p:cxnSp>
            <p:nvCxnSpPr>
              <p:cNvPr id="34" name="直接箭头连接符 33"/>
              <p:cNvCxnSpPr/>
              <p:nvPr/>
            </p:nvCxnSpPr>
            <p:spPr>
              <a:xfrm flipH="1" flipV="1">
                <a:off x="1448701" y="3907994"/>
                <a:ext cx="692225" cy="39909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2143672" y="3647407"/>
                <a:ext cx="229701" cy="653088"/>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flipV="1">
                <a:off x="1664676" y="3122343"/>
                <a:ext cx="470403" cy="1130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文本框 37"/>
                <p:cNvSpPr txBox="1"/>
                <p:nvPr/>
              </p:nvSpPr>
              <p:spPr>
                <a:xfrm>
                  <a:off x="8285955" y="5441415"/>
                  <a:ext cx="4476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Π</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38" name="文本框 37"/>
                <p:cNvSpPr txBox="1">
                  <a:spLocks noRot="1" noChangeAspect="1" noMove="1" noResize="1" noEditPoints="1" noAdjustHandles="1" noChangeArrowheads="1" noChangeShapeType="1" noTextEdit="1"/>
                </p:cNvSpPr>
                <p:nvPr/>
              </p:nvSpPr>
              <p:spPr>
                <a:xfrm>
                  <a:off x="8285955" y="5441415"/>
                  <a:ext cx="447675" cy="369332"/>
                </a:xfrm>
                <a:prstGeom prst="rect">
                  <a:avLst/>
                </a:prstGeom>
                <a:blipFill rotWithShape="0">
                  <a:blip r:embed="rId8"/>
                  <a:stretch>
                    <a:fillRect/>
                  </a:stretch>
                </a:blipFill>
              </p:spPr>
              <p:txBody>
                <a:bodyPr/>
                <a:lstStyle/>
                <a:p>
                  <a:r>
                    <a:rPr lang="zh-CN" altLang="en-US">
                      <a:noFill/>
                    </a:rPr>
                    <a:t> </a:t>
                  </a:r>
                </a:p>
              </p:txBody>
            </p:sp>
          </mc:Fallback>
        </mc:AlternateContent>
      </p:grpSp>
      <p:grpSp>
        <p:nvGrpSpPr>
          <p:cNvPr id="69" name="组合 68"/>
          <p:cNvGrpSpPr/>
          <p:nvPr/>
        </p:nvGrpSpPr>
        <p:grpSpPr>
          <a:xfrm>
            <a:off x="1135459" y="3804573"/>
            <a:ext cx="3280323" cy="1134097"/>
            <a:chOff x="1135459" y="3804573"/>
            <a:chExt cx="3280323" cy="1134097"/>
          </a:xfrm>
        </p:grpSpPr>
        <p:grpSp>
          <p:nvGrpSpPr>
            <p:cNvPr id="63" name="组合 62"/>
            <p:cNvGrpSpPr/>
            <p:nvPr/>
          </p:nvGrpSpPr>
          <p:grpSpPr>
            <a:xfrm>
              <a:off x="1573243" y="3804573"/>
              <a:ext cx="2842539" cy="1134097"/>
              <a:chOff x="1573243" y="3804573"/>
              <a:chExt cx="2842539" cy="1134097"/>
            </a:xfrm>
          </p:grpSpPr>
          <p:sp>
            <p:nvSpPr>
              <p:cNvPr id="41" name="文本框 40"/>
              <p:cNvSpPr txBox="1"/>
              <p:nvPr/>
            </p:nvSpPr>
            <p:spPr>
              <a:xfrm>
                <a:off x="2998360" y="4254609"/>
                <a:ext cx="670413" cy="369332"/>
              </a:xfrm>
              <a:prstGeom prst="rect">
                <a:avLst/>
              </a:prstGeom>
              <a:noFill/>
            </p:spPr>
            <p:txBody>
              <a:bodyPr wrap="square" rtlCol="0">
                <a:spAutoFit/>
              </a:bodyPr>
              <a:lstStyle/>
              <a:p>
                <a:r>
                  <a:rPr lang="en-US" altLang="zh-CN" dirty="0" smtClean="0"/>
                  <a:t>O</a:t>
                </a:r>
                <a:endParaRPr lang="zh-CN" altLang="en-US" dirty="0"/>
              </a:p>
            </p:txBody>
          </p:sp>
          <p:grpSp>
            <p:nvGrpSpPr>
              <p:cNvPr id="52" name="组合 51"/>
              <p:cNvGrpSpPr/>
              <p:nvPr/>
            </p:nvGrpSpPr>
            <p:grpSpPr>
              <a:xfrm>
                <a:off x="1573243" y="3804573"/>
                <a:ext cx="2842539" cy="1134097"/>
                <a:chOff x="1420843" y="3652173"/>
                <a:chExt cx="2842539" cy="1134097"/>
              </a:xfrm>
            </p:grpSpPr>
            <p:cxnSp>
              <p:nvCxnSpPr>
                <p:cNvPr id="53" name="直接连接符 52"/>
                <p:cNvCxnSpPr/>
                <p:nvPr/>
              </p:nvCxnSpPr>
              <p:spPr>
                <a:xfrm flipV="1">
                  <a:off x="1420843" y="3652173"/>
                  <a:ext cx="2842539" cy="11340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V="1">
                  <a:off x="2842112" y="3865788"/>
                  <a:ext cx="868789" cy="35343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a:off x="1709845" y="4199939"/>
                  <a:ext cx="1156187" cy="45993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a:off x="2486025" y="4219221"/>
                  <a:ext cx="356087" cy="1399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68" name="文本框 67"/>
                <p:cNvSpPr txBox="1"/>
                <p:nvPr/>
              </p:nvSpPr>
              <p:spPr>
                <a:xfrm>
                  <a:off x="1135459" y="4511537"/>
                  <a:ext cx="7715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68" name="文本框 67"/>
                <p:cNvSpPr txBox="1">
                  <a:spLocks noRot="1" noChangeAspect="1" noMove="1" noResize="1" noEditPoints="1" noAdjustHandles="1" noChangeArrowheads="1" noChangeShapeType="1" noTextEdit="1"/>
                </p:cNvSpPr>
                <p:nvPr/>
              </p:nvSpPr>
              <p:spPr>
                <a:xfrm>
                  <a:off x="1135459" y="4511537"/>
                  <a:ext cx="771525" cy="369332"/>
                </a:xfrm>
                <a:prstGeom prst="rect">
                  <a:avLst/>
                </a:prstGeom>
                <a:blipFill rotWithShape="0">
                  <a:blip r:embed="rId9"/>
                  <a:stretch>
                    <a:fillRect/>
                  </a:stretch>
                </a:blipFill>
              </p:spPr>
              <p:txBody>
                <a:bodyPr/>
                <a:lstStyle/>
                <a:p>
                  <a:r>
                    <a:rPr lang="zh-CN" altLang="en-US">
                      <a:noFill/>
                    </a:rPr>
                    <a:t> </a:t>
                  </a:r>
                </a:p>
              </p:txBody>
            </p:sp>
          </mc:Fallback>
        </mc:AlternateContent>
      </p:grpSp>
      <p:grpSp>
        <p:nvGrpSpPr>
          <p:cNvPr id="71" name="组合 70"/>
          <p:cNvGrpSpPr/>
          <p:nvPr/>
        </p:nvGrpSpPr>
        <p:grpSpPr>
          <a:xfrm>
            <a:off x="6589598" y="3639346"/>
            <a:ext cx="3354401" cy="1134097"/>
            <a:chOff x="6576660" y="3575888"/>
            <a:chExt cx="3354401" cy="1134097"/>
          </a:xfrm>
        </p:grpSpPr>
        <p:grpSp>
          <p:nvGrpSpPr>
            <p:cNvPr id="64" name="组合 63"/>
            <p:cNvGrpSpPr/>
            <p:nvPr/>
          </p:nvGrpSpPr>
          <p:grpSpPr>
            <a:xfrm>
              <a:off x="7088522" y="3575888"/>
              <a:ext cx="2842539" cy="1134097"/>
              <a:chOff x="6932444" y="3126534"/>
              <a:chExt cx="2842539" cy="1134097"/>
            </a:xfrm>
          </p:grpSpPr>
          <p:grpSp>
            <p:nvGrpSpPr>
              <p:cNvPr id="51" name="组合 50"/>
              <p:cNvGrpSpPr/>
              <p:nvPr/>
            </p:nvGrpSpPr>
            <p:grpSpPr>
              <a:xfrm>
                <a:off x="6932444" y="3126534"/>
                <a:ext cx="2842539" cy="1134097"/>
                <a:chOff x="1420843" y="3652173"/>
                <a:chExt cx="2842539" cy="1134097"/>
              </a:xfrm>
            </p:grpSpPr>
            <p:cxnSp>
              <p:nvCxnSpPr>
                <p:cNvPr id="40" name="直接连接符 39"/>
                <p:cNvCxnSpPr/>
                <p:nvPr/>
              </p:nvCxnSpPr>
              <p:spPr>
                <a:xfrm flipV="1">
                  <a:off x="1420843" y="3652173"/>
                  <a:ext cx="2842539" cy="11340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3155034" y="3865788"/>
                  <a:ext cx="555867" cy="5126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H="1">
                  <a:off x="1784549" y="4378419"/>
                  <a:ext cx="1390909" cy="27675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flipV="1">
                  <a:off x="2238442" y="4031015"/>
                  <a:ext cx="937018" cy="3281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7" name="文本框 56"/>
              <p:cNvSpPr txBox="1"/>
              <p:nvPr/>
            </p:nvSpPr>
            <p:spPr>
              <a:xfrm>
                <a:off x="8580522" y="3833522"/>
                <a:ext cx="670413" cy="369332"/>
              </a:xfrm>
              <a:prstGeom prst="rect">
                <a:avLst/>
              </a:prstGeom>
              <a:noFill/>
            </p:spPr>
            <p:txBody>
              <a:bodyPr wrap="square" rtlCol="0">
                <a:spAutoFit/>
              </a:bodyPr>
              <a:lstStyle/>
              <a:p>
                <a:r>
                  <a:rPr lang="en-US" altLang="zh-CN" dirty="0" smtClean="0"/>
                  <a:t>O</a:t>
                </a:r>
                <a:endParaRPr lang="zh-CN" altLang="en-US" dirty="0"/>
              </a:p>
            </p:txBody>
          </p:sp>
        </p:grpSp>
        <mc:AlternateContent xmlns:mc="http://schemas.openxmlformats.org/markup-compatibility/2006" xmlns:a14="http://schemas.microsoft.com/office/drawing/2010/main">
          <mc:Choice Requires="a14">
            <p:sp>
              <p:nvSpPr>
                <p:cNvPr id="70" name="文本框 69"/>
                <p:cNvSpPr txBox="1"/>
                <p:nvPr/>
              </p:nvSpPr>
              <p:spPr>
                <a:xfrm>
                  <a:off x="6576660" y="4282876"/>
                  <a:ext cx="7715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70" name="文本框 69"/>
                <p:cNvSpPr txBox="1">
                  <a:spLocks noRot="1" noChangeAspect="1" noMove="1" noResize="1" noEditPoints="1" noAdjustHandles="1" noChangeArrowheads="1" noChangeShapeType="1" noTextEdit="1"/>
                </p:cNvSpPr>
                <p:nvPr/>
              </p:nvSpPr>
              <p:spPr>
                <a:xfrm>
                  <a:off x="6576660" y="4282876"/>
                  <a:ext cx="771525" cy="369332"/>
                </a:xfrm>
                <a:prstGeom prst="rect">
                  <a:avLst/>
                </a:prstGeom>
                <a:blipFill rotWithShape="0">
                  <a:blip r:embed="rId10"/>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54486015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Bases and dimensions of linear 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矩形 4"/>
          <p:cNvSpPr/>
          <p:nvPr/>
        </p:nvSpPr>
        <p:spPr>
          <a:xfrm>
            <a:off x="980747" y="4859618"/>
            <a:ext cx="7758807" cy="499624"/>
          </a:xfrm>
          <a:prstGeom prst="rect">
            <a:avLst/>
          </a:prstGeom>
        </p:spPr>
        <p:txBody>
          <a:bodyPr wrap="square">
            <a:spAutoFit/>
          </a:bodyP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143000" y="5600789"/>
            <a:ext cx="6778869" cy="369332"/>
          </a:xfrm>
          <a:prstGeom prst="rect">
            <a:avLst/>
          </a:prstGeom>
          <a:noFill/>
        </p:spPr>
        <p:txBody>
          <a:bodyPr wrap="square" rtlCol="0">
            <a:spAutoFit/>
          </a:bodyPr>
          <a:lstStyle/>
          <a:p>
            <a:endParaRPr lang="zh-CN" altLang="en-US" dirty="0"/>
          </a:p>
        </p:txBody>
      </p:sp>
      <p:sp>
        <p:nvSpPr>
          <p:cNvPr id="7" name="圆角矩形 6"/>
          <p:cNvSpPr/>
          <p:nvPr/>
        </p:nvSpPr>
        <p:spPr>
          <a:xfrm>
            <a:off x="485959" y="1137460"/>
            <a:ext cx="6580530" cy="1848367"/>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499111" y="1161413"/>
                <a:ext cx="6499567" cy="1898500"/>
              </a:xfrm>
              <a:prstGeom prst="rect">
                <a:avLst/>
              </a:prstGeom>
              <a:noFill/>
            </p:spPr>
            <p:txBody>
              <a:bodyPr wrap="square" rtlCol="0">
                <a:spAutoFit/>
              </a:bodyPr>
              <a:lstStyle/>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设</a:t>
                </a:r>
                <a14:m>
                  <m:oMath xmlns:m="http://schemas.openxmlformats.org/officeDocument/2006/math">
                    <m:r>
                      <a:rPr lang="en-US" altLang="zh-CN" sz="2000" b="1" i="0" smtClean="0">
                        <a:latin typeface="Cambria Math" panose="02040503050406030204" pitchFamily="18" charset="0"/>
                      </a:rPr>
                      <m:t>𝐔</m:t>
                    </m:r>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是</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的一个子空间，如果</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 …, </m:t>
                    </m:r>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𝑟</m:t>
                        </m:r>
                      </m:sub>
                    </m:sSub>
                    <m:r>
                      <a:rPr lang="en-US" altLang="zh-CN" sz="2000" b="0" i="1" smtClean="0">
                        <a:latin typeface="Cambria Math" panose="02040503050406030204" pitchFamily="18" charset="0"/>
                      </a:rPr>
                      <m:t>∈</m:t>
                    </m:r>
                    <m:r>
                      <a:rPr lang="en-US" altLang="zh-CN" sz="2000" b="1" i="0" smtClean="0">
                        <a:latin typeface="Cambria Math" panose="02040503050406030204" pitchFamily="18" charset="0"/>
                      </a:rPr>
                      <m:t>𝐔</m:t>
                    </m:r>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，且满足：</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dirty="0" smtClean="0">
                    <a:latin typeface="Arial" panose="020B0604020202020204" pitchFamily="34" charset="0"/>
                    <a:ea typeface="微软雅黑" panose="020B0503020204020204" pitchFamily="34" charset="-122"/>
                    <a:cs typeface="Arial" panose="020B0604020202020204" pitchFamily="34" charset="0"/>
                  </a:rPr>
                  <a:t>1. </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b="0" i="1" smtClean="0">
                            <a:latin typeface="Cambria Math" panose="02040503050406030204" pitchFamily="18" charset="0"/>
                          </a:rPr>
                          <m:t>𝑟</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线性无关</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dirty="0" smtClean="0">
                    <a:latin typeface="Arial" panose="020B0604020202020204" pitchFamily="34" charset="0"/>
                    <a:ea typeface="微软雅黑" panose="020B0503020204020204" pitchFamily="34" charset="-122"/>
                    <a:cs typeface="Arial" panose="020B0604020202020204" pitchFamily="34" charset="0"/>
                  </a:rPr>
                  <a:t>2. </a:t>
                </a:r>
                <a14:m>
                  <m:oMath xmlns:m="http://schemas.openxmlformats.org/officeDocument/2006/math">
                    <m:r>
                      <a:rPr lang="en-US" altLang="zh-CN" b="1">
                        <a:latin typeface="Cambria Math" panose="02040503050406030204" pitchFamily="18" charset="0"/>
                      </a:rPr>
                      <m:t>𝐔</m:t>
                    </m:r>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中每一个向量都可以由</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b="0" i="1" smtClean="0">
                            <a:latin typeface="Cambria Math" panose="02040503050406030204" pitchFamily="18" charset="0"/>
                          </a:rPr>
                          <m:t>𝑟</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线性表出</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则称</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𝑟</m:t>
                        </m:r>
                      </m:sub>
                    </m:sSub>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构成</a:t>
                </a:r>
                <a14:m>
                  <m:oMath xmlns:m="http://schemas.openxmlformats.org/officeDocument/2006/math">
                    <m:r>
                      <a:rPr lang="en-US" altLang="zh-CN" sz="2000" b="1">
                        <a:latin typeface="Cambria Math" panose="02040503050406030204" pitchFamily="18" charset="0"/>
                      </a:rPr>
                      <m:t>𝐔</m:t>
                    </m:r>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的一组</a:t>
                </a:r>
                <a:r>
                  <a:rPr lang="zh-CN" altLang="en-US" sz="2000" dirty="0" smtClean="0">
                    <a:solidFill>
                      <a:srgbClr val="FF0000"/>
                    </a:solidFill>
                    <a:latin typeface="Arial" panose="020B0604020202020204" pitchFamily="34" charset="0"/>
                    <a:ea typeface="微软雅黑" panose="020B0503020204020204" pitchFamily="34" charset="-122"/>
                    <a:cs typeface="Arial" panose="020B0604020202020204" pitchFamily="34" charset="0"/>
                  </a:rPr>
                  <a:t>基</a:t>
                </a:r>
                <a:endParaRPr lang="zh-CN" altLang="en-US" sz="20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99111" y="1161413"/>
                <a:ext cx="6499567" cy="1898500"/>
              </a:xfrm>
              <a:prstGeom prst="rect">
                <a:avLst/>
              </a:prstGeom>
              <a:blipFill rotWithShape="0">
                <a:blip r:embed="rId5"/>
                <a:stretch>
                  <a:fillRect l="-1032" r="-47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18147" y="3389193"/>
                <a:ext cx="8370278" cy="800219"/>
              </a:xfrm>
              <a:prstGeom prst="rect">
                <a:avLst/>
              </a:prstGeom>
              <a:noFill/>
            </p:spPr>
            <p:txBody>
              <a:bodyPr wrap="square" rtlCol="0">
                <a:spAutoFit/>
              </a:bodyPr>
              <a:lstStyle/>
              <a:p>
                <a:pPr>
                  <a:spcBef>
                    <a:spcPts val="1200"/>
                  </a:spcBef>
                </a:pPr>
                <a:r>
                  <a:rPr lang="zh-CN" altLang="en-US" dirty="0" smtClean="0">
                    <a:latin typeface="微软雅黑" panose="020B0503020204020204" pitchFamily="34" charset="-122"/>
                    <a:ea typeface="微软雅黑" panose="020B0503020204020204" pitchFamily="34" charset="-122"/>
                  </a:rPr>
                  <a:t>上述定义隐含了一个条件，即再加入一个向量</a:t>
                </a:r>
                <a14:m>
                  <m:oMath xmlns:m="http://schemas.openxmlformats.org/officeDocument/2006/math">
                    <m:r>
                      <a:rPr lang="en-US" altLang="zh-CN" b="1" i="1" smtClean="0">
                        <a:latin typeface="Cambria Math" panose="02040503050406030204" pitchFamily="18" charset="0"/>
                      </a:rPr>
                      <m:t>𝜷</m:t>
                    </m:r>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𝑟</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𝜷</m:t>
                    </m:r>
                  </m:oMath>
                </a14:m>
                <a:r>
                  <a:rPr lang="zh-CN" altLang="en-US" dirty="0" smtClean="0">
                    <a:latin typeface="微软雅黑" panose="020B0503020204020204" pitchFamily="34" charset="-122"/>
                    <a:ea typeface="微软雅黑" panose="020B0503020204020204" pitchFamily="34" charset="-122"/>
                  </a:rPr>
                  <a:t>一定线性相关</a:t>
                </a:r>
                <a:endParaRPr lang="en-US" altLang="zh-CN" dirty="0" smtClean="0">
                  <a:latin typeface="微软雅黑" panose="020B0503020204020204" pitchFamily="34" charset="-122"/>
                  <a:ea typeface="微软雅黑" panose="020B0503020204020204" pitchFamily="34" charset="-122"/>
                </a:endParaRPr>
              </a:p>
              <a:p>
                <a:pPr>
                  <a:spcBef>
                    <a:spcPts val="1200"/>
                  </a:spcBef>
                </a:pPr>
                <a:r>
                  <a:rPr lang="zh-CN" altLang="en-US" dirty="0">
                    <a:latin typeface="微软雅黑" panose="020B0503020204020204" pitchFamily="34" charset="-122"/>
                    <a:ea typeface="微软雅黑" panose="020B0503020204020204" pitchFamily="34" charset="-122"/>
                  </a:rPr>
                  <a:t>若</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𝑟</m:t>
                        </m:r>
                      </m:sub>
                    </m:sSub>
                    <m:r>
                      <a:rPr lang="en-US" altLang="zh-CN" i="1">
                        <a:latin typeface="Cambria Math" panose="02040503050406030204" pitchFamily="18" charset="0"/>
                      </a:rPr>
                      <m:t>,</m:t>
                    </m:r>
                    <m:r>
                      <a:rPr lang="en-US" altLang="zh-CN" b="1" i="1">
                        <a:latin typeface="Cambria Math" panose="02040503050406030204" pitchFamily="18" charset="0"/>
                      </a:rPr>
                      <m:t>𝜷</m:t>
                    </m:r>
                  </m:oMath>
                </a14:m>
                <a:r>
                  <a:rPr lang="zh-CN" altLang="en-US" dirty="0" smtClean="0">
                    <a:latin typeface="微软雅黑" panose="020B0503020204020204" pitchFamily="34" charset="-122"/>
                    <a:ea typeface="微软雅黑" panose="020B0503020204020204" pitchFamily="34" charset="-122"/>
                  </a:rPr>
                  <a:t>线性无关，</a:t>
                </a:r>
                <a:r>
                  <a:rPr lang="en-US" altLang="zh-CN" b="1" dirty="0"/>
                  <a:t> </a:t>
                </a:r>
                <a14:m>
                  <m:oMath xmlns:m="http://schemas.openxmlformats.org/officeDocument/2006/math">
                    <m:r>
                      <a:rPr lang="en-US" altLang="zh-CN" b="1" i="1">
                        <a:latin typeface="Cambria Math" panose="02040503050406030204" pitchFamily="18" charset="0"/>
                      </a:rPr>
                      <m:t>𝜷</m:t>
                    </m:r>
                  </m:oMath>
                </a14:m>
                <a:r>
                  <a:rPr lang="zh-CN" altLang="en-US" dirty="0" smtClean="0">
                    <a:latin typeface="微软雅黑" panose="020B0503020204020204" pitchFamily="34" charset="-122"/>
                    <a:ea typeface="微软雅黑" panose="020B0503020204020204" pitchFamily="34" charset="-122"/>
                  </a:rPr>
                  <a:t>将不能被</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𝑟</m:t>
                        </m:r>
                      </m:sub>
                    </m:sSub>
                  </m:oMath>
                </a14:m>
                <a:r>
                  <a:rPr lang="zh-CN" altLang="en-US" dirty="0" smtClean="0">
                    <a:latin typeface="微软雅黑" panose="020B0503020204020204" pitchFamily="34" charset="-122"/>
                    <a:ea typeface="微软雅黑" panose="020B0503020204020204" pitchFamily="34" charset="-122"/>
                  </a:rPr>
                  <a:t>线性表出，不满足定义性质</a:t>
                </a:r>
                <a:r>
                  <a:rPr lang="en-US" altLang="zh-CN" dirty="0" smtClean="0">
                    <a:latin typeface="Arial" panose="020B0604020202020204" pitchFamily="34" charset="0"/>
                    <a:ea typeface="微软雅黑" panose="020B0503020204020204" pitchFamily="34" charset="-122"/>
                    <a:cs typeface="Arial" panose="020B0604020202020204" pitchFamily="34" charset="0"/>
                  </a:rPr>
                  <a:t>2</a:t>
                </a:r>
                <a:endParaRPr lang="zh-CN" altLang="en-US"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18147" y="3389193"/>
                <a:ext cx="8370278" cy="800219"/>
              </a:xfrm>
              <a:prstGeom prst="rect">
                <a:avLst/>
              </a:prstGeom>
              <a:blipFill rotWithShape="0">
                <a:blip r:embed="rId6"/>
                <a:stretch>
                  <a:fillRect l="-655" t="-4580" b="-10687"/>
                </a:stretch>
              </a:blipFill>
            </p:spPr>
            <p:txBody>
              <a:bodyPr/>
              <a:lstStyle/>
              <a:p>
                <a:r>
                  <a:rPr lang="zh-CN" altLang="en-US">
                    <a:noFill/>
                  </a:rPr>
                  <a:t> </a:t>
                </a:r>
              </a:p>
            </p:txBody>
          </p:sp>
        </mc:Fallback>
      </mc:AlternateContent>
      <p:sp>
        <p:nvSpPr>
          <p:cNvPr id="18" name="圆角矩形 17"/>
          <p:cNvSpPr/>
          <p:nvPr/>
        </p:nvSpPr>
        <p:spPr>
          <a:xfrm>
            <a:off x="485959" y="3365238"/>
            <a:ext cx="8253595" cy="848127"/>
          </a:xfrm>
          <a:prstGeom prst="roundRect">
            <a:avLst/>
          </a:prstGeom>
          <a:noFill/>
          <a:ln w="381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12"/>
              <p:cNvSpPr txBox="1"/>
              <p:nvPr/>
            </p:nvSpPr>
            <p:spPr>
              <a:xfrm>
                <a:off x="418147" y="4425254"/>
                <a:ext cx="4574052" cy="2105961"/>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对于</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，取</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zh-CN" altLang="en-US" b="1" i="1" smtClean="0">
                              <a:latin typeface="Cambria Math" panose="02040503050406030204" pitchFamily="18" charset="0"/>
                            </a:rPr>
                            <m:t>𝜺</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e>
                              <m:r>
                                <a:rPr lang="zh-CN" altLang="en-US" i="1" smtClean="0">
                                  <a:latin typeface="Cambria Math" panose="02040503050406030204" pitchFamily="18" charset="0"/>
                                </a:rPr>
                                <m:t>⋮</m:t>
                              </m:r>
                            </m:e>
                            <m:e>
                              <m:r>
                                <a:rPr lang="en-US" altLang="zh-CN" b="0" i="1" smtClean="0">
                                  <a:latin typeface="Cambria Math" panose="02040503050406030204" pitchFamily="18" charset="0"/>
                                </a:rPr>
                                <m:t>0</m:t>
                              </m:r>
                            </m:e>
                          </m:eqAr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b="1" i="1">
                              <a:latin typeface="Cambria Math" panose="02040503050406030204" pitchFamily="18" charset="0"/>
                            </a:rPr>
                            <m:t>𝜺</m:t>
                          </m:r>
                        </m:e>
                        <m:sub>
                          <m:r>
                            <a:rPr lang="en-US" altLang="zh-CN" b="0" i="1" smtClean="0">
                              <a:latin typeface="Cambria Math" panose="02040503050406030204" pitchFamily="18" charset="0"/>
                            </a:rPr>
                            <m:t>2</m:t>
                          </m:r>
                        </m:sub>
                      </m:sSub>
                      <m:r>
                        <a:rPr lang="en-US" altLang="zh-CN" i="1">
                          <a:latin typeface="Cambria Math" panose="02040503050406030204" pitchFamily="18" charset="0"/>
                        </a:rPr>
                        <m:t>= </m:t>
                      </m:r>
                      <m:d>
                        <m:dPr>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e>
                              <m:r>
                                <a:rPr lang="zh-CN" altLang="en-US" i="1">
                                  <a:latin typeface="Cambria Math" panose="02040503050406030204" pitchFamily="18" charset="0"/>
                                </a:rPr>
                                <m:t>⋮</m:t>
                              </m:r>
                            </m:e>
                            <m:e>
                              <m:r>
                                <a:rPr lang="en-US" altLang="zh-CN" i="1">
                                  <a:latin typeface="Cambria Math" panose="02040503050406030204" pitchFamily="18" charset="0"/>
                                </a:rPr>
                                <m:t>0</m:t>
                              </m:r>
                            </m:e>
                          </m:eqArr>
                        </m:e>
                      </m:d>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zh-CN" altLang="en-US" b="1" i="1">
                              <a:latin typeface="Cambria Math" panose="02040503050406030204" pitchFamily="18" charset="0"/>
                            </a:rPr>
                            <m:t>𝜺</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 </m:t>
                      </m:r>
                      <m:d>
                        <m:dPr>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m:t>
                              </m:r>
                            </m:e>
                            <m:e>
                              <m:r>
                                <a:rPr lang="en-US" altLang="zh-CN" b="0" i="1" smtClean="0">
                                  <a:latin typeface="Cambria Math" panose="02040503050406030204" pitchFamily="18" charset="0"/>
                                </a:rPr>
                                <m:t>0</m:t>
                              </m:r>
                            </m:e>
                            <m:e>
                              <m:r>
                                <a:rPr lang="zh-CN" altLang="en-US" i="1">
                                  <a:latin typeface="Cambria Math" panose="02040503050406030204" pitchFamily="18" charset="0"/>
                                </a:rPr>
                                <m:t>⋮</m:t>
                              </m:r>
                            </m:e>
                            <m:e>
                              <m:r>
                                <a:rPr lang="en-US" altLang="zh-CN" b="0" i="1" smtClean="0">
                                  <a:latin typeface="Cambria Math" panose="02040503050406030204" pitchFamily="18" charset="0"/>
                                </a:rPr>
                                <m:t>1</m:t>
                              </m:r>
                            </m:e>
                          </m:eqArr>
                        </m:e>
                      </m:d>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418147" y="4425254"/>
                <a:ext cx="4574052" cy="2105961"/>
              </a:xfrm>
              <a:prstGeom prst="rect">
                <a:avLst/>
              </a:prstGeom>
              <a:blipFill rotWithShape="0">
                <a:blip r:embed="rId7"/>
                <a:stretch>
                  <a:fillRect l="-14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5266592" y="5456147"/>
                <a:ext cx="5117123" cy="400110"/>
              </a:xfrm>
              <a:prstGeom prst="rect">
                <a:avLst/>
              </a:prstGeom>
              <a:noFill/>
            </p:spPr>
            <p:txBody>
              <a:bodyPr wrap="squar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zh-CN" altLang="en-US" sz="2000" b="1" i="1">
                            <a:latin typeface="Cambria Math" panose="02040503050406030204" pitchFamily="18" charset="0"/>
                          </a:rPr>
                          <m:t>𝜺</m:t>
                        </m:r>
                      </m:e>
                      <m:sub>
                        <m:r>
                          <a:rPr lang="en-US" altLang="zh-CN" sz="2000" i="1">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b="1" i="1">
                            <a:latin typeface="Cambria Math" panose="02040503050406030204" pitchFamily="18" charset="0"/>
                          </a:rPr>
                          <m:t>𝜺</m:t>
                        </m:r>
                      </m:e>
                      <m:sub>
                        <m:r>
                          <a:rPr lang="en-US" altLang="zh-CN" sz="2000" i="1">
                            <a:latin typeface="Cambria Math" panose="02040503050406030204" pitchFamily="18" charset="0"/>
                          </a:rPr>
                          <m:t>2</m:t>
                        </m:r>
                      </m:sub>
                    </m:sSub>
                    <m:r>
                      <a:rPr lang="en-US" altLang="zh-CN" sz="2000" b="0" i="1" smtClean="0">
                        <a:latin typeface="Cambria Math" panose="02040503050406030204" pitchFamily="18" charset="0"/>
                      </a:rPr>
                      <m:t>, …,</m:t>
                    </m:r>
                    <m:sSub>
                      <m:sSubPr>
                        <m:ctrlPr>
                          <a:rPr lang="en-US" altLang="zh-CN" sz="2000" i="1">
                            <a:latin typeface="Cambria Math" panose="02040503050406030204" pitchFamily="18" charset="0"/>
                          </a:rPr>
                        </m:ctrlPr>
                      </m:sSubPr>
                      <m:e>
                        <m:r>
                          <a:rPr lang="zh-CN" altLang="en-US" sz="2000" b="1" i="1">
                            <a:latin typeface="Cambria Math" panose="02040503050406030204" pitchFamily="18" charset="0"/>
                          </a:rPr>
                          <m:t>𝜺</m:t>
                        </m:r>
                      </m:e>
                      <m:sub>
                        <m:r>
                          <a:rPr lang="en-US" altLang="zh-CN" sz="2000" i="1">
                            <a:latin typeface="Cambria Math" panose="02040503050406030204" pitchFamily="18" charset="0"/>
                          </a:rPr>
                          <m:t>𝑛</m:t>
                        </m:r>
                      </m:sub>
                    </m:sSub>
                  </m:oMath>
                </a14:m>
                <a:r>
                  <a:rPr lang="zh-CN" altLang="en-US" sz="2000" dirty="0" smtClean="0">
                    <a:latin typeface="微软雅黑" panose="020B0503020204020204" pitchFamily="34" charset="-122"/>
                    <a:ea typeface="微软雅黑" panose="020B0503020204020204" pitchFamily="34" charset="-122"/>
                  </a:rPr>
                  <a:t>构成</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的一组基，称为标准基</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5266592" y="5456147"/>
                <a:ext cx="5117123" cy="400110"/>
              </a:xfrm>
              <a:prstGeom prst="rect">
                <a:avLst/>
              </a:prstGeom>
              <a:blipFill rotWithShape="0">
                <a:blip r:embed="rId8"/>
                <a:stretch>
                  <a:fillRect t="-757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119965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Bases and dimensions of linear 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矩形 4"/>
          <p:cNvSpPr/>
          <p:nvPr/>
        </p:nvSpPr>
        <p:spPr>
          <a:xfrm>
            <a:off x="980747" y="4859618"/>
            <a:ext cx="7758807" cy="499624"/>
          </a:xfrm>
          <a:prstGeom prst="rect">
            <a:avLst/>
          </a:prstGeom>
        </p:spPr>
        <p:txBody>
          <a:bodyPr wrap="square">
            <a:spAutoFit/>
          </a:bodyP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499110" y="1025801"/>
            <a:ext cx="421957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两个定理</a:t>
            </a:r>
            <a:endParaRPr lang="zh-CN" altLang="en-US" sz="24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p:cNvSpPr txBox="1"/>
              <p:nvPr/>
            </p:nvSpPr>
            <p:spPr>
              <a:xfrm>
                <a:off x="742314" y="1740877"/>
                <a:ext cx="8955601" cy="400110"/>
              </a:xfrm>
              <a:prstGeom prst="rect">
                <a:avLst/>
              </a:prstGeom>
              <a:noFill/>
            </p:spPr>
            <p:txBody>
              <a:bodyPr wrap="square" rtlCol="0">
                <a:spAutoFit/>
              </a:bodyPr>
              <a:lstStyle/>
              <a:p>
                <a:r>
                  <a:rPr lang="en-US" altLang="zh-CN" sz="2000" dirty="0" smtClean="0">
                    <a:latin typeface="Arial" panose="020B0604020202020204" pitchFamily="34" charset="0"/>
                    <a:cs typeface="Arial" panose="020B0604020202020204" pitchFamily="34" charset="0"/>
                  </a:rPr>
                  <a:t>1. </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的任一非零子空间</a:t>
                </a:r>
                <a14:m>
                  <m:oMath xmlns:m="http://schemas.openxmlformats.org/officeDocument/2006/math">
                    <m:r>
                      <a:rPr lang="en-US" altLang="zh-CN" sz="2000" b="1">
                        <a:latin typeface="Cambria Math" panose="02040503050406030204" pitchFamily="18" charset="0"/>
                      </a:rPr>
                      <m:t>𝐔</m:t>
                    </m:r>
                  </m:oMath>
                </a14:m>
                <a:r>
                  <a:rPr lang="zh-CN" altLang="en-US" sz="2000" dirty="0" smtClean="0">
                    <a:latin typeface="微软雅黑" panose="020B0503020204020204" pitchFamily="34" charset="-122"/>
                    <a:ea typeface="微软雅黑" panose="020B0503020204020204" pitchFamily="34" charset="-122"/>
                  </a:rPr>
                  <a:t>都有一组基</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742314" y="1740877"/>
                <a:ext cx="8955601" cy="400110"/>
              </a:xfrm>
              <a:prstGeom prst="rect">
                <a:avLst/>
              </a:prstGeom>
              <a:blipFill rotWithShape="0">
                <a:blip r:embed="rId5"/>
                <a:stretch>
                  <a:fillRect l="-749" t="-9231" b="-27692"/>
                </a:stretch>
              </a:blipFill>
            </p:spPr>
            <p:txBody>
              <a:bodyPr/>
              <a:lstStyle/>
              <a:p>
                <a:r>
                  <a:rPr lang="zh-CN" altLang="en-US">
                    <a:noFill/>
                  </a:rPr>
                  <a:t> </a:t>
                </a:r>
              </a:p>
            </p:txBody>
          </p:sp>
        </mc:Fallback>
      </mc:AlternateContent>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55591" y="2165359"/>
            <a:ext cx="7601647" cy="1686821"/>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1055076" y="3909061"/>
                <a:ext cx="9557239" cy="874407"/>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注：</a:t>
                </a:r>
                <a14:m>
                  <m:oMath xmlns:m="http://schemas.openxmlformats.org/officeDocument/2006/math">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𝜶</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 </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𝜶</m:t>
                            </m:r>
                          </m:e>
                          <m:sub>
                            <m:r>
                              <a:rPr lang="en-US" altLang="zh-CN" b="0" i="1" smtClean="0">
                                <a:latin typeface="Cambria Math" panose="02040503050406030204" pitchFamily="18" charset="0"/>
                              </a:rPr>
                              <m:t>𝑠</m:t>
                            </m:r>
                          </m:sub>
                        </m:sSub>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oMath>
                </a14:m>
                <a:r>
                  <a:rPr lang="zh-CN" altLang="en-US" dirty="0" smtClean="0">
                    <a:latin typeface="微软雅黑" panose="020B0503020204020204" pitchFamily="34" charset="-122"/>
                    <a:ea typeface="微软雅黑" panose="020B0503020204020204" pitchFamily="34" charset="-122"/>
                  </a:rPr>
                  <a:t>，称为由</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𝑠</m:t>
                        </m:r>
                      </m:sub>
                    </m:sSub>
                  </m:oMath>
                </a14:m>
                <a:r>
                  <a:rPr lang="zh-CN" altLang="en-US" dirty="0" smtClean="0">
                    <a:latin typeface="微软雅黑" panose="020B0503020204020204" pitchFamily="34" charset="-122"/>
                    <a:ea typeface="微软雅黑" panose="020B0503020204020204" pitchFamily="34" charset="-122"/>
                  </a:rPr>
                  <a:t>张成的子空间</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b="1" i="1" smtClean="0">
                        <a:latin typeface="Cambria Math" panose="02040503050406030204" pitchFamily="18" charset="0"/>
                        <a:ea typeface="微软雅黑" panose="020B0503020204020204" pitchFamily="34" charset="-122"/>
                      </a:rPr>
                      <m:t>𝜷</m:t>
                    </m:r>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𝑠</m:t>
                            </m:r>
                          </m:sub>
                        </m:sSub>
                      </m:e>
                    </m:d>
                  </m:oMath>
                </a14:m>
                <a:r>
                  <a:rPr lang="zh-CN" altLang="en-US"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b="1" i="1">
                        <a:latin typeface="Cambria Math" panose="02040503050406030204" pitchFamily="18" charset="0"/>
                        <a:ea typeface="微软雅黑" panose="020B0503020204020204" pitchFamily="34" charset="-122"/>
                      </a:rPr>
                      <m:t>𝜷</m:t>
                    </m:r>
                  </m:oMath>
                </a14:m>
                <a:r>
                  <a:rPr lang="zh-CN" altLang="en-US" dirty="0" smtClean="0">
                    <a:latin typeface="微软雅黑" panose="020B0503020204020204" pitchFamily="34" charset="-122"/>
                    <a:ea typeface="微软雅黑" panose="020B0503020204020204" pitchFamily="34" charset="-122"/>
                  </a:rPr>
                  <a:t>不能被</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𝑠</m:t>
                        </m:r>
                      </m:sub>
                    </m:sSub>
                  </m:oMath>
                </a14:m>
                <a:r>
                  <a:rPr lang="zh-CN" altLang="en-US" dirty="0" smtClean="0">
                    <a:latin typeface="微软雅黑" panose="020B0503020204020204" pitchFamily="34" charset="-122"/>
                    <a:ea typeface="微软雅黑" panose="020B0503020204020204" pitchFamily="34" charset="-122"/>
                  </a:rPr>
                  <a:t>线性表出</a:t>
                </a:r>
                <a:endParaRPr lang="en-US" altLang="zh-CN"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055076" y="3909061"/>
                <a:ext cx="9557239" cy="874407"/>
              </a:xfrm>
              <a:prstGeom prst="rect">
                <a:avLst/>
              </a:prstGeom>
              <a:blipFill rotWithShape="0">
                <a:blip r:embed="rId7"/>
                <a:stretch>
                  <a:fillRect l="-510" r="-128" b="-9722"/>
                </a:stretch>
              </a:blipFill>
            </p:spPr>
            <p:txBody>
              <a:bodyPr/>
              <a:lstStyle/>
              <a:p>
                <a:r>
                  <a:rPr lang="zh-CN" altLang="en-US">
                    <a:noFill/>
                  </a:rPr>
                  <a:t> </a:t>
                </a:r>
              </a:p>
            </p:txBody>
          </p:sp>
        </mc:Fallback>
      </mc:AlternateContent>
      <p:sp>
        <p:nvSpPr>
          <p:cNvPr id="9" name="矩形 8"/>
          <p:cNvSpPr/>
          <p:nvPr/>
        </p:nvSpPr>
        <p:spPr>
          <a:xfrm>
            <a:off x="7447085" y="2140986"/>
            <a:ext cx="360484" cy="2904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499947" y="2431434"/>
            <a:ext cx="779584" cy="3029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9" idx="2"/>
          </p:cNvCxnSpPr>
          <p:nvPr/>
        </p:nvCxnSpPr>
        <p:spPr>
          <a:xfrm flipH="1">
            <a:off x="3006971" y="2431433"/>
            <a:ext cx="4620356" cy="16622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2"/>
          </p:cNvCxnSpPr>
          <p:nvPr/>
        </p:nvCxnSpPr>
        <p:spPr>
          <a:xfrm flipH="1">
            <a:off x="1955591" y="2734408"/>
            <a:ext cx="934148" cy="17680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本框 26"/>
              <p:cNvSpPr txBox="1"/>
              <p:nvPr/>
            </p:nvSpPr>
            <p:spPr>
              <a:xfrm>
                <a:off x="742314" y="5080624"/>
                <a:ext cx="8955601" cy="400110"/>
              </a:xfrm>
              <a:prstGeom prst="rect">
                <a:avLst/>
              </a:prstGeom>
              <a:noFill/>
            </p:spPr>
            <p:txBody>
              <a:bodyPr wrap="square" rtlCol="0">
                <a:spAutoFit/>
              </a:bodyPr>
              <a:lstStyle/>
              <a:p>
                <a:r>
                  <a:rPr lang="en-US" altLang="zh-CN" sz="2000" dirty="0" smtClean="0">
                    <a:latin typeface="Arial" panose="020B0604020202020204" pitchFamily="34" charset="0"/>
                    <a:cs typeface="Arial" panose="020B0604020202020204" pitchFamily="34" charset="0"/>
                  </a:rPr>
                  <a:t>2. </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smtClean="0">
                    <a:latin typeface="微软雅黑" panose="020B0503020204020204" pitchFamily="34" charset="-122"/>
                    <a:ea typeface="微软雅黑" panose="020B0503020204020204" pitchFamily="34" charset="-122"/>
                  </a:rPr>
                  <a:t>的非零子空间</a:t>
                </a:r>
                <a14:m>
                  <m:oMath xmlns:m="http://schemas.openxmlformats.org/officeDocument/2006/math">
                    <m:r>
                      <a:rPr lang="en-US" altLang="zh-CN" sz="2000" b="1">
                        <a:latin typeface="Cambria Math" panose="02040503050406030204" pitchFamily="18" charset="0"/>
                      </a:rPr>
                      <m:t>𝐔</m:t>
                    </m:r>
                  </m:oMath>
                </a14:m>
                <a:r>
                  <a:rPr lang="zh-CN" altLang="en-US" sz="2000" dirty="0" smtClean="0">
                    <a:latin typeface="微软雅黑" panose="020B0503020204020204" pitchFamily="34" charset="-122"/>
                    <a:ea typeface="微软雅黑" panose="020B0503020204020204" pitchFamily="34" charset="-122"/>
                  </a:rPr>
                  <a:t>中任意两组基所含向量的</a:t>
                </a:r>
                <a:r>
                  <a:rPr lang="zh-CN" altLang="en-US" sz="2000" dirty="0" smtClean="0">
                    <a:solidFill>
                      <a:srgbClr val="FF0000"/>
                    </a:solidFill>
                    <a:latin typeface="微软雅黑" panose="020B0503020204020204" pitchFamily="34" charset="-122"/>
                    <a:ea typeface="微软雅黑" panose="020B0503020204020204" pitchFamily="34" charset="-122"/>
                  </a:rPr>
                  <a:t>个数</a:t>
                </a:r>
                <a:r>
                  <a:rPr lang="zh-CN" altLang="en-US" sz="2000" dirty="0" smtClean="0">
                    <a:latin typeface="微软雅黑" panose="020B0503020204020204" pitchFamily="34" charset="-122"/>
                    <a:ea typeface="微软雅黑" panose="020B0503020204020204" pitchFamily="34" charset="-122"/>
                  </a:rPr>
                  <a:t>相等</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742314" y="5080624"/>
                <a:ext cx="8955601" cy="400110"/>
              </a:xfrm>
              <a:prstGeom prst="rect">
                <a:avLst/>
              </a:prstGeom>
              <a:blipFill rotWithShape="0">
                <a:blip r:embed="rId8"/>
                <a:stretch>
                  <a:fillRect l="-749" t="-7576" b="-25758"/>
                </a:stretch>
              </a:blipFill>
            </p:spPr>
            <p:txBody>
              <a:bodyPr/>
              <a:lstStyle/>
              <a:p>
                <a:r>
                  <a:rPr lang="zh-CN" altLang="en-US">
                    <a:noFill/>
                  </a:rPr>
                  <a:t> </a:t>
                </a:r>
              </a:p>
            </p:txBody>
          </p:sp>
        </mc:Fallback>
      </mc:AlternateContent>
      <p:sp>
        <p:nvSpPr>
          <p:cNvPr id="25" name="圆角矩形 24"/>
          <p:cNvSpPr/>
          <p:nvPr/>
        </p:nvSpPr>
        <p:spPr>
          <a:xfrm>
            <a:off x="742314" y="5656398"/>
            <a:ext cx="8419271" cy="46318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p:cNvSpPr txBox="1"/>
              <p:nvPr/>
            </p:nvSpPr>
            <p:spPr>
              <a:xfrm>
                <a:off x="701040" y="5719469"/>
                <a:ext cx="8686800"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定义：</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𝐑</m:t>
                        </m:r>
                      </m:e>
                      <m:sup>
                        <m:r>
                          <a:rPr lang="en-US" altLang="zh-CN" sz="2000" i="1">
                            <a:latin typeface="Cambria Math" panose="02040503050406030204" pitchFamily="18" charset="0"/>
                          </a:rPr>
                          <m:t>𝑛</m:t>
                        </m:r>
                      </m:sup>
                    </m:sSup>
                  </m:oMath>
                </a14:m>
                <a:r>
                  <a:rPr lang="zh-CN" altLang="en-US" sz="2000" dirty="0">
                    <a:latin typeface="微软雅黑" panose="020B0503020204020204" pitchFamily="34" charset="-122"/>
                    <a:ea typeface="微软雅黑" panose="020B0503020204020204" pitchFamily="34" charset="-122"/>
                  </a:rPr>
                  <a:t>的非零子空间</a:t>
                </a:r>
                <a14:m>
                  <m:oMath xmlns:m="http://schemas.openxmlformats.org/officeDocument/2006/math">
                    <m:r>
                      <a:rPr lang="en-US" altLang="zh-CN" sz="2000" b="1">
                        <a:latin typeface="Cambria Math" panose="02040503050406030204" pitchFamily="18" charset="0"/>
                      </a:rPr>
                      <m:t>𝐔</m:t>
                    </m:r>
                  </m:oMath>
                </a14:m>
                <a:r>
                  <a:rPr lang="zh-CN" altLang="en-US" sz="2000" dirty="0" smtClean="0">
                    <a:latin typeface="微软雅黑" panose="020B0503020204020204" pitchFamily="34" charset="-122"/>
                    <a:ea typeface="微软雅黑" panose="020B0503020204020204" pitchFamily="34" charset="-122"/>
                  </a:rPr>
                  <a:t>一组基中所含向量个数称为</a:t>
                </a:r>
                <a14:m>
                  <m:oMath xmlns:m="http://schemas.openxmlformats.org/officeDocument/2006/math">
                    <m:r>
                      <a:rPr lang="en-US" altLang="zh-CN" sz="2000" b="1">
                        <a:latin typeface="Cambria Math" panose="02040503050406030204" pitchFamily="18" charset="0"/>
                      </a:rPr>
                      <m:t>𝐔</m:t>
                    </m:r>
                  </m:oMath>
                </a14:m>
                <a:r>
                  <a:rPr lang="zh-CN" altLang="en-US" sz="2000" dirty="0" smtClean="0">
                    <a:latin typeface="微软雅黑" panose="020B0503020204020204" pitchFamily="34" charset="-122"/>
                    <a:ea typeface="微软雅黑" panose="020B0503020204020204" pitchFamily="34" charset="-122"/>
                  </a:rPr>
                  <a:t>的</a:t>
                </a:r>
                <a:r>
                  <a:rPr lang="zh-CN" altLang="en-US" sz="2000" dirty="0" smtClean="0">
                    <a:solidFill>
                      <a:srgbClr val="FF0000"/>
                    </a:solidFill>
                    <a:latin typeface="微软雅黑" panose="020B0503020204020204" pitchFamily="34" charset="-122"/>
                    <a:ea typeface="微软雅黑" panose="020B0503020204020204" pitchFamily="34" charset="-122"/>
                  </a:rPr>
                  <a:t>维数</a:t>
                </a:r>
                <a:r>
                  <a:rPr lang="zh-CN" altLang="en-US" sz="2000" dirty="0" smtClean="0">
                    <a:latin typeface="微软雅黑" panose="020B0503020204020204" pitchFamily="34" charset="-122"/>
                    <a:ea typeface="微软雅黑" panose="020B0503020204020204" pitchFamily="34" charset="-122"/>
                  </a:rPr>
                  <a:t>，记为</a:t>
                </a:r>
                <a14:m>
                  <m:oMath xmlns:m="http://schemas.openxmlformats.org/officeDocument/2006/math">
                    <m:r>
                      <m:rPr>
                        <m:sty m:val="p"/>
                      </m:rPr>
                      <a:rPr lang="en-US" altLang="zh-CN" sz="2000" b="0" i="0" smtClean="0">
                        <a:latin typeface="Cambria Math" panose="02040503050406030204" pitchFamily="18" charset="0"/>
                        <a:ea typeface="微软雅黑" panose="020B0503020204020204" pitchFamily="34" charset="-122"/>
                      </a:rPr>
                      <m:t>dim</m:t>
                    </m:r>
                    <m:r>
                      <a:rPr lang="en-US" altLang="zh-CN" sz="2000" b="1" i="0" smtClean="0">
                        <a:latin typeface="Cambria Math" panose="02040503050406030204" pitchFamily="18" charset="0"/>
                        <a:ea typeface="微软雅黑" panose="020B0503020204020204" pitchFamily="34" charset="-122"/>
                      </a:rPr>
                      <m:t>𝐔</m:t>
                    </m:r>
                  </m:oMath>
                </a14:m>
                <a:endParaRPr lang="zh-CN" altLang="en-US" sz="20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701040" y="5719469"/>
                <a:ext cx="8686800" cy="400110"/>
              </a:xfrm>
              <a:prstGeom prst="rect">
                <a:avLst/>
              </a:prstGeom>
              <a:blipFill rotWithShape="0">
                <a:blip r:embed="rId9"/>
                <a:stretch>
                  <a:fillRect l="-702" t="-757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88975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Bases and dimensions of linear space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矩形 4"/>
          <p:cNvSpPr/>
          <p:nvPr/>
        </p:nvSpPr>
        <p:spPr>
          <a:xfrm>
            <a:off x="980747" y="4859618"/>
            <a:ext cx="7758807" cy="499624"/>
          </a:xfrm>
          <a:prstGeom prst="rect">
            <a:avLst/>
          </a:prstGeom>
        </p:spPr>
        <p:txBody>
          <a:bodyPr wrap="square">
            <a:spAutoFit/>
          </a:bodyP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99110" y="1573799"/>
            <a:ext cx="8216438" cy="1654936"/>
            <a:chOff x="499110" y="1114642"/>
            <a:chExt cx="8216438" cy="1654936"/>
          </a:xfrm>
        </p:grpSpPr>
        <p:sp>
          <p:nvSpPr>
            <p:cNvPr id="22" name="圆角矩形 21"/>
            <p:cNvSpPr/>
            <p:nvPr/>
          </p:nvSpPr>
          <p:spPr>
            <a:xfrm>
              <a:off x="499110" y="1114642"/>
              <a:ext cx="8216438" cy="16549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矩形 6"/>
                <p:cNvSpPr/>
                <p:nvPr/>
              </p:nvSpPr>
              <p:spPr>
                <a:xfrm>
                  <a:off x="581590" y="1222104"/>
                  <a:ext cx="8133958" cy="1477328"/>
                </a:xfrm>
                <a:prstGeom prst="rect">
                  <a:avLst/>
                </a:prstGeom>
              </p:spPr>
              <p:txBody>
                <a:bodyPr wrap="none">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若</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是</a:t>
                  </a:r>
                  <a14:m>
                    <m:oMath xmlns:m="http://schemas.openxmlformats.org/officeDocument/2006/math">
                      <m:r>
                        <a:rPr lang="en-US" altLang="zh-CN" sz="2000" b="1">
                          <a:latin typeface="Cambria Math" panose="02040503050406030204" pitchFamily="18" charset="0"/>
                        </a:rPr>
                        <m:t>𝐔</m:t>
                      </m:r>
                      <m:r>
                        <a:rPr lang="en-US" altLang="zh-CN" sz="2000" b="1" i="1">
                          <a:latin typeface="Cambria Math" panose="02040503050406030204" pitchFamily="18" charset="0"/>
                        </a:rPr>
                        <m:t> </m:t>
                      </m:r>
                    </m:oMath>
                  </a14:m>
                  <a:r>
                    <a:rPr lang="zh-CN" altLang="en-US" sz="2000" dirty="0" smtClean="0">
                      <a:latin typeface="微软雅黑" panose="020B0503020204020204" pitchFamily="34" charset="-122"/>
                      <a:ea typeface="微软雅黑" panose="020B0503020204020204" pitchFamily="34" charset="-122"/>
                    </a:rPr>
                    <a:t>中一组基</a:t>
                  </a:r>
                  <a:r>
                    <a:rPr lang="zh-CN" altLang="en-US" sz="2000" b="1" dirty="0" smtClean="0"/>
                    <a:t>，</a:t>
                  </a:r>
                  <a14:m>
                    <m:oMath xmlns:m="http://schemas.openxmlformats.org/officeDocument/2006/math">
                      <m:r>
                        <a:rPr lang="en-US" altLang="zh-CN" sz="2000" b="1" smtClean="0">
                          <a:latin typeface="Cambria Math" panose="02040503050406030204" pitchFamily="18" charset="0"/>
                        </a:rPr>
                        <m:t>𝐔</m:t>
                      </m:r>
                    </m:oMath>
                  </a14:m>
                  <a:r>
                    <a:rPr lang="zh-CN" altLang="en-US" sz="2000" dirty="0" smtClean="0">
                      <a:latin typeface="微软雅黑" panose="020B0503020204020204" pitchFamily="34" charset="-122"/>
                      <a:ea typeface="微软雅黑" panose="020B0503020204020204" pitchFamily="34" charset="-122"/>
                    </a:rPr>
                    <a:t>中每个向量</a:t>
                  </a:r>
                  <a14:m>
                    <m:oMath xmlns:m="http://schemas.openxmlformats.org/officeDocument/2006/math">
                      <m:r>
                        <a:rPr lang="en-US" altLang="zh-CN" sz="2000" b="1" i="1" smtClean="0">
                          <a:latin typeface="Cambria Math" panose="02040503050406030204" pitchFamily="18" charset="0"/>
                        </a:rPr>
                        <m:t>𝜶</m:t>
                      </m:r>
                    </m:oMath>
                  </a14:m>
                  <a:r>
                    <a:rPr lang="zh-CN" altLang="en-US" sz="2000" dirty="0" smtClean="0">
                      <a:latin typeface="微软雅黑" panose="020B0503020204020204" pitchFamily="34" charset="-122"/>
                      <a:ea typeface="微软雅黑" panose="020B0503020204020204" pitchFamily="34" charset="-122"/>
                    </a:rPr>
                    <a:t>都可以用</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唯一表出</a:t>
                  </a:r>
                  <a:r>
                    <a:rPr lang="zh-CN" altLang="en-US" sz="2000" dirty="0" smtClean="0"/>
                    <a:t>：</a:t>
                  </a:r>
                  <a:endParaRPr lang="en-US" altLang="zh-CN" sz="2000" dirty="0" smtClean="0"/>
                </a:p>
                <a:p>
                  <a:pPr>
                    <a:lnSpc>
                      <a:spcPct val="150000"/>
                    </a:lnSpc>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𝜶</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𝑛</m:t>
                            </m:r>
                          </m:sub>
                        </m:sSub>
                        <m:sSub>
                          <m:sSubPr>
                            <m:ctrlPr>
                              <a:rPr lang="en-US" altLang="zh-CN" sz="2000" b="0" i="1" smtClean="0">
                                <a:latin typeface="Cambria Math" panose="02040503050406030204" pitchFamily="18" charset="0"/>
                              </a:rPr>
                            </m:ctrlPr>
                          </m:sSubPr>
                          <m:e>
                            <m:r>
                              <a:rPr lang="en-US" altLang="zh-CN" sz="2000" b="1" i="1" smtClean="0">
                                <a:latin typeface="Cambria Math" panose="02040503050406030204" pitchFamily="18" charset="0"/>
                              </a:rPr>
                              <m:t>𝜶</m:t>
                            </m:r>
                          </m:e>
                          <m:sub>
                            <m:r>
                              <a:rPr lang="en-US" altLang="zh-CN" sz="2000" b="0" i="1" smtClean="0">
                                <a:latin typeface="Cambria Math" panose="02040503050406030204" pitchFamily="18" charset="0"/>
                              </a:rPr>
                              <m:t>𝑛</m:t>
                            </m:r>
                          </m:sub>
                        </m:sSub>
                      </m:oMath>
                    </m:oMathPara>
                  </a14:m>
                  <a:endParaRPr lang="en-US" altLang="zh-CN" sz="2000" dirty="0" smtClean="0"/>
                </a:p>
                <a:p>
                  <a:pPr>
                    <a:lnSpc>
                      <a:spcPct val="150000"/>
                    </a:lnSpc>
                  </a:pPr>
                  <a:r>
                    <a:rPr lang="zh-CN" altLang="en-US" sz="2000" dirty="0" smtClean="0">
                      <a:latin typeface="微软雅黑" panose="020B0503020204020204" pitchFamily="34" charset="-122"/>
                      <a:ea typeface="微软雅黑" panose="020B0503020204020204" pitchFamily="34" charset="-122"/>
                    </a:rPr>
                    <a:t>称</a:t>
                  </a:r>
                  <a14:m>
                    <m:oMath xmlns:m="http://schemas.openxmlformats.org/officeDocument/2006/math">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oMath>
                  </a14:m>
                  <a:r>
                    <a:rPr lang="zh-CN" altLang="en-US" sz="2000" dirty="0" smtClean="0">
                      <a:latin typeface="微软雅黑" panose="020B0503020204020204" pitchFamily="34" charset="-122"/>
                      <a:ea typeface="微软雅黑" panose="020B0503020204020204" pitchFamily="34" charset="-122"/>
                    </a:rPr>
                    <a:t>是</a:t>
                  </a:r>
                  <a14:m>
                    <m:oMath xmlns:m="http://schemas.openxmlformats.org/officeDocument/2006/math">
                      <m:r>
                        <a:rPr lang="en-US" altLang="zh-CN" sz="2000" b="1" i="1">
                          <a:latin typeface="Cambria Math" panose="02040503050406030204" pitchFamily="18" charset="0"/>
                        </a:rPr>
                        <m:t>𝜶</m:t>
                      </m:r>
                    </m:oMath>
                  </a14:m>
                  <a:r>
                    <a:rPr lang="zh-CN" altLang="en-US" sz="2000" dirty="0" smtClean="0">
                      <a:latin typeface="微软雅黑" panose="020B0503020204020204" pitchFamily="34" charset="-122"/>
                      <a:ea typeface="微软雅黑" panose="020B0503020204020204" pitchFamily="34" charset="-122"/>
                    </a:rPr>
                    <a:t>在基</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下的</a:t>
                  </a:r>
                  <a:r>
                    <a:rPr lang="zh-CN" altLang="en-US" sz="2000" dirty="0" smtClean="0">
                      <a:solidFill>
                        <a:srgbClr val="FF0000"/>
                      </a:solidFill>
                      <a:latin typeface="微软雅黑" panose="020B0503020204020204" pitchFamily="34" charset="-122"/>
                      <a:ea typeface="微软雅黑" panose="020B0503020204020204" pitchFamily="34" charset="-122"/>
                    </a:rPr>
                    <a:t>坐标</a:t>
                  </a:r>
                  <a:endParaRPr lang="zh-CN" altLang="en-US" sz="200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581590" y="1222104"/>
                  <a:ext cx="8133958" cy="1477328"/>
                </a:xfrm>
                <a:prstGeom prst="rect">
                  <a:avLst/>
                </a:prstGeom>
                <a:blipFill rotWithShape="0">
                  <a:blip r:embed="rId5"/>
                  <a:stretch>
                    <a:fillRect l="-749" r="-75" b="-289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矩形 9"/>
              <p:cNvSpPr/>
              <p:nvPr/>
            </p:nvSpPr>
            <p:spPr>
              <a:xfrm>
                <a:off x="540385" y="4024024"/>
                <a:ext cx="8813695" cy="1200329"/>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zh-CN" altLang="en-US" sz="2400" b="1" i="1">
                            <a:latin typeface="Cambria Math" panose="02040503050406030204" pitchFamily="18" charset="0"/>
                          </a:rPr>
                          <m:t>𝜺</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b="1" i="1">
                            <a:latin typeface="Cambria Math" panose="02040503050406030204" pitchFamily="18" charset="0"/>
                          </a:rPr>
                          <m:t>𝜺</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zh-CN" altLang="en-US" sz="2400" b="1" i="1">
                            <a:latin typeface="Cambria Math" panose="02040503050406030204" pitchFamily="18" charset="0"/>
                          </a:rPr>
                          <m:t>𝜺</m:t>
                        </m:r>
                      </m:e>
                      <m:sub>
                        <m:r>
                          <a:rPr lang="en-US" altLang="zh-CN" sz="2400" i="1">
                            <a:latin typeface="Cambria Math" panose="02040503050406030204" pitchFamily="18" charset="0"/>
                          </a:rPr>
                          <m:t>𝑛</m:t>
                        </m:r>
                      </m:sub>
                    </m:sSub>
                  </m:oMath>
                </a14:m>
                <a:r>
                  <a:rPr lang="zh-CN" altLang="en-US" sz="2400" dirty="0" smtClean="0">
                    <a:latin typeface="微软雅黑" panose="020B0503020204020204" pitchFamily="34" charset="-122"/>
                    <a:ea typeface="微软雅黑" panose="020B0503020204020204" pitchFamily="34" charset="-122"/>
                  </a:rPr>
                  <a:t>是</a:t>
                </a:r>
                <a14:m>
                  <m:oMath xmlns:m="http://schemas.openxmlformats.org/officeDocument/2006/math">
                    <m:sSup>
                      <m:sSupPr>
                        <m:ctrlPr>
                          <a:rPr lang="en-US" altLang="zh-CN" sz="2400" i="1">
                            <a:latin typeface="Cambria Math" panose="02040503050406030204" pitchFamily="18" charset="0"/>
                          </a:rPr>
                        </m:ctrlPr>
                      </m:sSupPr>
                      <m:e>
                        <m:r>
                          <a:rPr lang="en-US" altLang="zh-CN" sz="2400" b="1">
                            <a:latin typeface="Cambria Math" panose="02040503050406030204" pitchFamily="18" charset="0"/>
                          </a:rPr>
                          <m:t>𝐑</m:t>
                        </m:r>
                      </m:e>
                      <m:sup>
                        <m:r>
                          <a:rPr lang="en-US" altLang="zh-CN" sz="2400" i="1">
                            <a:latin typeface="Cambria Math" panose="02040503050406030204" pitchFamily="18" charset="0"/>
                          </a:rPr>
                          <m:t>𝑛</m:t>
                        </m:r>
                      </m:sup>
                    </m:sSup>
                  </m:oMath>
                </a14:m>
                <a:r>
                  <a:rPr lang="zh-CN" altLang="en-US" sz="2400" dirty="0" smtClean="0">
                    <a:latin typeface="微软雅黑" panose="020B0503020204020204" pitchFamily="34" charset="-122"/>
                    <a:ea typeface="微软雅黑" panose="020B0503020204020204" pitchFamily="34" charset="-122"/>
                  </a:rPr>
                  <a:t>的一组基，说明</a:t>
                </a:r>
                <a14:m>
                  <m:oMath xmlns:m="http://schemas.openxmlformats.org/officeDocument/2006/math">
                    <m:sSup>
                      <m:sSupPr>
                        <m:ctrlPr>
                          <a:rPr lang="en-US" altLang="zh-CN" sz="2400" i="1">
                            <a:latin typeface="Cambria Math" panose="02040503050406030204" pitchFamily="18" charset="0"/>
                          </a:rPr>
                        </m:ctrlPr>
                      </m:sSupPr>
                      <m:e>
                        <m:r>
                          <a:rPr lang="en-US" altLang="zh-CN" sz="2400" b="1">
                            <a:latin typeface="Cambria Math" panose="02040503050406030204" pitchFamily="18" charset="0"/>
                          </a:rPr>
                          <m:t>𝐑</m:t>
                        </m:r>
                      </m:e>
                      <m:sup>
                        <m:r>
                          <a:rPr lang="en-US" altLang="zh-CN" sz="2400" i="1">
                            <a:latin typeface="Cambria Math" panose="02040503050406030204" pitchFamily="18" charset="0"/>
                          </a:rPr>
                          <m:t>𝑛</m:t>
                        </m:r>
                      </m:sup>
                    </m:sSup>
                  </m:oMath>
                </a14:m>
                <a:r>
                  <a:rPr lang="zh-CN" altLang="en-US" sz="2400" dirty="0" smtClean="0">
                    <a:latin typeface="微软雅黑" panose="020B0503020204020204" pitchFamily="34" charset="-122"/>
                    <a:ea typeface="微软雅黑" panose="020B0503020204020204" pitchFamily="34" charset="-122"/>
                  </a:rPr>
                  <a:t>的维数为</a:t>
                </a:r>
                <a14:m>
                  <m:oMath xmlns:m="http://schemas.openxmlformats.org/officeDocument/2006/math">
                    <m:r>
                      <m:rPr>
                        <m:sty m:val="p"/>
                      </m:rPr>
                      <a:rPr lang="en-US" altLang="zh-CN" sz="2400" i="0">
                        <a:latin typeface="Cambria Math" panose="02040503050406030204" pitchFamily="18" charset="0"/>
                      </a:rPr>
                      <m:t>n</m:t>
                    </m:r>
                  </m:oMath>
                </a14:m>
                <a:endParaRPr lang="en-US" altLang="zh-CN" sz="2400" dirty="0" smtClean="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设</a:t>
                </a:r>
                <a14:m>
                  <m:oMath xmlns:m="http://schemas.openxmlformats.org/officeDocument/2006/math">
                    <m:r>
                      <m:rPr>
                        <m:sty m:val="p"/>
                      </m:rPr>
                      <a:rPr lang="en-US" altLang="zh-CN" sz="2400">
                        <a:latin typeface="Cambria Math" panose="02040503050406030204" pitchFamily="18" charset="0"/>
                        <a:ea typeface="微软雅黑" panose="020B0503020204020204" pitchFamily="34" charset="-122"/>
                      </a:rPr>
                      <m:t>dim</m:t>
                    </m:r>
                    <m:r>
                      <a:rPr lang="en-US" altLang="zh-CN" sz="2400" b="1">
                        <a:latin typeface="Cambria Math" panose="02040503050406030204" pitchFamily="18" charset="0"/>
                        <a:ea typeface="微软雅黑" panose="020B0503020204020204" pitchFamily="34" charset="-122"/>
                      </a:rPr>
                      <m:t>𝐔</m:t>
                    </m:r>
                    <m:r>
                      <a:rPr lang="en-US" altLang="zh-CN" sz="2400" b="0" i="0"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𝑟</m:t>
                    </m:r>
                  </m:oMath>
                </a14:m>
                <a:r>
                  <a:rPr lang="zh-CN" altLang="en-US" sz="2400" i="1"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任取</a:t>
                </a:r>
                <a14:m>
                  <m:oMath xmlns:m="http://schemas.openxmlformats.org/officeDocument/2006/math">
                    <m:r>
                      <a:rPr lang="en-US" altLang="zh-CN" sz="2400" b="1">
                        <a:latin typeface="Cambria Math" panose="02040503050406030204" pitchFamily="18" charset="0"/>
                        <a:ea typeface="微软雅黑" panose="020B0503020204020204" pitchFamily="34" charset="-122"/>
                      </a:rPr>
                      <m:t>𝐔</m:t>
                    </m:r>
                  </m:oMath>
                </a14:m>
                <a:r>
                  <a:rPr lang="zh-CN" altLang="en-US" sz="2400" dirty="0" smtClean="0">
                    <a:latin typeface="微软雅黑" panose="020B0503020204020204" pitchFamily="34" charset="-122"/>
                    <a:ea typeface="微软雅黑" panose="020B0503020204020204" pitchFamily="34" charset="-122"/>
                  </a:rPr>
                  <a:t>中</a:t>
                </a:r>
                <a14:m>
                  <m:oMath xmlns:m="http://schemas.openxmlformats.org/officeDocument/2006/math">
                    <m:r>
                      <a:rPr lang="en-US" altLang="zh-CN" sz="2400" i="1">
                        <a:latin typeface="Cambria Math" panose="02040503050406030204" pitchFamily="18" charset="0"/>
                        <a:ea typeface="微软雅黑" panose="020B0503020204020204" pitchFamily="34" charset="-122"/>
                      </a:rPr>
                      <m:t>𝑟</m:t>
                    </m:r>
                  </m:oMath>
                </a14:m>
                <a:r>
                  <a:rPr lang="zh-CN" altLang="en-US" sz="2400" dirty="0" smtClean="0">
                    <a:latin typeface="微软雅黑" panose="020B0503020204020204" pitchFamily="34" charset="-122"/>
                    <a:ea typeface="微软雅黑" panose="020B0503020204020204" pitchFamily="34" charset="-122"/>
                  </a:rPr>
                  <a:t>个线性无关的向量，即可构成</a:t>
                </a:r>
                <a14:m>
                  <m:oMath xmlns:m="http://schemas.openxmlformats.org/officeDocument/2006/math">
                    <m:r>
                      <a:rPr lang="en-US" altLang="zh-CN" sz="2400" b="1">
                        <a:latin typeface="Cambria Math" panose="02040503050406030204" pitchFamily="18" charset="0"/>
                        <a:ea typeface="微软雅黑" panose="020B0503020204020204" pitchFamily="34" charset="-122"/>
                      </a:rPr>
                      <m:t>𝐔</m:t>
                    </m:r>
                  </m:oMath>
                </a14:m>
                <a:r>
                  <a:rPr lang="zh-CN" altLang="en-US" sz="2400" dirty="0" smtClean="0">
                    <a:latin typeface="微软雅黑" panose="020B0503020204020204" pitchFamily="34" charset="-122"/>
                    <a:ea typeface="微软雅黑" panose="020B0503020204020204" pitchFamily="34" charset="-122"/>
                  </a:rPr>
                  <a:t>的一组基</a:t>
                </a:r>
                <a:endParaRPr lang="en-US" altLang="zh-CN" sz="2400" dirty="0" smtClean="0">
                  <a:latin typeface="微软雅黑" panose="020B0503020204020204" pitchFamily="34" charset="-122"/>
                  <a:ea typeface="微软雅黑" panose="020B0503020204020204"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540385" y="4024024"/>
                <a:ext cx="8813695" cy="1200329"/>
              </a:xfrm>
              <a:prstGeom prst="rect">
                <a:avLst/>
              </a:prstGeom>
              <a:blipFill rotWithShape="0">
                <a:blip r:embed="rId6"/>
                <a:stretch>
                  <a:fillRect l="-1107" t="-4061" r="-208" b="-106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373933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Summary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grpSp>
        <p:nvGrpSpPr>
          <p:cNvPr id="4" name="组合 3"/>
          <p:cNvGrpSpPr/>
          <p:nvPr/>
        </p:nvGrpSpPr>
        <p:grpSpPr>
          <a:xfrm>
            <a:off x="2783479" y="1199387"/>
            <a:ext cx="5246096" cy="553291"/>
            <a:chOff x="742314" y="1178170"/>
            <a:chExt cx="5246096" cy="553291"/>
          </a:xfrm>
        </p:grpSpPr>
        <p:sp>
          <p:nvSpPr>
            <p:cNvPr id="3" name="圆角矩形 2"/>
            <p:cNvSpPr/>
            <p:nvPr/>
          </p:nvSpPr>
          <p:spPr>
            <a:xfrm>
              <a:off x="742314" y="1178170"/>
              <a:ext cx="5046071" cy="55329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42314" y="1243200"/>
              <a:ext cx="5246096"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线性空间定义（集合</a:t>
              </a:r>
              <a:r>
                <a:rPr lang="en-US" altLang="zh-CN" sz="2400" dirty="0" smtClean="0">
                  <a:latin typeface="微软雅黑" panose="020B0503020204020204" pitchFamily="34" charset="-122"/>
                  <a:ea typeface="微软雅黑" panose="020B0503020204020204" pitchFamily="34" charset="-122"/>
                </a:rPr>
                <a:t>+8</a:t>
              </a:r>
              <a:r>
                <a:rPr lang="zh-CN" altLang="en-US" sz="2400" dirty="0" smtClean="0">
                  <a:latin typeface="微软雅黑" panose="020B0503020204020204" pitchFamily="34" charset="-122"/>
                  <a:ea typeface="微软雅黑" panose="020B0503020204020204" pitchFamily="34" charset="-122"/>
                </a:rPr>
                <a:t>条运算性质）</a:t>
              </a:r>
              <a:endParaRPr lang="zh-CN" altLang="en-US" sz="2400" dirty="0">
                <a:latin typeface="微软雅黑" panose="020B0503020204020204" pitchFamily="34" charset="-122"/>
                <a:ea typeface="微软雅黑" panose="020B0503020204020204" pitchFamily="34" charset="-122"/>
              </a:endParaRPr>
            </a:p>
          </p:txBody>
        </p:sp>
      </p:grpSp>
      <p:cxnSp>
        <p:nvCxnSpPr>
          <p:cNvPr id="8" name="直接箭头连接符 7"/>
          <p:cNvCxnSpPr/>
          <p:nvPr/>
        </p:nvCxnSpPr>
        <p:spPr>
          <a:xfrm>
            <a:off x="5251504" y="1837730"/>
            <a:ext cx="1" cy="100974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3116854" y="2912508"/>
            <a:ext cx="4269301" cy="615462"/>
            <a:chOff x="742314" y="1178170"/>
            <a:chExt cx="4269301" cy="615462"/>
          </a:xfrm>
        </p:grpSpPr>
        <p:sp>
          <p:nvSpPr>
            <p:cNvPr id="17" name="圆角矩形 16"/>
            <p:cNvSpPr/>
            <p:nvPr/>
          </p:nvSpPr>
          <p:spPr>
            <a:xfrm>
              <a:off x="742314" y="1178170"/>
              <a:ext cx="4269301" cy="61546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42314" y="1243200"/>
              <a:ext cx="4198963" cy="461665"/>
            </a:xfrm>
            <a:prstGeom prst="rect">
              <a:avLst/>
            </a:prstGeom>
            <a:noFill/>
          </p:spPr>
          <p:txBody>
            <a:bodyPr wrap="square" rtlCol="0">
              <a:spAutoFit/>
            </a:bodyPr>
            <a:lstStyle/>
            <a:p>
              <a:pPr algn="ctr"/>
              <a:r>
                <a:rPr lang="zh-CN" altLang="en-US" sz="2400" dirty="0" smtClean="0">
                  <a:solidFill>
                    <a:srgbClr val="FF0000"/>
                  </a:solidFill>
                  <a:latin typeface="微软雅黑" panose="020B0503020204020204" pitchFamily="34" charset="-122"/>
                  <a:ea typeface="微软雅黑" panose="020B0503020204020204" pitchFamily="34" charset="-122"/>
                </a:rPr>
                <a:t>线性相关与线性无关</a:t>
              </a:r>
              <a:endParaRPr lang="zh-CN" altLang="en-US" sz="2400" dirty="0">
                <a:solidFill>
                  <a:srgbClr val="FF0000"/>
                </a:solidFill>
                <a:latin typeface="微软雅黑" panose="020B0503020204020204" pitchFamily="34" charset="-122"/>
                <a:ea typeface="微软雅黑" panose="020B0503020204020204" pitchFamily="34" charset="-122"/>
              </a:endParaRPr>
            </a:p>
          </p:txBody>
        </p:sp>
      </p:grpSp>
      <p:cxnSp>
        <p:nvCxnSpPr>
          <p:cNvPr id="23" name="直接箭头连接符 22"/>
          <p:cNvCxnSpPr>
            <a:stCxn id="17" idx="2"/>
          </p:cNvCxnSpPr>
          <p:nvPr/>
        </p:nvCxnSpPr>
        <p:spPr>
          <a:xfrm flipH="1">
            <a:off x="3562570" y="3527970"/>
            <a:ext cx="1688935" cy="60546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865714" y="4198459"/>
            <a:ext cx="3331774" cy="615462"/>
            <a:chOff x="473799" y="1154432"/>
            <a:chExt cx="4269301" cy="615462"/>
          </a:xfrm>
        </p:grpSpPr>
        <p:sp>
          <p:nvSpPr>
            <p:cNvPr id="25" name="圆角矩形 24"/>
            <p:cNvSpPr/>
            <p:nvPr/>
          </p:nvSpPr>
          <p:spPr>
            <a:xfrm>
              <a:off x="473799" y="1154432"/>
              <a:ext cx="4269301" cy="61546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478189" y="1231330"/>
              <a:ext cx="4198963" cy="461665"/>
            </a:xfrm>
            <a:prstGeom prst="rect">
              <a:avLst/>
            </a:prstGeom>
            <a:noFill/>
          </p:spPr>
          <p:txBody>
            <a:bodyPr wrap="square" rtlCol="0">
              <a:spAutoFit/>
            </a:bodyPr>
            <a:lstStyle/>
            <a:p>
              <a:pPr algn="ctr"/>
              <a:r>
                <a:rPr lang="zh-CN" altLang="en-US" sz="2400" dirty="0" smtClean="0">
                  <a:latin typeface="微软雅黑" panose="020B0503020204020204" pitchFamily="34" charset="-122"/>
                  <a:ea typeface="微软雅黑" panose="020B0503020204020204" pitchFamily="34" charset="-122"/>
                </a:rPr>
                <a:t>向量组极大线性无关组</a:t>
              </a:r>
              <a:endParaRPr lang="zh-CN" altLang="en-US" sz="2400" dirty="0">
                <a:latin typeface="微软雅黑" panose="020B0503020204020204" pitchFamily="34" charset="-122"/>
                <a:ea typeface="微软雅黑" panose="020B0503020204020204" pitchFamily="34" charset="-122"/>
              </a:endParaRPr>
            </a:p>
          </p:txBody>
        </p:sp>
      </p:grpSp>
      <p:cxnSp>
        <p:nvCxnSpPr>
          <p:cNvPr id="27" name="直接箭头连接符 26"/>
          <p:cNvCxnSpPr>
            <a:stCxn id="17" idx="2"/>
          </p:cNvCxnSpPr>
          <p:nvPr/>
        </p:nvCxnSpPr>
        <p:spPr>
          <a:xfrm>
            <a:off x="5251505" y="3527970"/>
            <a:ext cx="1577920" cy="60546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6210599" y="4210328"/>
            <a:ext cx="3123901" cy="615462"/>
            <a:chOff x="742314" y="1178170"/>
            <a:chExt cx="4269300" cy="615462"/>
          </a:xfrm>
        </p:grpSpPr>
        <p:sp>
          <p:nvSpPr>
            <p:cNvPr id="30" name="圆角矩形 29"/>
            <p:cNvSpPr/>
            <p:nvPr/>
          </p:nvSpPr>
          <p:spPr>
            <a:xfrm>
              <a:off x="742314" y="1178170"/>
              <a:ext cx="4269300" cy="61546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42314" y="1243200"/>
              <a:ext cx="4198963" cy="461665"/>
            </a:xfrm>
            <a:prstGeom prst="rect">
              <a:avLst/>
            </a:prstGeom>
            <a:noFill/>
          </p:spPr>
          <p:txBody>
            <a:bodyPr wrap="square" rtlCol="0">
              <a:spAutoFit/>
            </a:bodyPr>
            <a:lstStyle/>
            <a:p>
              <a:pPr algn="ctr"/>
              <a:r>
                <a:rPr lang="zh-CN" altLang="en-US" sz="2400" dirty="0" smtClean="0">
                  <a:latin typeface="微软雅黑" panose="020B0503020204020204" pitchFamily="34" charset="-122"/>
                  <a:ea typeface="微软雅黑" panose="020B0503020204020204" pitchFamily="34" charset="-122"/>
                </a:rPr>
                <a:t>线性空间的基和维数</a:t>
              </a:r>
              <a:endParaRPr lang="zh-CN" altLang="en-US" sz="2400" dirty="0">
                <a:latin typeface="微软雅黑" panose="020B0503020204020204" pitchFamily="34" charset="-122"/>
                <a:ea typeface="微软雅黑" panose="020B0503020204020204" pitchFamily="34" charset="-122"/>
              </a:endParaRPr>
            </a:p>
          </p:txBody>
        </p:sp>
      </p:grpSp>
      <p:cxnSp>
        <p:nvCxnSpPr>
          <p:cNvPr id="39" name="直接连接符 38"/>
          <p:cNvCxnSpPr>
            <a:stCxn id="25" idx="3"/>
            <a:endCxn id="33" idx="1"/>
          </p:cNvCxnSpPr>
          <p:nvPr/>
        </p:nvCxnSpPr>
        <p:spPr>
          <a:xfrm>
            <a:off x="4197488" y="4506190"/>
            <a:ext cx="2013111" cy="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1867560" y="5133522"/>
            <a:ext cx="7047840" cy="1654784"/>
            <a:chOff x="983552" y="1178170"/>
            <a:chExt cx="10628595" cy="968861"/>
          </a:xfrm>
        </p:grpSpPr>
        <p:sp>
          <p:nvSpPr>
            <p:cNvPr id="43" name="圆角矩形 42"/>
            <p:cNvSpPr/>
            <p:nvPr/>
          </p:nvSpPr>
          <p:spPr>
            <a:xfrm>
              <a:off x="983552" y="1178170"/>
              <a:ext cx="10628595" cy="96886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4" name="文本框 43"/>
                <p:cNvSpPr txBox="1"/>
                <p:nvPr/>
              </p:nvSpPr>
              <p:spPr>
                <a:xfrm>
                  <a:off x="983554" y="1237831"/>
                  <a:ext cx="10493696" cy="860607"/>
                </a:xfrm>
                <a:prstGeom prst="rect">
                  <a:avLst/>
                </a:prstGeom>
                <a:noFill/>
              </p:spPr>
              <p:txBody>
                <a:bodyPr wrap="square" rtlCol="0">
                  <a:spAutoFit/>
                </a:bodyPr>
                <a:lstStyle/>
                <a:p>
                  <a:pPr algn="ctr"/>
                  <a:r>
                    <a:rPr lang="zh-CN" altLang="en-US" sz="2400" dirty="0" smtClean="0">
                      <a:latin typeface="微软雅黑" panose="020B0503020204020204" pitchFamily="34" charset="-122"/>
                      <a:ea typeface="微软雅黑" panose="020B0503020204020204" pitchFamily="34" charset="-122"/>
                    </a:rPr>
                    <a:t>线性空间中的</a:t>
                  </a:r>
                  <a:r>
                    <a:rPr lang="zh-CN" altLang="en-US" sz="2400" dirty="0" smtClean="0">
                      <a:solidFill>
                        <a:srgbClr val="FF0000"/>
                      </a:solidFill>
                      <a:latin typeface="微软雅黑" panose="020B0503020204020204" pitchFamily="34" charset="-122"/>
                      <a:ea typeface="微软雅黑" panose="020B0503020204020204" pitchFamily="34" charset="-122"/>
                    </a:rPr>
                    <a:t>任一向量</a:t>
                  </a:r>
                  <a:r>
                    <a:rPr lang="zh-CN" altLang="en-US" sz="2400" dirty="0" smtClean="0">
                      <a:latin typeface="微软雅黑" panose="020B0503020204020204" pitchFamily="34" charset="-122"/>
                      <a:ea typeface="微软雅黑" panose="020B0503020204020204" pitchFamily="34" charset="-122"/>
                    </a:rPr>
                    <a:t>都可以用一组基</a:t>
                  </a:r>
                  <a:r>
                    <a:rPr lang="zh-CN" altLang="en-US" sz="2400" dirty="0" smtClean="0">
                      <a:solidFill>
                        <a:srgbClr val="FF0000"/>
                      </a:solidFill>
                      <a:latin typeface="微软雅黑" panose="020B0503020204020204" pitchFamily="34" charset="-122"/>
                      <a:ea typeface="微软雅黑" panose="020B0503020204020204" pitchFamily="34" charset="-122"/>
                    </a:rPr>
                    <a:t>唯一</a:t>
                  </a:r>
                  <a:r>
                    <a:rPr lang="zh-CN" altLang="en-US" sz="2400" dirty="0" smtClean="0">
                      <a:latin typeface="微软雅黑" panose="020B0503020204020204" pitchFamily="34" charset="-122"/>
                      <a:ea typeface="微软雅黑" panose="020B0503020204020204" pitchFamily="34" charset="-122"/>
                    </a:rPr>
                    <a:t>地表出</a:t>
                  </a:r>
                  <a:endParaRPr lang="en-US" altLang="zh-CN" sz="2400" dirty="0" smtClean="0">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𝛼</m:t>
                            </m:r>
                          </m:e>
                        </m:acc>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𝑎</m:t>
                            </m:r>
                          </m:e>
                          <m:sub>
                            <m:r>
                              <a:rPr lang="en-US" altLang="zh-CN" sz="2400" b="0" i="1" smtClean="0">
                                <a:latin typeface="Cambria Math" panose="02040503050406030204" pitchFamily="18" charset="0"/>
                                <a:ea typeface="微软雅黑" panose="020B0503020204020204" pitchFamily="34" charset="-122"/>
                              </a:rPr>
                              <m:t>1</m:t>
                            </m:r>
                          </m:sub>
                        </m:sSub>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𝑒</m:t>
                                </m:r>
                              </m:e>
                            </m:acc>
                          </m:e>
                          <m:sub>
                            <m:r>
                              <a:rPr lang="en-US" altLang="zh-CN" sz="2400" b="0" i="1" dirty="0" smtClean="0">
                                <a:latin typeface="Cambria Math" panose="02040503050406030204" pitchFamily="18" charset="0"/>
                                <a:ea typeface="微软雅黑" panose="020B0503020204020204" pitchFamily="34" charset="-122"/>
                              </a:rPr>
                              <m:t>1</m:t>
                            </m:r>
                          </m:sub>
                        </m:sSub>
                        <m:r>
                          <a:rPr lang="en-US" altLang="zh-CN" sz="2400" b="0" i="1" dirty="0" smtClean="0">
                            <a:latin typeface="Cambria Math" panose="02040503050406030204" pitchFamily="18" charset="0"/>
                            <a:ea typeface="微软雅黑" panose="020B0503020204020204" pitchFamily="34" charset="-122"/>
                          </a:rPr>
                          <m:t>+</m:t>
                        </m:r>
                        <m:sSub>
                          <m:sSubPr>
                            <m:ctrlPr>
                              <a:rPr lang="en-US" altLang="zh-CN" sz="2400" b="0" i="1" dirty="0" smtClean="0">
                                <a:latin typeface="Cambria Math" panose="02040503050406030204" pitchFamily="18" charset="0"/>
                                <a:ea typeface="微软雅黑" panose="020B0503020204020204" pitchFamily="34" charset="-122"/>
                              </a:rPr>
                            </m:ctrlPr>
                          </m:sSubPr>
                          <m:e>
                            <m:r>
                              <a:rPr lang="en-US" altLang="zh-CN" sz="2400" b="0" i="1" dirty="0" smtClean="0">
                                <a:latin typeface="Cambria Math" panose="02040503050406030204" pitchFamily="18" charset="0"/>
                                <a:ea typeface="微软雅黑" panose="020B0503020204020204" pitchFamily="34" charset="-122"/>
                              </a:rPr>
                              <m:t>𝑎</m:t>
                            </m:r>
                          </m:e>
                          <m:sub>
                            <m:r>
                              <a:rPr lang="en-US" altLang="zh-CN" sz="2400" b="0" i="1" dirty="0" smtClean="0">
                                <a:latin typeface="Cambria Math" panose="02040503050406030204" pitchFamily="18" charset="0"/>
                                <a:ea typeface="微软雅黑" panose="020B0503020204020204" pitchFamily="34" charset="-122"/>
                              </a:rPr>
                              <m:t>2</m:t>
                            </m:r>
                          </m:sub>
                        </m:sSub>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𝑒</m:t>
                                </m:r>
                              </m:e>
                            </m:acc>
                          </m:e>
                          <m:sub>
                            <m:r>
                              <a:rPr lang="en-US" altLang="zh-CN" sz="2400" b="0" i="1" dirty="0" smtClean="0">
                                <a:latin typeface="Cambria Math" panose="02040503050406030204" pitchFamily="18" charset="0"/>
                                <a:ea typeface="微软雅黑" panose="020B0503020204020204" pitchFamily="34" charset="-122"/>
                              </a:rPr>
                              <m:t>2</m:t>
                            </m:r>
                          </m:sub>
                        </m:sSub>
                        <m:r>
                          <a:rPr lang="en-US" altLang="zh-CN" sz="2400" b="0" i="1" dirty="0" smtClean="0">
                            <a:latin typeface="Cambria Math" panose="02040503050406030204" pitchFamily="18" charset="0"/>
                            <a:ea typeface="微软雅黑" panose="020B0503020204020204" pitchFamily="34" charset="-122"/>
                          </a:rPr>
                          <m:t>+</m:t>
                        </m:r>
                        <m:sSub>
                          <m:sSubPr>
                            <m:ctrlPr>
                              <a:rPr lang="en-US" altLang="zh-CN" sz="2400" b="0" i="1" dirty="0" smtClean="0">
                                <a:latin typeface="Cambria Math" panose="02040503050406030204" pitchFamily="18" charset="0"/>
                                <a:ea typeface="微软雅黑" panose="020B0503020204020204" pitchFamily="34" charset="-122"/>
                              </a:rPr>
                            </m:ctrlPr>
                          </m:sSubPr>
                          <m:e>
                            <m:r>
                              <a:rPr lang="en-US" altLang="zh-CN" sz="2400" b="0" i="1" dirty="0" smtClean="0">
                                <a:latin typeface="Cambria Math" panose="02040503050406030204" pitchFamily="18" charset="0"/>
                                <a:ea typeface="微软雅黑" panose="020B0503020204020204" pitchFamily="34" charset="-122"/>
                              </a:rPr>
                              <m:t>𝑎</m:t>
                            </m:r>
                          </m:e>
                          <m:sub>
                            <m:r>
                              <a:rPr lang="en-US" altLang="zh-CN" sz="2400" b="0" i="1" dirty="0" smtClean="0">
                                <a:latin typeface="Cambria Math" panose="02040503050406030204" pitchFamily="18" charset="0"/>
                                <a:ea typeface="微软雅黑" panose="020B0503020204020204" pitchFamily="34" charset="-122"/>
                              </a:rPr>
                              <m:t>3</m:t>
                            </m:r>
                          </m:sub>
                        </m:sSub>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𝑒</m:t>
                                </m:r>
                              </m:e>
                            </m:acc>
                          </m:e>
                          <m:sub>
                            <m:r>
                              <a:rPr lang="en-US" altLang="zh-CN" sz="2400" b="0" i="1" dirty="0" smtClean="0">
                                <a:latin typeface="Cambria Math" panose="02040503050406030204" pitchFamily="18" charset="0"/>
                                <a:ea typeface="微软雅黑" panose="020B0503020204020204" pitchFamily="34" charset="-122"/>
                              </a:rPr>
                              <m:t>3</m:t>
                            </m:r>
                          </m:sub>
                        </m:sSub>
                        <m:r>
                          <a:rPr lang="en-US" altLang="zh-CN" sz="2400" b="0" i="1" dirty="0" smtClean="0">
                            <a:latin typeface="Cambria Math" panose="02040503050406030204" pitchFamily="18" charset="0"/>
                            <a:ea typeface="微软雅黑" panose="020B0503020204020204" pitchFamily="34" charset="-122"/>
                          </a:rPr>
                          <m:t>+⋯+</m:t>
                        </m:r>
                        <m:sSub>
                          <m:sSubPr>
                            <m:ctrlPr>
                              <a:rPr lang="en-US" altLang="zh-CN" sz="2400" b="0" i="1" dirty="0" smtClean="0">
                                <a:latin typeface="Cambria Math" panose="02040503050406030204" pitchFamily="18" charset="0"/>
                                <a:ea typeface="微软雅黑" panose="020B0503020204020204" pitchFamily="34" charset="-122"/>
                              </a:rPr>
                            </m:ctrlPr>
                          </m:sSubPr>
                          <m:e>
                            <m:r>
                              <a:rPr lang="en-US" altLang="zh-CN" sz="2400" b="0" i="1" dirty="0" smtClean="0">
                                <a:latin typeface="Cambria Math" panose="02040503050406030204" pitchFamily="18" charset="0"/>
                                <a:ea typeface="微软雅黑" panose="020B0503020204020204" pitchFamily="34" charset="-122"/>
                              </a:rPr>
                              <m:t>𝑎</m:t>
                            </m:r>
                          </m:e>
                          <m:sub>
                            <m:r>
                              <a:rPr lang="en-US" altLang="zh-CN" sz="2400" b="0" i="1" dirty="0" smtClean="0">
                                <a:latin typeface="Cambria Math" panose="02040503050406030204" pitchFamily="18" charset="0"/>
                                <a:ea typeface="微软雅黑" panose="020B0503020204020204" pitchFamily="34" charset="-122"/>
                              </a:rPr>
                              <m:t>𝑛</m:t>
                            </m:r>
                          </m:sub>
                        </m:sSub>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𝑒</m:t>
                                </m:r>
                              </m:e>
                            </m:acc>
                          </m:e>
                          <m:sub>
                            <m:r>
                              <a:rPr lang="en-US" altLang="zh-CN" sz="2400" b="0" i="1" dirty="0" smtClean="0">
                                <a:latin typeface="Cambria Math" panose="02040503050406030204" pitchFamily="18" charset="0"/>
                                <a:ea typeface="微软雅黑" panose="020B0503020204020204" pitchFamily="34" charset="-122"/>
                              </a:rPr>
                              <m:t>𝑛</m:t>
                            </m:r>
                          </m:sub>
                        </m:sSub>
                        <m:r>
                          <a:rPr lang="en-US" altLang="zh-CN" sz="2400" b="0" i="1" dirty="0" smtClean="0">
                            <a:latin typeface="Cambria Math" panose="02040503050406030204" pitchFamily="18" charset="0"/>
                            <a:ea typeface="微软雅黑" panose="020B0503020204020204" pitchFamily="34" charset="-122"/>
                          </a:rPr>
                          <m:t>=</m:t>
                        </m:r>
                        <m:nary>
                          <m:naryPr>
                            <m:chr m:val="∑"/>
                            <m:ctrlPr>
                              <a:rPr lang="en-US" altLang="zh-CN" sz="2400" b="0" i="1" dirty="0" smtClean="0">
                                <a:solidFill>
                                  <a:srgbClr val="FF0000"/>
                                </a:solidFill>
                                <a:latin typeface="Cambria Math" panose="02040503050406030204" pitchFamily="18" charset="0"/>
                                <a:ea typeface="微软雅黑" panose="020B0503020204020204" pitchFamily="34" charset="-122"/>
                              </a:rPr>
                            </m:ctrlPr>
                          </m:naryPr>
                          <m:sub>
                            <m:r>
                              <a:rPr lang="en-US" altLang="zh-CN" sz="2400" b="0" i="1" dirty="0" smtClean="0">
                                <a:solidFill>
                                  <a:srgbClr val="FF0000"/>
                                </a:solidFill>
                                <a:latin typeface="Cambria Math" panose="02040503050406030204" pitchFamily="18" charset="0"/>
                                <a:ea typeface="微软雅黑" panose="020B0503020204020204" pitchFamily="34" charset="-122"/>
                              </a:rPr>
                              <m:t>𝑖</m:t>
                            </m:r>
                            <m:r>
                              <a:rPr lang="en-US" altLang="zh-CN" sz="2400" b="0" i="1" dirty="0" smtClean="0">
                                <a:solidFill>
                                  <a:srgbClr val="FF0000"/>
                                </a:solidFill>
                                <a:latin typeface="Cambria Math" panose="02040503050406030204" pitchFamily="18" charset="0"/>
                                <a:ea typeface="微软雅黑" panose="020B0503020204020204" pitchFamily="34" charset="-122"/>
                              </a:rPr>
                              <m:t>=1</m:t>
                            </m:r>
                          </m:sub>
                          <m:sup>
                            <m:r>
                              <a:rPr lang="en-US" altLang="zh-CN" sz="2400" b="0" i="1" dirty="0" smtClean="0">
                                <a:solidFill>
                                  <a:srgbClr val="FF0000"/>
                                </a:solidFill>
                                <a:latin typeface="Cambria Math" panose="02040503050406030204" pitchFamily="18" charset="0"/>
                                <a:ea typeface="微软雅黑" panose="020B0503020204020204" pitchFamily="34" charset="-122"/>
                              </a:rPr>
                              <m:t>𝑛</m:t>
                            </m:r>
                          </m:sup>
                          <m:e>
                            <m:sSub>
                              <m:sSubPr>
                                <m:ctrlPr>
                                  <a:rPr lang="en-US" altLang="zh-CN" sz="2400" b="0" i="1" dirty="0" smtClean="0">
                                    <a:solidFill>
                                      <a:srgbClr val="FF0000"/>
                                    </a:solidFill>
                                    <a:latin typeface="Cambria Math" panose="02040503050406030204" pitchFamily="18" charset="0"/>
                                    <a:ea typeface="微软雅黑" panose="020B0503020204020204" pitchFamily="34" charset="-122"/>
                                  </a:rPr>
                                </m:ctrlPr>
                              </m:sSubPr>
                              <m:e>
                                <m:r>
                                  <a:rPr lang="en-US" altLang="zh-CN" sz="2400" b="0" i="1" dirty="0" smtClean="0">
                                    <a:solidFill>
                                      <a:srgbClr val="FF0000"/>
                                    </a:solidFill>
                                    <a:latin typeface="Cambria Math" panose="02040503050406030204" pitchFamily="18" charset="0"/>
                                    <a:ea typeface="微软雅黑" panose="020B0503020204020204" pitchFamily="34" charset="-122"/>
                                  </a:rPr>
                                  <m:t>𝑎</m:t>
                                </m:r>
                              </m:e>
                              <m:sub>
                                <m:r>
                                  <a:rPr lang="en-US" altLang="zh-CN" sz="2400" b="0" i="1" dirty="0" smtClean="0">
                                    <a:solidFill>
                                      <a:srgbClr val="FF0000"/>
                                    </a:solidFill>
                                    <a:latin typeface="Cambria Math" panose="02040503050406030204" pitchFamily="18" charset="0"/>
                                    <a:ea typeface="微软雅黑" panose="020B0503020204020204" pitchFamily="34" charset="-122"/>
                                  </a:rPr>
                                  <m:t>𝑖</m:t>
                                </m:r>
                              </m:sub>
                            </m:sSub>
                            <m:sSub>
                              <m:sSubPr>
                                <m:ctrlPr>
                                  <a:rPr lang="en-US" altLang="zh-CN" sz="2400" b="0" i="1" dirty="0" smtClean="0">
                                    <a:solidFill>
                                      <a:srgbClr val="FF0000"/>
                                    </a:solidFill>
                                    <a:latin typeface="Cambria Math" panose="02040503050406030204" pitchFamily="18" charset="0"/>
                                    <a:ea typeface="微软雅黑" panose="020B0503020204020204" pitchFamily="34" charset="-122"/>
                                  </a:rPr>
                                </m:ctrlPr>
                              </m:sSubPr>
                              <m:e>
                                <m:acc>
                                  <m:accPr>
                                    <m:chr m:val="⃗"/>
                                    <m:ctrlPr>
                                      <a:rPr lang="en-US" altLang="zh-CN" sz="2400" b="0" i="1" dirty="0" smtClean="0">
                                        <a:solidFill>
                                          <a:srgbClr val="FF0000"/>
                                        </a:solidFill>
                                        <a:latin typeface="Cambria Math" panose="02040503050406030204" pitchFamily="18" charset="0"/>
                                        <a:ea typeface="微软雅黑" panose="020B0503020204020204" pitchFamily="34" charset="-122"/>
                                      </a:rPr>
                                    </m:ctrlPr>
                                  </m:accPr>
                                  <m:e>
                                    <m:r>
                                      <a:rPr lang="en-US" altLang="zh-CN" sz="2400" b="0" i="1" dirty="0" smtClean="0">
                                        <a:solidFill>
                                          <a:srgbClr val="FF0000"/>
                                        </a:solidFill>
                                        <a:latin typeface="Cambria Math" panose="02040503050406030204" pitchFamily="18" charset="0"/>
                                        <a:ea typeface="微软雅黑" panose="020B0503020204020204" pitchFamily="34" charset="-122"/>
                                      </a:rPr>
                                      <m:t>𝑒</m:t>
                                    </m:r>
                                  </m:e>
                                </m:acc>
                              </m:e>
                              <m:sub>
                                <m:r>
                                  <a:rPr lang="en-US" altLang="zh-CN" sz="2400" b="0" i="1" dirty="0" smtClean="0">
                                    <a:solidFill>
                                      <a:srgbClr val="FF0000"/>
                                    </a:solidFill>
                                    <a:latin typeface="Cambria Math" panose="02040503050406030204" pitchFamily="18" charset="0"/>
                                    <a:ea typeface="微软雅黑" panose="020B0503020204020204" pitchFamily="34" charset="-122"/>
                                  </a:rPr>
                                  <m:t>𝑖</m:t>
                                </m:r>
                              </m:sub>
                            </m:sSub>
                          </m:e>
                        </m:nary>
                      </m:oMath>
                    </m:oMathPara>
                  </a14:m>
                  <a:endParaRPr lang="zh-CN" altLang="en-US" sz="2400" dirty="0">
                    <a:latin typeface="微软雅黑" panose="020B0503020204020204" pitchFamily="34" charset="-122"/>
                    <a:ea typeface="微软雅黑" panose="020B0503020204020204" pitchFamily="34" charset="-122"/>
                  </a:endParaRPr>
                </a:p>
              </p:txBody>
            </p:sp>
          </mc:Choice>
          <mc:Fallback>
            <p:sp>
              <p:nvSpPr>
                <p:cNvPr id="44" name="文本框 43"/>
                <p:cNvSpPr txBox="1">
                  <a:spLocks noRot="1" noChangeAspect="1" noMove="1" noResize="1" noEditPoints="1" noAdjustHandles="1" noChangeArrowheads="1" noChangeShapeType="1" noTextEdit="1"/>
                </p:cNvSpPr>
                <p:nvPr/>
              </p:nvSpPr>
              <p:spPr>
                <a:xfrm>
                  <a:off x="983554" y="1237831"/>
                  <a:ext cx="10493696" cy="860607"/>
                </a:xfrm>
                <a:prstGeom prst="rect">
                  <a:avLst/>
                </a:prstGeom>
                <a:blipFill rotWithShape="0">
                  <a:blip r:embed="rId5"/>
                  <a:stretch>
                    <a:fillRect l="-876" t="-3320" r="-788"/>
                  </a:stretch>
                </a:blipFill>
              </p:spPr>
              <p:txBody>
                <a:bodyPr/>
                <a:lstStyle/>
                <a:p>
                  <a:r>
                    <a:rPr lang="zh-CN" altLang="en-US">
                      <a:noFill/>
                    </a:rPr>
                    <a:t> </a:t>
                  </a:r>
                </a:p>
              </p:txBody>
            </p:sp>
          </mc:Fallback>
        </mc:AlternateContent>
      </p:grpSp>
      <p:cxnSp>
        <p:nvCxnSpPr>
          <p:cNvPr id="45" name="直接箭头连接符 44"/>
          <p:cNvCxnSpPr/>
          <p:nvPr/>
        </p:nvCxnSpPr>
        <p:spPr>
          <a:xfrm flipH="1">
            <a:off x="5251504" y="4526547"/>
            <a:ext cx="0" cy="59848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5524500" y="1854577"/>
            <a:ext cx="2886075" cy="97852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7746816" y="2912508"/>
            <a:ext cx="3402105" cy="615462"/>
            <a:chOff x="742314" y="1178170"/>
            <a:chExt cx="4269301" cy="615462"/>
          </a:xfrm>
        </p:grpSpPr>
        <p:sp>
          <p:nvSpPr>
            <p:cNvPr id="52" name="圆角矩形 51"/>
            <p:cNvSpPr/>
            <p:nvPr/>
          </p:nvSpPr>
          <p:spPr>
            <a:xfrm>
              <a:off x="742314" y="1178170"/>
              <a:ext cx="4269301" cy="61546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742314" y="1243200"/>
              <a:ext cx="4198963" cy="461665"/>
            </a:xfrm>
            <a:prstGeom prst="rect">
              <a:avLst/>
            </a:prstGeom>
            <a:noFill/>
          </p:spPr>
          <p:txBody>
            <a:bodyPr wrap="square" rtlCol="0">
              <a:spAutoFit/>
            </a:bodyPr>
            <a:lstStyle/>
            <a:p>
              <a:pPr algn="ctr"/>
              <a:r>
                <a:rPr lang="zh-CN" altLang="en-US" sz="2400" dirty="0" smtClean="0">
                  <a:latin typeface="微软雅黑" panose="020B0503020204020204" pitchFamily="34" charset="-122"/>
                  <a:ea typeface="微软雅黑" panose="020B0503020204020204" pitchFamily="34" charset="-122"/>
                </a:rPr>
                <a:t>线性子空间</a:t>
              </a:r>
              <a:endParaRPr lang="zh-CN" altLang="en-US" sz="2400" dirty="0">
                <a:latin typeface="微软雅黑" panose="020B0503020204020204" pitchFamily="34" charset="-122"/>
                <a:ea typeface="微软雅黑" panose="020B0503020204020204" pitchFamily="34" charset="-122"/>
              </a:endParaRPr>
            </a:p>
          </p:txBody>
        </p:sp>
      </p:grpSp>
      <p:cxnSp>
        <p:nvCxnSpPr>
          <p:cNvPr id="55" name="直接箭头连接符 54"/>
          <p:cNvCxnSpPr>
            <a:stCxn id="52" idx="2"/>
          </p:cNvCxnSpPr>
          <p:nvPr/>
        </p:nvCxnSpPr>
        <p:spPr>
          <a:xfrm flipH="1">
            <a:off x="8518360" y="3527970"/>
            <a:ext cx="929509" cy="67048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72971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Reference and exercise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6" name="文本框 5"/>
          <p:cNvSpPr txBox="1"/>
          <p:nvPr/>
        </p:nvSpPr>
        <p:spPr>
          <a:xfrm>
            <a:off x="418147" y="1152525"/>
            <a:ext cx="11620921" cy="1477328"/>
          </a:xfrm>
          <a:prstGeom prst="rect">
            <a:avLst/>
          </a:prstGeom>
          <a:noFill/>
        </p:spPr>
        <p:txBody>
          <a:bodyPr wrap="square" rtlCol="0">
            <a:spAutoFit/>
          </a:bodyPr>
          <a:lstStyle/>
          <a:p>
            <a:pPr>
              <a:lnSpc>
                <a:spcPct val="150000"/>
              </a:lnSpc>
            </a:pPr>
            <a:r>
              <a:rPr lang="zh-CN" altLang="en-US" sz="2400" dirty="0">
                <a:latin typeface="Arial" panose="020B0604020202020204" pitchFamily="34" charset="0"/>
                <a:ea typeface="微软雅黑" panose="020B0503020204020204" pitchFamily="34" charset="-122"/>
                <a:cs typeface="Arial" panose="020B0604020202020204" pitchFamily="34" charset="0"/>
              </a:rPr>
              <a:t>丘维声</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高等代数</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第二版，上、下册</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北京：清华大学出版社，</a:t>
            </a:r>
            <a:r>
              <a:rPr lang="en-US" altLang="zh-CN" sz="2400" dirty="0">
                <a:latin typeface="Arial" panose="020B0604020202020204" pitchFamily="34" charset="0"/>
                <a:ea typeface="微软雅黑" panose="020B0503020204020204" pitchFamily="34" charset="-122"/>
                <a:cs typeface="Arial" panose="020B0604020202020204" pitchFamily="34" charset="0"/>
              </a:rPr>
              <a:t>2018.</a:t>
            </a:r>
          </a:p>
          <a:p>
            <a:pPr>
              <a:lnSpc>
                <a:spcPct val="150000"/>
              </a:lnSpc>
            </a:pPr>
            <a:r>
              <a:rPr lang="zh-CN" altLang="en-US" sz="2400" dirty="0">
                <a:latin typeface="Arial" panose="020B0604020202020204" pitchFamily="34" charset="0"/>
                <a:ea typeface="微软雅黑" panose="020B0503020204020204" pitchFamily="34" charset="-122"/>
                <a:cs typeface="Arial" panose="020B0604020202020204" pitchFamily="34" charset="0"/>
              </a:rPr>
              <a:t>丘维声</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高等代数学习指导书</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第二版，上、下册</a:t>
            </a:r>
            <a:r>
              <a:rPr lang="en-US" altLang="zh-CN" sz="2400" dirty="0">
                <a:latin typeface="Arial" panose="020B0604020202020204" pitchFamily="34" charset="0"/>
                <a:ea typeface="微软雅黑" panose="020B0503020204020204" pitchFamily="34" charset="-122"/>
                <a:cs typeface="Arial" panose="020B0604020202020204" pitchFamily="34" charset="0"/>
              </a:rPr>
              <a:t>. </a:t>
            </a:r>
            <a:r>
              <a:rPr lang="zh-CN" altLang="en-US" sz="2400" dirty="0">
                <a:latin typeface="Arial" panose="020B0604020202020204" pitchFamily="34" charset="0"/>
                <a:ea typeface="微软雅黑" panose="020B0503020204020204" pitchFamily="34" charset="-122"/>
                <a:cs typeface="Arial" panose="020B0604020202020204" pitchFamily="34" charset="0"/>
              </a:rPr>
              <a:t>北京：清华大学出版社，</a:t>
            </a:r>
            <a:r>
              <a:rPr lang="en-US" altLang="zh-CN" sz="2400" dirty="0">
                <a:latin typeface="Arial" panose="020B0604020202020204" pitchFamily="34" charset="0"/>
                <a:ea typeface="微软雅黑" panose="020B0503020204020204" pitchFamily="34" charset="-122"/>
                <a:cs typeface="Arial" panose="020B0604020202020204" pitchFamily="34" charset="0"/>
              </a:rPr>
              <a:t>2018.</a:t>
            </a:r>
          </a:p>
          <a:p>
            <a:endParaRPr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337185" y="2524125"/>
                <a:ext cx="11571290" cy="3970318"/>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练习：</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zh-CN" altLang="en-US" sz="2400" dirty="0" smtClean="0">
                    <a:latin typeface="微软雅黑" panose="020B0503020204020204" pitchFamily="34" charset="-122"/>
                    <a:ea typeface="微软雅黑" panose="020B0503020204020204" pitchFamily="34" charset="-122"/>
                  </a:rPr>
                  <a:t>考虑一个三维空间的向量</a:t>
                </a:r>
                <a14:m>
                  <m:oMath xmlns:m="http://schemas.openxmlformats.org/officeDocument/2006/math">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𝛼</m:t>
                        </m:r>
                      </m:e>
                    </m:acc>
                  </m:oMath>
                </a14:m>
                <a:r>
                  <a:rPr lang="zh-CN" altLang="en-US" sz="2400" dirty="0" smtClean="0">
                    <a:latin typeface="微软雅黑" panose="020B0503020204020204" pitchFamily="34" charset="-122"/>
                    <a:ea typeface="微软雅黑" panose="020B0503020204020204" pitchFamily="34" charset="-122"/>
                  </a:rPr>
                  <a:t>，两组基</a:t>
                </a:r>
                <a:r>
                  <a:rPr lang="zh-CN" altLang="en-US" sz="2400" dirty="0">
                    <a:latin typeface="微软雅黑" panose="020B0503020204020204" pitchFamily="34" charset="-122"/>
                    <a:ea typeface="微软雅黑" panose="020B0503020204020204" pitchFamily="34" charset="-122"/>
                  </a:rPr>
                  <a:t>为</a:t>
                </a:r>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𝑒</m:t>
                            </m:r>
                          </m:e>
                        </m:acc>
                      </m:e>
                      <m:sub>
                        <m:r>
                          <a:rPr lang="en-US" altLang="zh-CN" sz="2400" b="0" i="1" smtClean="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 </m:t>
                    </m:r>
                    <m:sSub>
                      <m:sSubPr>
                        <m:ctrlPr>
                          <a:rPr lang="en-US" altLang="zh-CN" sz="2400" b="0" i="1" smtClean="0">
                            <a:latin typeface="Cambria Math" panose="02040503050406030204" pitchFamily="18" charset="0"/>
                            <a:ea typeface="微软雅黑" panose="020B0503020204020204" pitchFamily="34" charset="-122"/>
                          </a:rPr>
                        </m:ctrlPr>
                      </m:sSubPr>
                      <m:e>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𝑒</m:t>
                            </m:r>
                          </m:e>
                        </m:acc>
                      </m:e>
                      <m:sub>
                        <m:r>
                          <a:rPr lang="en-US" altLang="zh-CN" sz="2400" b="0" i="1" smtClean="0">
                            <a:latin typeface="Cambria Math" panose="02040503050406030204" pitchFamily="18" charset="0"/>
                            <a:ea typeface="微软雅黑" panose="020B0503020204020204" pitchFamily="34" charset="-122"/>
                          </a:rPr>
                          <m:t>2</m:t>
                        </m:r>
                      </m:sub>
                    </m:sSub>
                    <m:r>
                      <a:rPr lang="en-US" altLang="zh-CN" sz="2400" b="0" i="1" smtClean="0">
                        <a:latin typeface="Cambria Math" panose="02040503050406030204" pitchFamily="18" charset="0"/>
                        <a:ea typeface="微软雅黑" panose="020B0503020204020204" pitchFamily="34" charset="-122"/>
                      </a:rPr>
                      <m:t>, </m:t>
                    </m:r>
                    <m:sSub>
                      <m:sSubPr>
                        <m:ctrlPr>
                          <a:rPr lang="en-US" altLang="zh-CN" sz="2400" b="0" i="1" smtClean="0">
                            <a:latin typeface="Cambria Math" panose="02040503050406030204" pitchFamily="18" charset="0"/>
                            <a:ea typeface="微软雅黑" panose="020B0503020204020204" pitchFamily="34" charset="-122"/>
                          </a:rPr>
                        </m:ctrlPr>
                      </m:sSubPr>
                      <m:e>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smtClean="0">
                                <a:latin typeface="Cambria Math" panose="02040503050406030204" pitchFamily="18" charset="0"/>
                                <a:ea typeface="微软雅黑" panose="020B0503020204020204" pitchFamily="34" charset="-122"/>
                              </a:rPr>
                              <m:t>𝑒</m:t>
                            </m:r>
                          </m:e>
                        </m:acc>
                      </m:e>
                      <m:sub>
                        <m:r>
                          <a:rPr lang="en-US" altLang="zh-CN" sz="2400" b="0" i="1" smtClean="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oMath>
                </a14:m>
                <a:r>
                  <a:rPr lang="zh-CN" altLang="en-US" sz="2400"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sz="2400" b="0" i="1" dirty="0" smtClean="0">
                        <a:latin typeface="Cambria Math" panose="02040503050406030204" pitchFamily="18" charset="0"/>
                        <a:ea typeface="微软雅黑" panose="020B0503020204020204" pitchFamily="34" charset="-122"/>
                      </a:rPr>
                      <m:t>{</m:t>
                    </m:r>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𝜀</m:t>
                            </m:r>
                          </m:e>
                        </m:acc>
                      </m:e>
                      <m:sub>
                        <m:r>
                          <a:rPr lang="en-US" altLang="zh-CN" sz="2400" b="0" i="1" dirty="0" smtClean="0">
                            <a:latin typeface="Cambria Math" panose="02040503050406030204" pitchFamily="18" charset="0"/>
                            <a:ea typeface="微软雅黑" panose="020B0503020204020204" pitchFamily="34" charset="-122"/>
                          </a:rPr>
                          <m:t>1</m:t>
                        </m:r>
                      </m:sub>
                    </m:sSub>
                    <m:r>
                      <a:rPr lang="en-US" altLang="zh-CN" sz="2400" b="0" i="1" dirty="0" smtClean="0">
                        <a:latin typeface="Cambria Math" panose="02040503050406030204" pitchFamily="18" charset="0"/>
                        <a:ea typeface="微软雅黑" panose="020B0503020204020204" pitchFamily="34" charset="-122"/>
                      </a:rPr>
                      <m:t>, </m:t>
                    </m:r>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𝜀</m:t>
                            </m:r>
                          </m:e>
                        </m:acc>
                      </m:e>
                      <m:sub>
                        <m:r>
                          <a:rPr lang="en-US" altLang="zh-CN" sz="2400" b="0" i="1" dirty="0" smtClean="0">
                            <a:latin typeface="Cambria Math" panose="02040503050406030204" pitchFamily="18" charset="0"/>
                            <a:ea typeface="微软雅黑" panose="020B0503020204020204" pitchFamily="34" charset="-122"/>
                          </a:rPr>
                          <m:t>2</m:t>
                        </m:r>
                      </m:sub>
                    </m:sSub>
                    <m:r>
                      <a:rPr lang="en-US" altLang="zh-CN" sz="2400" b="0" i="1" dirty="0" smtClean="0">
                        <a:latin typeface="Cambria Math" panose="02040503050406030204" pitchFamily="18" charset="0"/>
                        <a:ea typeface="微软雅黑" panose="020B0503020204020204" pitchFamily="34" charset="-122"/>
                      </a:rPr>
                      <m:t>, </m:t>
                    </m:r>
                    <m:sSub>
                      <m:sSubPr>
                        <m:ctrlPr>
                          <a:rPr lang="en-US" altLang="zh-CN" sz="2400" b="0" i="1" dirty="0" smtClean="0">
                            <a:latin typeface="Cambria Math" panose="02040503050406030204" pitchFamily="18" charset="0"/>
                            <a:ea typeface="微软雅黑" panose="020B0503020204020204" pitchFamily="34" charset="-122"/>
                          </a:rPr>
                        </m:ctrlPr>
                      </m:sSubPr>
                      <m:e>
                        <m:acc>
                          <m:accPr>
                            <m:chr m:val="⃗"/>
                            <m:ctrlPr>
                              <a:rPr lang="en-US" altLang="zh-CN" sz="2400" b="0" i="1" dirty="0" smtClean="0">
                                <a:latin typeface="Cambria Math" panose="02040503050406030204" pitchFamily="18" charset="0"/>
                                <a:ea typeface="微软雅黑" panose="020B0503020204020204" pitchFamily="34" charset="-122"/>
                              </a:rPr>
                            </m:ctrlPr>
                          </m:accPr>
                          <m:e>
                            <m:r>
                              <a:rPr lang="en-US" altLang="zh-CN" sz="2400" b="0" i="1" dirty="0" smtClean="0">
                                <a:latin typeface="Cambria Math" panose="02040503050406030204" pitchFamily="18" charset="0"/>
                                <a:ea typeface="微软雅黑" panose="020B0503020204020204" pitchFamily="34" charset="-122"/>
                              </a:rPr>
                              <m:t>𝜀</m:t>
                            </m:r>
                          </m:e>
                        </m:acc>
                      </m:e>
                      <m:sub>
                        <m:r>
                          <a:rPr lang="en-US" altLang="zh-CN" sz="2400" b="0" i="1" dirty="0" smtClean="0">
                            <a:latin typeface="Cambria Math" panose="02040503050406030204" pitchFamily="18" charset="0"/>
                            <a:ea typeface="微软雅黑" panose="020B0503020204020204" pitchFamily="34" charset="-122"/>
                          </a:rPr>
                          <m:t>3</m:t>
                        </m:r>
                      </m:sub>
                    </m:sSub>
                    <m:r>
                      <a:rPr lang="en-US" altLang="zh-CN" sz="2400" b="0" i="1" dirty="0" smtClean="0">
                        <a:latin typeface="Cambria Math" panose="02040503050406030204" pitchFamily="18" charset="0"/>
                        <a:ea typeface="微软雅黑" panose="020B0503020204020204" pitchFamily="34" charset="-122"/>
                      </a:rPr>
                      <m:t>}</m:t>
                    </m:r>
                  </m:oMath>
                </a14:m>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400" dirty="0" smtClean="0">
                    <a:latin typeface="微软雅黑" panose="020B0503020204020204" pitchFamily="34" charset="-122"/>
                    <a:ea typeface="微软雅黑" panose="020B0503020204020204" pitchFamily="34" charset="-122"/>
                  </a:rPr>
                  <a:t>1. </a:t>
                </a:r>
                <a:r>
                  <a:rPr lang="zh-CN" altLang="en-US" sz="2400" dirty="0" smtClean="0">
                    <a:latin typeface="微软雅黑" panose="020B0503020204020204" pitchFamily="34" charset="-122"/>
                    <a:ea typeface="微软雅黑" panose="020B0503020204020204" pitchFamily="34" charset="-122"/>
                  </a:rPr>
                  <a:t>将</a:t>
                </a:r>
                <a14:m>
                  <m:oMath xmlns:m="http://schemas.openxmlformats.org/officeDocument/2006/math">
                    <m:acc>
                      <m:accPr>
                        <m:chr m:val="⃗"/>
                        <m:ctrlPr>
                          <a:rPr lang="en-US" altLang="zh-CN" sz="2400" b="0" i="1" smtClean="0">
                            <a:latin typeface="Cambria Math" panose="02040503050406030204" pitchFamily="18" charset="0"/>
                            <a:ea typeface="微软雅黑" panose="020B0503020204020204" pitchFamily="34" charset="-122"/>
                          </a:rPr>
                        </m:ctrlPr>
                      </m:accPr>
                      <m:e>
                        <m:r>
                          <a:rPr lang="en-US" altLang="zh-CN" sz="2400" b="0" i="1">
                            <a:latin typeface="Cambria Math" panose="02040503050406030204" pitchFamily="18" charset="0"/>
                            <a:ea typeface="微软雅黑" panose="020B0503020204020204" pitchFamily="34" charset="-122"/>
                          </a:rPr>
                          <m:t>𝛼</m:t>
                        </m:r>
                      </m:e>
                    </m:acc>
                  </m:oMath>
                </a14:m>
                <a:r>
                  <a:rPr lang="zh-CN" altLang="en-US" sz="2400" dirty="0" smtClean="0">
                    <a:latin typeface="微软雅黑" panose="020B0503020204020204" pitchFamily="34" charset="-122"/>
                    <a:ea typeface="微软雅黑" panose="020B0503020204020204" pitchFamily="34" charset="-122"/>
                  </a:rPr>
                  <a:t>分别用两组基线性表出，</a:t>
                </a:r>
                <a:r>
                  <a:rPr lang="zh-CN" altLang="en-US" sz="2400" dirty="0" smtClean="0">
                    <a:latin typeface="微软雅黑" panose="020B0503020204020204" pitchFamily="34" charset="-122"/>
                    <a:ea typeface="微软雅黑" panose="020B0503020204020204" pitchFamily="34" charset="-122"/>
                  </a:rPr>
                  <a:t>系数</a:t>
                </a:r>
                <a:r>
                  <a:rPr lang="zh-CN" altLang="en-US" sz="2400" dirty="0" smtClean="0">
                    <a:latin typeface="微软雅黑" panose="020B0503020204020204" pitchFamily="34" charset="-122"/>
                    <a:ea typeface="微软雅黑" panose="020B0503020204020204" pitchFamily="34" charset="-122"/>
                  </a:rPr>
                  <a:t>（坐标）</a:t>
                </a:r>
                <a:r>
                  <a:rPr lang="zh-CN" altLang="en-US" sz="2400" dirty="0" smtClean="0">
                    <a:latin typeface="微软雅黑" panose="020B0503020204020204" pitchFamily="34" charset="-122"/>
                    <a:ea typeface="微软雅黑" panose="020B0503020204020204" pitchFamily="34" charset="-122"/>
                  </a:rPr>
                  <a:t>自</a:t>
                </a:r>
                <a:r>
                  <a:rPr lang="zh-CN" altLang="en-US" sz="2400" dirty="0" smtClean="0">
                    <a:latin typeface="微软雅黑" panose="020B0503020204020204" pitchFamily="34" charset="-122"/>
                    <a:ea typeface="微软雅黑" panose="020B0503020204020204" pitchFamily="34" charset="-122"/>
                  </a:rPr>
                  <a:t>定</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400" dirty="0" smtClean="0">
                    <a:latin typeface="微软雅黑" panose="020B0503020204020204" pitchFamily="34" charset="-122"/>
                    <a:ea typeface="微软雅黑" panose="020B0503020204020204" pitchFamily="34" charset="-122"/>
                  </a:rPr>
                  <a:t>2. </a:t>
                </a:r>
                <a:r>
                  <a:rPr lang="zh-CN" altLang="en-US" sz="2400" dirty="0" smtClean="0">
                    <a:latin typeface="微软雅黑" panose="020B0503020204020204" pitchFamily="34" charset="-122"/>
                    <a:ea typeface="微软雅黑" panose="020B0503020204020204" pitchFamily="34" charset="-122"/>
                  </a:rPr>
                  <a:t>将</a:t>
                </a:r>
                <a14:m>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1</m:t>
                        </m:r>
                      </m:sub>
                    </m:sSub>
                    <m:r>
                      <a:rPr lang="en-US" altLang="zh-CN" sz="2400" i="1">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2</m:t>
                        </m:r>
                      </m:sub>
                    </m:sSub>
                    <m:r>
                      <a:rPr lang="en-US" altLang="zh-CN" sz="2400" i="1">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3</m:t>
                        </m:r>
                      </m:sub>
                    </m:sSub>
                  </m:oMath>
                </a14:m>
                <a:r>
                  <a:rPr lang="zh-CN" altLang="en-US" sz="2400" dirty="0" smtClean="0">
                    <a:latin typeface="微软雅黑" panose="020B0503020204020204" pitchFamily="34" charset="-122"/>
                    <a:ea typeface="微软雅黑" panose="020B0503020204020204" pitchFamily="34" charset="-122"/>
                  </a:rPr>
                  <a:t>每个基底用</a:t>
                </a:r>
                <a14:m>
                  <m:oMath xmlns:m="http://schemas.openxmlformats.org/officeDocument/2006/math">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1</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2</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3</m:t>
                        </m:r>
                      </m:sub>
                    </m:sSub>
                  </m:oMath>
                </a14:m>
                <a:r>
                  <a:rPr lang="zh-CN" altLang="en-US" sz="2400" dirty="0" smtClean="0">
                    <a:latin typeface="微软雅黑" panose="020B0503020204020204" pitchFamily="34" charset="-122"/>
                    <a:ea typeface="微软雅黑" panose="020B0503020204020204" pitchFamily="34" charset="-122"/>
                  </a:rPr>
                  <a:t>线性表出</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400" dirty="0" smtClean="0">
                    <a:latin typeface="微软雅黑" panose="020B0503020204020204" pitchFamily="34" charset="-122"/>
                    <a:ea typeface="微软雅黑" panose="020B0503020204020204" pitchFamily="34" charset="-122"/>
                  </a:rPr>
                  <a:t>3. </a:t>
                </a:r>
                <a:r>
                  <a:rPr lang="zh-CN" altLang="en-US" sz="2400" dirty="0" smtClean="0">
                    <a:latin typeface="微软雅黑" panose="020B0503020204020204" pitchFamily="34" charset="-122"/>
                    <a:ea typeface="微软雅黑" panose="020B0503020204020204" pitchFamily="34" charset="-122"/>
                  </a:rPr>
                  <a:t>将用</a:t>
                </a:r>
                <a14:m>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1</m:t>
                        </m:r>
                      </m:sub>
                    </m:sSub>
                    <m:r>
                      <a:rPr lang="en-US" altLang="zh-CN" sz="2400" i="1">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2</m:t>
                        </m:r>
                      </m:sub>
                    </m:sSub>
                    <m:r>
                      <a:rPr lang="en-US" altLang="zh-CN" sz="2400" i="1">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acc>
                          <m:accPr>
                            <m:chr m:val="⃗"/>
                            <m:ctrlPr>
                              <a:rPr lang="en-US" altLang="zh-CN" sz="2400" i="1">
                                <a:latin typeface="Cambria Math" panose="02040503050406030204" pitchFamily="18" charset="0"/>
                                <a:ea typeface="微软雅黑" panose="020B0503020204020204" pitchFamily="34" charset="-122"/>
                              </a:rPr>
                            </m:ctrlPr>
                          </m:accPr>
                          <m:e>
                            <m:r>
                              <a:rPr lang="en-US" altLang="zh-CN" sz="2400" i="1">
                                <a:latin typeface="Cambria Math" panose="02040503050406030204" pitchFamily="18" charset="0"/>
                                <a:ea typeface="微软雅黑" panose="020B0503020204020204" pitchFamily="34" charset="-122"/>
                              </a:rPr>
                              <m:t>𝑒</m:t>
                            </m:r>
                          </m:e>
                        </m:acc>
                      </m:e>
                      <m:sub>
                        <m:r>
                          <a:rPr lang="en-US" altLang="zh-CN" sz="2400" i="1">
                            <a:latin typeface="Cambria Math" panose="02040503050406030204" pitchFamily="18" charset="0"/>
                            <a:ea typeface="微软雅黑" panose="020B0503020204020204" pitchFamily="34" charset="-122"/>
                          </a:rPr>
                          <m:t>3</m:t>
                        </m:r>
                      </m:sub>
                    </m:sSub>
                  </m:oMath>
                </a14:m>
                <a:r>
                  <a:rPr lang="zh-CN" altLang="en-US" sz="2400" dirty="0" smtClean="0">
                    <a:latin typeface="微软雅黑" panose="020B0503020204020204" pitchFamily="34" charset="-122"/>
                    <a:ea typeface="微软雅黑" panose="020B0503020204020204" pitchFamily="34" charset="-122"/>
                  </a:rPr>
                  <a:t>表出的</a:t>
                </a:r>
                <a14:m>
                  <m:oMath xmlns:m="http://schemas.openxmlformats.org/officeDocument/2006/math">
                    <m:r>
                      <a:rPr lang="en-US" altLang="zh-CN" sz="2400" b="1" i="1" smtClean="0">
                        <a:latin typeface="Cambria Math" panose="02040503050406030204" pitchFamily="18" charset="0"/>
                        <a:ea typeface="微软雅黑" panose="020B0503020204020204" pitchFamily="34" charset="-122"/>
                      </a:rPr>
                      <m:t>𝜶</m:t>
                    </m:r>
                  </m:oMath>
                </a14:m>
                <a:r>
                  <a:rPr lang="zh-CN" altLang="en-US" sz="2400" dirty="0" smtClean="0">
                    <a:latin typeface="微软雅黑" panose="020B0503020204020204" pitchFamily="34" charset="-122"/>
                    <a:ea typeface="微软雅黑" panose="020B0503020204020204" pitchFamily="34" charset="-122"/>
                  </a:rPr>
                  <a:t>进一步展开到</a:t>
                </a:r>
                <a14:m>
                  <m:oMath xmlns:m="http://schemas.openxmlformats.org/officeDocument/2006/math">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1</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2</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3</m:t>
                        </m:r>
                      </m:sub>
                    </m:sSub>
                  </m:oMath>
                </a14:m>
                <a:r>
                  <a:rPr lang="zh-CN" altLang="en-US" sz="2400" dirty="0" smtClean="0">
                    <a:latin typeface="微软雅黑" panose="020B0503020204020204" pitchFamily="34" charset="-122"/>
                    <a:ea typeface="微软雅黑" panose="020B0503020204020204" pitchFamily="34" charset="-122"/>
                  </a:rPr>
                  <a:t>基下，与直接用</a:t>
                </a:r>
                <a14:m>
                  <m:oMath xmlns:m="http://schemas.openxmlformats.org/officeDocument/2006/math">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1</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2</m:t>
                        </m:r>
                      </m:sub>
                    </m:sSub>
                    <m:r>
                      <a:rPr lang="en-US" altLang="zh-CN" sz="2400" i="1" dirty="0">
                        <a:latin typeface="Cambria Math" panose="02040503050406030204" pitchFamily="18" charset="0"/>
                        <a:ea typeface="微软雅黑" panose="020B0503020204020204" pitchFamily="34" charset="-122"/>
                      </a:rPr>
                      <m:t>, </m:t>
                    </m:r>
                    <m:sSub>
                      <m:sSubPr>
                        <m:ctrlPr>
                          <a:rPr lang="en-US" altLang="zh-CN" sz="2400" i="1" dirty="0">
                            <a:latin typeface="Cambria Math" panose="02040503050406030204" pitchFamily="18" charset="0"/>
                            <a:ea typeface="微软雅黑" panose="020B0503020204020204" pitchFamily="34" charset="-122"/>
                          </a:rPr>
                        </m:ctrlPr>
                      </m:sSubPr>
                      <m:e>
                        <m:acc>
                          <m:accPr>
                            <m:chr m:val="⃗"/>
                            <m:ctrlPr>
                              <a:rPr lang="en-US" altLang="zh-CN" sz="2400" i="1" dirty="0">
                                <a:latin typeface="Cambria Math" panose="02040503050406030204" pitchFamily="18" charset="0"/>
                                <a:ea typeface="微软雅黑" panose="020B0503020204020204" pitchFamily="34" charset="-122"/>
                              </a:rPr>
                            </m:ctrlPr>
                          </m:accPr>
                          <m:e>
                            <m:r>
                              <a:rPr lang="en-US" altLang="zh-CN" sz="2400" i="1" dirty="0">
                                <a:latin typeface="Cambria Math" panose="02040503050406030204" pitchFamily="18" charset="0"/>
                                <a:ea typeface="微软雅黑" panose="020B0503020204020204" pitchFamily="34" charset="-122"/>
                              </a:rPr>
                              <m:t>𝜀</m:t>
                            </m:r>
                          </m:e>
                        </m:acc>
                      </m:e>
                      <m:sub>
                        <m:r>
                          <a:rPr lang="en-US" altLang="zh-CN" sz="2400" i="1" dirty="0">
                            <a:latin typeface="Cambria Math" panose="02040503050406030204" pitchFamily="18" charset="0"/>
                            <a:ea typeface="微软雅黑" panose="020B0503020204020204" pitchFamily="34" charset="-122"/>
                          </a:rPr>
                          <m:t>3</m:t>
                        </m:r>
                      </m:sub>
                    </m:sSub>
                  </m:oMath>
                </a14:m>
                <a:r>
                  <a:rPr lang="zh-CN" altLang="en-US" sz="2400" dirty="0" smtClean="0">
                    <a:latin typeface="微软雅黑" panose="020B0503020204020204" pitchFamily="34" charset="-122"/>
                    <a:ea typeface="微软雅黑" panose="020B0503020204020204" pitchFamily="34" charset="-122"/>
                  </a:rPr>
                  <a:t>表出的系数对照</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400" dirty="0" smtClean="0">
                    <a:latin typeface="微软雅黑" panose="020B0503020204020204" pitchFamily="34" charset="-122"/>
                    <a:ea typeface="微软雅黑" panose="020B0503020204020204" pitchFamily="34" charset="-122"/>
                  </a:rPr>
                  <a:t>4. </a:t>
                </a:r>
                <a:r>
                  <a:rPr lang="zh-CN" altLang="en-US" sz="2400" dirty="0" smtClean="0">
                    <a:latin typeface="微软雅黑" panose="020B0503020204020204" pitchFamily="34" charset="-122"/>
                    <a:ea typeface="微软雅黑" panose="020B0503020204020204" pitchFamily="34" charset="-122"/>
                  </a:rPr>
                  <a:t>用紧凑的求和符号重写前三步的操作，结果可参照补充内容第一页</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rgbClr val="FF0000"/>
                    </a:solidFill>
                    <a:latin typeface="微软雅黑" panose="020B0503020204020204" pitchFamily="34" charset="-122"/>
                    <a:ea typeface="微软雅黑" panose="020B0503020204020204" pitchFamily="34" charset="-122"/>
                  </a:rPr>
                  <a:t>5</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尝试将</a:t>
                </a:r>
                <a:r>
                  <a:rPr lang="zh-CN" altLang="en-US" sz="2400" dirty="0" smtClean="0">
                    <a:latin typeface="微软雅黑" panose="020B0503020204020204" pitchFamily="34" charset="-122"/>
                    <a:ea typeface="微软雅黑" panose="020B0503020204020204" pitchFamily="34" charset="-122"/>
                  </a:rPr>
                  <a:t>三维空间的结果推广</a:t>
                </a:r>
                <a:r>
                  <a:rPr lang="zh-CN" altLang="en-US" sz="2400" dirty="0" smtClean="0">
                    <a:latin typeface="微软雅黑" panose="020B0503020204020204" pitchFamily="34" charset="-122"/>
                    <a:ea typeface="微软雅黑" panose="020B0503020204020204" pitchFamily="34" charset="-122"/>
                  </a:rPr>
                  <a:t>到</a:t>
                </a:r>
                <a:r>
                  <a:rPr lang="en-US" altLang="zh-CN" sz="2400" dirty="0" smtClean="0">
                    <a:latin typeface="微软雅黑" panose="020B0503020204020204" pitchFamily="34" charset="-122"/>
                    <a:ea typeface="微软雅黑" panose="020B0503020204020204" pitchFamily="34" charset="-122"/>
                  </a:rPr>
                  <a:t>n</a:t>
                </a:r>
                <a:r>
                  <a:rPr lang="zh-CN" altLang="en-US" sz="2400" dirty="0" smtClean="0">
                    <a:latin typeface="微软雅黑" panose="020B0503020204020204" pitchFamily="34" charset="-122"/>
                    <a:ea typeface="微软雅黑" panose="020B0503020204020204" pitchFamily="34" charset="-122"/>
                  </a:rPr>
                  <a:t>维线性空间</a:t>
                </a:r>
                <a:r>
                  <a:rPr lang="zh-CN" altLang="en-US" sz="2400" dirty="0" smtClean="0">
                    <a:latin typeface="微软雅黑" panose="020B0503020204020204" pitchFamily="34" charset="-122"/>
                    <a:ea typeface="微软雅黑" panose="020B0503020204020204" pitchFamily="34" charset="-122"/>
                  </a:rPr>
                  <a:t>，逐渐熟悉用求和操作书写的形式</a:t>
                </a:r>
                <a:endParaRPr lang="en-US" altLang="zh-CN" sz="2400" dirty="0">
                  <a:latin typeface="微软雅黑" panose="020B0503020204020204" pitchFamily="34" charset="-122"/>
                  <a:ea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337185" y="2524125"/>
                <a:ext cx="11571290" cy="3970318"/>
              </a:xfrm>
              <a:prstGeom prst="rect">
                <a:avLst/>
              </a:prstGeom>
              <a:blipFill rotWithShape="0">
                <a:blip r:embed="rId5"/>
                <a:stretch>
                  <a:fillRect l="-790" r="-263" b="-10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030471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540385" y="1046928"/>
            <a:ext cx="267081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向量</a:t>
            </a:r>
            <a:r>
              <a:rPr lang="zh-CN" altLang="en-US" sz="2400" b="1" dirty="0" smtClean="0">
                <a:latin typeface="微软雅黑" panose="020B0503020204020204" pitchFamily="34" charset="-122"/>
                <a:ea typeface="微软雅黑" panose="020B0503020204020204" pitchFamily="34" charset="-122"/>
              </a:rPr>
              <a:t>组的等价关系</a:t>
            </a:r>
            <a:endParaRPr lang="zh-CN" altLang="en-US" sz="2400" b="1"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499110" y="1532508"/>
            <a:ext cx="10749915" cy="1754326"/>
            <a:chOff x="499110" y="1532508"/>
            <a:chExt cx="10749915" cy="1754326"/>
          </a:xfrm>
        </p:grpSpPr>
        <p:sp>
          <p:nvSpPr>
            <p:cNvPr id="34" name="圆角矩形 33"/>
            <p:cNvSpPr/>
            <p:nvPr/>
          </p:nvSpPr>
          <p:spPr>
            <a:xfrm>
              <a:off x="499110" y="1573799"/>
              <a:ext cx="10749915" cy="16549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540385" y="1532508"/>
                  <a:ext cx="10527666" cy="1754326"/>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如果向量组</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𝜶</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𝜶</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𝜶</m:t>
                          </m:r>
                        </m:e>
                        <m:sub>
                          <m:r>
                            <a:rPr lang="en-US" altLang="zh-CN" sz="2400" b="0" i="1" smtClean="0">
                              <a:latin typeface="Cambria Math" panose="02040503050406030204" pitchFamily="18" charset="0"/>
                            </a:rPr>
                            <m:t>𝑠</m:t>
                          </m:r>
                        </m:sub>
                      </m:sSub>
                    </m:oMath>
                  </a14:m>
                  <a:r>
                    <a:rPr lang="zh-CN" altLang="en-US" sz="2400" dirty="0" smtClean="0">
                      <a:latin typeface="微软雅黑" panose="020B0503020204020204" pitchFamily="34" charset="-122"/>
                      <a:ea typeface="微软雅黑" panose="020B0503020204020204" pitchFamily="34" charset="-122"/>
                    </a:rPr>
                    <a:t>的</a:t>
                  </a:r>
                  <a:r>
                    <a:rPr lang="zh-CN" altLang="en-US" sz="2400" dirty="0" smtClean="0">
                      <a:solidFill>
                        <a:srgbClr val="FF0000"/>
                      </a:solidFill>
                      <a:latin typeface="微软雅黑" panose="020B0503020204020204" pitchFamily="34" charset="-122"/>
                      <a:ea typeface="微软雅黑" panose="020B0503020204020204" pitchFamily="34" charset="-122"/>
                    </a:rPr>
                    <a:t>每一个向量</a:t>
                  </a:r>
                  <a:r>
                    <a:rPr lang="zh-CN" altLang="en-US" sz="2400" dirty="0" smtClean="0">
                      <a:latin typeface="微软雅黑" panose="020B0503020204020204" pitchFamily="34" charset="-122"/>
                      <a:ea typeface="微软雅黑" panose="020B0503020204020204" pitchFamily="34" charset="-122"/>
                    </a:rPr>
                    <a:t>都可以由向量组</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𝜷</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𝜷</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1" i="1" smtClean="0">
                              <a:latin typeface="Cambria Math" panose="02040503050406030204" pitchFamily="18" charset="0"/>
                            </a:rPr>
                            <m:t>𝜷</m:t>
                          </m:r>
                        </m:e>
                        <m:sub>
                          <m:r>
                            <a:rPr lang="en-US" altLang="zh-CN" sz="2400" b="0" i="1" smtClean="0">
                              <a:latin typeface="Cambria Math" panose="02040503050406030204" pitchFamily="18" charset="0"/>
                            </a:rPr>
                            <m:t>𝑟</m:t>
                          </m:r>
                        </m:sub>
                      </m:sSub>
                    </m:oMath>
                  </a14:m>
                  <a:r>
                    <a:rPr lang="zh-CN" altLang="en-US" sz="2400" dirty="0" smtClean="0">
                      <a:latin typeface="微软雅黑" panose="020B0503020204020204" pitchFamily="34" charset="-122"/>
                      <a:ea typeface="微软雅黑" panose="020B0503020204020204" pitchFamily="34" charset="-122"/>
                    </a:rPr>
                    <a:t>线性表出，称向量组</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𝑠</m:t>
                          </m:r>
                        </m:sub>
                      </m:sSub>
                    </m:oMath>
                  </a14:m>
                  <a:r>
                    <a:rPr lang="zh-CN" altLang="en-US" sz="2400" dirty="0" smtClean="0">
                      <a:latin typeface="微软雅黑" panose="020B0503020204020204" pitchFamily="34" charset="-122"/>
                      <a:ea typeface="微软雅黑" panose="020B0503020204020204" pitchFamily="34" charset="-122"/>
                    </a:rPr>
                    <a:t>与向量组</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𝑟</m:t>
                          </m:r>
                        </m:sub>
                      </m:sSub>
                    </m:oMath>
                  </a14:m>
                  <a:r>
                    <a:rPr lang="zh-CN" altLang="en-US" sz="2400" dirty="0" smtClean="0">
                      <a:solidFill>
                        <a:srgbClr val="FF0000"/>
                      </a:solidFill>
                      <a:latin typeface="微软雅黑" panose="020B0503020204020204" pitchFamily="34" charset="-122"/>
                      <a:ea typeface="微软雅黑" panose="020B0503020204020204" pitchFamily="34" charset="-122"/>
                    </a:rPr>
                    <a:t>等价</a:t>
                  </a:r>
                  <a:r>
                    <a:rPr lang="zh-CN" altLang="en-US" sz="2400" dirty="0" smtClean="0">
                      <a:latin typeface="微软雅黑" panose="020B0503020204020204" pitchFamily="34" charset="-122"/>
                      <a:ea typeface="微软雅黑" panose="020B0503020204020204" pitchFamily="34" charset="-122"/>
                    </a:rPr>
                    <a:t>，如果向量组</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𝜶</m:t>
                          </m:r>
                        </m:e>
                        <m:sub>
                          <m:r>
                            <a:rPr lang="en-US" altLang="zh-CN" sz="2400" i="1">
                              <a:latin typeface="Cambria Math" panose="02040503050406030204" pitchFamily="18" charset="0"/>
                            </a:rPr>
                            <m:t>𝑠</m:t>
                          </m:r>
                        </m:sub>
                      </m:sSub>
                    </m:oMath>
                  </a14:m>
                  <a:r>
                    <a:rPr lang="zh-CN" altLang="en-US" sz="2400" dirty="0" smtClean="0">
                      <a:latin typeface="微软雅黑" panose="020B0503020204020204" pitchFamily="34" charset="-122"/>
                      <a:ea typeface="微软雅黑" panose="020B0503020204020204" pitchFamily="34" charset="-122"/>
                    </a:rPr>
                    <a:t>和</a:t>
                  </a:r>
                  <a:r>
                    <a:rPr lang="zh-CN" altLang="en-US" sz="2400" dirty="0">
                      <a:latin typeface="微软雅黑" panose="020B0503020204020204" pitchFamily="34" charset="-122"/>
                      <a:ea typeface="微软雅黑" panose="020B0503020204020204" pitchFamily="34" charset="-122"/>
                    </a:rPr>
                    <a:t>向量组</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𝜷</m:t>
                          </m:r>
                        </m:e>
                        <m:sub>
                          <m:r>
                            <a:rPr lang="en-US" altLang="zh-CN" sz="2400" i="1">
                              <a:latin typeface="Cambria Math" panose="02040503050406030204" pitchFamily="18" charset="0"/>
                            </a:rPr>
                            <m:t>𝑟</m:t>
                          </m:r>
                        </m:sub>
                      </m:sSub>
                    </m:oMath>
                  </a14:m>
                  <a:r>
                    <a:rPr lang="zh-CN" altLang="en-US" sz="2400" dirty="0" smtClean="0">
                      <a:latin typeface="微软雅黑" panose="020B0503020204020204" pitchFamily="34" charset="-122"/>
                      <a:ea typeface="微软雅黑" panose="020B0503020204020204" pitchFamily="34" charset="-122"/>
                    </a:rPr>
                    <a:t>可以</a:t>
                  </a:r>
                  <a:r>
                    <a:rPr lang="zh-CN" altLang="en-US" sz="2400" dirty="0" smtClean="0">
                      <a:solidFill>
                        <a:srgbClr val="FF0000"/>
                      </a:solidFill>
                      <a:latin typeface="微软雅黑" panose="020B0503020204020204" pitchFamily="34" charset="-122"/>
                      <a:ea typeface="微软雅黑" panose="020B0503020204020204" pitchFamily="34" charset="-122"/>
                    </a:rPr>
                    <a:t>相互</a:t>
                  </a:r>
                  <a:r>
                    <a:rPr lang="zh-CN" altLang="en-US" sz="2400" dirty="0" smtClean="0">
                      <a:latin typeface="微软雅黑" panose="020B0503020204020204" pitchFamily="34" charset="-122"/>
                      <a:ea typeface="微软雅黑" panose="020B0503020204020204" pitchFamily="34" charset="-122"/>
                    </a:rPr>
                    <a:t>线性表出</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40385" y="1532508"/>
                  <a:ext cx="10527666" cy="1754326"/>
                </a:xfrm>
                <a:prstGeom prst="rect">
                  <a:avLst/>
                </a:prstGeom>
                <a:blipFill rotWithShape="0">
                  <a:blip r:embed="rId5"/>
                  <a:stretch>
                    <a:fillRect l="-926" r="-405" b="-3472"/>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 name="文本框 8"/>
              <p:cNvSpPr txBox="1"/>
              <p:nvPr/>
            </p:nvSpPr>
            <p:spPr>
              <a:xfrm>
                <a:off x="418147" y="3328125"/>
                <a:ext cx="11692891" cy="2308324"/>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等价关系需满足：</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反身</a:t>
                </a:r>
                <a:r>
                  <a:rPr lang="zh-CN" altLang="en-US" sz="2000" dirty="0" smtClean="0">
                    <a:latin typeface="微软雅黑" panose="020B0503020204020204" pitchFamily="34" charset="-122"/>
                    <a:ea typeface="微软雅黑" panose="020B0503020204020204" pitchFamily="34" charset="-122"/>
                  </a:rPr>
                  <a:t>性：任何一个向量组都和自己等价</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对称性：如果</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𝑟</m:t>
                        </m:r>
                      </m:sub>
                    </m:sSub>
                  </m:oMath>
                </a14:m>
                <a:r>
                  <a:rPr lang="zh-CN" altLang="en-US" sz="2000" dirty="0" smtClean="0">
                    <a:latin typeface="微软雅黑" panose="020B0503020204020204" pitchFamily="34" charset="-122"/>
                    <a:ea typeface="微软雅黑" panose="020B0503020204020204" pitchFamily="34" charset="-122"/>
                  </a:rPr>
                  <a:t>等价，那么</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𝑟</m:t>
                        </m:r>
                      </m:sub>
                    </m:sSub>
                    <m:r>
                      <m:rPr>
                        <m:nor/>
                      </m:rPr>
                      <a:rPr lang="zh-CN" altLang="en-US" sz="2000" dirty="0">
                        <a:latin typeface="微软雅黑" panose="020B0503020204020204" pitchFamily="34" charset="-122"/>
                        <a:ea typeface="微软雅黑" panose="020B0503020204020204" pitchFamily="34" charset="-122"/>
                      </a:rPr>
                      <m:t>和</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等价</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3.</a:t>
                </a:r>
                <a:r>
                  <a:rPr lang="zh-CN" altLang="en-US" sz="2000" dirty="0" smtClean="0">
                    <a:latin typeface="微软雅黑" panose="020B0503020204020204" pitchFamily="34" charset="-122"/>
                    <a:ea typeface="微软雅黑" panose="020B0503020204020204" pitchFamily="34" charset="-122"/>
                  </a:rPr>
                  <a:t>传递性：如果</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𝑟</m:t>
                        </m:r>
                      </m:sub>
                    </m:sSub>
                  </m:oMath>
                </a14:m>
                <a:r>
                  <a:rPr lang="zh-CN" altLang="en-US" sz="2000" dirty="0" smtClean="0">
                    <a:latin typeface="微软雅黑" panose="020B0503020204020204" pitchFamily="34" charset="-122"/>
                    <a:ea typeface="微软雅黑" panose="020B0503020204020204" pitchFamily="34" charset="-122"/>
                  </a:rPr>
                  <a:t>等价，</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𝑟</m:t>
                        </m:r>
                      </m:sub>
                    </m:sSub>
                  </m:oMath>
                </a14:m>
                <a:r>
                  <a:rPr lang="zh-CN" altLang="en-US" sz="2000"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𝜸</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𝜸</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smtClean="0">
                            <a:latin typeface="Cambria Math" panose="02040503050406030204" pitchFamily="18" charset="0"/>
                          </a:rPr>
                          <m:t>𝜸</m:t>
                        </m:r>
                      </m:e>
                      <m:sub>
                        <m:r>
                          <a:rPr lang="en-US" altLang="zh-CN" sz="2000" b="0" i="1" smtClean="0">
                            <a:latin typeface="Cambria Math" panose="02040503050406030204" pitchFamily="18" charset="0"/>
                          </a:rPr>
                          <m:t>𝑡</m:t>
                        </m:r>
                      </m:sub>
                    </m:sSub>
                  </m:oMath>
                </a14:m>
                <a:r>
                  <a:rPr lang="zh-CN" altLang="en-US" sz="2000" dirty="0" smtClean="0">
                    <a:latin typeface="微软雅黑" panose="020B0503020204020204" pitchFamily="34" charset="-122"/>
                    <a:ea typeface="微软雅黑" panose="020B0503020204020204" pitchFamily="34" charset="-122"/>
                  </a:rPr>
                  <a:t>等价，那么</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𝜸</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𝜸</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𝜸</m:t>
                        </m:r>
                      </m:e>
                      <m:sub>
                        <m:r>
                          <a:rPr lang="en-US" altLang="zh-CN" sz="2000" i="1">
                            <a:latin typeface="Cambria Math" panose="02040503050406030204" pitchFamily="18" charset="0"/>
                          </a:rPr>
                          <m:t>𝑡</m:t>
                        </m:r>
                      </m:sub>
                    </m:sSub>
                  </m:oMath>
                </a14:m>
                <a:r>
                  <a:rPr lang="zh-CN" altLang="en-US" sz="2000" dirty="0" smtClean="0">
                    <a:latin typeface="微软雅黑" panose="020B0503020204020204" pitchFamily="34" charset="-122"/>
                    <a:ea typeface="微软雅黑" panose="020B0503020204020204" pitchFamily="34" charset="-122"/>
                  </a:rPr>
                  <a:t>等价</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418147" y="3328125"/>
                <a:ext cx="11692891" cy="2308324"/>
              </a:xfrm>
              <a:prstGeom prst="rect">
                <a:avLst/>
              </a:prstGeom>
              <a:blipFill rotWithShape="0">
                <a:blip r:embed="rId6"/>
                <a:stretch>
                  <a:fillRect l="-834" t="-2111" b="-13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2380718" y="5478582"/>
                <a:ext cx="9364028" cy="1538050"/>
              </a:xfrm>
              <a:prstGeom prst="rect">
                <a:avLst/>
              </a:prstGeom>
              <a:noFill/>
            </p:spPr>
            <p:txBody>
              <a:bodyPr wrap="square" rtlCol="0">
                <a:spAutoFit/>
              </a:bodyPr>
              <a:lstStyle/>
              <a:p>
                <a:r>
                  <a:rPr lang="zh-CN" altLang="en-US" dirty="0" smtClean="0">
                    <a:latin typeface="Arial" panose="020B0604020202020204" pitchFamily="34" charset="0"/>
                    <a:ea typeface="微软雅黑" panose="020B0503020204020204" pitchFamily="34" charset="-122"/>
                    <a:cs typeface="Arial" panose="020B0604020202020204" pitchFamily="34" charset="0"/>
                  </a:rPr>
                  <a:t>对于第</a:t>
                </a:r>
                <a:r>
                  <a:rPr lang="en-US" altLang="zh-CN" dirty="0" smtClean="0">
                    <a:latin typeface="Arial" panose="020B0604020202020204" pitchFamily="34" charset="0"/>
                    <a:ea typeface="微软雅黑" panose="020B0503020204020204" pitchFamily="34" charset="-122"/>
                    <a:cs typeface="Arial" panose="020B0604020202020204" pitchFamily="34" charset="0"/>
                  </a:rPr>
                  <a:t>3</a:t>
                </a:r>
                <a:r>
                  <a:rPr lang="zh-CN" altLang="en-US" dirty="0" smtClean="0">
                    <a:latin typeface="Arial" panose="020B0604020202020204" pitchFamily="34" charset="0"/>
                    <a:ea typeface="微软雅黑" panose="020B0503020204020204" pitchFamily="34" charset="-122"/>
                    <a:cs typeface="Arial" panose="020B0604020202020204" pitchFamily="34" charset="0"/>
                  </a:rPr>
                  <a:t>条只需要验证</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𝑠</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可被</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𝜸</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𝜸</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𝜸</m:t>
                        </m:r>
                      </m:e>
                      <m:sub>
                        <m:r>
                          <a:rPr lang="en-US" altLang="zh-CN" i="1">
                            <a:latin typeface="Cambria Math" panose="02040503050406030204" pitchFamily="18" charset="0"/>
                          </a:rPr>
                          <m:t>𝑡</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线性表出即可：</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𝑟</m:t>
                          </m:r>
                        </m:sup>
                        <m:e>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𝑏</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𝑖𝑗</m:t>
                              </m:r>
                            </m:sub>
                          </m:sSub>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𝜷</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m:t>
                              </m:r>
                            </m:sub>
                          </m:sSub>
                        </m:e>
                      </m:nary>
                      <m:r>
                        <a:rPr lang="en-US" altLang="zh-CN" b="0" i="1" smtClean="0">
                          <a:latin typeface="Cambria Math" panose="02040503050406030204" pitchFamily="18" charset="0"/>
                          <a:ea typeface="微软雅黑" panose="020B0503020204020204" pitchFamily="34" charset="-122"/>
                          <a:cs typeface="Arial" panose="020B0604020202020204" pitchFamily="34" charset="0"/>
                        </a:rPr>
                        <m:t>, </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𝜷</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𝑡</m:t>
                          </m:r>
                        </m:sup>
                        <m:e>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𝑐</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𝑗𝑘</m:t>
                              </m:r>
                            </m:sub>
                          </m:sSub>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𝜸</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sub>
                          </m:sSub>
                        </m:e>
                      </m:nary>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𝛼</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𝑟</m:t>
                          </m:r>
                        </m:sup>
                        <m:e>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𝑏</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𝑖𝑗</m:t>
                              </m:r>
                            </m:sub>
                          </m:sSub>
                          <m:d>
                            <m:d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dPr>
                            <m:e>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m:rPr>
                                      <m:brk m:alnAt="23"/>
                                    </m:rP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𝑡</m:t>
                                  </m:r>
                                </m:sup>
                                <m:e>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𝑐</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𝑗𝑘</m:t>
                                      </m:r>
                                    </m:sub>
                                  </m:sSub>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𝜸</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sub>
                                  </m:sSub>
                                </m:e>
                              </m:nary>
                            </m:e>
                          </m:d>
                        </m:e>
                      </m:nary>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𝑡</m:t>
                          </m:r>
                        </m:sup>
                        <m:e>
                          <m:r>
                            <a:rPr lang="en-US" altLang="zh-CN" b="0" i="1" smtClean="0">
                              <a:latin typeface="Cambria Math" panose="02040503050406030204" pitchFamily="18" charset="0"/>
                              <a:ea typeface="微软雅黑" panose="020B0503020204020204" pitchFamily="34" charset="-122"/>
                              <a:cs typeface="Arial" panose="020B0604020202020204" pitchFamily="34" charset="0"/>
                            </a:rPr>
                            <m:t> </m:t>
                          </m:r>
                          <m:d>
                            <m:d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dPr>
                            <m:e>
                              <m:nary>
                                <m:naryPr>
                                  <m:chr m:val="∑"/>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naryPr>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𝑗</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cs typeface="Arial" panose="020B0604020202020204" pitchFamily="34" charset="0"/>
                                    </a:rPr>
                                    <m:t>𝑟</m:t>
                                  </m:r>
                                </m:sup>
                                <m:e>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Arial" panose="020B0604020202020204" pitchFamily="34" charset="0"/>
                                        </a:rPr>
                                        <m:t>𝑏</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𝑖𝑗</m:t>
                                      </m:r>
                                    </m:sub>
                                  </m:sSub>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i="1">
                                          <a:latin typeface="Cambria Math" panose="02040503050406030204" pitchFamily="18" charset="0"/>
                                          <a:ea typeface="微软雅黑" panose="020B0503020204020204" pitchFamily="34" charset="-122"/>
                                          <a:cs typeface="Arial" panose="020B0604020202020204" pitchFamily="34" charset="0"/>
                                        </a:rPr>
                                        <m:t>𝑐</m:t>
                                      </m:r>
                                    </m:e>
                                    <m:sub>
                                      <m:r>
                                        <a:rPr lang="en-US" altLang="zh-CN" i="1">
                                          <a:latin typeface="Cambria Math" panose="02040503050406030204" pitchFamily="18" charset="0"/>
                                          <a:ea typeface="微软雅黑" panose="020B0503020204020204" pitchFamily="34" charset="-122"/>
                                          <a:cs typeface="Arial" panose="020B0604020202020204" pitchFamily="34" charset="0"/>
                                        </a:rPr>
                                        <m:t>𝑗𝑘</m:t>
                                      </m:r>
                                    </m:sub>
                                  </m:sSub>
                                </m:e>
                              </m:nary>
                            </m:e>
                          </m:d>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𝜸</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𝑘</m:t>
                              </m:r>
                            </m:sub>
                          </m:sSub>
                        </m:e>
                      </m:nary>
                    </m:oMath>
                  </m:oMathPara>
                </a14:m>
                <a:endParaRPr lang="en-US" altLang="zh-CN" sz="2400" dirty="0" smtClean="0">
                  <a:latin typeface="Arial" panose="020B0604020202020204" pitchFamily="34" charset="0"/>
                  <a:ea typeface="微软雅黑" panose="020B0503020204020204" pitchFamily="34" charset="-122"/>
                  <a:cs typeface="Arial" panose="020B0604020202020204" pitchFamily="34" charset="0"/>
                </a:endParaRPr>
              </a:p>
              <a:p>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2380718" y="5478582"/>
                <a:ext cx="9364028" cy="1538050"/>
              </a:xfrm>
              <a:prstGeom prst="rect">
                <a:avLst/>
              </a:prstGeom>
              <a:blipFill rotWithShape="0">
                <a:blip r:embed="rId7"/>
                <a:stretch>
                  <a:fillRect l="-586"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2011631"/>
      </p:ext>
    </p:extLst>
  </p:cSld>
  <p:clrMapOvr>
    <a:masterClrMapping/>
  </p:clrMapOvr>
  <mc:AlternateContent xmlns:mc="http://schemas.openxmlformats.org/markup-compatibility/2006">
    <mc:Choice xmlns:p14="http://schemas.microsoft.com/office/powerpoint/2010/main" Requires="p14">
      <p:transition spd="slow" p14:dur="2000" advTm="20375"/>
    </mc:Choice>
    <mc:Fallback>
      <p:transition spd="slow" advTm="20375"/>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540385" y="1046928"/>
            <a:ext cx="41471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极大无关</a:t>
            </a:r>
            <a:r>
              <a:rPr lang="zh-CN" altLang="en-US" sz="2400" b="1" dirty="0" smtClean="0">
                <a:latin typeface="微软雅黑" panose="020B0503020204020204" pitchFamily="34" charset="-122"/>
                <a:ea typeface="微软雅黑" panose="020B0503020204020204" pitchFamily="34" charset="-122"/>
              </a:rPr>
              <a:t>组个数相等的证明</a:t>
            </a:r>
            <a:endParaRPr lang="zh-CN" altLang="en-US" sz="24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540385" y="1478580"/>
                <a:ext cx="10803890" cy="5355312"/>
              </a:xfrm>
              <a:prstGeom prst="rect">
                <a:avLst/>
              </a:prstGeom>
              <a:noFill/>
            </p:spPr>
            <p:txBody>
              <a:bodyPr wrap="square" rtlCol="0">
                <a:spAutoFit/>
              </a:bodyPr>
              <a:lstStyle/>
              <a:p>
                <a:pPr>
                  <a:lnSpc>
                    <a:spcPct val="150000"/>
                  </a:lnSpc>
                </a:pPr>
                <a:r>
                  <a:rPr lang="en-US" altLang="zh-CN" sz="2000" dirty="0" smtClean="0">
                    <a:latin typeface="Arial" panose="020B0604020202020204" pitchFamily="34" charset="0"/>
                    <a:ea typeface="微软雅黑" panose="020B0503020204020204" pitchFamily="34" charset="-122"/>
                    <a:cs typeface="Arial" panose="020B0604020202020204" pitchFamily="34" charset="0"/>
                  </a:rPr>
                  <a:t>1.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向量组与它的任一极大线性无关组等价</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dirty="0" smtClean="0">
                    <a:latin typeface="Arial" panose="020B0604020202020204" pitchFamily="34" charset="0"/>
                    <a:ea typeface="微软雅黑" panose="020B0503020204020204" pitchFamily="34" charset="-122"/>
                    <a:cs typeface="Arial" panose="020B0604020202020204" pitchFamily="34" charset="0"/>
                  </a:rPr>
                  <a:t>证明：向量组中每一个向量都可以由向量组线性表出，那么极大线性无关组的向量自然可以被线性表出</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dirty="0" smtClean="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2</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+⋯+1</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b="0" i="1" smtClean="0">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𝑠</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oMath>
                </a14:m>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dirty="0" smtClean="0">
                    <a:latin typeface="Arial" panose="020B0604020202020204" pitchFamily="34" charset="0"/>
                    <a:ea typeface="微软雅黑" panose="020B0503020204020204" pitchFamily="34" charset="-122"/>
                    <a:cs typeface="Arial" panose="020B0604020202020204" pitchFamily="34" charset="0"/>
                  </a:rPr>
                  <a:t>不妨设</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𝑠</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中</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b="0" i="1" smtClean="0">
                            <a:latin typeface="Cambria Math" panose="02040503050406030204" pitchFamily="18" charset="0"/>
                          </a:rPr>
                          <m:t>𝑚</m:t>
                        </m:r>
                      </m:sub>
                    </m:sSub>
                    <m:r>
                      <a:rPr lang="en-US" altLang="zh-CN" b="0" i="0" smtClean="0">
                        <a:latin typeface="Cambria Math" panose="02040503050406030204" pitchFamily="18" charset="0"/>
                      </a:rPr>
                      <m:t> (</m:t>
                    </m:r>
                    <m:r>
                      <a:rPr lang="en-US" altLang="zh-CN" b="0" i="1" smtClean="0">
                        <a:latin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是一组极大线性无关组。</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ea typeface="Cambria Math" panose="02040503050406030204" pitchFamily="18" charset="0"/>
                          <a:cs typeface="Arial" panose="020B0604020202020204" pitchFamily="34" charset="0"/>
                        </a:rPr>
                        <m:t>1</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微软雅黑" panose="020B0503020204020204" pitchFamily="34" charset="-122"/>
                          <a:cs typeface="Arial" panose="020B0604020202020204" pitchFamily="34" charset="0"/>
                        </a:rPr>
                        <m:t>𝑖</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Arial" panose="020B0604020202020204" pitchFamily="34" charset="0"/>
                        </a:rPr>
                        <m:t>𝑚</m:t>
                      </m:r>
                      <m:r>
                        <a:rPr lang="zh-CN" alt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Arial" panose="020B0604020202020204" pitchFamily="34" charset="0"/>
                        </a:rPr>
                        <m:t>=</m:t>
                      </m:r>
                      <m:r>
                        <a:rPr lang="en-US" altLang="zh-CN" i="1">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1</m:t>
                          </m:r>
                        </m:sub>
                      </m:sSub>
                      <m:r>
                        <a:rPr lang="en-US" altLang="zh-CN" i="1">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2</m:t>
                          </m:r>
                        </m:sub>
                      </m:sSub>
                      <m:r>
                        <a:rPr lang="en-US" altLang="zh-CN" i="1">
                          <a:latin typeface="Cambria Math" panose="02040503050406030204" pitchFamily="18" charset="0"/>
                          <a:ea typeface="微软雅黑" panose="020B0503020204020204" pitchFamily="34" charset="-122"/>
                          <a:cs typeface="Arial" panose="020B0604020202020204" pitchFamily="34" charset="0"/>
                        </a:rPr>
                        <m:t>+⋯+1</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cs typeface="Arial" panose="020B0604020202020204" pitchFamily="34" charset="0"/>
                        </a:rPr>
                        <m:t>+⋯+0</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b="0" i="1" smtClean="0">
                              <a:latin typeface="Cambria Math" panose="02040503050406030204" pitchFamily="18" charset="0"/>
                              <a:ea typeface="微软雅黑" panose="020B0503020204020204" pitchFamily="34" charset="-122"/>
                              <a:cs typeface="Arial" panose="020B0604020202020204" pitchFamily="34" charset="0"/>
                            </a:rPr>
                            <m:t>𝑚</m:t>
                          </m:r>
                        </m:sub>
                      </m:sSub>
                    </m:oMath>
                  </m:oMathPara>
                </a14:m>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gn="ctr">
                  <a:lnSpc>
                    <a:spcPct val="150000"/>
                  </a:lnSpc>
                </a:pPr>
                <a14:m>
                  <m:oMath xmlns:m="http://schemas.openxmlformats.org/officeDocument/2006/math">
                    <m:r>
                      <m:rPr>
                        <m:sty m:val="p"/>
                      </m:rPr>
                      <a:rPr lang="en-US" altLang="zh-CN">
                        <a:latin typeface="Cambria Math" panose="02040503050406030204" pitchFamily="18" charset="0"/>
                        <a:ea typeface="Cambria Math" panose="02040503050406030204" pitchFamily="18" charset="0"/>
                        <a:cs typeface="Arial" panose="020B0604020202020204" pitchFamily="34" charset="0"/>
                      </a:rPr>
                      <m:t>m</m:t>
                    </m:r>
                    <m:r>
                      <a:rPr lang="en-US" altLang="zh-CN"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smtClean="0">
                        <a:latin typeface="Cambria Math" panose="02040503050406030204" pitchFamily="18" charset="0"/>
                        <a:ea typeface="微软雅黑" panose="020B0503020204020204" pitchFamily="34" charset="-122"/>
                        <a:cs typeface="Arial" panose="020B0604020202020204" pitchFamily="34" charset="0"/>
                      </a:rPr>
                      <m:t>𝑖</m:t>
                    </m:r>
                    <m:r>
                      <a:rPr lang="en-US" altLang="zh-CN" i="1">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Arial" panose="020B0604020202020204" pitchFamily="34" charset="0"/>
                      </a:rPr>
                      <m:t>𝑗</m:t>
                    </m:r>
                    <m:r>
                      <a:rPr lang="zh-CN" alt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𝑚</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𝑖</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线性相关，按极大线性无关组定义，</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cs typeface="Arial" panose="020B0604020202020204" pitchFamily="34" charset="0"/>
                          </a:rPr>
                          <m:t>𝜶</m:t>
                        </m:r>
                      </m:e>
                      <m:sub>
                        <m:r>
                          <a:rPr lang="en-US" altLang="zh-CN" i="1">
                            <a:latin typeface="Cambria Math" panose="02040503050406030204" pitchFamily="18" charset="0"/>
                            <a:ea typeface="微软雅黑" panose="020B0503020204020204" pitchFamily="34" charset="-122"/>
                            <a:cs typeface="Arial" panose="020B0604020202020204" pitchFamily="34" charset="0"/>
                          </a:rPr>
                          <m:t>𝑖</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可被</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𝜶</m:t>
                        </m:r>
                      </m:e>
                      <m:sub>
                        <m:r>
                          <a:rPr lang="en-US" altLang="zh-CN" i="1">
                            <a:latin typeface="Cambria Math" panose="02040503050406030204" pitchFamily="18" charset="0"/>
                          </a:rPr>
                          <m:t>𝑚</m:t>
                        </m:r>
                      </m:sub>
                    </m:sSub>
                  </m:oMath>
                </a14:m>
                <a:r>
                  <a:rPr lang="zh-CN" altLang="en-US" dirty="0" smtClean="0">
                    <a:latin typeface="Arial" panose="020B0604020202020204" pitchFamily="34" charset="0"/>
                    <a:ea typeface="微软雅黑" panose="020B0503020204020204" pitchFamily="34" charset="-122"/>
                    <a:cs typeface="Arial" panose="020B0604020202020204" pitchFamily="34" charset="0"/>
                  </a:rPr>
                  <a:t>线性表出</a:t>
                </a:r>
                <a:endParaRPr lang="en-US" altLang="zh-CN" dirty="0" smtClean="0">
                  <a:latin typeface="Arial" panose="020B0604020202020204" pitchFamily="34" charset="0"/>
                  <a:ea typeface="微软雅黑" panose="020B0503020204020204" pitchFamily="34" charset="-122"/>
                  <a:cs typeface="Arial" panose="020B0604020202020204" pitchFamily="34" charset="0"/>
                </a:endParaRPr>
              </a:p>
              <a:p>
                <a:pPr algn="ctr">
                  <a:lnSpc>
                    <a:spcPct val="150000"/>
                  </a:lnSpc>
                </a:pPr>
                <a:endParaRPr lang="en-US" altLang="zh-CN"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2000" dirty="0" smtClean="0">
                    <a:latin typeface="Arial" panose="020B0604020202020204" pitchFamily="34" charset="0"/>
                    <a:ea typeface="微软雅黑" panose="020B0503020204020204" pitchFamily="34" charset="-122"/>
                    <a:cs typeface="Arial" panose="020B0604020202020204" pitchFamily="34" charset="0"/>
                  </a:rPr>
                  <a:t>2. </a:t>
                </a:r>
                <a:r>
                  <a:rPr lang="zh-CN" altLang="en-US" sz="2000" dirty="0">
                    <a:latin typeface="Arial" panose="020B0604020202020204" pitchFamily="34" charset="0"/>
                    <a:ea typeface="微软雅黑" panose="020B0503020204020204" pitchFamily="34" charset="-122"/>
                    <a:cs typeface="Arial" panose="020B0604020202020204" pitchFamily="34" charset="0"/>
                  </a:rPr>
                  <a:t>向量</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组的任意两个极大</a:t>
                </a:r>
                <a:r>
                  <a:rPr lang="zh-CN" altLang="en-US" sz="2000" dirty="0">
                    <a:latin typeface="Arial" panose="020B0604020202020204" pitchFamily="34" charset="0"/>
                    <a:ea typeface="微软雅黑" panose="020B0503020204020204" pitchFamily="34" charset="-122"/>
                    <a:cs typeface="Arial" panose="020B0604020202020204" pitchFamily="34" charset="0"/>
                  </a:rPr>
                  <a:t>线性无关</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组间等价（等价的传递性）</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2000" dirty="0" smtClean="0">
                    <a:latin typeface="Arial" panose="020B0604020202020204" pitchFamily="34" charset="0"/>
                    <a:ea typeface="微软雅黑" panose="020B0503020204020204" pitchFamily="34" charset="-122"/>
                    <a:cs typeface="Arial" panose="020B0604020202020204" pitchFamily="34" charset="0"/>
                  </a:rPr>
                  <a:t>3.(</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不加证明，证明用到线性方程组解的判定）设向量组</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b="0" i="1" smtClean="0">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b="0" i="1" smtClean="0">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b="0" i="1" smtClean="0">
                            <a:latin typeface="Cambria Math" panose="02040503050406030204" pitchFamily="18" charset="0"/>
                          </a:rPr>
                          <m:t>𝑟</m:t>
                        </m:r>
                      </m:sub>
                    </m:sSub>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可以由向量组</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𝜶</m:t>
                        </m:r>
                      </m:e>
                      <m:sub>
                        <m:r>
                          <a:rPr lang="en-US" altLang="zh-CN" sz="2000" i="1">
                            <a:latin typeface="Cambria Math" panose="02040503050406030204" pitchFamily="18" charset="0"/>
                          </a:rPr>
                          <m:t>𝑠</m:t>
                        </m:r>
                      </m:sub>
                    </m:sSub>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线性表出，若</a:t>
                </a:r>
                <a14:m>
                  <m:oMath xmlns:m="http://schemas.openxmlformats.org/officeDocument/2006/math">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1" i="1">
                            <a:latin typeface="Cambria Math" panose="02040503050406030204" pitchFamily="18" charset="0"/>
                          </a:rPr>
                          <m:t>𝜷</m:t>
                        </m:r>
                      </m:e>
                      <m:sub>
                        <m:r>
                          <a:rPr lang="en-US" altLang="zh-CN" sz="2000" i="1">
                            <a:latin typeface="Cambria Math" panose="02040503050406030204" pitchFamily="18" charset="0"/>
                          </a:rPr>
                          <m:t>𝑟</m:t>
                        </m:r>
                      </m:sub>
                    </m:sSub>
                  </m:oMath>
                </a14:m>
                <a:r>
                  <a:rPr lang="zh-CN" altLang="en-US" sz="2000" dirty="0" smtClean="0">
                    <a:latin typeface="Arial" panose="020B0604020202020204" pitchFamily="34" charset="0"/>
                    <a:ea typeface="微软雅黑" panose="020B0503020204020204" pitchFamily="34" charset="-122"/>
                    <a:cs typeface="Arial" panose="020B0604020202020204" pitchFamily="34" charset="0"/>
                  </a:rPr>
                  <a:t>线性无关，那么</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Arial" panose="020B0604020202020204" pitchFamily="34" charset="0"/>
                      </a:rPr>
                      <m:t>𝑟</m:t>
                    </m:r>
                    <m:r>
                      <a:rPr lang="en-US" altLang="zh-CN" sz="2000"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ea typeface="Cambria Math" panose="02040503050406030204" pitchFamily="18" charset="0"/>
                        <a:cs typeface="Arial" panose="020B0604020202020204" pitchFamily="34" charset="0"/>
                      </a:rPr>
                      <m:t>𝑠</m:t>
                    </m:r>
                  </m:oMath>
                </a14:m>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2000" dirty="0" smtClean="0">
                    <a:latin typeface="Arial" panose="020B0604020202020204" pitchFamily="34" charset="0"/>
                    <a:ea typeface="微软雅黑" panose="020B0503020204020204" pitchFamily="34" charset="-122"/>
                    <a:cs typeface="Arial" panose="020B0604020202020204" pitchFamily="34" charset="0"/>
                  </a:rPr>
                  <a:t>4.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等价的线性无关向量组所含向量个数相等（等价定义</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定理</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3</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2000" dirty="0" smtClean="0">
                    <a:latin typeface="Arial" panose="020B0604020202020204" pitchFamily="34" charset="0"/>
                    <a:ea typeface="微软雅黑" panose="020B0503020204020204" pitchFamily="34" charset="-122"/>
                    <a:cs typeface="Arial" panose="020B0604020202020204" pitchFamily="34" charset="0"/>
                  </a:rPr>
                  <a:t>5.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向量组任意两个极大线性无关组所含向量个数相等（定理</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2+</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定理</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4</a:t>
                </a:r>
                <a:r>
                  <a:rPr lang="zh-CN" altLang="en-US" sz="2000" smtClean="0">
                    <a:latin typeface="Arial" panose="020B0604020202020204" pitchFamily="34" charset="0"/>
                    <a:ea typeface="微软雅黑" panose="020B0503020204020204" pitchFamily="34" charset="-122"/>
                    <a:cs typeface="Arial" panose="020B0604020202020204" pitchFamily="34" charset="0"/>
                  </a:rPr>
                  <a:t>）</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540385" y="1478580"/>
                <a:ext cx="10803890" cy="5355312"/>
              </a:xfrm>
              <a:prstGeom prst="rect">
                <a:avLst/>
              </a:prstGeom>
              <a:blipFill rotWithShape="0">
                <a:blip r:embed="rId5"/>
                <a:stretch>
                  <a:fillRect l="-621" b="-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2870584"/>
      </p:ext>
    </p:extLst>
  </p:cSld>
  <p:clrMapOvr>
    <a:masterClrMapping/>
  </p:clrMapOvr>
  <mc:AlternateContent xmlns:mc="http://schemas.openxmlformats.org/markup-compatibility/2006">
    <mc:Choice xmlns:p14="http://schemas.microsoft.com/office/powerpoint/2010/main" Requires="p14">
      <p:transition spd="slow" p14:dur="2000" advTm="20375"/>
    </mc:Choice>
    <mc:Fallback>
      <p:transition spd="slow" advTm="20375"/>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3427</TotalTime>
  <Words>797</Words>
  <Application>Microsoft Office PowerPoint</Application>
  <PresentationFormat>宽屏</PresentationFormat>
  <Paragraphs>234</Paragraphs>
  <Slides>18</Slides>
  <Notes>18</Notes>
  <HiddenSlides>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 Unicode MS</vt:lpstr>
      <vt:lpstr>等线</vt: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192</cp:revision>
  <dcterms:created xsi:type="dcterms:W3CDTF">2026-04-13T12:58:51Z</dcterms:created>
  <dcterms:modified xsi:type="dcterms:W3CDTF">2026-05-30T17:01:24Z</dcterms:modified>
</cp:coreProperties>
</file>