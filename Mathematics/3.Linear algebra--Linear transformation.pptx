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7" r:id="rId2"/>
    <p:sldId id="258" r:id="rId3"/>
    <p:sldId id="298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9" r:id="rId12"/>
    <p:sldId id="318" r:id="rId13"/>
    <p:sldId id="321" r:id="rId14"/>
    <p:sldId id="320" r:id="rId15"/>
    <p:sldId id="322" r:id="rId16"/>
    <p:sldId id="323" r:id="rId17"/>
    <p:sldId id="324" r:id="rId18"/>
    <p:sldId id="325" r:id="rId19"/>
    <p:sldId id="326" r:id="rId20"/>
    <p:sldId id="328" r:id="rId21"/>
    <p:sldId id="329" r:id="rId22"/>
    <p:sldId id="330" r:id="rId23"/>
    <p:sldId id="331" r:id="rId24"/>
    <p:sldId id="332" r:id="rId25"/>
    <p:sldId id="333" r:id="rId26"/>
    <p:sldId id="309" r:id="rId27"/>
    <p:sldId id="308" r:id="rId28"/>
    <p:sldId id="334" r:id="rId29"/>
    <p:sldId id="335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37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005" autoAdjust="0"/>
  </p:normalViewPr>
  <p:slideViewPr>
    <p:cSldViewPr snapToGrid="0">
      <p:cViewPr varScale="1">
        <p:scale>
          <a:sx n="87" d="100"/>
          <a:sy n="87" d="100"/>
        </p:scale>
        <p:origin x="52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CD0B4-0D93-4925-9AE5-BE338DE0EB77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1C58D-F6D9-4444-8C6C-9BE396A375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509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719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319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752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364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529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634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079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5966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306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687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13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469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8308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0722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2562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8145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5077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5816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2563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8576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8867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788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4796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7636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5037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5774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9932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2562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8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4F24E-D5DB-4E44-B9C1-1C9F966D9DE0}" type="datetime1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427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644C8-A75A-4271-B806-197E7CBB3043}" type="datetime1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428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EAEB6-6817-4662-A1D3-3BC44BA693B7}" type="datetime1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73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12959-142D-4B7D-99C2-885C08D89CC3}" type="datetime1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982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402A6-6B27-4F12-88C3-26F3AADB1B4A}" type="datetime1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445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8A87C-D3D9-4098-8262-38F46DBFE130}" type="datetime1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01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05D1-58D2-499A-8919-5CFDC4F042E9}" type="datetime1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771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647B-B16E-4175-BFE9-E10D077C5782}" type="datetime1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63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3D96-C799-489A-9DE7-F5DBBF900548}" type="datetime1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454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7679-E711-45F2-B537-122BD96A4634}" type="datetime1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931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60A1E-7A35-43E8-B9E2-C715633E112E}" type="datetime1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59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EBADF-EE84-4603-B97B-F3FFE6AB9912}" type="datetime1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18733-9D16-43A2-A61C-084D57F7F0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57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54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microsoft.com/office/2007/relationships/hdphoto" Target="../media/hdphoto1.wdp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3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70.png"/><Relationship Id="rId10" Type="http://schemas.openxmlformats.org/officeDocument/2006/relationships/image" Target="../media/image22.png"/><Relationship Id="rId4" Type="http://schemas.microsoft.com/office/2007/relationships/hdphoto" Target="../media/hdphoto1.wdp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microsoft.com/office/2007/relationships/hdphoto" Target="../media/hdphoto1.wdp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microsoft.com/office/2007/relationships/hdphoto" Target="../media/hdphoto1.wdp"/><Relationship Id="rId9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3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3.png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microsoft.com/office/2007/relationships/hdphoto" Target="../media/hdphoto1.wd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6035010B-2434-47C2-8100-5A5F5450E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87034" y="484388"/>
            <a:ext cx="1617921" cy="1617921"/>
          </a:xfrm>
          <a:prstGeom prst="rect">
            <a:avLst/>
          </a:prstGeom>
        </p:spPr>
      </p:pic>
      <p:sp>
        <p:nvSpPr>
          <p:cNvPr id="3" name="矩形 12"/>
          <p:cNvSpPr/>
          <p:nvPr/>
        </p:nvSpPr>
        <p:spPr>
          <a:xfrm>
            <a:off x="2889789" y="4196487"/>
            <a:ext cx="6412417" cy="81708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 eaLnBrk="1" hangingPunct="1"/>
            <a:endParaRPr lang="zh-CN" altLang="en-US" sz="2400" dirty="0">
              <a:solidFill>
                <a:srgbClr val="0070C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6657" y="2377744"/>
            <a:ext cx="995867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400" b="1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Introduction to Quantum Chemistry</a:t>
            </a: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——Linear Algebra</a:t>
            </a:r>
            <a:endParaRPr lang="zh-CN" altLang="en-US" sz="4000" b="1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54370" y="4553630"/>
            <a:ext cx="4883252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张冀鹏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北京师范大学化学学院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2026. 7. 13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7865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55"/>
    </mc:Choice>
    <mc:Fallback xmlns="">
      <p:transition spd="slow" advTm="8855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Review: Linear space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986790" y="832373"/>
                <a:ext cx="9451732" cy="6794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2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在一个</a:t>
                </a:r>
                <a:r>
                  <a:rPr lang="en-US" altLang="zh-CN" sz="22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n</a:t>
                </a:r>
                <a:r>
                  <a:rPr lang="zh-CN" altLang="en-US" sz="22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维线性空间</a:t>
                </a:r>
                <a:r>
                  <a:rPr lang="en-US" altLang="zh-CN" sz="22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V</a:t>
                </a:r>
                <a:r>
                  <a:rPr lang="zh-CN" altLang="en-US" sz="22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中</a:t>
                </a:r>
                <a:r>
                  <a:rPr lang="zh-CN" altLang="en-US" sz="2200" dirty="0" smtClean="0"/>
                  <a:t>，</a:t>
                </a:r>
                <a:r>
                  <a:rPr lang="zh-CN" altLang="en-US" sz="22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任一向量都可以用一组线性无关的向量展开：</a:t>
                </a:r>
                <a:endParaRPr lang="en-US" altLang="zh-CN" sz="2200" b="1" i="1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2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2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2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2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2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构成</a:t>
                </a:r>
                <a:r>
                  <a:rPr lang="en-US" altLang="zh-CN" sz="22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lang="zh-CN" altLang="en-US" sz="22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中的一组</a:t>
                </a:r>
                <a:r>
                  <a:rPr lang="zh-CN" altLang="en-US" sz="22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</a:t>
                </a:r>
                <a:r>
                  <a:rPr lang="zh-CN" altLang="en-US" sz="22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2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2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</m:oMath>
                </a14:m>
                <a:r>
                  <a:rPr lang="zh-CN" altLang="en-US" sz="22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2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2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下的</a:t>
                </a:r>
                <a:r>
                  <a:rPr lang="zh-CN" altLang="en-US" sz="22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坐标</a:t>
                </a:r>
                <a:endParaRPr lang="en-US" altLang="zh-CN" sz="2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2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现在考虑两种情况</a:t>
                </a:r>
                <a:endParaRPr lang="en-US" altLang="zh-CN" sz="22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中分别取两组基：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，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2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坐标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间满足怎样的关系？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中取两个向量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，用同一组基表示：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坐标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间满足怎样的关系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？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2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790" y="832373"/>
                <a:ext cx="9451732" cy="6794552"/>
              </a:xfrm>
              <a:prstGeom prst="rect">
                <a:avLst/>
              </a:prstGeom>
              <a:blipFill rotWithShape="0">
                <a:blip r:embed="rId5"/>
                <a:stretch>
                  <a:fillRect l="-8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907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Review: Mapping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1104899" y="1162050"/>
            <a:ext cx="8848726" cy="20764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104899" y="1162050"/>
                <a:ext cx="8705851" cy="4431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给定两个非空集合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，如果存在对应法则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，使得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，都存在</a:t>
                </a:r>
                <a:r>
                  <a:rPr lang="zh-CN" altLang="en-US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唯一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与之对应，则称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的一个映射。</a:t>
                </a: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简记为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zh-CN" sz="2000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映射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中的几个要素：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indent="457200"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定义域：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𝐴</m:t>
                    </m:r>
                  </m:oMath>
                </a14:m>
                <a:endParaRPr lang="en-US" altLang="zh-CN" sz="2000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indent="457200"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陪域：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𝐵</m:t>
                    </m:r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indent="457200"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值域：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𝐴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𝐵</m:t>
                    </m:r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indent="457200"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对应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关系：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899" y="1162050"/>
                <a:ext cx="8705851" cy="4431983"/>
              </a:xfrm>
              <a:prstGeom prst="rect">
                <a:avLst/>
              </a:prstGeom>
              <a:blipFill rotWithShape="0">
                <a:blip r:embed="rId5"/>
                <a:stretch>
                  <a:fillRect l="-1050" r="-980" b="-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3026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Linear transformation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1057274" y="2514600"/>
            <a:ext cx="6143626" cy="9906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057274" y="1447800"/>
                <a:ext cx="8496301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现在考虑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都是线性空间，在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之间建立映射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中元素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的像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也是向量，自然考虑要求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满足：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保持加法运算：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保持数乘运算：</a:t>
                </a:r>
                <a:r>
                  <a:rPr lang="en-US" altLang="zh-CN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𝐑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𝑘𝑓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这种在两个</a:t>
                </a:r>
                <a:r>
                  <a:rPr lang="zh-CN" altLang="en-US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线性空间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之间定义的，满足</a:t>
                </a:r>
                <a:r>
                  <a:rPr lang="zh-CN" altLang="en-US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两条运算性质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的映射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称为线性映射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i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那么称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上的一个线性变换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274" y="1447800"/>
                <a:ext cx="8496301" cy="4154984"/>
              </a:xfrm>
              <a:prstGeom prst="rect">
                <a:avLst/>
              </a:prstGeom>
              <a:blipFill rotWithShape="0">
                <a:blip r:embed="rId5"/>
                <a:stretch>
                  <a:fillRect l="-1076" b="-8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091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Linear transformation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2315" y="990600"/>
            <a:ext cx="2467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主动变换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742315" y="1665021"/>
                <a:ext cx="11087101" cy="22868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在</a:t>
                </a:r>
                <a:r>
                  <a:rPr lang="en-US" altLang="zh-CN" sz="20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V</a:t>
                </a:r>
                <a:r>
                  <a:rPr lang="zh-CN" altLang="en-US" sz="20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中取两个向量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，用同一组基表示：</a:t>
                </a:r>
                <a:endParaRPr lang="en-US" altLang="zh-CN" sz="2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00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 smtClean="0"/>
              </a:p>
              <a:p>
                <a:endParaRPr lang="en-US" altLang="zh-CN" dirty="0"/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下面记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按照线性变换的性质，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</m:d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+⋯+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+⋯+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15" y="1665021"/>
                <a:ext cx="11087101" cy="2286844"/>
              </a:xfrm>
              <a:prstGeom prst="rect">
                <a:avLst/>
              </a:prstGeom>
              <a:blipFill rotWithShape="0">
                <a:blip r:embed="rId5"/>
                <a:stretch>
                  <a:fillRect l="-605"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885825" y="4086225"/>
                <a:ext cx="9772650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还是</a:t>
                </a:r>
                <a:r>
                  <a:rPr lang="en-US" altLang="zh-CN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V</a:t>
                </a:r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中的向量，那么每个向量都可以再用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, 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展开：</a:t>
                </a:r>
                <a:endParaRPr lang="en-US" altLang="zh-CN" sz="2000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altLang="zh-CN" sz="2000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825" y="4086225"/>
                <a:ext cx="9772650" cy="2400657"/>
              </a:xfrm>
              <a:prstGeom prst="rect">
                <a:avLst/>
              </a:prstGeom>
              <a:blipFill rotWithShape="0">
                <a:blip r:embed="rId6"/>
                <a:stretch>
                  <a:fillRect l="-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8600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Linear transformation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2315" y="990600"/>
            <a:ext cx="2467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主动变换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742315" y="4087934"/>
                <a:ext cx="5564731" cy="20630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 smtClean="0">
                    <a:ea typeface="微软雅黑" panose="020B0503020204020204" pitchFamily="34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的系数进行对照后得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altLang="zh-CN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15" y="4087934"/>
                <a:ext cx="5564731" cy="2063065"/>
              </a:xfrm>
              <a:prstGeom prst="rect">
                <a:avLst/>
              </a:prstGeom>
              <a:blipFill rotWithShape="0">
                <a:blip r:embed="rId5"/>
                <a:stretch>
                  <a:fillRect l="-1205" t="-236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337310" y="1569771"/>
                <a:ext cx="9772650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</m:d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+⋯+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sz="2000" i="1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altLang="zh-CN" sz="2000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310" y="1569771"/>
                <a:ext cx="9772650" cy="240065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938374" y="4057862"/>
                <a:ext cx="5333999" cy="1957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如果将坐标写成列向量的形式，左边的方程组可以写成更为紧凑的形式：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8374" y="4057862"/>
                <a:ext cx="5333999" cy="1957972"/>
              </a:xfrm>
              <a:prstGeom prst="rect">
                <a:avLst/>
              </a:prstGeom>
              <a:blipFill rotWithShape="0">
                <a:blip r:embed="rId7"/>
                <a:stretch>
                  <a:fillRect l="-9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5938374" y="6089777"/>
                <a:ext cx="47135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这样的一个列表称为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×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</a:t>
                </a:r>
                <a:endParaRPr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8374" y="6089777"/>
                <a:ext cx="4713525" cy="400110"/>
              </a:xfrm>
              <a:prstGeom prst="rect">
                <a:avLst/>
              </a:prstGeom>
              <a:blipFill rotWithShape="0">
                <a:blip r:embed="rId8"/>
                <a:stretch>
                  <a:fillRect l="-1294" t="-9091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406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Matrix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37185" y="908769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在继续讨论线性变换之前，先介绍矩阵和矩阵相关运算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257595" y="1370434"/>
                <a:ext cx="11487151" cy="5341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𝑟𝑠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这样的一个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行，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列的列表称为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矩阵，一般用大写字母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</m:oMath>
                </a14:m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1" i="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𝐁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等表示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的第</a:t>
                </a:r>
                <a:r>
                  <a:rPr lang="en-US" altLang="zh-CN" sz="2000" dirty="0" err="1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行，第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列元素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记作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𝐀</m:t>
                            </m:r>
                          </m:e>
                        </m:d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sub>
                    </m:sSub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矩阵的相等：</a:t>
                </a:r>
                <a:r>
                  <a:rPr lang="en-US" altLang="zh-CN" sz="2000" b="1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𝐁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行列数相等且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𝐀</m:t>
                            </m:r>
                          </m:e>
                        </m:d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𝐁</m:t>
                            </m:r>
                          </m:e>
                        </m:d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矩阵的加法：两个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矩阵（行列数都必须相同）加法满足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𝑟𝑠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𝑟𝑠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𝑟𝑠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𝑟𝑠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矩阵的数乘：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𝑟𝑠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𝑟𝑠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95" y="1370434"/>
                <a:ext cx="11487151" cy="5341655"/>
              </a:xfrm>
              <a:prstGeom prst="rect">
                <a:avLst/>
              </a:prstGeom>
              <a:blipFill rotWithShape="0">
                <a:blip r:embed="rId10"/>
                <a:stretch>
                  <a:fillRect l="-5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976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Matrix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01039" y="1120080"/>
            <a:ext cx="7347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这种定义的合理性源自对线性方程组的变形：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0" y="1657240"/>
                <a:ext cx="4149969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altLang="zh-CN" sz="16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657240"/>
                <a:ext cx="4149969" cy="156966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883269" y="1652891"/>
                <a:ext cx="3845169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altLang="zh-CN" sz="16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269" y="1652891"/>
                <a:ext cx="3845169" cy="156966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-158261" y="3293697"/>
                <a:ext cx="703773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altLang="zh-CN" sz="16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8261" y="3293697"/>
                <a:ext cx="7037730" cy="156966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6289547" y="3293697"/>
                <a:ext cx="485910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𝑘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𝑘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altLang="zh-CN" sz="16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𝑘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9547" y="3293697"/>
                <a:ext cx="4859100" cy="156966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37185" y="5057737"/>
                <a:ext cx="5645007" cy="1051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  <m:r>
                        <a:rPr lang="en-US" altLang="zh-CN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5057737"/>
                <a:ext cx="5645007" cy="105118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6730668" y="5122242"/>
                <a:ext cx="3976858" cy="10418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𝑘</m:t>
                                        </m:r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𝑘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𝑘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𝑘</m:t>
                                    </m:r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𝑘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𝑘</m:t>
                                    </m:r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𝑘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𝑘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𝑘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𝑘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668" y="5122242"/>
                <a:ext cx="3976858" cy="1041824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41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Matrix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20712" y="1104691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矩阵的乘法：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25711" y="2107070"/>
                <a:ext cx="11487151" cy="2236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𝐀𝐁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i="1" smtClean="0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𝑠𝑟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i="1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000" i="1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𝑟𝑡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i="1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+⋯+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000" b="0" i="1" smtClean="0">
                                            <a:solidFill>
                                              <a:schemeClr val="accent1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+⋯+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+⋯+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𝑟𝑡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+⋯+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𝑠𝑟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+⋯+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𝑠𝑟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  <m:t>+⋯+</m:t>
                                    </m:r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𝑠𝑟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𝑟𝑡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11" y="2107070"/>
                <a:ext cx="11487151" cy="223689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420378" y="1706960"/>
                <a:ext cx="42818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矩阵，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</a:rPr>
                      <m:t>𝐁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378" y="1706960"/>
                <a:ext cx="4281854" cy="400110"/>
              </a:xfrm>
              <a:prstGeom prst="rect">
                <a:avLst/>
              </a:prstGeom>
              <a:blipFill rotWithShape="0">
                <a:blip r:embed="rId6"/>
                <a:stretch>
                  <a:fillRect l="-1425"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420378" y="4343964"/>
                <a:ext cx="622495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结果是一个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378" y="4343964"/>
                <a:ext cx="6224953" cy="400110"/>
              </a:xfrm>
              <a:prstGeom prst="rect">
                <a:avLst/>
              </a:prstGeom>
              <a:blipFill rotWithShape="0">
                <a:blip r:embed="rId7"/>
                <a:stretch>
                  <a:fillRect l="-979" t="-9231" b="-2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399774" y="4884678"/>
                <a:ext cx="6519076" cy="1548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考虑分量形式有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smtClean="0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𝑘𝑗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 smtClean="0"/>
              </a:p>
              <a:p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即用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的第</a:t>
                </a:r>
                <a:r>
                  <a:rPr lang="en-US" altLang="zh-CN" sz="2000" dirty="0" err="1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i</a:t>
                </a:r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行元素与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</a:rPr>
                      <m:t>𝐁</m:t>
                    </m:r>
                  </m:oMath>
                </a14:m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的第</a:t>
                </a:r>
                <a:r>
                  <a:rPr lang="en-US" altLang="zh-CN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j</a:t>
                </a:r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列元素对应相乘后求和</a:t>
                </a:r>
                <a:endParaRPr lang="zh-CN" altLang="en-US" sz="2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9774" y="4884678"/>
                <a:ext cx="6519076" cy="1548181"/>
              </a:xfrm>
              <a:prstGeom prst="rect">
                <a:avLst/>
              </a:prstGeom>
              <a:blipFill rotWithShape="0">
                <a:blip r:embed="rId8"/>
                <a:stretch>
                  <a:fillRect l="-1029" t="-1969" b="-6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2617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Linear transformation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2315" y="990600"/>
            <a:ext cx="2467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回到线性变换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837557" y="1469361"/>
                <a:ext cx="5333999" cy="1126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557" y="1469361"/>
                <a:ext cx="5333999" cy="11269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620712" y="2769577"/>
                <a:ext cx="10770578" cy="31330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⋮</m:t>
                                  </m:r>
                                </m:e>
                              </m:mr>
                            </m:m>
                          </m:e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1" i="0" dirty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⋮</m:t>
                                  </m:r>
                                </m:e>
                              </m:mr>
                            </m:m>
                          </m:e>
                          <m:e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视为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矩阵（即列向量可以视为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矩阵，行向量则视为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1×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矩阵）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上述变换可以写成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𝐂𝐱</m:t>
                    </m:r>
                  </m:oMath>
                </a14:m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分量满足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(1)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e>
                        </m:d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e>
                        </m:d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+⋯+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𝑐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𝑖𝑛</m:t>
                        </m:r>
                      </m:sub>
                    </m:sSub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e>
                        </m:d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𝑖𝑘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(1)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这种变换不改变基，而改变向量本身，是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主动变换</a:t>
                </a:r>
                <a:endPara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712" y="2769577"/>
                <a:ext cx="10770578" cy="3133037"/>
              </a:xfrm>
              <a:prstGeom prst="rect">
                <a:avLst/>
              </a:prstGeom>
              <a:blipFill rotWithShape="0">
                <a:blip r:embed="rId6"/>
                <a:stretch>
                  <a:fillRect l="-623" r="-2886" b="-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7723874" y="3815470"/>
            <a:ext cx="3245850" cy="2529332"/>
            <a:chOff x="7723874" y="3815470"/>
            <a:chExt cx="3245850" cy="2529332"/>
          </a:xfrm>
        </p:grpSpPr>
        <p:cxnSp>
          <p:nvCxnSpPr>
            <p:cNvPr id="9" name="直接箭头连接符 8"/>
            <p:cNvCxnSpPr/>
            <p:nvPr/>
          </p:nvCxnSpPr>
          <p:spPr>
            <a:xfrm flipH="1" flipV="1">
              <a:off x="8506558" y="4000136"/>
              <a:ext cx="0" cy="21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 flipV="1">
              <a:off x="8266799" y="5902614"/>
              <a:ext cx="216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9883874" y="5975470"/>
                  <a:ext cx="10858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83874" y="5975470"/>
                  <a:ext cx="1085850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t="-229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7723874" y="3815470"/>
                  <a:ext cx="1085850" cy="3912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3874" y="3815470"/>
                  <a:ext cx="1085850" cy="391261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t="-20313" b="-312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直接箭头连接符 16"/>
          <p:cNvCxnSpPr/>
          <p:nvPr/>
        </p:nvCxnSpPr>
        <p:spPr>
          <a:xfrm flipV="1">
            <a:off x="8534400" y="4943475"/>
            <a:ext cx="1228725" cy="9591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9649711" y="4933948"/>
                <a:ext cx="4683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ac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9711" y="4933948"/>
                <a:ext cx="468325" cy="369332"/>
              </a:xfrm>
              <a:prstGeom prst="rect">
                <a:avLst/>
              </a:prstGeom>
              <a:blipFill rotWithShape="0">
                <a:blip r:embed="rId9"/>
                <a:stretch>
                  <a:fillRect t="-22951" r="-324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箭头连接符 22"/>
          <p:cNvCxnSpPr/>
          <p:nvPr/>
        </p:nvCxnSpPr>
        <p:spPr>
          <a:xfrm flipV="1">
            <a:off x="8521579" y="4599180"/>
            <a:ext cx="848525" cy="13022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/>
              <p:cNvSpPr txBox="1"/>
              <p:nvPr/>
            </p:nvSpPr>
            <p:spPr>
              <a:xfrm>
                <a:off x="9041582" y="4225085"/>
                <a:ext cx="468325" cy="410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1582" y="4225085"/>
                <a:ext cx="468325" cy="410369"/>
              </a:xfrm>
              <a:prstGeom prst="rect">
                <a:avLst/>
              </a:prstGeom>
              <a:blipFill rotWithShape="0">
                <a:blip r:embed="rId10"/>
                <a:stretch>
                  <a:fillRect t="-22388" r="-33766" b="-134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下弧形箭头 25"/>
          <p:cNvSpPr/>
          <p:nvPr/>
        </p:nvSpPr>
        <p:spPr>
          <a:xfrm rot="12600000">
            <a:off x="9167202" y="4878838"/>
            <a:ext cx="381615" cy="19652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697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Linear transformation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2315" y="990600"/>
            <a:ext cx="2467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被动变换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54635" y="1743134"/>
                <a:ext cx="5910580" cy="38872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中分别取两组基：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，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 smtClean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此时直接将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𝜷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展开</a:t>
                </a:r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endPara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⋯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b="0" i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35" y="1743134"/>
                <a:ext cx="5910580" cy="3887283"/>
              </a:xfrm>
              <a:prstGeom prst="rect">
                <a:avLst/>
              </a:prstGeom>
              <a:blipFill rotWithShape="0">
                <a:blip r:embed="rId5"/>
                <a:stretch>
                  <a:fillRect l="-1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5781675" y="1452265"/>
                <a:ext cx="6096000" cy="445096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再次对比系数得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⋯</m:t>
                      </m:r>
                    </m:oMath>
                  </m:oMathPara>
                </a14:m>
                <a:endParaRPr lang="en-US" altLang="zh-CN" i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dirty="0" smtClean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原基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坐标为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，新基下坐标为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𝐂𝐱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1675" y="1452265"/>
                <a:ext cx="6096000" cy="4450962"/>
              </a:xfrm>
              <a:prstGeom prst="rect">
                <a:avLst/>
              </a:prstGeom>
              <a:blipFill rotWithShape="0">
                <a:blip r:embed="rId6"/>
                <a:stretch>
                  <a:fillRect l="-8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981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Linear transformation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2315" y="990600"/>
            <a:ext cx="2467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被动变换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824278" y="2600133"/>
                <a:ext cx="4771293" cy="21653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000" dirty="0" smtClean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原基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坐标为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，新基下坐标为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𝐂𝐱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278" y="2600133"/>
                <a:ext cx="4771293" cy="2165336"/>
              </a:xfrm>
              <a:prstGeom prst="rect">
                <a:avLst/>
              </a:prstGeom>
              <a:blipFill rotWithShape="0">
                <a:blip r:embed="rId5"/>
                <a:stretch>
                  <a:fillRect l="-1277" r="-14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组合 21"/>
          <p:cNvGrpSpPr/>
          <p:nvPr/>
        </p:nvGrpSpPr>
        <p:grpSpPr>
          <a:xfrm>
            <a:off x="7152374" y="2060701"/>
            <a:ext cx="2988675" cy="2344666"/>
            <a:chOff x="7723874" y="3815470"/>
            <a:chExt cx="2988675" cy="2344666"/>
          </a:xfrm>
        </p:grpSpPr>
        <p:cxnSp>
          <p:nvCxnSpPr>
            <p:cNvPr id="24" name="直接箭头连接符 23"/>
            <p:cNvCxnSpPr/>
            <p:nvPr/>
          </p:nvCxnSpPr>
          <p:spPr>
            <a:xfrm flipH="1" flipV="1">
              <a:off x="8506558" y="4000136"/>
              <a:ext cx="0" cy="2160000"/>
            </a:xfrm>
            <a:prstGeom prst="straightConnector1">
              <a:avLst/>
            </a:prstGeom>
            <a:ln w="38100"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 flipV="1">
              <a:off x="8266799" y="5902614"/>
              <a:ext cx="2160000" cy="0"/>
            </a:xfrm>
            <a:prstGeom prst="straightConnector1">
              <a:avLst/>
            </a:prstGeom>
            <a:ln w="38100"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/>
                <p:cNvSpPr txBox="1"/>
                <p:nvPr/>
              </p:nvSpPr>
              <p:spPr>
                <a:xfrm>
                  <a:off x="9626699" y="5437570"/>
                  <a:ext cx="10858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" name="文本框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6699" y="5437570"/>
                  <a:ext cx="1085850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t="-2295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/>
                <p:cNvSpPr txBox="1"/>
                <p:nvPr/>
              </p:nvSpPr>
              <p:spPr>
                <a:xfrm>
                  <a:off x="7723874" y="3815470"/>
                  <a:ext cx="1085850" cy="3912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3874" y="3815470"/>
                  <a:ext cx="1085850" cy="391261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t="-20313" b="-468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3" name="直接箭头连接符 32"/>
          <p:cNvCxnSpPr/>
          <p:nvPr/>
        </p:nvCxnSpPr>
        <p:spPr>
          <a:xfrm flipV="1">
            <a:off x="7935058" y="2131067"/>
            <a:ext cx="228600" cy="20896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7935058" y="4147845"/>
            <a:ext cx="2085242" cy="1871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/>
              <p:cNvSpPr txBox="1"/>
              <p:nvPr/>
            </p:nvSpPr>
            <p:spPr>
              <a:xfrm>
                <a:off x="8717743" y="4343509"/>
                <a:ext cx="1085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7743" y="4343509"/>
                <a:ext cx="1085850" cy="369332"/>
              </a:xfrm>
              <a:prstGeom prst="rect">
                <a:avLst/>
              </a:prstGeom>
              <a:blipFill rotWithShape="0">
                <a:blip r:embed="rId8"/>
                <a:stretch>
                  <a:fillRect t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/>
              <p:cNvSpPr txBox="1"/>
              <p:nvPr/>
            </p:nvSpPr>
            <p:spPr>
              <a:xfrm>
                <a:off x="7802525" y="2023759"/>
                <a:ext cx="1085850" cy="391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" name="文本框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525" y="2023759"/>
                <a:ext cx="1085850" cy="391261"/>
              </a:xfrm>
              <a:prstGeom prst="rect">
                <a:avLst/>
              </a:prstGeom>
              <a:blipFill rotWithShape="0">
                <a:blip r:embed="rId9"/>
                <a:stretch>
                  <a:fillRect t="-20313"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直接箭头连接符 41"/>
          <p:cNvCxnSpPr/>
          <p:nvPr/>
        </p:nvCxnSpPr>
        <p:spPr>
          <a:xfrm flipV="1">
            <a:off x="7935057" y="3180198"/>
            <a:ext cx="1228725" cy="9591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9105109" y="2971076"/>
                <a:ext cx="3824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ac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5109" y="2971076"/>
                <a:ext cx="382412" cy="369332"/>
              </a:xfrm>
              <a:prstGeom prst="rect">
                <a:avLst/>
              </a:prstGeom>
              <a:blipFill rotWithShape="0">
                <a:blip r:embed="rId10"/>
                <a:stretch>
                  <a:fillRect t="-22951" r="-30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827326" y="4985879"/>
                <a:ext cx="866019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只是从坐标之间的关系来看，</a:t>
                </a:r>
                <a:r>
                  <a:rPr lang="en-US" altLang="zh-CN" sz="2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原基与新基前后的坐标之间也进行了变换，尽管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本身没有改变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由基变换引起的坐标变换是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被动变换</a:t>
                </a:r>
                <a:endParaRPr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26" y="4985879"/>
                <a:ext cx="8660196" cy="1015663"/>
              </a:xfrm>
              <a:prstGeom prst="rect">
                <a:avLst/>
              </a:prstGeom>
              <a:blipFill rotWithShape="0">
                <a:blip r:embed="rId11"/>
                <a:stretch>
                  <a:fillRect l="-775" t="-3593" b="-9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下弧形箭头 42"/>
          <p:cNvSpPr/>
          <p:nvPr/>
        </p:nvSpPr>
        <p:spPr>
          <a:xfrm rot="18000000">
            <a:off x="9739845" y="4143538"/>
            <a:ext cx="204820" cy="14837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78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Linear transformation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2314" y="990600"/>
            <a:ext cx="4277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行向量线性变换与矩阵的转置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997585" y="1713637"/>
                <a:ext cx="3498215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altLang="zh-CN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585" y="1713637"/>
                <a:ext cx="3498215" cy="175432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4857524" y="1756212"/>
                <a:ext cx="6551849" cy="1711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这次将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…,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…,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用行向量表示：</a:t>
                </a:r>
                <a:endPara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𝐲</m:t>
                        </m:r>
                      </m:e>
                      <m:sup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𝐓</m:t>
                        </m:r>
                      </m:sup>
                    </m:sSup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𝐱</m:t>
                        </m:r>
                      </m:e>
                      <m:sup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𝐓</m:t>
                        </m:r>
                      </m:sup>
                    </m:sSup>
                    <m:r>
                      <a:rPr lang="en-US" altLang="zh-C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𝐂</m:t>
                    </m:r>
                    <m:r>
                      <a:rPr lang="en-US" altLang="zh-CN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′</m:t>
                    </m:r>
                  </m:oMath>
                </a14:m>
                <a:endPara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524" y="1756212"/>
                <a:ext cx="6551849" cy="1711751"/>
              </a:xfrm>
              <a:prstGeom prst="rect">
                <a:avLst/>
              </a:prstGeom>
              <a:blipFill rotWithShape="0">
                <a:blip r:embed="rId6"/>
                <a:stretch>
                  <a:fillRect l="-1023" t="-1779" b="-49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5389800" y="4054745"/>
                <a:ext cx="5114925" cy="1808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注意到</a:t>
                </a:r>
                <a14:m>
                  <m:oMath xmlns:m="http://schemas.openxmlformats.org/officeDocument/2006/math">
                    <m:r>
                      <a:rPr lang="en-US" altLang="zh-CN" sz="2400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𝐂</m:t>
                    </m:r>
                    <m:r>
                      <a:rPr lang="en-US" altLang="zh-CN" sz="2400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′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𝐂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之间的元素间满足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𝐂</m:t>
                                  </m:r>
                                </m:e>
                                <m:sup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4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𝐂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𝑗𝑖</m:t>
                          </m:r>
                        </m:sub>
                      </m:sSub>
                    </m:oMath>
                  </m:oMathPara>
                </a14:m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</a:t>
                </a:r>
                <a14:m>
                  <m:oMath xmlns:m="http://schemas.openxmlformats.org/officeDocument/2006/math">
                    <m:r>
                      <a:rPr lang="en-US" altLang="zh-CN" sz="2400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𝐂</m:t>
                    </m:r>
                    <m:r>
                      <a:rPr lang="en-US" altLang="zh-CN" sz="2400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′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𝐂</m:t>
                    </m:r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sz="24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转置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，记作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𝐂</m:t>
                        </m:r>
                      </m:e>
                      <m:sup>
                        <m:r>
                          <a:rPr lang="en-US" altLang="zh-CN" sz="2400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𝐓</m:t>
                        </m:r>
                      </m:sup>
                    </m:sSup>
                  </m:oMath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9800" y="4054745"/>
                <a:ext cx="5114925" cy="1808765"/>
              </a:xfrm>
              <a:prstGeom prst="rect">
                <a:avLst/>
              </a:prstGeom>
              <a:blipFill rotWithShape="0">
                <a:blip r:embed="rId7"/>
                <a:stretch>
                  <a:fillRect l="-1788" b="-3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1161354" y="4303788"/>
                <a:ext cx="3170676" cy="12420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𝐂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354" y="4303788"/>
                <a:ext cx="3170676" cy="124200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1879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Linear transformation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2315" y="990600"/>
            <a:ext cx="2467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逆变换与逆矩阵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4875" y="1535085"/>
            <a:ext cx="862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无论主动变换还是被动变换，都应当有相应的逆变换，使变换后的坐标复原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540385" y="2018015"/>
                <a:ext cx="6432414" cy="24722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dirty="0" smtClean="0">
                    <a:ea typeface="微软雅黑" panose="020B0503020204020204" pitchFamily="34" charset="-122"/>
                  </a:rPr>
                  <a:t>设</a:t>
                </a:r>
                <a:endParaRPr lang="en-US" altLang="zh-CN" dirty="0" smtClean="0"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𝐂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b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𝑔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𝐃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b="1" dirty="0" smtClean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85" y="2018015"/>
                <a:ext cx="6432414" cy="2472280"/>
              </a:xfrm>
              <a:prstGeom prst="rect">
                <a:avLst/>
              </a:prstGeom>
              <a:blipFill rotWithShape="0">
                <a:blip r:embed="rId5"/>
                <a:stretch>
                  <a:fillRect l="-853" t="-1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499110" y="4490295"/>
                <a:ext cx="4257675" cy="1857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映射视角：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𝑔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𝑔𝑓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𝑔𝑓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𝐼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（恒等映射），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𝑔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p>
                    </m:sSup>
                  </m:oMath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4490295"/>
                <a:ext cx="4257675" cy="1857560"/>
              </a:xfrm>
              <a:prstGeom prst="rect">
                <a:avLst/>
              </a:prstGeom>
              <a:blipFill rotWithShape="0">
                <a:blip r:embed="rId6"/>
                <a:stretch>
                  <a:fillRect l="-1576" t="-1974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7058024" y="2366847"/>
                <a:ext cx="5248276" cy="3007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矩阵视角：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𝐃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𝐃𝐂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000" dirty="0" smtClean="0"/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024" y="2366847"/>
                <a:ext cx="5248276" cy="3007233"/>
              </a:xfrm>
              <a:prstGeom prst="rect">
                <a:avLst/>
              </a:prstGeom>
              <a:blipFill rotWithShape="0">
                <a:blip r:embed="rId7"/>
                <a:stretch>
                  <a:fillRect l="-1278" t="-10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9239250" y="5374080"/>
            <a:ext cx="165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单位矩阵（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7353549" y="5972303"/>
                <a:ext cx="4361951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那么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𝐃𝐂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𝐈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，记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𝐃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≔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𝐂</m:t>
                        </m:r>
                      </m:e>
                      <m:sup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𝐂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逆矩阵</a:t>
                </a:r>
                <a:endParaRPr lang="zh-CN" altLang="en-US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549" y="5972303"/>
                <a:ext cx="4361951" cy="375552"/>
              </a:xfrm>
              <a:prstGeom prst="rect">
                <a:avLst/>
              </a:prstGeom>
              <a:blipFill rotWithShape="0">
                <a:blip r:embed="rId8"/>
                <a:stretch>
                  <a:fillRect l="-1117" t="-8197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/>
          <p:cNvCxnSpPr/>
          <p:nvPr/>
        </p:nvCxnSpPr>
        <p:spPr>
          <a:xfrm>
            <a:off x="4457949" y="6179129"/>
            <a:ext cx="2895600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4609522" y="5730435"/>
                <a:ext cx="2596764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对应的矩阵就是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𝐂</m:t>
                        </m:r>
                      </m:e>
                      <m:sup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9522" y="5730435"/>
                <a:ext cx="2596764" cy="375552"/>
              </a:xfrm>
              <a:prstGeom prst="rect">
                <a:avLst/>
              </a:prstGeom>
              <a:blipFill rotWithShape="0">
                <a:blip r:embed="rId9"/>
                <a:stretch>
                  <a:fillRect l="-704" t="-8065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0697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Properties of matrices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9110" y="965683"/>
            <a:ext cx="8715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现在问题可以由研究线性变换转化为研究矩阵间的运算关系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701040" y="1519937"/>
                <a:ext cx="4248785" cy="49984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矩阵加法：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𝐀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2000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𝐁</m:t>
                            </m:r>
                          </m:e>
                        </m:d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  <m:r>
                      <a:rPr lang="zh-CN" altLang="en-US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≔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sz="2000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𝐁</m:t>
                            </m:r>
                          </m:e>
                        </m:d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矩阵数乘：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  <m:r>
                              <a:rPr lang="en-US" altLang="zh-CN" sz="2000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𝐀</m:t>
                            </m:r>
                          </m:e>
                        </m:d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≔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𝐀</m:t>
                            </m:r>
                          </m:e>
                        </m:d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矩阵乘法：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sz="2000" b="1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𝐀𝐁</m:t>
                            </m:r>
                          </m:e>
                        </m:d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≔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𝐀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𝑖𝑘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1" i="0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𝐁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𝑘𝑗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基础运算法则（与线性空间一致）：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𝐁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𝐁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𝐁</m:t>
                          </m:r>
                        </m:e>
                      </m:d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𝐂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+(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𝐁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𝐂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𝟎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𝟎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𝟎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1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𝑘𝑙</m:t>
                          </m:r>
                        </m:e>
                      </m:d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𝑘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𝑙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𝑙</m:t>
                          </m:r>
                        </m:e>
                      </m:d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𝑘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𝑙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𝑘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𝐁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𝑘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𝑘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𝐁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" y="1519937"/>
                <a:ext cx="4248785" cy="4998484"/>
              </a:xfrm>
              <a:prstGeom prst="rect">
                <a:avLst/>
              </a:prstGeom>
              <a:blipFill rotWithShape="0">
                <a:blip r:embed="rId5"/>
                <a:stretch>
                  <a:fillRect l="-1435" t="-610" r="-1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5105400" y="1387689"/>
                <a:ext cx="4695825" cy="263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与矩阵乘法相关的运算性质：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𝐀𝐁</m:t>
                        </m:r>
                      </m:e>
                    </m:d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𝐁𝐂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（结合律）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𝐁</m:t>
                        </m:r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𝐂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𝐀𝐁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𝐀𝐂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（左分配律）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𝐁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𝐂</m:t>
                        </m:r>
                      </m:e>
                    </m:d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𝐃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𝐁𝐃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𝐂𝐃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（右分配律）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𝐈𝐀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𝐀𝐈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𝐀𝐁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</m:d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𝐁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𝑘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𝐁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b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数乘交换律）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1387689"/>
                <a:ext cx="4695825" cy="2631490"/>
              </a:xfrm>
              <a:prstGeom prst="rect">
                <a:avLst/>
              </a:prstGeom>
              <a:blipFill rotWithShape="0">
                <a:blip r:embed="rId6"/>
                <a:stretch>
                  <a:fillRect l="-1429" b="-1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4676775" y="3908942"/>
                <a:ext cx="6667500" cy="2828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注：</a:t>
                </a:r>
                <a:endParaRPr lang="en-US" altLang="zh-CN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r>
                  <a:rPr lang="en-US" altLang="zh-CN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1. </a:t>
                </a:r>
                <a:r>
                  <a:rPr lang="zh-CN" altLang="en-US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根据结合律，可以定义矩阵的幂运算</a:t>
                </a:r>
                <a:endParaRPr lang="en-US" altLang="zh-CN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n</m:t>
                          </m:r>
                        </m:sup>
                      </m:sSup>
                      <m: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𝐀𝐀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⋯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n</m:t>
                      </m:r>
                      <m:r>
                        <a:rPr lang="zh-CN" altLang="en-US" b="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个</m:t>
                      </m:r>
                      <m:r>
                        <a:rPr lang="zh-CN" altLang="en-US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）</m:t>
                      </m:r>
                    </m:oMath>
                  </m:oMathPara>
                </a14:m>
                <a:endParaRPr lang="en-US" altLang="zh-CN" b="1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r>
                  <a:rPr lang="zh-CN" altLang="en-US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满足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m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m</m:t>
                        </m:r>
                      </m:sup>
                    </m:sSup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n</m:t>
                        </m:r>
                      </m:sup>
                    </m:sSup>
                  </m:oMath>
                </a14:m>
                <a:endParaRPr lang="en-US" altLang="zh-CN" b="1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2. </a:t>
                </a:r>
                <a:r>
                  <a:rPr lang="zh-CN" altLang="en-US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矩阵</a:t>
                </a:r>
                <a:r>
                  <a:rPr lang="zh-CN" altLang="en-US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乘法不满足交换律：</a:t>
                </a:r>
                <a14:m>
                  <m:oMath xmlns:m="http://schemas.openxmlformats.org/officeDocument/2006/math">
                    <m:r>
                      <a:rPr lang="en-US" altLang="zh-CN" b="1" i="0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𝐀𝐁</m:t>
                    </m:r>
                    <m:r>
                      <a:rPr lang="en-US" altLang="zh-CN" b="1" i="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  <m:r>
                      <a:rPr lang="en-US" altLang="zh-CN" b="1" i="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𝐁𝐀</m:t>
                    </m:r>
                  </m:oMath>
                </a14:m>
                <a:r>
                  <a:rPr lang="zh-CN" altLang="en-US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，即矩阵乘法应当严格区分左乘与右乘</a:t>
                </a:r>
                <a:endParaRPr lang="en-US" altLang="zh-CN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r>
                  <a:rPr lang="en-US" altLang="zh-CN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3.</a:t>
                </a:r>
                <a:r>
                  <a:rPr lang="zh-CN" altLang="en-US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𝐀𝐁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b="1" i="0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lang="zh-CN" altLang="en-US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并不能得到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lang="zh-CN" altLang="en-US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b="1" i="0" dirty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𝐁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b="1" i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endParaRPr lang="en-US" altLang="zh-CN" b="1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r>
                  <a:rPr lang="zh-CN" altLang="en-US" b="1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例：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𝐀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= 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, 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𝐁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= 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, 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𝐀𝐁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= 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endParaRPr lang="zh-CN" altLang="en-US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775" y="3908942"/>
                <a:ext cx="6667500" cy="2828916"/>
              </a:xfrm>
              <a:prstGeom prst="rect">
                <a:avLst/>
              </a:prstGeom>
              <a:blipFill rotWithShape="0">
                <a:blip r:embed="rId7"/>
                <a:stretch>
                  <a:fillRect l="-731" t="-1078" r="-1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9628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Properties of matrices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40385" y="1157321"/>
                <a:ext cx="9622790" cy="29720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证明结合律：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  <m:d>
                      <m:d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US" altLang="zh-CN" sz="24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4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𝐁</m:t>
                    </m:r>
                    <m:d>
                      <m:d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 </m:t>
                    </m:r>
                    <m:r>
                      <a:rPr lang="en-US" altLang="zh-CN" sz="24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𝐂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𝑚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  <m:t>𝐀𝐁</m:t>
                                  </m:r>
                                </m:e>
                              </m:d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𝐂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𝑟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[</m:t>
                              </m:r>
                              <m:d>
                                <m:d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  <m:t>𝐀𝐁</m:t>
                                  </m:r>
                                </m:e>
                              </m:d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]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𝑖𝑟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𝐂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𝑟𝑗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𝑟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  <m:t>𝑠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  <m:t>𝑙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sz="2000" b="1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altLang="zh-CN" sz="2000" b="1" i="1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b="1" i="0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Arial" panose="020B0604020202020204" pitchFamily="34" charset="0"/>
                                            </a:rPr>
                                            <m:t>𝐀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Arial" panose="020B0604020202020204" pitchFamily="34" charset="0"/>
                                        </a:rPr>
                                        <m:t>𝑖𝑠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b="1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altLang="zh-CN" sz="2000" b="1" i="1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b="1" i="0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Arial" panose="020B0604020202020204" pitchFamily="34" charset="0"/>
                                            </a:rPr>
                                            <m:t>𝐁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Arial" panose="020B0604020202020204" pitchFamily="34" charset="0"/>
                                        </a:rPr>
                                        <m:t>𝑠𝑟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  <m:t>𝐂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𝑟𝑗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𝑟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  <m:t>𝑠</m:t>
                                  </m:r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  <m:t>𝑙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altLang="zh-CN" sz="2000" b="1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b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Arial" panose="020B0604020202020204" pitchFamily="34" charset="0"/>
                                            </a:rPr>
                                            <m:t>𝐀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Arial" panose="020B0604020202020204" pitchFamily="34" charset="0"/>
                                        </a:rPr>
                                        <m:t>𝑖𝑠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altLang="zh-CN" sz="2000" b="1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b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Arial" panose="020B0604020202020204" pitchFamily="34" charset="0"/>
                                            </a:rPr>
                                            <m:t>𝐁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Arial" panose="020B0604020202020204" pitchFamily="34" charset="0"/>
                                        </a:rPr>
                                        <m:t>𝑠𝑟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altLang="zh-CN" sz="2000" b="1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b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Arial" panose="020B0604020202020204" pitchFamily="34" charset="0"/>
                                            </a:rPr>
                                            <m:t>𝐂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Arial" panose="020B0604020202020204" pitchFamily="34" charset="0"/>
                                        </a:rPr>
                                        <m:t>𝑟𝑗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𝐀</m:t>
                              </m:r>
                              <m:d>
                                <m:d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  <m:t>𝐁𝐂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b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𝑙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(</m:t>
                              </m:r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𝐀</m:t>
                              </m:r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𝒔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[</m:t>
                              </m:r>
                              <m:d>
                                <m:d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  <m:t>𝐁𝐂</m:t>
                                  </m:r>
                                </m:e>
                              </m:d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]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𝑠𝑗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𝑙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  <m:t>𝐀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  <m:t>𝒔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  <m:t>𝑟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  <m:t>𝑚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altLang="zh-CN" sz="2000" b="1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b="1" i="1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Arial" panose="020B0604020202020204" pitchFamily="34" charset="0"/>
                                            </a:rPr>
                                            <m:t>𝑩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Arial" panose="020B0604020202020204" pitchFamily="34" charset="0"/>
                                        </a:rPr>
                                        <m:t>𝑠𝑟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altLang="zh-CN" sz="2000" b="1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b="1" i="1" smtClean="0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Arial" panose="020B0604020202020204" pitchFamily="34" charset="0"/>
                                            </a:rPr>
                                            <m:t>𝑪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Arial" panose="020B0604020202020204" pitchFamily="34" charset="0"/>
                                        </a:rPr>
                                        <m:t>𝑟𝑗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nary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Arial" panose="020B0604020202020204" pitchFamily="34" charset="0"/>
                            </a:rPr>
                            <m:t>𝑙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  <m:t>𝑟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Arial" panose="020B0604020202020204" pitchFamily="34" charset="0"/>
                                    </a:rPr>
                                    <m:t>𝑚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altLang="zh-CN" sz="2000" b="1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b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Arial" panose="020B0604020202020204" pitchFamily="34" charset="0"/>
                                            </a:rPr>
                                            <m:t>𝐀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Arial" panose="020B0604020202020204" pitchFamily="34" charset="0"/>
                                        </a:rPr>
                                        <m:t>𝑖𝑠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altLang="zh-CN" sz="2000" b="1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b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Arial" panose="020B0604020202020204" pitchFamily="34" charset="0"/>
                                            </a:rPr>
                                            <m:t>𝐁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Arial" panose="020B0604020202020204" pitchFamily="34" charset="0"/>
                                        </a:rPr>
                                        <m:t>𝑠𝑟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000" b="1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d>
                                        <m:dPr>
                                          <m:ctrlPr>
                                            <a:rPr lang="en-US" altLang="zh-CN" sz="2000" b="1" i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b="1"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  <a:cs typeface="Arial" panose="020B0604020202020204" pitchFamily="34" charset="0"/>
                                            </a:rPr>
                                            <m:t>𝐂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  <a:cs typeface="Arial" panose="020B0604020202020204" pitchFamily="34" charset="0"/>
                                        </a:rPr>
                                        <m:t>𝑟𝑗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85" y="1157321"/>
                <a:ext cx="9622790" cy="2972096"/>
              </a:xfrm>
              <a:prstGeom prst="rect">
                <a:avLst/>
              </a:prstGeom>
              <a:blipFill rotWithShape="0">
                <a:blip r:embed="rId5"/>
                <a:stretch>
                  <a:fillRect l="-1014" t="-1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8526891" y="2448123"/>
                <a:ext cx="553998" cy="390492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6891" y="2448123"/>
                <a:ext cx="553998" cy="39049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742315" y="4213589"/>
                <a:ext cx="662120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可以先用</a:t>
                </a:r>
                <a:r>
                  <a:rPr lang="en-US" altLang="zh-CN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3</a:t>
                </a:r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2×2</m:t>
                    </m:r>
                  </m:oMath>
                </a14:m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矩阵，或者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3×3</m:t>
                    </m:r>
                  </m:oMath>
                </a14:m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矩阵做简单验证</a:t>
                </a:r>
                <a:endParaRPr lang="en-US" altLang="zh-CN" sz="2000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余下的运算性质可以自行验证</a:t>
                </a:r>
                <a:endParaRPr lang="zh-CN" altLang="en-US" sz="2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15" y="4213589"/>
                <a:ext cx="6621206" cy="1015663"/>
              </a:xfrm>
              <a:prstGeom prst="rect">
                <a:avLst/>
              </a:prstGeom>
              <a:blipFill rotWithShape="0">
                <a:blip r:embed="rId7"/>
                <a:stretch>
                  <a:fillRect l="-1013" b="-41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1435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Properties of matrices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9110" y="873094"/>
            <a:ext cx="4810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与转置和逆矩阵有关的运算性质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499110" y="1666875"/>
                <a:ext cx="6210301" cy="4727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转置：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𝐀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𝐁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𝐁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𝑘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𝐀𝐁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𝐁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证：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[</m:t>
                              </m:r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𝐀𝐁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T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]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𝐀𝐁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𝐁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𝐀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b="1" i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𝐁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 b="0" i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T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b="1" i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𝐀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000" b="0" i="0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T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𝑘𝑗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𝑗𝑘</m:t>
                              </m:r>
                            </m:sub>
                          </m:sSub>
                        </m:e>
                      </m:nary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1666875"/>
                <a:ext cx="6210301" cy="4727961"/>
              </a:xfrm>
              <a:prstGeom prst="rect">
                <a:avLst/>
              </a:prstGeom>
              <a:blipFill rotWithShape="0">
                <a:blip r:embed="rId5"/>
                <a:stretch>
                  <a:fillRect l="-1079" t="-6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6709411" y="1655912"/>
                <a:ext cx="4838700" cy="48968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逆矩阵：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𝐈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𝐈</m:t>
                      </m:r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𝐀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𝐀𝐁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𝐁</m:t>
                          </m:r>
                        </m:e>
                        <m:sup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  <m:sup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𝐀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1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𝐀</m:t>
                                  </m:r>
                                </m:e>
                                <m:sup>
                                  <m:r>
                                    <a:rPr lang="en-US" altLang="zh-CN" sz="20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证：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𝐀𝐁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先后左乘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𝐁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𝐁</m:t>
                          </m:r>
                        </m:e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e>
                            <m:sup>
                              <m:r>
                                <a:rPr lang="en-US" altLang="zh-CN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𝐀𝐁</m:t>
                              </m:r>
                            </m:e>
                          </m:d>
                        </m:e>
                      </m:d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𝐁</m:t>
                          </m:r>
                        </m:e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e>
                            <m:sup>
                              <m:r>
                                <a:rPr lang="en-US" altLang="zh-CN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</m:d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𝐁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𝐁</m:t>
                          </m:r>
                        </m:e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𝐁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𝐈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𝐁</m:t>
                          </m:r>
                        </m:e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e>
                            <m:sup>
                              <m:r>
                                <a:rPr lang="en-US" altLang="zh-CN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𝐀𝐁</m:t>
                              </m:r>
                            </m:e>
                          </m:d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=(</m:t>
                      </m:r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𝐁</m:t>
                          </m:r>
                        </m:e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𝐀𝐁</m:t>
                          </m:r>
                        </m:e>
                      </m:d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𝐀</m:t>
                                  </m:r>
                                </m:e>
                                <m:sup>
                                  <m:r>
                                    <a:rPr lang="en-US" altLang="zh-CN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𝐀</m:t>
                                  </m:r>
                                </m:e>
                                <m:sup>
                                  <m:r>
                                    <a:rPr lang="en-US" altLang="zh-CN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𝐈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𝐈</m:t>
                      </m:r>
                    </m:oMath>
                  </m:oMathPara>
                </a14:m>
                <a:endPara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411" y="1655912"/>
                <a:ext cx="4838700" cy="4896853"/>
              </a:xfrm>
              <a:prstGeom prst="rect">
                <a:avLst/>
              </a:prstGeom>
              <a:blipFill rotWithShape="0">
                <a:blip r:embed="rId6"/>
                <a:stretch>
                  <a:fillRect l="-1387" t="-7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0074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Special matrices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9110" y="873094"/>
            <a:ext cx="4810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对称矩阵与反对称矩阵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888024" y="1545264"/>
                <a:ext cx="3217984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对称矩阵：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  <m:sup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𝐓</m:t>
                          </m:r>
                        </m:sup>
                      </m:sSup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𝑗𝑖</m:t>
                          </m:r>
                        </m:sub>
                      </m:sSub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24" y="1545264"/>
                <a:ext cx="3217984" cy="1522661"/>
              </a:xfrm>
              <a:prstGeom prst="rect">
                <a:avLst/>
              </a:prstGeom>
              <a:blipFill rotWithShape="0">
                <a:blip r:embed="rId5"/>
                <a:stretch>
                  <a:fillRect l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5055577" y="1545264"/>
                <a:ext cx="5627077" cy="1339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性质：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𝐁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𝐁</m:t>
                      </m:r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𝐓</m:t>
                          </m:r>
                        </m:sup>
                      </m:sSup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𝑘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𝐀𝐁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𝐁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𝐁𝐀</m:t>
                      </m:r>
                    </m:oMath>
                  </m:oMathPara>
                </a14:m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5577" y="1545264"/>
                <a:ext cx="5627077" cy="1339982"/>
              </a:xfrm>
              <a:prstGeom prst="rect">
                <a:avLst/>
              </a:prstGeom>
              <a:blipFill rotWithShape="0">
                <a:blip r:embed="rId6"/>
                <a:stretch>
                  <a:fillRect l="-1083" t="-2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888024" y="3491295"/>
                <a:ext cx="3217984" cy="1522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反对称矩阵：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  <m:sup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𝐓</m:t>
                          </m:r>
                        </m:sup>
                      </m:sSup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e>
                          </m:d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𝑗𝑖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(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𝑖𝑖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0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24" y="3491295"/>
                <a:ext cx="3217984" cy="1522661"/>
              </a:xfrm>
              <a:prstGeom prst="rect">
                <a:avLst/>
              </a:prstGeom>
              <a:blipFill rotWithShape="0">
                <a:blip r:embed="rId7"/>
                <a:stretch>
                  <a:fillRect l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圆角矩形 9"/>
          <p:cNvSpPr/>
          <p:nvPr/>
        </p:nvSpPr>
        <p:spPr>
          <a:xfrm>
            <a:off x="4589585" y="3209191"/>
            <a:ext cx="6778869" cy="328832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4836403" y="3491295"/>
                <a:ext cx="6435970" cy="26915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任一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阶矩阵都可以唯一地表示成一个对称矩阵和一个反对称矩阵之和：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f>
                        <m:f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−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000" b="0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 </m:t>
                      </m:r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  <m:r>
                                <a:rPr lang="en-US" altLang="zh-CN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𝐀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b="0" i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−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𝐀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−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 −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403" y="3491295"/>
                <a:ext cx="6435970" cy="2691571"/>
              </a:xfrm>
              <a:prstGeom prst="rect">
                <a:avLst/>
              </a:prstGeom>
              <a:blipFill rotWithShape="0">
                <a:blip r:embed="rId8"/>
                <a:stretch>
                  <a:fillRect l="-947" t="-13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7252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Special matrices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9110" y="873094"/>
            <a:ext cx="4810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对角矩阵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742315" y="1610054"/>
                <a:ext cx="5560497" cy="11592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，也可写成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𝑑𝑖𝑎𝑔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15" y="1610054"/>
                <a:ext cx="5560497" cy="115929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6496242" y="1388575"/>
                <a:ext cx="4881003" cy="1369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从线性变换视角看，新基相较于原基仅在前面乘上一个数：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（本征值问题，下一节讨论）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242" y="1388575"/>
                <a:ext cx="4881003" cy="1369606"/>
              </a:xfrm>
              <a:prstGeom prst="rect">
                <a:avLst/>
              </a:prstGeom>
              <a:blipFill rotWithShape="0">
                <a:blip r:embed="rId6"/>
                <a:stretch>
                  <a:fillRect l="-1125" t="-2679"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337185" y="2758181"/>
                <a:ext cx="11309252" cy="3885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对角矩阵有许多良好性质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 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对角阵左（右）乘列（行）向量，结果在向量前乘一个数：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  <m:t>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  <m:t>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⋮</m:t>
                                    </m:r>
                                  </m:e>
                                </m:mr>
                              </m:m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 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对角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阵与对角阵的乘积还是对角阵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这一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性质使得对角阵的幂运算非常简单：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𝑑𝑖𝑎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𝑔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𝑑𝑖𝑎𝑔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𝑚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2758181"/>
                <a:ext cx="11309252" cy="3885487"/>
              </a:xfrm>
              <a:prstGeom prst="rect">
                <a:avLst/>
              </a:prstGeom>
              <a:blipFill rotWithShape="0">
                <a:blip r:embed="rId7"/>
                <a:stretch>
                  <a:fillRect l="-539" b="-14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758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Similarity transformation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222885" y="801356"/>
                <a:ext cx="6441684" cy="6238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现在将主动变换与被动变换结合在一起：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6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6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altLang="zh-CN" sz="16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将上面的主动变换重写为</a:t>
                </a:r>
                <a:endParaRPr lang="en-US" altLang="zh-CN" sz="2000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</m:oMath>
                  </m:oMathPara>
                </a14:m>
                <a:endParaRPr lang="en-US" altLang="zh-CN" sz="2000" b="1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再取一组基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，做同样的主动变换</a:t>
                </a:r>
                <a:endParaRPr lang="en-US" altLang="zh-CN" sz="2000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𝐁</m:t>
                      </m:r>
                    </m:oMath>
                  </m:oMathPara>
                </a14:m>
                <a:endParaRPr lang="en-US" altLang="zh-CN" sz="2400" b="1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又可以由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表</a:t>
                </a:r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出</a:t>
                </a:r>
                <a:endParaRPr lang="en-US" altLang="zh-CN" sz="2000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𝐏</m:t>
                      </m:r>
                    </m:oMath>
                  </m:oMathPara>
                </a14:m>
                <a:endParaRPr lang="en-US" altLang="zh-CN" sz="2400" b="1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endParaRPr lang="zh-CN" altLang="en-US" sz="2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85" y="801356"/>
                <a:ext cx="6441684" cy="6238311"/>
              </a:xfrm>
              <a:prstGeom prst="rect">
                <a:avLst/>
              </a:prstGeom>
              <a:blipFill rotWithShape="0">
                <a:blip r:embed="rId5"/>
                <a:stretch>
                  <a:fillRect l="-1042" t="-4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6734907" y="1304746"/>
                <a:ext cx="5292967" cy="5062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代换后可得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</m:d>
                      <m:r>
                        <a:rPr lang="en-US" altLang="zh-CN" sz="16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𝐏</m:t>
                      </m:r>
                    </m:oMath>
                  </m:oMathPara>
                </a14:m>
                <a:endParaRPr lang="en-US" altLang="zh-CN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00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𝐁</m:t>
                      </m:r>
                      <m:r>
                        <a:rPr lang="en-US" altLang="zh-CN" sz="16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00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𝐏</m:t>
                      </m:r>
                      <m:r>
                        <a:rPr lang="en-US" altLang="zh-CN" sz="16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𝐁</m:t>
                      </m:r>
                    </m:oMath>
                  </m:oMathPara>
                </a14:m>
                <a:endParaRPr lang="en-US" altLang="zh-CN" sz="16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左右两端同时右乘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𝐏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可得</a:t>
                </a:r>
                <a:endPara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00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𝐏𝐁</m:t>
                      </m:r>
                      <m:sSup>
                        <m:sSup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16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p>
                          <m:r>
                            <a:rPr lang="en-US" altLang="zh-CN" sz="16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:endPara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𝐏𝐁</m:t>
                      </m:r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 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𝐁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𝐀𝐏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</a:t>
                </a:r>
                <a14:m>
                  <m:oMath xmlns:m="http://schemas.openxmlformats.org/officeDocument/2006/math">
                    <m:r>
                      <a:rPr lang="en-US" altLang="zh-CN" sz="1600" b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𝐁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𝐏</m:t>
                        </m:r>
                      </m:e>
                      <m:sup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p>
                    </m:sSup>
                    <m:r>
                      <a:rPr lang="en-US" altLang="zh-CN" sz="16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𝐀𝐏</m:t>
                    </m:r>
                  </m:oMath>
                </a14:m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</m:oMath>
                </a14:m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上矩阵表示之间的</a:t>
                </a:r>
                <a:r>
                  <a:rPr lang="zh-CN" altLang="en-US" sz="16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相似变换</a:t>
                </a:r>
                <a:endParaRPr lang="en-US" altLang="zh-CN" sz="16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16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相似变换意味着在研究主动变换的矩阵表示时，无论选取的基如何，总能将其通过相似变换转化成</a:t>
                </a:r>
                <a:r>
                  <a:rPr lang="zh-CN" altLang="en-US" sz="16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更简单的基</a:t>
                </a:r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下的矩阵表示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907" y="1304746"/>
                <a:ext cx="5292967" cy="5062924"/>
              </a:xfrm>
              <a:prstGeom prst="rect">
                <a:avLst/>
              </a:prstGeom>
              <a:blipFill rotWithShape="0">
                <a:blip r:embed="rId6"/>
                <a:stretch>
                  <a:fillRect l="-1037" b="-6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圆角矩形 10"/>
          <p:cNvSpPr/>
          <p:nvPr/>
        </p:nvSpPr>
        <p:spPr>
          <a:xfrm>
            <a:off x="8097714" y="3191608"/>
            <a:ext cx="2584939" cy="728903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69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Similarity invariant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18147" y="1615661"/>
                <a:ext cx="9884605" cy="2963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对于</a:t>
                </a:r>
                <a:r>
                  <a:rPr lang="en-US" altLang="zh-CN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n</a:t>
                </a:r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阶方阵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</m:oMath>
                </a14:m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，任取一个</a:t>
                </a:r>
                <a:r>
                  <a:rPr lang="en-US" altLang="zh-CN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n</a:t>
                </a:r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阶可逆矩阵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𝐒</m:t>
                    </m:r>
                  </m:oMath>
                </a14:m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，都可以做相似变换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p>
                        <m:r>
                          <a:rPr lang="en-US" altLang="zh-CN" sz="2000" b="1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𝐀𝐒</m:t>
                    </m:r>
                  </m:oMath>
                </a14:m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，这些矩阵是等价的：</a:t>
                </a:r>
                <a:endParaRPr lang="en-US" altLang="zh-CN" sz="2000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反身性：取</a:t>
                </a:r>
                <a14:m>
                  <m:oMath xmlns:m="http://schemas.openxmlformats.org/officeDocument/2006/math">
                    <m:r>
                      <a:rPr lang="en-US" altLang="zh-CN" sz="1600" b="1"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𝐈</m:t>
                    </m:r>
                  </m:oMath>
                </a14:m>
                <a:r>
                  <a:rPr lang="zh-CN" altLang="en-US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，那么</a:t>
                </a:r>
                <a14:m>
                  <m:oMath xmlns:m="http://schemas.openxmlformats.org/officeDocument/2006/math">
                    <m:r>
                      <a:rPr lang="en-US" altLang="zh-CN" sz="1600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  <m:r>
                      <a:rPr lang="en-US" altLang="zh-CN" sz="16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p>
                        <m:r>
                          <a:rPr lang="en-US" altLang="zh-CN" sz="1600" b="0" i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𝐀𝐈</m:t>
                    </m:r>
                  </m:oMath>
                </a14:m>
                <a:r>
                  <a:rPr lang="zh-CN" altLang="en-US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成立</a:t>
                </a:r>
                <a:endParaRPr lang="en-US" altLang="zh-CN" sz="1600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对称性：若</a:t>
                </a:r>
                <a14:m>
                  <m:oMath xmlns:m="http://schemas.openxmlformats.org/officeDocument/2006/math"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𝐁</m:t>
                    </m:r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p>
                        <m:r>
                          <a:rPr lang="en-US" altLang="zh-CN" sz="1600" b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1600" b="1">
                        <a:latin typeface="Cambria Math" panose="02040503050406030204" pitchFamily="18" charset="0"/>
                      </a:rPr>
                      <m:t>𝐀𝐒</m:t>
                    </m:r>
                  </m:oMath>
                </a14:m>
                <a:r>
                  <a:rPr lang="zh-CN" altLang="en-US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，取</a:t>
                </a:r>
                <a14:m>
                  <m:oMath xmlns:m="http://schemas.openxmlformats.org/officeDocument/2006/math">
                    <m:r>
                      <a:rPr lang="en-US" altLang="zh-CN" sz="16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𝐏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1600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𝐒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</a:t>
                </a:r>
                <a:r>
                  <a:rPr lang="zh-CN" altLang="en-US" sz="16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那么</a:t>
                </a:r>
                <a14:m>
                  <m:oMath xmlns:m="http://schemas.openxmlformats.org/officeDocument/2006/math"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altLang="zh-CN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1"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𝐁</m:t>
                    </m:r>
                    <m:sSup>
                      <m:sSup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p>
                        <m:r>
                          <a:rPr lang="en-US" altLang="zh-CN" sz="1600" b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0" smtClean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p>
                        <m:r>
                          <a:rPr lang="en-US" altLang="zh-CN" sz="1600" b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𝐁𝐏</m:t>
                    </m:r>
                  </m:oMath>
                </a14:m>
                <a:endParaRPr lang="en-US" altLang="zh-CN" sz="1600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传递性：</a:t>
                </a:r>
                <a:r>
                  <a:rPr lang="zh-CN" altLang="en-US" sz="16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1600" b="1">
                        <a:latin typeface="Cambria Math" panose="02040503050406030204" pitchFamily="18" charset="0"/>
                      </a:rPr>
                      <m:t>𝐁</m:t>
                    </m:r>
                    <m:r>
                      <a:rPr lang="en-US" altLang="zh-CN" sz="16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p>
                        <m:r>
                          <a:rPr lang="en-US" altLang="zh-CN" sz="1600" b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1600" b="1">
                        <a:latin typeface="Cambria Math" panose="02040503050406030204" pitchFamily="18" charset="0"/>
                      </a:rPr>
                      <m:t>𝐀𝐒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𝐂</m:t>
                    </m:r>
                    <m:r>
                      <a:rPr lang="en-US" altLang="zh-CN" sz="16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0" smtClean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p>
                        <m:r>
                          <a:rPr lang="en-US" altLang="zh-CN" sz="1600" b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𝐁𝐏</m:t>
                    </m:r>
                  </m:oMath>
                </a14:m>
                <a:r>
                  <a:rPr lang="zh-CN" altLang="en-US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</a:t>
                </a:r>
                <a:r>
                  <a:rPr lang="zh-CN" altLang="en-US" sz="16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那么</a:t>
                </a:r>
                <a14:m>
                  <m:oMath xmlns:m="http://schemas.openxmlformats.org/officeDocument/2006/math">
                    <m:r>
                      <a:rPr lang="en-US" altLang="zh-CN" sz="1600" b="1">
                        <a:latin typeface="Cambria Math" panose="02040503050406030204" pitchFamily="18" charset="0"/>
                      </a:rPr>
                      <m:t>𝐂</m:t>
                    </m:r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p>
                        <m:r>
                          <a:rPr lang="en-US" altLang="zh-CN" sz="1600" b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p>
                        <m:r>
                          <a:rPr lang="en-US" altLang="zh-CN" sz="1600" b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1600" b="1">
                        <a:latin typeface="Cambria Math" panose="02040503050406030204" pitchFamily="18" charset="0"/>
                      </a:rPr>
                      <m:t>𝐀𝐒</m:t>
                    </m:r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0" smtClean="0">
                                <a:latin typeface="Cambria Math" panose="02040503050406030204" pitchFamily="18" charset="0"/>
                              </a:rPr>
                              <m:t>𝐒𝐏</m:t>
                            </m:r>
                          </m:e>
                        </m:d>
                      </m:e>
                      <m:sup>
                        <m:r>
                          <a:rPr lang="en-US" altLang="zh-CN" sz="1600" b="1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𝐒𝐏</m:t>
                    </m:r>
                    <m:r>
                      <a:rPr lang="en-US" altLang="zh-CN" sz="1600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600" b="1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1600" b="1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p>
                        <m:r>
                          <a:rPr lang="en-US" altLang="zh-CN" sz="2000" b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2000" b="1">
                        <a:latin typeface="Cambria Math" panose="02040503050406030204" pitchFamily="18" charset="0"/>
                      </a:rPr>
                      <m:t>𝐀𝐒</m:t>
                    </m:r>
                  </m:oMath>
                </a14:m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构成的矩阵的集合组成了一个等价类，记作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的相似类。</a:t>
                </a:r>
                <a:endParaRPr lang="en-US" altLang="zh-CN" sz="2000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研究相似类主要是为了研究这些矩阵共有的，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不变的</a:t>
                </a:r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要素，称为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相似不变量</a:t>
                </a:r>
                <a:endParaRPr lang="en-US" altLang="zh-CN" sz="2000" dirty="0" smtClean="0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7" y="1615661"/>
                <a:ext cx="9884605" cy="2963055"/>
              </a:xfrm>
              <a:prstGeom prst="rect">
                <a:avLst/>
              </a:prstGeom>
              <a:blipFill rotWithShape="0">
                <a:blip r:embed="rId5"/>
                <a:stretch>
                  <a:fillRect l="-679" r="-3146" b="-10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418147" y="4114800"/>
            <a:ext cx="5121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18147" y="5321283"/>
            <a:ext cx="5772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最常见的相似不变量有两个：矩阵的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行列式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迹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962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Similarity invariant: Determinant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18147" y="4114800"/>
            <a:ext cx="5121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49261" y="904537"/>
            <a:ext cx="2150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矩阵的行列式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249261" y="1427659"/>
                <a:ext cx="11854815" cy="4187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阶方阵</a:t>
                </a:r>
                <a14:m>
                  <m:oMath xmlns:m="http://schemas.openxmlformats.org/officeDocument/2006/math">
                    <m:r>
                      <a:rPr lang="en-US" altLang="zh-CN" sz="1600" b="1" i="0" dirty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altLang="zh-CN" sz="1600" b="1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，定义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14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</m:d>
                      <m:r>
                        <a:rPr lang="en-US" altLang="zh-CN" sz="14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𝜏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⋯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𝜏</m:t>
                              </m:r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14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⋯</m:t>
                      </m:r>
                      <m:sSub>
                        <m:sSub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b="1" dirty="0"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的行列式，也可以记作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dirty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d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随着计算机的发展，行列式的计算技巧已不再重要，行列式有关性质的推导也不是量子力学的数学重点，只列举几个较常用的性质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dirty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600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1" dirty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sz="1600" b="0" i="0" dirty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dirty="0">
                            <a:latin typeface="Cambria Math" panose="02040503050406030204" pitchFamily="18" charset="0"/>
                          </a:rPr>
                          <m:t>𝐀</m:t>
                        </m:r>
                        <m:r>
                          <a:rPr lang="en-US" altLang="zh-CN" sz="1600" b="1" i="0" dirty="0">
                            <a:latin typeface="Cambria Math" panose="02040503050406030204" pitchFamily="18" charset="0"/>
                          </a:rPr>
                          <m:t>𝐁</m:t>
                        </m:r>
                        <m:r>
                          <a:rPr lang="en-US" altLang="zh-CN" sz="1600" b="1" i="0" dirty="0" smtClean="0">
                            <a:latin typeface="Cambria Math" panose="02040503050406030204" pitchFamily="18" charset="0"/>
                          </a:rPr>
                          <m:t>𝐂</m:t>
                        </m:r>
                        <m:r>
                          <a:rPr lang="en-US" altLang="zh-CN" sz="1600" b="1" i="1" dirty="0" smtClean="0"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en-US" altLang="zh-CN" sz="1600" b="1" i="0" dirty="0" smtClean="0"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</m:d>
                    <m:r>
                      <a:rPr lang="en-US" altLang="zh-CN" sz="16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600" b="0" i="0" dirty="0" smtClean="0"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0" dirty="0" smtClean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d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0" dirty="0" smtClean="0"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US" altLang="zh-CN" sz="1600" dirty="0">
                        <a:latin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en-US" altLang="zh-CN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0" dirty="0" smtClean="0">
                            <a:latin typeface="Cambria Math" panose="02040503050406030204" pitchFamily="18" charset="0"/>
                          </a:rPr>
                          <m:t>𝐌</m:t>
                        </m:r>
                      </m:e>
                    </m:d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11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en-US" altLang="zh-CN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11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22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33</m:t>
                        </m:r>
                      </m:sub>
                    </m:sSub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23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31</m:t>
                        </m:r>
                      </m:sub>
                    </m:sSub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13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21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32</m:t>
                        </m:r>
                      </m:sub>
                    </m:sSub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−</m:t>
                    </m:r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13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22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31</m:t>
                        </m:r>
                      </m:sub>
                    </m:sSub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−</m:t>
                    </m:r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21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33</m:t>
                        </m:r>
                      </m:sub>
                    </m:sSub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11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23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32</m:t>
                        </m:r>
                      </m:sub>
                    </m:sSub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61" y="1427659"/>
                <a:ext cx="11854815" cy="4187941"/>
              </a:xfrm>
              <a:prstGeom prst="rect">
                <a:avLst/>
              </a:prstGeom>
              <a:blipFill rotWithShape="0">
                <a:blip r:embed="rId5"/>
                <a:stretch>
                  <a:fillRect l="-463" r="-4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箭头连接符 12"/>
          <p:cNvCxnSpPr/>
          <p:nvPr/>
        </p:nvCxnSpPr>
        <p:spPr>
          <a:xfrm flipH="1">
            <a:off x="463936" y="5072814"/>
            <a:ext cx="626306" cy="33410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505211" y="5072814"/>
            <a:ext cx="628601" cy="31652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3261711" y="4961058"/>
            <a:ext cx="1153210" cy="58047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3724589" y="4911249"/>
            <a:ext cx="735150" cy="38383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3218347" y="5389338"/>
            <a:ext cx="309148" cy="18758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4183257" y="4894475"/>
            <a:ext cx="309148" cy="18758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3236167" y="5156924"/>
            <a:ext cx="735150" cy="38383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任意多边形 35"/>
          <p:cNvSpPr/>
          <p:nvPr/>
        </p:nvSpPr>
        <p:spPr>
          <a:xfrm>
            <a:off x="2908395" y="5306219"/>
            <a:ext cx="1992387" cy="389601"/>
          </a:xfrm>
          <a:custGeom>
            <a:avLst/>
            <a:gdLst>
              <a:gd name="connsiteX0" fmla="*/ 1561564 w 1973256"/>
              <a:gd name="connsiteY0" fmla="*/ 0 h 480227"/>
              <a:gd name="connsiteX1" fmla="*/ 1878087 w 1973256"/>
              <a:gd name="connsiteY1" fmla="*/ 474784 h 480227"/>
              <a:gd name="connsiteX2" fmla="*/ 75664 w 1973256"/>
              <a:gd name="connsiteY2" fmla="*/ 246184 h 480227"/>
              <a:gd name="connsiteX3" fmla="*/ 295471 w 1973256"/>
              <a:gd name="connsiteY3" fmla="*/ 70338 h 480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73256" h="480227">
                <a:moveTo>
                  <a:pt x="1561564" y="0"/>
                </a:moveTo>
                <a:cubicBezTo>
                  <a:pt x="1843650" y="216876"/>
                  <a:pt x="2125737" y="433753"/>
                  <a:pt x="1878087" y="474784"/>
                </a:cubicBezTo>
                <a:cubicBezTo>
                  <a:pt x="1630437" y="515815"/>
                  <a:pt x="339433" y="313592"/>
                  <a:pt x="75664" y="246184"/>
                </a:cubicBezTo>
                <a:cubicBezTo>
                  <a:pt x="-188105" y="178776"/>
                  <a:pt x="324779" y="102576"/>
                  <a:pt x="295471" y="7033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/>
        </p:nvSpPr>
        <p:spPr>
          <a:xfrm>
            <a:off x="2980593" y="4790239"/>
            <a:ext cx="1710328" cy="325125"/>
          </a:xfrm>
          <a:custGeom>
            <a:avLst/>
            <a:gdLst>
              <a:gd name="connsiteX0" fmla="*/ 1488011 w 1696279"/>
              <a:gd name="connsiteY0" fmla="*/ 322911 h 341301"/>
              <a:gd name="connsiteX1" fmla="*/ 1575934 w 1696279"/>
              <a:gd name="connsiteY1" fmla="*/ 41557 h 341301"/>
              <a:gd name="connsiteX2" fmla="*/ 54865 w 1696279"/>
              <a:gd name="connsiteY2" fmla="*/ 32765 h 341301"/>
              <a:gd name="connsiteX3" fmla="*/ 221919 w 1696279"/>
              <a:gd name="connsiteY3" fmla="*/ 340496 h 341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6279" h="341301">
                <a:moveTo>
                  <a:pt x="1488011" y="322911"/>
                </a:moveTo>
                <a:cubicBezTo>
                  <a:pt x="1651401" y="206413"/>
                  <a:pt x="1814792" y="89915"/>
                  <a:pt x="1575934" y="41557"/>
                </a:cubicBezTo>
                <a:cubicBezTo>
                  <a:pt x="1337076" y="-6801"/>
                  <a:pt x="280534" y="-17058"/>
                  <a:pt x="54865" y="32765"/>
                </a:cubicBezTo>
                <a:cubicBezTo>
                  <a:pt x="-170804" y="82588"/>
                  <a:pt x="383111" y="358081"/>
                  <a:pt x="221919" y="34049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111290" y="5631220"/>
                <a:ext cx="10251332" cy="12207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+1,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1+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p>
                      </m:sSup>
                      <m:d>
                        <m:dPr>
                          <m:begChr m:val="|"/>
                          <m:endChr m:val="|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−1,2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−1,3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−1,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+1,2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1,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1,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p>
                      </m:sSup>
                      <m:d>
                        <m:dPr>
                          <m:begChr m:val="|"/>
                          <m:endChr m:val="|"/>
                          <m:ctrlPr>
                            <a:rPr lang="en-US" altLang="zh-CN" sz="1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−1,1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−1,3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−1,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+1,3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+1,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p>
                      </m:sSup>
                      <m:d>
                        <m:dPr>
                          <m:begChr m:val="|"/>
                          <m:endChr m:val="|"/>
                          <m:ctrlPr>
                            <a:rPr lang="en-US" altLang="zh-CN" sz="12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,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−1,1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−1,2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−1,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+1,2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𝑖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+1,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,</m:t>
                                    </m:r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90" y="5631220"/>
                <a:ext cx="10251332" cy="122071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文本框 47"/>
          <p:cNvSpPr txBox="1"/>
          <p:nvPr/>
        </p:nvSpPr>
        <p:spPr>
          <a:xfrm>
            <a:off x="9766904" y="6110860"/>
            <a:ext cx="2066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（在</a:t>
            </a:r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Slater</a:t>
            </a: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行列式用到）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53469" y="6172406"/>
            <a:ext cx="196068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63936" y="5615600"/>
            <a:ext cx="0" cy="122071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994410" y="5615600"/>
            <a:ext cx="0" cy="122071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823818" y="5562046"/>
            <a:ext cx="0" cy="122071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416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Similarity invariant: Trace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18147" y="4114800"/>
            <a:ext cx="5121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49261" y="904537"/>
            <a:ext cx="2150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矩阵的迹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249261" y="1427659"/>
                <a:ext cx="11942739" cy="4293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阶方阵</a:t>
                </a:r>
                <a14:m>
                  <m:oMath xmlns:m="http://schemas.openxmlformats.org/officeDocument/2006/math">
                    <m:r>
                      <a:rPr lang="en-US" altLang="zh-CN" sz="1600" b="1" i="0" dirty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altLang="zh-CN" sz="1600" b="1" i="0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，定义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𝑑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𝑛𝑛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b="1" dirty="0"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的迹，也可以记作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dirty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d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无论在量子力学中还是在群表示论中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Tr</m:t>
                    </m:r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dirty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都是非常重要的量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性质：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dirty="0">
                              <a:latin typeface="Cambria Math" panose="02040503050406030204" pitchFamily="18" charset="0"/>
                            </a:rPr>
                            <m:t>𝐀</m:t>
                          </m:r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0" dirty="0"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 dirty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Tr</m:t>
                      </m:r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𝐁</m:t>
                      </m:r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1" dirty="0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dirty="0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</m:d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ctrlPr>
                            <a:rPr lang="en-US" altLang="zh-CN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dirty="0">
                              <a:latin typeface="Cambria Math" panose="02040503050406030204" pitchFamily="18" charset="0"/>
                            </a:rPr>
                            <m:t>𝐀</m:t>
                          </m:r>
                          <m:r>
                            <a:rPr lang="en-US" altLang="zh-CN" b="1" i="0" dirty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Tr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𝐁𝐀</m:t>
                      </m:r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61" y="1427659"/>
                <a:ext cx="11942739" cy="4293483"/>
              </a:xfrm>
              <a:prstGeom prst="rect">
                <a:avLst/>
              </a:prstGeom>
              <a:blipFill rotWithShape="0">
                <a:blip r:embed="rId5"/>
                <a:stretch>
                  <a:fillRect l="-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2399322" y="5237565"/>
            <a:ext cx="545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可见在行列式和迹运算中矩阵乘法都可以交换位置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249261" y="5606897"/>
                <a:ext cx="6221878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b="1" dirty="0" smtClean="0"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的相似变换下有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det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0" dirty="0"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  <m:sup>
                              <m:r>
                                <a:rPr lang="en-US" altLang="zh-CN" b="1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CN" b="1" dirty="0">
                              <a:latin typeface="Cambria Math" panose="02040503050406030204" pitchFamily="18" charset="0"/>
                            </a:rPr>
                            <m:t>𝐀𝐒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det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0" dirty="0" smtClean="0"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  <m:sup>
                              <m:r>
                                <a:rPr lang="en-US" altLang="zh-CN" b="0" i="0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det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 dirty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det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0" dirty="0" smtClean="0"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</m:d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det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0" dirty="0" smtClean="0"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  <m:sup>
                              <m:r>
                                <a:rPr lang="en-US" altLang="zh-CN" b="0" i="0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b="1" i="0" dirty="0" smtClean="0">
                              <a:latin typeface="Cambria Math" panose="02040503050406030204" pitchFamily="18" charset="0"/>
                            </a:rPr>
                            <m:t>𝐒𝐀</m:t>
                          </m:r>
                        </m:e>
                      </m:d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0" dirty="0" smtClean="0"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Tr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dirty="0"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  <m:sup>
                              <m:r>
                                <a:rPr lang="en-US" altLang="zh-CN" b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CN" b="1" dirty="0">
                              <a:latin typeface="Cambria Math" panose="02040503050406030204" pitchFamily="18" charset="0"/>
                            </a:rPr>
                            <m:t>𝐀𝐒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Tr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dirty="0"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  <m:sup>
                              <m:r>
                                <a:rPr lang="en-US" altLang="zh-CN" b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zh-CN" b="1" dirty="0">
                              <a:latin typeface="Cambria Math" panose="02040503050406030204" pitchFamily="18" charset="0"/>
                            </a:rPr>
                            <m:t>𝐒𝐀</m:t>
                          </m:r>
                        </m:e>
                      </m:d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Tr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</m:d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61" y="5606897"/>
                <a:ext cx="6221878" cy="110799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6667616" y="6166733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行列式和迹在相似变换下不变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402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843685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Similarity invariant: Diagonal matrix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18147" y="4114800"/>
            <a:ext cx="5121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49261" y="904537"/>
            <a:ext cx="3452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对角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阵的行列式与迹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499108" y="1492229"/>
                <a:ext cx="11080361" cy="46935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选取一组基，使其线性变换下的矩阵是对角阵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𝚲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𝑑𝑖𝑎𝑔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det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𝚲</m:t>
                              </m:r>
                            </m:e>
                          </m:d>
                        </m:e>
                      </m:func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⋯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Tr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𝚲</m:t>
                          </m:r>
                        </m:e>
                      </m:d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结果非常简单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如果存在矩阵</a:t>
                </a:r>
                <a14:m>
                  <m:oMath xmlns:m="http://schemas.openxmlformats.org/officeDocument/2006/math">
                    <m:r>
                      <a:rPr lang="en-US" altLang="zh-CN" b="1" i="0" dirty="0" smtClean="0"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𝚲</m:t>
                    </m:r>
                    <m:r>
                      <a:rPr lang="en-US" altLang="zh-CN" b="1" i="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0" dirty="0" smtClean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p>
                        <m:r>
                          <a:rPr lang="en-US" altLang="zh-CN" b="1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b="1" i="0" dirty="0" smtClean="0">
                        <a:latin typeface="Cambria Math" panose="02040503050406030204" pitchFamily="18" charset="0"/>
                      </a:rPr>
                      <m:t>𝐀𝐏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b="1" i="0" dirty="0" smtClean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altLang="zh-CN" b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dirty="0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US" altLang="zh-CN" b="1" i="0" dirty="0" smtClean="0">
                        <a:latin typeface="Cambria Math" panose="02040503050406030204" pitchFamily="18" charset="0"/>
                      </a:rPr>
                      <m:t>𝚲</m:t>
                    </m:r>
                    <m:sSup>
                      <m:sSup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dirty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p>
                        <m:r>
                          <a:rPr lang="en-US" altLang="zh-CN" b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那么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dirty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dirty="0">
                            <a:latin typeface="Cambria Math" panose="02040503050406030204" pitchFamily="18" charset="0"/>
                          </a:rPr>
                          <m:t>𝐏</m:t>
                        </m:r>
                        <m:r>
                          <a:rPr lang="en-US" altLang="zh-CN" b="1" dirty="0">
                            <a:latin typeface="Cambria Math" panose="02040503050406030204" pitchFamily="18" charset="0"/>
                          </a:rPr>
                          <m:t>𝚲</m:t>
                        </m:r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dirty="0"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p>
                            <m:r>
                              <a:rPr lang="en-US" altLang="zh-CN" b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dirty="0">
                            <a:latin typeface="Cambria Math" panose="02040503050406030204" pitchFamily="18" charset="0"/>
                          </a:rPr>
                          <m:t>𝐏</m:t>
                        </m:r>
                        <m:r>
                          <a:rPr lang="en-US" altLang="zh-CN" b="1" dirty="0">
                            <a:latin typeface="Cambria Math" panose="02040503050406030204" pitchFamily="18" charset="0"/>
                          </a:rPr>
                          <m:t>𝚲</m:t>
                        </m:r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dirty="0"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p>
                            <m:r>
                              <a:rPr lang="en-US" altLang="zh-CN" b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dirty="0">
                            <a:latin typeface="Cambria Math" panose="02040503050406030204" pitchFamily="18" charset="0"/>
                          </a:rPr>
                          <m:t>𝐏</m:t>
                        </m:r>
                        <m:r>
                          <a:rPr lang="en-US" altLang="zh-CN" b="1" dirty="0">
                            <a:latin typeface="Cambria Math" panose="02040503050406030204" pitchFamily="18" charset="0"/>
                          </a:rPr>
                          <m:t>𝚲</m:t>
                        </m:r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dirty="0"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p>
                            <m:r>
                              <a:rPr lang="en-US" altLang="zh-CN" b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⋯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dirty="0">
                            <a:latin typeface="Cambria Math" panose="02040503050406030204" pitchFamily="18" charset="0"/>
                          </a:rPr>
                          <m:t>𝐏</m:t>
                        </m:r>
                        <m:r>
                          <a:rPr lang="en-US" altLang="zh-CN" b="1" dirty="0">
                            <a:latin typeface="Cambria Math" panose="02040503050406030204" pitchFamily="18" charset="0"/>
                          </a:rPr>
                          <m:t>𝚲</m:t>
                        </m:r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dirty="0"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p>
                            <m:r>
                              <a:rPr lang="en-US" altLang="zh-CN" b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dirty="0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US" altLang="zh-CN" b="1" dirty="0">
                        <a:latin typeface="Cambria Math" panose="02040503050406030204" pitchFamily="18" charset="0"/>
                      </a:rPr>
                      <m:t>𝚲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dirty="0"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p>
                            <m:r>
                              <a:rPr lang="en-US" altLang="zh-CN" b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b="1" dirty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</m:d>
                    <m:r>
                      <a:rPr lang="en-US" altLang="zh-CN" b="1" dirty="0">
                        <a:latin typeface="Cambria Math" panose="02040503050406030204" pitchFamily="18" charset="0"/>
                      </a:rPr>
                      <m:t>𝚲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dirty="0"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p>
                            <m:r>
                              <a:rPr lang="en-US" altLang="zh-CN" b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b="1" dirty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</m:d>
                    <m:r>
                      <a:rPr lang="en-US" altLang="zh-CN" b="1" dirty="0">
                        <a:latin typeface="Cambria Math" panose="02040503050406030204" pitchFamily="18" charset="0"/>
                      </a:rPr>
                      <m:t>𝚲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dirty="0"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p>
                            <m:r>
                              <a:rPr lang="en-US" altLang="zh-CN" b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en-US" altLang="zh-CN" b="1" dirty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</m:d>
                    <m:r>
                      <a:rPr lang="en-US" altLang="zh-CN" b="1" dirty="0">
                        <a:latin typeface="Cambria Math" panose="02040503050406030204" pitchFamily="18" charset="0"/>
                      </a:rPr>
                      <m:t>𝚲</m:t>
                    </m:r>
                    <m:d>
                      <m:d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dirty="0">
                                <a:latin typeface="Cambria Math" panose="02040503050406030204" pitchFamily="18" charset="0"/>
                              </a:rPr>
                              <m:t>𝐏</m:t>
                            </m:r>
                          </m:e>
                          <m:sup>
                            <m:r>
                              <a:rPr lang="en-US" altLang="zh-CN" b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b="1" dirty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</m:d>
                    <m:r>
                      <a:rPr lang="en-US" altLang="zh-CN" b="1" dirty="0">
                        <a:latin typeface="Cambria Math" panose="02040503050406030204" pitchFamily="18" charset="0"/>
                      </a:rPr>
                      <m:t>𝚲</m:t>
                    </m:r>
                    <m:sSup>
                      <m:sSup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dirty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p>
                        <m:r>
                          <a:rPr lang="en-US" altLang="zh-CN" b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0" dirty="0" smtClean="0">
                        <a:latin typeface="Cambria Math" panose="02040503050406030204" pitchFamily="18" charset="0"/>
                      </a:rPr>
                      <m:t>𝐏</m:t>
                    </m:r>
                    <m:sSup>
                      <m:sSupPr>
                        <m:ctrlPr>
                          <a:rPr lang="en-US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𝚲</m:t>
                        </m:r>
                      </m:e>
                      <m:sup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0" dirty="0" smtClean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p>
                        <m:r>
                          <a:rPr lang="en-US" altLang="zh-CN" b="1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altLang="zh-CN" b="1" dirty="0" smtClean="0">
                  <a:latin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量显著降低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相似变换得到对角矩阵与本征值问题间存在深刻关联，通过分析本征值问题又可以得到一些新的相似不变量，和一些研究线性空间的新手段，放在下节介绍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08" y="1492229"/>
                <a:ext cx="11080361" cy="4693593"/>
              </a:xfrm>
              <a:prstGeom prst="rect">
                <a:avLst/>
              </a:prstGeom>
              <a:blipFill rotWithShape="0">
                <a:blip r:embed="rId5"/>
                <a:stretch>
                  <a:fillRect l="-605" t="-779" r="-1045" b="-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9320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843685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Relations between axes and matrix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37185" y="981267"/>
            <a:ext cx="5702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最后讨论一下矩阵表示与坐标间的关系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73432" y="1442821"/>
                <a:ext cx="8188569" cy="27889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11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21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12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22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  <m:r>
                            <a:rPr lang="en-US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m:t>⋯</m:t>
                      </m:r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𝑛𝑛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</m:oMath>
                  </m:oMathPara>
                </a14:m>
                <a:endParaRPr lang="zh-CN" altLang="en-US" b="1" dirty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32" y="1442821"/>
                <a:ext cx="8188569" cy="278896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540385" y="4330739"/>
                <a:ext cx="6651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的矩阵表示下，矩阵的每一</a:t>
                </a:r>
                <a:r>
                  <a:rPr lang="zh-CN" altLang="en-US" b="1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列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对应着相应向量变换后的</a:t>
                </a:r>
                <a:r>
                  <a:rPr lang="zh-CN" altLang="en-US" b="1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坐标</a:t>
                </a:r>
                <a:endPara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85" y="4330739"/>
                <a:ext cx="6651723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825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18147" y="4799020"/>
                <a:ext cx="7427611" cy="1493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  <m:r>
                                      <a:rPr lang="en-US" altLang="zh-CN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𝐏</m:t>
                      </m:r>
                    </m:oMath>
                  </m:oMathPara>
                </a14:m>
                <a:endParaRPr lang="en-US" altLang="zh-CN" b="1" dirty="0" smtClean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原基向新基变换的矩阵同样满足这一对应关系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7" y="4799020"/>
                <a:ext cx="7427611" cy="1493550"/>
              </a:xfrm>
              <a:prstGeom prst="rect">
                <a:avLst/>
              </a:prstGeom>
              <a:blipFill rotWithShape="0">
                <a:blip r:embed="rId7"/>
                <a:stretch>
                  <a:fillRect l="-739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7712873" y="2129419"/>
            <a:ext cx="3518912" cy="961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在做线性变换时注意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对基做变换还是对坐标做变换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0152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7874147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Reference and exercise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18147" y="1152525"/>
            <a:ext cx="116209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丘维声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高等代数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第二版，上、下册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北京：清华大学出版社，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2018.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丘维声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高等代数学习指导书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第二版，上、下册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北京：清华大学出版社，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2018.</a:t>
            </a:r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418147" y="2277941"/>
                <a:ext cx="11571290" cy="4222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练习：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用三个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2×2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（或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3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×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3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）矩阵验证矩阵乘法的左分配律，右分配律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 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在矩阵运算中，通常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组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多项式（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Taylor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级数）定义某个矩阵的函数：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</m:d>
                      <m:r>
                        <a:rPr lang="zh-CN" altLang="en-US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≔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…+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例如矩阵的指数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2000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sup>
                    </m:sSup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sup>
                    </m:sSup>
                    <m:r>
                      <a:rPr lang="zh-CN" altLang="en-US" sz="20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≔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1+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20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0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2!</m:t>
                        </m:r>
                      </m:den>
                    </m:f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  <m:sup>
                        <m:r>
                          <a:rPr lang="en-US" altLang="zh-CN" sz="20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p>
                    </m:sSup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20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0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3!</m:t>
                        </m:r>
                      </m:den>
                    </m:f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  <m:sup>
                        <m:r>
                          <a:rPr lang="en-US" altLang="zh-CN" sz="20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p>
                    </m:sSup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⋯</m:t>
                    </m:r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在相似变换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𝐏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下化为对角阵</a:t>
                </a:r>
                <a14:m>
                  <m:oMath xmlns:m="http://schemas.openxmlformats.org/officeDocument/2006/math"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𝚲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2000" b="1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𝚲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𝐏</m:t>
                        </m:r>
                      </m:e>
                      <m:sup>
                        <m:r>
                          <a:rPr lang="en-US" altLang="zh-CN" sz="2000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p>
                    </m:sSup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𝐀𝐏</m:t>
                    </m:r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证明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𝐏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𝚲</m:t>
                        </m:r>
                      </m:e>
                    </m:d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𝐏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𝐏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𝑑𝑖𝑎𝑔</m:t>
                    </m:r>
                    <m:d>
                      <m:d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 …,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  <m:sSup>
                      <m:sSup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𝐏</m:t>
                        </m:r>
                      </m:e>
                      <m:sup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p>
                    </m:sSup>
                  </m:oMath>
                </a14:m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利用矩阵迹和矩阵乘法的定义证明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Tr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𝐀𝐁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000" i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T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r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𝐁𝐀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7" y="2277941"/>
                <a:ext cx="11571290" cy="4222438"/>
              </a:xfrm>
              <a:prstGeom prst="rect">
                <a:avLst/>
              </a:prstGeom>
              <a:blipFill rotWithShape="0">
                <a:blip r:embed="rId5"/>
                <a:stretch>
                  <a:fillRect l="-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030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7874147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Complement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40385" y="1046928"/>
            <a:ext cx="2670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同构映射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0712" y="2009086"/>
            <a:ext cx="9817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在讨论某一组基的线性变换时，我们没有讨论经过线性变换后新的向量是否可以构成一组新的基，也没有讨论线性变换是否是可逆的，这里通过介绍同构来解决这一问题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620712" y="3291017"/>
                <a:ext cx="11150991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设映射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000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是线性空间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zh-CN" altLang="en-US" sz="2000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000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的一个</a:t>
                </a:r>
                <a:r>
                  <a:rPr lang="zh-CN" altLang="en-US" sz="2000" b="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双射</a:t>
                </a:r>
                <a:r>
                  <a:rPr lang="zh-CN" altLang="en-US" sz="2000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，若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∀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𝑉</m:t>
                    </m:r>
                  </m:oMath>
                </a14:m>
                <a:r>
                  <a:rPr lang="zh-CN" altLang="en-US" sz="2000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:endParaRPr lang="en-US" altLang="zh-CN" sz="2000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𝜎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𝜎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𝜎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sz="2000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𝜎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𝑘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𝑘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𝜎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sz="2000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zh-CN" altLang="en-US" sz="2000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000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之间的一个</a:t>
                </a:r>
                <a:r>
                  <a:rPr lang="zh-CN" altLang="en-US" sz="2000" b="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同构映射</a:t>
                </a:r>
                <a:r>
                  <a:rPr lang="zh-CN" altLang="en-US" sz="2000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，此时称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2000" b="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同构</a:t>
                </a:r>
                <a:r>
                  <a:rPr lang="zh-CN" altLang="en-US" sz="2000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，记作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en-US" altLang="zh-CN" sz="2000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与线性映射的唯一区别在于，同构映射必须是双射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712" y="3291017"/>
                <a:ext cx="11150991" cy="2400657"/>
              </a:xfrm>
              <a:prstGeom prst="rect">
                <a:avLst/>
              </a:prstGeom>
              <a:blipFill rotWithShape="0">
                <a:blip r:embed="rId5"/>
                <a:stretch>
                  <a:fillRect l="-601" b="-12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011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7874147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Complement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40385" y="1046928"/>
            <a:ext cx="2670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同构映射的性质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37185" y="1682427"/>
            <a:ext cx="10849708" cy="42070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337185" y="3262409"/>
            <a:ext cx="10061184" cy="42070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37185" y="1576895"/>
                <a:ext cx="10849708" cy="21698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定理</a:t>
                </a:r>
                <a:r>
                  <a:rPr lang="en-US" altLang="zh-CN" sz="20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1.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中向量组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线性相关当且仅当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中线性相关的向量组</a:t>
                </a:r>
                <a:endParaRPr lang="en-US" altLang="zh-CN" sz="2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证明</a:t>
                </a:r>
                <a:r>
                  <a:rPr lang="zh-CN" altLang="en-US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：按</a:t>
                </a:r>
                <a:r>
                  <a:rPr lang="zh-CN" altLang="en-US" sz="16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线性相关的定义，</a:t>
                </a:r>
                <a:r>
                  <a:rPr lang="zh-CN" altLang="en-US" sz="1600" dirty="0" smtClean="0">
                    <a:solidFill>
                      <a:srgbClr val="FF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存在一组不全为</a:t>
                </a:r>
                <a:r>
                  <a:rPr lang="en-US" altLang="zh-CN" sz="1600" dirty="0">
                    <a:solidFill>
                      <a:srgbClr val="FF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0</a:t>
                </a:r>
                <a:r>
                  <a:rPr lang="zh-CN" altLang="en-US" sz="1600" dirty="0">
                    <a:solidFill>
                      <a:srgbClr val="FF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的数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，使得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+⋯+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endParaRPr lang="en-US" altLang="zh-CN" sz="16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左右两侧同时作用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</m:oMath>
                </a14:m>
                <a:r>
                  <a:rPr lang="zh-CN" altLang="en-US" sz="16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+⋯+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+⋯+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lang="en-US" altLang="zh-CN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1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𝟎</m:t>
                    </m:r>
                  </m:oMath>
                </a14:m>
                <a:endParaRPr lang="en-US" altLang="zh-CN" sz="1600" b="1" dirty="0" smtClean="0">
                  <a:solidFill>
                    <a:srgbClr val="FF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这一定理等价表述即为：</a:t>
                </a:r>
                <a:endParaRPr lang="en-US" altLang="zh-CN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中向量组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线性无关</a:t>
                </a:r>
                <a:r>
                  <a:rPr lang="zh-CN" altLang="en-US" sz="20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中</a:t>
                </a:r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线性无关</a:t>
                </a:r>
                <a:r>
                  <a:rPr lang="zh-CN" altLang="en-US" sz="20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的向量</a:t>
                </a:r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组</a:t>
                </a:r>
                <a:endParaRPr lang="en-US" altLang="zh-CN" sz="2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1576895"/>
                <a:ext cx="10849708" cy="2169825"/>
              </a:xfrm>
              <a:prstGeom prst="rect">
                <a:avLst/>
              </a:prstGeom>
              <a:blipFill rotWithShape="0">
                <a:blip r:embed="rId5"/>
                <a:stretch>
                  <a:fillRect l="-562" b="-16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圆角矩形 12"/>
          <p:cNvSpPr/>
          <p:nvPr/>
        </p:nvSpPr>
        <p:spPr>
          <a:xfrm>
            <a:off x="337185" y="3958218"/>
            <a:ext cx="8874222" cy="42070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37185" y="3852252"/>
                <a:ext cx="10849708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定理</a:t>
                </a:r>
                <a:r>
                  <a:rPr lang="en-US" altLang="zh-CN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2. </a:t>
                </a:r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中一组基，那么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0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中一组基</a:t>
                </a:r>
                <a:endParaRPr lang="en-US" altLang="zh-CN" sz="2000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证明：对</a:t>
                </a:r>
                <a14:m>
                  <m:oMath xmlns:m="http://schemas.openxmlformats.org/officeDocument/2006/math"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∀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𝜶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V</m:t>
                    </m:r>
                  </m:oMath>
                </a14:m>
                <a:r>
                  <a:rPr lang="zh-CN" altLang="en-US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zh-CN" altLang="en-US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中的一组基，则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+⋯+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</m:oMath>
                </a14:m>
                <a:endParaRPr lang="en-US" altLang="zh-CN" sz="1600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𝜎</m:t>
                    </m:r>
                  </m:oMath>
                </a14:m>
                <a:r>
                  <a:rPr lang="zh-CN" altLang="en-US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是满射，则一定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∃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𝜷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∈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𝑉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′</m:t>
                    </m:r>
                  </m:oMath>
                </a14:m>
                <a:r>
                  <a:rPr lang="zh-CN" altLang="en-US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𝜎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𝜶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𝜷</m:t>
                    </m:r>
                  </m:oMath>
                </a14:m>
                <a:r>
                  <a:rPr lang="zh-CN" altLang="en-US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，那么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𝜷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+⋯+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1600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根据定理</a:t>
                </a:r>
                <a:r>
                  <a:rPr lang="en-US" altLang="zh-CN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1</a:t>
                </a:r>
                <a:r>
                  <a:rPr lang="zh-CN" altLang="en-US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线性无关，即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∀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𝜷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∈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𝑉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′</m:t>
                    </m:r>
                  </m:oMath>
                </a14:m>
                <a:r>
                  <a:rPr lang="zh-CN" altLang="en-US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都可以有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𝜎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𝜶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6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唯一地线性表出</a:t>
                </a:r>
                <a:endParaRPr lang="en-US" altLang="zh-CN" sz="1600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1600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这</a:t>
                </a:r>
                <a:r>
                  <a:rPr lang="zh-CN" altLang="en-US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一定理表明，若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  <m:r>
                      <a:rPr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，则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dim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 pitchFamily="34" charset="0"/>
                              </a:rPr>
                              <m:t>V</m:t>
                            </m:r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dim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⁡(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V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zh-CN" dirty="0" smtClea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反之是否成立？</a:t>
                </a:r>
                <a:endParaRPr lang="en-US" altLang="zh-CN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3852252"/>
                <a:ext cx="10849708" cy="2862322"/>
              </a:xfrm>
              <a:prstGeom prst="rect">
                <a:avLst/>
              </a:prstGeom>
              <a:blipFill rotWithShape="0">
                <a:blip r:embed="rId6"/>
                <a:stretch>
                  <a:fillRect l="-562" b="-8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208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7874147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Complement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:a16="http://schemas.microsoft.com/office/drawing/2014/main" xmlns="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:a16="http://schemas.microsoft.com/office/drawing/2014/main" xmlns="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40385" y="1046928"/>
            <a:ext cx="2670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同构映射的性质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37185" y="1682427"/>
            <a:ext cx="10849708" cy="42070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37185" y="1576895"/>
                <a:ext cx="10849708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定理</a:t>
                </a:r>
                <a:r>
                  <a:rPr lang="zh-CN" altLang="en-US" sz="2000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：</a:t>
                </a:r>
                <a:r>
                  <a:rPr lang="en-US" altLang="zh-CN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  <m:r>
                      <a:rPr lang="en-US" altLang="zh-CN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2000" dirty="0" smtClean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当且仅当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dim</m:t>
                        </m:r>
                      </m:fName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Arial" panose="020B0604020202020204" pitchFamily="34" charset="0"/>
                              </a:rPr>
                              <m:t>V</m:t>
                            </m:r>
                          </m:e>
                        </m:d>
                      </m:e>
                    </m:func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dim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⁡(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V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en-US" altLang="zh-CN" sz="2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1576895"/>
                <a:ext cx="10849708" cy="553998"/>
              </a:xfrm>
              <a:prstGeom prst="rect">
                <a:avLst/>
              </a:prstGeom>
              <a:blipFill rotWithShape="0">
                <a:blip r:embed="rId5"/>
                <a:stretch>
                  <a:fillRect l="-562" b="-87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270510" y="2132011"/>
            <a:ext cx="3483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必要性已证，只需证充分性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85" y="2501343"/>
            <a:ext cx="10752381" cy="31714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499110" y="5672772"/>
                <a:ext cx="10566181" cy="8744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:r>
                  <a:rPr lang="en-US" altLang="zh-CN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  <m: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自然满足，线性变换本身就是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V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的一个同构映射，故一定存在逆变换</a:t>
                </a:r>
                <a:endPara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中一组基做线性变换后得到的向量仍然是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中的一组基</a:t>
                </a:r>
                <a:endPara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5672772"/>
                <a:ext cx="10566181" cy="874407"/>
              </a:xfrm>
              <a:prstGeom prst="rect">
                <a:avLst/>
              </a:prstGeom>
              <a:blipFill rotWithShape="0">
                <a:blip r:embed="rId7"/>
                <a:stretch>
                  <a:fillRect l="-519" b="-104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8492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6564</TotalTime>
  <Words>973</Words>
  <Application>Microsoft Office PowerPoint</Application>
  <PresentationFormat>宽屏</PresentationFormat>
  <Paragraphs>407</Paragraphs>
  <Slides>29</Slides>
  <Notes>29</Notes>
  <HiddenSlides>3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Arial Unicode MS</vt:lpstr>
      <vt:lpstr>等线</vt:lpstr>
      <vt:lpstr>宋体</vt:lpstr>
      <vt:lpstr>微软雅黑</vt:lpstr>
      <vt:lpstr>Arial</vt:lpstr>
      <vt:lpstr>Calibri</vt:lpstr>
      <vt:lpstr>Calibri Light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307</cp:revision>
  <dcterms:created xsi:type="dcterms:W3CDTF">2026-04-13T12:58:51Z</dcterms:created>
  <dcterms:modified xsi:type="dcterms:W3CDTF">2026-06-05T17:16:55Z</dcterms:modified>
</cp:coreProperties>
</file>